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Lst>
  <p:notesMasterIdLst>
    <p:notesMasterId r:id="rId7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Lst>
  <p:sldSz cx="12192000" cy="6858000"/>
  <p:notesSz cx="6858000" cy="9144000"/>
  <p:embeddedFontLst>
    <p:embeddedFont>
      <p:font typeface="Comic Sans MS" panose="030F0702030302020204" pitchFamily="66" charset="0"/>
      <p:regular r:id="rId73"/>
      <p:bold r:id="rId74"/>
      <p:italic r:id="rId75"/>
      <p:boldItalic r:id="rId76"/>
    </p:embeddedFont>
    <p:embeddedFont>
      <p:font typeface="Gill Sans" panose="020B0604020202020204" charset="0"/>
      <p:regular r:id="rId77"/>
      <p:bold r:id="rId78"/>
    </p:embeddedFont>
    <p:embeddedFont>
      <p:font typeface="Play" panose="020B0604020202020204" charset="0"/>
      <p:regular r:id="rId79"/>
      <p:bold r:id="rId80"/>
    </p:embeddedFont>
    <p:embeddedFont>
      <p:font typeface="Tahoma" panose="020B0604030504040204" pitchFamily="34" charset="0"/>
      <p:regular r:id="rId81"/>
      <p:bold r:id="rId8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je/UmSiWtBvuYi3htGkFbLnmowQ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presProps" Target="presProp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2.fntdata"/><Relationship Id="rId79" Type="http://schemas.openxmlformats.org/officeDocument/2006/relationships/font" Target="fonts/font7.fntdata"/><Relationship Id="rId5" Type="http://schemas.openxmlformats.org/officeDocument/2006/relationships/slide" Target="slides/slide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font" Target="fonts/font5.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font" Target="fonts/font3.fntdata"/><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4.fntdata"/><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a:ea typeface="Times New Roman"/>
                <a:cs typeface="Times New Roman"/>
                <a:sym typeface="Times New Roman"/>
              </a:rPr>
              <a:t>2</a:t>
            </a:fld>
            <a:endParaRPr sz="1200" b="0" i="0" u="none" strike="noStrike" cap="none">
              <a:solidFill>
                <a:schemeClr val="dk1"/>
              </a:solidFill>
              <a:latin typeface="Times New Roman"/>
              <a:ea typeface="Times New Roman"/>
              <a:cs typeface="Times New Roman"/>
              <a:sym typeface="Times New Roman"/>
            </a:endParaRPr>
          </a:p>
        </p:txBody>
      </p:sp>
      <p:sp>
        <p:nvSpPr>
          <p:cNvPr id="162" name="Google Shape;16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3" name="Google Shape;16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21" name="Google Shape;42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Both Can  run on the same machine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0" name="Google Shape;46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2" name="Google Shape;472;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2" name="Google Shape;51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1" name="Google Shape;5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55" name="Google Shape;55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6"/>
        <p:cNvGrpSpPr/>
        <p:nvPr/>
      </p:nvGrpSpPr>
      <p:grpSpPr>
        <a:xfrm>
          <a:off x="0" y="0"/>
          <a:ext cx="0" cy="0"/>
          <a:chOff x="0" y="0"/>
          <a:chExt cx="0" cy="0"/>
        </a:xfrm>
      </p:grpSpPr>
      <p:sp>
        <p:nvSpPr>
          <p:cNvPr id="577" name="Google Shape;577;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14</a:t>
            </a:fld>
            <a:endParaRPr sz="1200">
              <a:solidFill>
                <a:schemeClr val="dk1"/>
              </a:solidFill>
              <a:latin typeface="Times New Roman"/>
              <a:ea typeface="Times New Roman"/>
              <a:cs typeface="Times New Roman"/>
              <a:sym typeface="Times New Roman"/>
            </a:endParaRPr>
          </a:p>
        </p:txBody>
      </p:sp>
      <p:sp>
        <p:nvSpPr>
          <p:cNvPr id="646" name="Google Shape;646;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4"/>
        <p:cNvGrpSpPr/>
        <p:nvPr/>
      </p:nvGrpSpPr>
      <p:grpSpPr>
        <a:xfrm>
          <a:off x="0" y="0"/>
          <a:ext cx="0" cy="0"/>
          <a:chOff x="0" y="0"/>
          <a:chExt cx="0" cy="0"/>
        </a:xfrm>
      </p:grpSpPr>
      <p:sp>
        <p:nvSpPr>
          <p:cNvPr id="685" name="Google Shape;685;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16</a:t>
            </a:fld>
            <a:endParaRPr sz="1200">
              <a:solidFill>
                <a:schemeClr val="dk1"/>
              </a:solidFill>
              <a:latin typeface="Times New Roman"/>
              <a:ea typeface="Times New Roman"/>
              <a:cs typeface="Times New Roman"/>
              <a:sym typeface="Times New Roman"/>
            </a:endParaRPr>
          </a:p>
        </p:txBody>
      </p:sp>
      <p:sp>
        <p:nvSpPr>
          <p:cNvPr id="686" name="Google Shape;68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7" name="Google Shape;68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8" name="Google Shape;69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18</a:t>
            </a:fld>
            <a:endParaRPr sz="1200">
              <a:solidFill>
                <a:schemeClr val="dk1"/>
              </a:solidFill>
              <a:latin typeface="Times New Roman"/>
              <a:ea typeface="Times New Roman"/>
              <a:cs typeface="Times New Roman"/>
              <a:sym typeface="Times New Roman"/>
            </a:endParaRPr>
          </a:p>
        </p:txBody>
      </p:sp>
      <p:sp>
        <p:nvSpPr>
          <p:cNvPr id="709" name="Google Shape;70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0" name="Google Shape;71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4"/>
        <p:cNvGrpSpPr/>
        <p:nvPr/>
      </p:nvGrpSpPr>
      <p:grpSpPr>
        <a:xfrm>
          <a:off x="0" y="0"/>
          <a:ext cx="0" cy="0"/>
          <a:chOff x="0" y="0"/>
          <a:chExt cx="0" cy="0"/>
        </a:xfrm>
      </p:grpSpPr>
      <p:sp>
        <p:nvSpPr>
          <p:cNvPr id="715" name="Google Shape;715;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6" name="Google Shape;71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2" name="Google Shape;7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6" name="Google Shape;75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2" name="Google Shape;782;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8" name="Google Shape;788;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0" name="Google Shape;800;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6" name="Google Shape;806;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2" name="Google Shape;812;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0"/>
        <p:cNvGrpSpPr/>
        <p:nvPr/>
      </p:nvGrpSpPr>
      <p:grpSpPr>
        <a:xfrm>
          <a:off x="0" y="0"/>
          <a:ext cx="0" cy="0"/>
          <a:chOff x="0" y="0"/>
          <a:chExt cx="0" cy="0"/>
        </a:xfrm>
      </p:grpSpPr>
      <p:sp>
        <p:nvSpPr>
          <p:cNvPr id="841" name="Google Shape;84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2" name="Google Shape;84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8" name="Google Shape;84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4" name="Google Shape;854;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0" name="Google Shape;860;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6" name="Google Shape;866;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p3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2" name="Google Shape;872;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6"/>
        <p:cNvGrpSpPr/>
        <p:nvPr/>
      </p:nvGrpSpPr>
      <p:grpSpPr>
        <a:xfrm>
          <a:off x="0" y="0"/>
          <a:ext cx="0" cy="0"/>
          <a:chOff x="0" y="0"/>
          <a:chExt cx="0" cy="0"/>
        </a:xfrm>
      </p:grpSpPr>
      <p:sp>
        <p:nvSpPr>
          <p:cNvPr id="877" name="Google Shape;877;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8" name="Google Shape;878;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35</a:t>
            </a:fld>
            <a:endParaRPr sz="1200">
              <a:solidFill>
                <a:schemeClr val="dk1"/>
              </a:solidFill>
              <a:latin typeface="Times New Roman"/>
              <a:ea typeface="Times New Roman"/>
              <a:cs typeface="Times New Roman"/>
              <a:sym typeface="Times New Roman"/>
            </a:endParaRPr>
          </a:p>
        </p:txBody>
      </p:sp>
      <p:sp>
        <p:nvSpPr>
          <p:cNvPr id="884" name="Google Shape;884;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85" name="Google Shape;885;p3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2" name="Google Shape;892;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p3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00" name="Google Shape;90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1"/>
        <p:cNvGrpSpPr/>
        <p:nvPr/>
      </p:nvGrpSpPr>
      <p:grpSpPr>
        <a:xfrm>
          <a:off x="0" y="0"/>
          <a:ext cx="0" cy="0"/>
          <a:chOff x="0" y="0"/>
          <a:chExt cx="0" cy="0"/>
        </a:xfrm>
      </p:grpSpPr>
      <p:sp>
        <p:nvSpPr>
          <p:cNvPr id="912" name="Google Shape;91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3" name="Google Shape;91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p3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8" name="Google Shape;95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3" name="Google Shape;96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4"/>
        <p:cNvGrpSpPr/>
        <p:nvPr/>
      </p:nvGrpSpPr>
      <p:grpSpPr>
        <a:xfrm>
          <a:off x="0" y="0"/>
          <a:ext cx="0" cy="0"/>
          <a:chOff x="0" y="0"/>
          <a:chExt cx="0" cy="0"/>
        </a:xfrm>
      </p:grpSpPr>
      <p:sp>
        <p:nvSpPr>
          <p:cNvPr id="985" name="Google Shape;985;p4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6" name="Google Shape;986;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0"/>
        <p:cNvGrpSpPr/>
        <p:nvPr/>
      </p:nvGrpSpPr>
      <p:grpSpPr>
        <a:xfrm>
          <a:off x="0" y="0"/>
          <a:ext cx="0" cy="0"/>
          <a:chOff x="0" y="0"/>
          <a:chExt cx="0" cy="0"/>
        </a:xfrm>
      </p:grpSpPr>
      <p:sp>
        <p:nvSpPr>
          <p:cNvPr id="991" name="Google Shape;991;p4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2" name="Google Shape;992;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8" name="Google Shape;99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04" name="Google Shape;1004;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8"/>
        <p:cNvGrpSpPr/>
        <p:nvPr/>
      </p:nvGrpSpPr>
      <p:grpSpPr>
        <a:xfrm>
          <a:off x="0" y="0"/>
          <a:ext cx="0" cy="0"/>
          <a:chOff x="0" y="0"/>
          <a:chExt cx="0" cy="0"/>
        </a:xfrm>
      </p:grpSpPr>
      <p:sp>
        <p:nvSpPr>
          <p:cNvPr id="1009" name="Google Shape;1009;p4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0" name="Google Shape;1010;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3"/>
        <p:cNvGrpSpPr/>
        <p:nvPr/>
      </p:nvGrpSpPr>
      <p:grpSpPr>
        <a:xfrm>
          <a:off x="0" y="0"/>
          <a:ext cx="0" cy="0"/>
          <a:chOff x="0" y="0"/>
          <a:chExt cx="0" cy="0"/>
        </a:xfrm>
      </p:grpSpPr>
      <p:sp>
        <p:nvSpPr>
          <p:cNvPr id="1024" name="Google Shape;1024;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5" name="Google Shape;1025;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9"/>
        <p:cNvGrpSpPr/>
        <p:nvPr/>
      </p:nvGrpSpPr>
      <p:grpSpPr>
        <a:xfrm>
          <a:off x="0" y="0"/>
          <a:ext cx="0" cy="0"/>
          <a:chOff x="0" y="0"/>
          <a:chExt cx="0" cy="0"/>
        </a:xfrm>
      </p:grpSpPr>
      <p:sp>
        <p:nvSpPr>
          <p:cNvPr id="1030" name="Google Shape;1030;p4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1" name="Google Shape;1031;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7" name="Google Shape;103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3" name="Google Shape;1043;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9" name="Google Shape;1049;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5" name="Google Shape;1055;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52</a:t>
            </a:fld>
            <a:endParaRPr sz="1200">
              <a:solidFill>
                <a:schemeClr val="dk1"/>
              </a:solidFill>
              <a:latin typeface="Times New Roman"/>
              <a:ea typeface="Times New Roman"/>
              <a:cs typeface="Times New Roman"/>
              <a:sym typeface="Times New Roman"/>
            </a:endParaRPr>
          </a:p>
        </p:txBody>
      </p:sp>
      <p:sp>
        <p:nvSpPr>
          <p:cNvPr id="1061" name="Google Shape;1061;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2" name="Google Shape;1062;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5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2" name="Google Shape;1072;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p5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9" name="Google Shape;107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5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86" name="Google Shape;1086;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p5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2" name="Google Shape;1092;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p5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8" name="Google Shape;1098;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5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5" name="Google Shape;1105;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p5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1" name="Google Shape;1111;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5"/>
        <p:cNvGrpSpPr/>
        <p:nvPr/>
      </p:nvGrpSpPr>
      <p:grpSpPr>
        <a:xfrm>
          <a:off x="0" y="0"/>
          <a:ext cx="0" cy="0"/>
          <a:chOff x="0" y="0"/>
          <a:chExt cx="0" cy="0"/>
        </a:xfrm>
      </p:grpSpPr>
      <p:sp>
        <p:nvSpPr>
          <p:cNvPr id="1116" name="Google Shape;1116;p6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7" name="Google Shape;1117;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p6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4" name="Google Shape;1124;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p6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0" name="Google Shape;1130;p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p6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39" name="Google Shape;1139;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3" name="Google Shape;1153;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p6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62" name="Google Shape;1162;p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p6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2" name="Google Shape;1172;p6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6"/>
        <p:cNvGrpSpPr/>
        <p:nvPr/>
      </p:nvGrpSpPr>
      <p:grpSpPr>
        <a:xfrm>
          <a:off x="0" y="0"/>
          <a:ext cx="0" cy="0"/>
          <a:chOff x="0" y="0"/>
          <a:chExt cx="0" cy="0"/>
        </a:xfrm>
      </p:grpSpPr>
      <p:sp>
        <p:nvSpPr>
          <p:cNvPr id="1177" name="Google Shape;1177;p6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8" name="Google Shape;1178;p6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5"/>
        <p:cNvGrpSpPr/>
        <p:nvPr/>
      </p:nvGrpSpPr>
      <p:grpSpPr>
        <a:xfrm>
          <a:off x="0" y="0"/>
          <a:ext cx="0" cy="0"/>
          <a:chOff x="0" y="0"/>
          <a:chExt cx="0" cy="0"/>
        </a:xfrm>
      </p:grpSpPr>
      <p:sp>
        <p:nvSpPr>
          <p:cNvPr id="1186" name="Google Shape;1186;p6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7" name="Google Shape;1187;p6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2"/>
        <p:cNvGrpSpPr/>
        <p:nvPr/>
      </p:nvGrpSpPr>
      <p:grpSpPr>
        <a:xfrm>
          <a:off x="0" y="0"/>
          <a:ext cx="0" cy="0"/>
          <a:chOff x="0" y="0"/>
          <a:chExt cx="0" cy="0"/>
        </a:xfrm>
      </p:grpSpPr>
      <p:sp>
        <p:nvSpPr>
          <p:cNvPr id="1193" name="Google Shape;1193;p6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4" name="Google Shape;1194;p6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7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1"/>
        <p:cNvGrpSpPr/>
        <p:nvPr/>
      </p:nvGrpSpPr>
      <p:grpSpPr>
        <a:xfrm>
          <a:off x="0" y="0"/>
          <a:ext cx="0" cy="0"/>
          <a:chOff x="0" y="0"/>
          <a:chExt cx="0" cy="0"/>
        </a:xfrm>
      </p:grpSpPr>
      <p:sp>
        <p:nvSpPr>
          <p:cNvPr id="22" name="Google Shape;22;p7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7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7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7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7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7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7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1" name="Google Shape;31;p7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7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4"/>
        <p:cNvGrpSpPr/>
        <p:nvPr/>
      </p:nvGrpSpPr>
      <p:grpSpPr>
        <a:xfrm>
          <a:off x="0" y="0"/>
          <a:ext cx="0" cy="0"/>
          <a:chOff x="0" y="0"/>
          <a:chExt cx="0" cy="0"/>
        </a:xfrm>
      </p:grpSpPr>
      <p:sp>
        <p:nvSpPr>
          <p:cNvPr id="35" name="Google Shape;35;p7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7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7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7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9"/>
        <p:cNvGrpSpPr/>
        <p:nvPr/>
      </p:nvGrpSpPr>
      <p:grpSpPr>
        <a:xfrm>
          <a:off x="0" y="0"/>
          <a:ext cx="0" cy="0"/>
          <a:chOff x="0" y="0"/>
          <a:chExt cx="0" cy="0"/>
        </a:xfrm>
      </p:grpSpPr>
      <p:sp>
        <p:nvSpPr>
          <p:cNvPr id="40" name="Google Shape;40;p7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 name="Google Shape;41;p7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42" name="Google Shape;42;p7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7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7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7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7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7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7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7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7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8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8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8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8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81"/>
          <p:cNvSpPr>
            <a:spLocks noGrp="1"/>
          </p:cNvSpPr>
          <p:nvPr>
            <p:ph type="pic" idx="2"/>
          </p:nvPr>
        </p:nvSpPr>
        <p:spPr>
          <a:xfrm>
            <a:off x="5183188" y="987425"/>
            <a:ext cx="6172200" cy="4873625"/>
          </a:xfrm>
          <a:prstGeom prst="rect">
            <a:avLst/>
          </a:prstGeom>
          <a:noFill/>
          <a:ln>
            <a:noFill/>
          </a:ln>
        </p:spPr>
      </p:sp>
      <p:sp>
        <p:nvSpPr>
          <p:cNvPr id="68" name="Google Shape;68;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8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8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8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8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8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8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8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sp>
        <p:nvSpPr>
          <p:cNvPr id="91" name="Google Shape;91;p7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2" name="Google Shape;92;p76"/>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rgbClr val="000099"/>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3" name="Google Shape;93;p76"/>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76"/>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5"/>
        <p:cNvGrpSpPr/>
        <p:nvPr/>
      </p:nvGrpSpPr>
      <p:grpSpPr>
        <a:xfrm>
          <a:off x="0" y="0"/>
          <a:ext cx="0" cy="0"/>
          <a:chOff x="0" y="0"/>
          <a:chExt cx="0" cy="0"/>
        </a:xfrm>
      </p:grpSpPr>
      <p:sp>
        <p:nvSpPr>
          <p:cNvPr id="96" name="Google Shape;96;p84"/>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97" name="Google Shape;97;p84"/>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560"/>
              </a:spcBef>
              <a:spcAft>
                <a:spcPts val="0"/>
              </a:spcAft>
              <a:buClr>
                <a:schemeClr val="dk1"/>
              </a:buClr>
              <a:buSzPts val="2800"/>
              <a:buFont typeface="Comic Sans MS"/>
              <a:buNone/>
              <a:defRPr/>
            </a:lvl1pPr>
            <a:lvl2pPr lvl="1" algn="ctr">
              <a:spcBef>
                <a:spcPts val="400"/>
              </a:spcBef>
              <a:spcAft>
                <a:spcPts val="0"/>
              </a:spcAft>
              <a:buClr>
                <a:srgbClr val="000099"/>
              </a:buClr>
              <a:buSzPts val="2000"/>
              <a:buFont typeface="Comic Sans MS"/>
              <a:buNone/>
              <a:defRPr/>
            </a:lvl2pPr>
            <a:lvl3pPr lvl="2" algn="ctr">
              <a:spcBef>
                <a:spcPts val="360"/>
              </a:spcBef>
              <a:spcAft>
                <a:spcPts val="0"/>
              </a:spcAft>
              <a:buClr>
                <a:schemeClr val="dk1"/>
              </a:buClr>
              <a:buSzPts val="1800"/>
              <a:buFont typeface="Comic Sans MS"/>
              <a:buNone/>
              <a:defRPr/>
            </a:lvl3pPr>
            <a:lvl4pPr lvl="3" algn="ctr">
              <a:spcBef>
                <a:spcPts val="320"/>
              </a:spcBef>
              <a:spcAft>
                <a:spcPts val="0"/>
              </a:spcAft>
              <a:buClr>
                <a:schemeClr val="dk1"/>
              </a:buClr>
              <a:buSzPts val="1600"/>
              <a:buFont typeface="Comic Sans MS"/>
              <a:buNone/>
              <a:defRPr/>
            </a:lvl4pPr>
            <a:lvl5pPr lvl="4" algn="ctr">
              <a:spcBef>
                <a:spcPts val="320"/>
              </a:spcBef>
              <a:spcAft>
                <a:spcPts val="0"/>
              </a:spcAft>
              <a:buClr>
                <a:schemeClr val="dk1"/>
              </a:buClr>
              <a:buSzPts val="1600"/>
              <a:buFont typeface="Comic Sans MS"/>
              <a:buNone/>
              <a:defRPr/>
            </a:lvl5pPr>
            <a:lvl6pPr lvl="5" algn="ctr">
              <a:spcBef>
                <a:spcPts val="320"/>
              </a:spcBef>
              <a:spcAft>
                <a:spcPts val="0"/>
              </a:spcAft>
              <a:buClr>
                <a:schemeClr val="dk1"/>
              </a:buClr>
              <a:buSzPts val="1600"/>
              <a:buFont typeface="Comic Sans MS"/>
              <a:buNone/>
              <a:defRPr/>
            </a:lvl6pPr>
            <a:lvl7pPr lvl="6" algn="ctr">
              <a:spcBef>
                <a:spcPts val="320"/>
              </a:spcBef>
              <a:spcAft>
                <a:spcPts val="0"/>
              </a:spcAft>
              <a:buClr>
                <a:schemeClr val="dk1"/>
              </a:buClr>
              <a:buSzPts val="1600"/>
              <a:buFont typeface="Comic Sans MS"/>
              <a:buNone/>
              <a:defRPr/>
            </a:lvl7pPr>
            <a:lvl8pPr lvl="7" algn="ctr">
              <a:spcBef>
                <a:spcPts val="320"/>
              </a:spcBef>
              <a:spcAft>
                <a:spcPts val="0"/>
              </a:spcAft>
              <a:buClr>
                <a:schemeClr val="dk1"/>
              </a:buClr>
              <a:buSzPts val="1600"/>
              <a:buFont typeface="Comic Sans MS"/>
              <a:buNone/>
              <a:defRPr/>
            </a:lvl8pPr>
            <a:lvl9pPr lvl="8" algn="ctr">
              <a:spcBef>
                <a:spcPts val="320"/>
              </a:spcBef>
              <a:spcAft>
                <a:spcPts val="0"/>
              </a:spcAft>
              <a:buClr>
                <a:schemeClr val="dk1"/>
              </a:buClr>
              <a:buSzPts val="1600"/>
              <a:buFont typeface="Comic Sans MS"/>
              <a:buNone/>
              <a:defRPr/>
            </a:lvl9pPr>
          </a:lstStyle>
          <a:p>
            <a:endParaRPr/>
          </a:p>
        </p:txBody>
      </p:sp>
      <p:sp>
        <p:nvSpPr>
          <p:cNvPr id="98" name="Google Shape;98;p84"/>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84"/>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0"/>
        <p:cNvGrpSpPr/>
        <p:nvPr/>
      </p:nvGrpSpPr>
      <p:grpSpPr>
        <a:xfrm>
          <a:off x="0" y="0"/>
          <a:ext cx="0" cy="0"/>
          <a:chOff x="0" y="0"/>
          <a:chExt cx="0" cy="0"/>
        </a:xfrm>
      </p:grpSpPr>
      <p:sp>
        <p:nvSpPr>
          <p:cNvPr id="101" name="Google Shape;101;p8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2" name="Google Shape;102;p8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dk1"/>
              </a:buClr>
              <a:buSzPts val="2000"/>
              <a:buFont typeface="Comic Sans MS"/>
              <a:buNone/>
              <a:defRPr sz="2000"/>
            </a:lvl1pPr>
            <a:lvl2pPr marL="914400" lvl="1" indent="-228600" algn="l">
              <a:spcBef>
                <a:spcPts val="360"/>
              </a:spcBef>
              <a:spcAft>
                <a:spcPts val="0"/>
              </a:spcAft>
              <a:buClr>
                <a:srgbClr val="000099"/>
              </a:buClr>
              <a:buSzPts val="1800"/>
              <a:buFont typeface="Comic Sans MS"/>
              <a:buNone/>
              <a:defRPr sz="1800"/>
            </a:lvl2pPr>
            <a:lvl3pPr marL="1371600" lvl="2" indent="-228600" algn="l">
              <a:spcBef>
                <a:spcPts val="320"/>
              </a:spcBef>
              <a:spcAft>
                <a:spcPts val="0"/>
              </a:spcAft>
              <a:buClr>
                <a:schemeClr val="dk1"/>
              </a:buClr>
              <a:buSzPts val="1600"/>
              <a:buFont typeface="Comic Sans MS"/>
              <a:buNone/>
              <a:defRPr sz="1600"/>
            </a:lvl3pPr>
            <a:lvl4pPr marL="1828800" lvl="3" indent="-228600" algn="l">
              <a:spcBef>
                <a:spcPts val="280"/>
              </a:spcBef>
              <a:spcAft>
                <a:spcPts val="0"/>
              </a:spcAft>
              <a:buClr>
                <a:schemeClr val="dk1"/>
              </a:buClr>
              <a:buSzPts val="1400"/>
              <a:buFont typeface="Comic Sans MS"/>
              <a:buNone/>
              <a:defRPr sz="1400"/>
            </a:lvl4pPr>
            <a:lvl5pPr marL="2286000" lvl="4" indent="-228600" algn="l">
              <a:spcBef>
                <a:spcPts val="280"/>
              </a:spcBef>
              <a:spcAft>
                <a:spcPts val="0"/>
              </a:spcAft>
              <a:buClr>
                <a:schemeClr val="dk1"/>
              </a:buClr>
              <a:buSzPts val="1400"/>
              <a:buFont typeface="Comic Sans MS"/>
              <a:buNone/>
              <a:defRPr sz="1400"/>
            </a:lvl5pPr>
            <a:lvl6pPr marL="2743200" lvl="5" indent="-228600" algn="l">
              <a:spcBef>
                <a:spcPts val="280"/>
              </a:spcBef>
              <a:spcAft>
                <a:spcPts val="0"/>
              </a:spcAft>
              <a:buClr>
                <a:schemeClr val="dk1"/>
              </a:buClr>
              <a:buSzPts val="1400"/>
              <a:buFont typeface="Comic Sans MS"/>
              <a:buNone/>
              <a:defRPr sz="1400"/>
            </a:lvl6pPr>
            <a:lvl7pPr marL="3200400" lvl="6" indent="-228600" algn="l">
              <a:spcBef>
                <a:spcPts val="280"/>
              </a:spcBef>
              <a:spcAft>
                <a:spcPts val="0"/>
              </a:spcAft>
              <a:buClr>
                <a:schemeClr val="dk1"/>
              </a:buClr>
              <a:buSzPts val="1400"/>
              <a:buFont typeface="Comic Sans MS"/>
              <a:buNone/>
              <a:defRPr sz="1400"/>
            </a:lvl7pPr>
            <a:lvl8pPr marL="3657600" lvl="7" indent="-228600" algn="l">
              <a:spcBef>
                <a:spcPts val="280"/>
              </a:spcBef>
              <a:spcAft>
                <a:spcPts val="0"/>
              </a:spcAft>
              <a:buClr>
                <a:schemeClr val="dk1"/>
              </a:buClr>
              <a:buSzPts val="1400"/>
              <a:buFont typeface="Comic Sans MS"/>
              <a:buNone/>
              <a:defRPr sz="1400"/>
            </a:lvl8pPr>
            <a:lvl9pPr marL="4114800" lvl="8" indent="-228600" algn="l">
              <a:spcBef>
                <a:spcPts val="280"/>
              </a:spcBef>
              <a:spcAft>
                <a:spcPts val="0"/>
              </a:spcAft>
              <a:buClr>
                <a:schemeClr val="dk1"/>
              </a:buClr>
              <a:buSzPts val="1400"/>
              <a:buFont typeface="Comic Sans MS"/>
              <a:buNone/>
              <a:defRPr sz="1400"/>
            </a:lvl9pPr>
          </a:lstStyle>
          <a:p>
            <a:endParaRPr/>
          </a:p>
        </p:txBody>
      </p:sp>
      <p:sp>
        <p:nvSpPr>
          <p:cNvPr id="103" name="Google Shape;103;p85"/>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85"/>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5"/>
        <p:cNvGrpSpPr/>
        <p:nvPr/>
      </p:nvGrpSpPr>
      <p:grpSpPr>
        <a:xfrm>
          <a:off x="0" y="0"/>
          <a:ext cx="0" cy="0"/>
          <a:chOff x="0" y="0"/>
          <a:chExt cx="0" cy="0"/>
        </a:xfrm>
      </p:grpSpPr>
      <p:sp>
        <p:nvSpPr>
          <p:cNvPr id="106" name="Google Shape;106;p86"/>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07" name="Google Shape;107;p86"/>
          <p:cNvSpPr txBox="1">
            <a:spLocks noGrp="1"/>
          </p:cNvSpPr>
          <p:nvPr>
            <p:ph type="body" idx="1"/>
          </p:nvPr>
        </p:nvSpPr>
        <p:spPr>
          <a:xfrm>
            <a:off x="914400" y="1981200"/>
            <a:ext cx="508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Comic Sans MS"/>
              <a:buChar char="•"/>
              <a:defRPr sz="2800"/>
            </a:lvl1pPr>
            <a:lvl2pPr marL="914400" lvl="1" indent="-381000" algn="l">
              <a:spcBef>
                <a:spcPts val="480"/>
              </a:spcBef>
              <a:spcAft>
                <a:spcPts val="0"/>
              </a:spcAft>
              <a:buClr>
                <a:srgbClr val="000099"/>
              </a:buClr>
              <a:buSzPts val="2400"/>
              <a:buFont typeface="Comic Sans MS"/>
              <a:buChar char="–"/>
              <a:defRPr sz="2400"/>
            </a:lvl2pPr>
            <a:lvl3pPr marL="1371600" lvl="2" indent="-355600" algn="l">
              <a:spcBef>
                <a:spcPts val="400"/>
              </a:spcBef>
              <a:spcAft>
                <a:spcPts val="0"/>
              </a:spcAft>
              <a:buClr>
                <a:schemeClr val="dk1"/>
              </a:buClr>
              <a:buSzPts val="2000"/>
              <a:buFont typeface="Comic Sans MS"/>
              <a:buChar char="•"/>
              <a:defRPr sz="2000"/>
            </a:lvl3pPr>
            <a:lvl4pPr marL="1828800" lvl="3" indent="-342900" algn="l">
              <a:spcBef>
                <a:spcPts val="360"/>
              </a:spcBef>
              <a:spcAft>
                <a:spcPts val="0"/>
              </a:spcAft>
              <a:buClr>
                <a:schemeClr val="dk1"/>
              </a:buClr>
              <a:buSzPts val="1800"/>
              <a:buFont typeface="Comic Sans MS"/>
              <a:buChar char="–"/>
              <a:defRPr sz="1800"/>
            </a:lvl4pPr>
            <a:lvl5pPr marL="2286000" lvl="4" indent="-342900" algn="l">
              <a:spcBef>
                <a:spcPts val="360"/>
              </a:spcBef>
              <a:spcAft>
                <a:spcPts val="0"/>
              </a:spcAft>
              <a:buClr>
                <a:schemeClr val="dk1"/>
              </a:buClr>
              <a:buSzPts val="1800"/>
              <a:buFont typeface="Comic Sans MS"/>
              <a:buChar char="»"/>
              <a:defRPr sz="1800"/>
            </a:lvl5pPr>
            <a:lvl6pPr marL="2743200" lvl="5" indent="-342900" algn="l">
              <a:spcBef>
                <a:spcPts val="360"/>
              </a:spcBef>
              <a:spcAft>
                <a:spcPts val="0"/>
              </a:spcAft>
              <a:buClr>
                <a:schemeClr val="dk1"/>
              </a:buClr>
              <a:buSzPts val="1800"/>
              <a:buFont typeface="Comic Sans MS"/>
              <a:buChar char="»"/>
              <a:defRPr sz="1800"/>
            </a:lvl6pPr>
            <a:lvl7pPr marL="3200400" lvl="6" indent="-342900" algn="l">
              <a:spcBef>
                <a:spcPts val="360"/>
              </a:spcBef>
              <a:spcAft>
                <a:spcPts val="0"/>
              </a:spcAft>
              <a:buClr>
                <a:schemeClr val="dk1"/>
              </a:buClr>
              <a:buSzPts val="1800"/>
              <a:buFont typeface="Comic Sans MS"/>
              <a:buChar char="»"/>
              <a:defRPr sz="1800"/>
            </a:lvl7pPr>
            <a:lvl8pPr marL="3657600" lvl="7" indent="-342900" algn="l">
              <a:spcBef>
                <a:spcPts val="360"/>
              </a:spcBef>
              <a:spcAft>
                <a:spcPts val="0"/>
              </a:spcAft>
              <a:buClr>
                <a:schemeClr val="dk1"/>
              </a:buClr>
              <a:buSzPts val="1800"/>
              <a:buFont typeface="Comic Sans MS"/>
              <a:buChar char="»"/>
              <a:defRPr sz="1800"/>
            </a:lvl8pPr>
            <a:lvl9pPr marL="4114800" lvl="8" indent="-342900" algn="l">
              <a:spcBef>
                <a:spcPts val="360"/>
              </a:spcBef>
              <a:spcAft>
                <a:spcPts val="0"/>
              </a:spcAft>
              <a:buClr>
                <a:schemeClr val="dk1"/>
              </a:buClr>
              <a:buSzPts val="1800"/>
              <a:buFont typeface="Comic Sans MS"/>
              <a:buChar char="»"/>
              <a:defRPr sz="1800"/>
            </a:lvl9pPr>
          </a:lstStyle>
          <a:p>
            <a:endParaRPr/>
          </a:p>
        </p:txBody>
      </p:sp>
      <p:sp>
        <p:nvSpPr>
          <p:cNvPr id="108" name="Google Shape;108;p86"/>
          <p:cNvSpPr txBox="1">
            <a:spLocks noGrp="1"/>
          </p:cNvSpPr>
          <p:nvPr>
            <p:ph type="body" idx="2"/>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Font typeface="Comic Sans MS"/>
              <a:buChar char="•"/>
              <a:defRPr sz="2800"/>
            </a:lvl1pPr>
            <a:lvl2pPr marL="914400" lvl="1" indent="-381000" algn="l">
              <a:spcBef>
                <a:spcPts val="480"/>
              </a:spcBef>
              <a:spcAft>
                <a:spcPts val="0"/>
              </a:spcAft>
              <a:buClr>
                <a:srgbClr val="000099"/>
              </a:buClr>
              <a:buSzPts val="2400"/>
              <a:buFont typeface="Comic Sans MS"/>
              <a:buChar char="–"/>
              <a:defRPr sz="2400"/>
            </a:lvl2pPr>
            <a:lvl3pPr marL="1371600" lvl="2" indent="-355600" algn="l">
              <a:spcBef>
                <a:spcPts val="400"/>
              </a:spcBef>
              <a:spcAft>
                <a:spcPts val="0"/>
              </a:spcAft>
              <a:buClr>
                <a:schemeClr val="dk1"/>
              </a:buClr>
              <a:buSzPts val="2000"/>
              <a:buFont typeface="Comic Sans MS"/>
              <a:buChar char="•"/>
              <a:defRPr sz="2000"/>
            </a:lvl3pPr>
            <a:lvl4pPr marL="1828800" lvl="3" indent="-342900" algn="l">
              <a:spcBef>
                <a:spcPts val="360"/>
              </a:spcBef>
              <a:spcAft>
                <a:spcPts val="0"/>
              </a:spcAft>
              <a:buClr>
                <a:schemeClr val="dk1"/>
              </a:buClr>
              <a:buSzPts val="1800"/>
              <a:buFont typeface="Comic Sans MS"/>
              <a:buChar char="–"/>
              <a:defRPr sz="1800"/>
            </a:lvl4pPr>
            <a:lvl5pPr marL="2286000" lvl="4" indent="-342900" algn="l">
              <a:spcBef>
                <a:spcPts val="360"/>
              </a:spcBef>
              <a:spcAft>
                <a:spcPts val="0"/>
              </a:spcAft>
              <a:buClr>
                <a:schemeClr val="dk1"/>
              </a:buClr>
              <a:buSzPts val="1800"/>
              <a:buFont typeface="Comic Sans MS"/>
              <a:buChar char="»"/>
              <a:defRPr sz="1800"/>
            </a:lvl5pPr>
            <a:lvl6pPr marL="2743200" lvl="5" indent="-342900" algn="l">
              <a:spcBef>
                <a:spcPts val="360"/>
              </a:spcBef>
              <a:spcAft>
                <a:spcPts val="0"/>
              </a:spcAft>
              <a:buClr>
                <a:schemeClr val="dk1"/>
              </a:buClr>
              <a:buSzPts val="1800"/>
              <a:buFont typeface="Comic Sans MS"/>
              <a:buChar char="»"/>
              <a:defRPr sz="1800"/>
            </a:lvl6pPr>
            <a:lvl7pPr marL="3200400" lvl="6" indent="-342900" algn="l">
              <a:spcBef>
                <a:spcPts val="360"/>
              </a:spcBef>
              <a:spcAft>
                <a:spcPts val="0"/>
              </a:spcAft>
              <a:buClr>
                <a:schemeClr val="dk1"/>
              </a:buClr>
              <a:buSzPts val="1800"/>
              <a:buFont typeface="Comic Sans MS"/>
              <a:buChar char="»"/>
              <a:defRPr sz="1800"/>
            </a:lvl7pPr>
            <a:lvl8pPr marL="3657600" lvl="7" indent="-342900" algn="l">
              <a:spcBef>
                <a:spcPts val="360"/>
              </a:spcBef>
              <a:spcAft>
                <a:spcPts val="0"/>
              </a:spcAft>
              <a:buClr>
                <a:schemeClr val="dk1"/>
              </a:buClr>
              <a:buSzPts val="1800"/>
              <a:buFont typeface="Comic Sans MS"/>
              <a:buChar char="»"/>
              <a:defRPr sz="1800"/>
            </a:lvl8pPr>
            <a:lvl9pPr marL="4114800" lvl="8" indent="-342900" algn="l">
              <a:spcBef>
                <a:spcPts val="360"/>
              </a:spcBef>
              <a:spcAft>
                <a:spcPts val="0"/>
              </a:spcAft>
              <a:buClr>
                <a:schemeClr val="dk1"/>
              </a:buClr>
              <a:buSzPts val="1800"/>
              <a:buFont typeface="Comic Sans MS"/>
              <a:buChar char="»"/>
              <a:defRPr sz="1800"/>
            </a:lvl9pPr>
          </a:lstStyle>
          <a:p>
            <a:endParaRPr/>
          </a:p>
        </p:txBody>
      </p:sp>
      <p:sp>
        <p:nvSpPr>
          <p:cNvPr id="109" name="Google Shape;109;p86"/>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86"/>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1"/>
        <p:cNvGrpSpPr/>
        <p:nvPr/>
      </p:nvGrpSpPr>
      <p:grpSpPr>
        <a:xfrm>
          <a:off x="0" y="0"/>
          <a:ext cx="0" cy="0"/>
          <a:chOff x="0" y="0"/>
          <a:chExt cx="0" cy="0"/>
        </a:xfrm>
      </p:grpSpPr>
      <p:sp>
        <p:nvSpPr>
          <p:cNvPr id="112" name="Google Shape;112;p8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3" name="Google Shape;113;p87"/>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omic Sans MS"/>
              <a:buNone/>
              <a:defRPr sz="2400" b="1"/>
            </a:lvl1pPr>
            <a:lvl2pPr marL="914400" lvl="1" indent="-228600" algn="l">
              <a:spcBef>
                <a:spcPts val="400"/>
              </a:spcBef>
              <a:spcAft>
                <a:spcPts val="0"/>
              </a:spcAft>
              <a:buClr>
                <a:srgbClr val="000099"/>
              </a:buClr>
              <a:buSzPts val="2000"/>
              <a:buFont typeface="Comic Sans MS"/>
              <a:buNone/>
              <a:defRPr sz="2000" b="1"/>
            </a:lvl2pPr>
            <a:lvl3pPr marL="1371600" lvl="2" indent="-228600" algn="l">
              <a:spcBef>
                <a:spcPts val="360"/>
              </a:spcBef>
              <a:spcAft>
                <a:spcPts val="0"/>
              </a:spcAft>
              <a:buClr>
                <a:schemeClr val="dk1"/>
              </a:buClr>
              <a:buSzPts val="1800"/>
              <a:buFont typeface="Comic Sans MS"/>
              <a:buNone/>
              <a:defRPr sz="1800" b="1"/>
            </a:lvl3pPr>
            <a:lvl4pPr marL="1828800" lvl="3" indent="-228600" algn="l">
              <a:spcBef>
                <a:spcPts val="320"/>
              </a:spcBef>
              <a:spcAft>
                <a:spcPts val="0"/>
              </a:spcAft>
              <a:buClr>
                <a:schemeClr val="dk1"/>
              </a:buClr>
              <a:buSzPts val="1600"/>
              <a:buFont typeface="Comic Sans MS"/>
              <a:buNone/>
              <a:defRPr sz="1600" b="1"/>
            </a:lvl4pPr>
            <a:lvl5pPr marL="2286000" lvl="4" indent="-228600" algn="l">
              <a:spcBef>
                <a:spcPts val="320"/>
              </a:spcBef>
              <a:spcAft>
                <a:spcPts val="0"/>
              </a:spcAft>
              <a:buClr>
                <a:schemeClr val="dk1"/>
              </a:buClr>
              <a:buSzPts val="1600"/>
              <a:buFont typeface="Comic Sans MS"/>
              <a:buNone/>
              <a:defRPr sz="1600" b="1"/>
            </a:lvl5pPr>
            <a:lvl6pPr marL="2743200" lvl="5" indent="-228600" algn="l">
              <a:spcBef>
                <a:spcPts val="320"/>
              </a:spcBef>
              <a:spcAft>
                <a:spcPts val="0"/>
              </a:spcAft>
              <a:buClr>
                <a:schemeClr val="dk1"/>
              </a:buClr>
              <a:buSzPts val="1600"/>
              <a:buFont typeface="Comic Sans MS"/>
              <a:buNone/>
              <a:defRPr sz="1600" b="1"/>
            </a:lvl6pPr>
            <a:lvl7pPr marL="3200400" lvl="6" indent="-228600" algn="l">
              <a:spcBef>
                <a:spcPts val="320"/>
              </a:spcBef>
              <a:spcAft>
                <a:spcPts val="0"/>
              </a:spcAft>
              <a:buClr>
                <a:schemeClr val="dk1"/>
              </a:buClr>
              <a:buSzPts val="1600"/>
              <a:buFont typeface="Comic Sans MS"/>
              <a:buNone/>
              <a:defRPr sz="1600" b="1"/>
            </a:lvl7pPr>
            <a:lvl8pPr marL="3657600" lvl="7" indent="-228600" algn="l">
              <a:spcBef>
                <a:spcPts val="320"/>
              </a:spcBef>
              <a:spcAft>
                <a:spcPts val="0"/>
              </a:spcAft>
              <a:buClr>
                <a:schemeClr val="dk1"/>
              </a:buClr>
              <a:buSzPts val="1600"/>
              <a:buFont typeface="Comic Sans MS"/>
              <a:buNone/>
              <a:defRPr sz="1600" b="1"/>
            </a:lvl8pPr>
            <a:lvl9pPr marL="4114800" lvl="8" indent="-228600" algn="l">
              <a:spcBef>
                <a:spcPts val="320"/>
              </a:spcBef>
              <a:spcAft>
                <a:spcPts val="0"/>
              </a:spcAft>
              <a:buClr>
                <a:schemeClr val="dk1"/>
              </a:buClr>
              <a:buSzPts val="1600"/>
              <a:buFont typeface="Comic Sans MS"/>
              <a:buNone/>
              <a:defRPr sz="1600" b="1"/>
            </a:lvl9pPr>
          </a:lstStyle>
          <a:p>
            <a:endParaRPr/>
          </a:p>
        </p:txBody>
      </p:sp>
      <p:sp>
        <p:nvSpPr>
          <p:cNvPr id="114" name="Google Shape;114;p87"/>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Comic Sans MS"/>
              <a:buChar char="•"/>
              <a:defRPr sz="2400"/>
            </a:lvl1pPr>
            <a:lvl2pPr marL="914400" lvl="1" indent="-355600" algn="l">
              <a:spcBef>
                <a:spcPts val="400"/>
              </a:spcBef>
              <a:spcAft>
                <a:spcPts val="0"/>
              </a:spcAft>
              <a:buClr>
                <a:srgbClr val="000099"/>
              </a:buClr>
              <a:buSzPts val="2000"/>
              <a:buFont typeface="Comic Sans MS"/>
              <a:buChar char="–"/>
              <a:defRPr sz="2000"/>
            </a:lvl2pPr>
            <a:lvl3pPr marL="1371600" lvl="2" indent="-342900" algn="l">
              <a:spcBef>
                <a:spcPts val="360"/>
              </a:spcBef>
              <a:spcAft>
                <a:spcPts val="0"/>
              </a:spcAft>
              <a:buClr>
                <a:schemeClr val="dk1"/>
              </a:buClr>
              <a:buSzPts val="1800"/>
              <a:buFont typeface="Comic Sans MS"/>
              <a:buChar char="•"/>
              <a:defRPr sz="1800"/>
            </a:lvl3pPr>
            <a:lvl4pPr marL="1828800" lvl="3" indent="-330200" algn="l">
              <a:spcBef>
                <a:spcPts val="320"/>
              </a:spcBef>
              <a:spcAft>
                <a:spcPts val="0"/>
              </a:spcAft>
              <a:buClr>
                <a:schemeClr val="dk1"/>
              </a:buClr>
              <a:buSzPts val="1600"/>
              <a:buFont typeface="Comic Sans MS"/>
              <a:buChar char="–"/>
              <a:defRPr sz="1600"/>
            </a:lvl4pPr>
            <a:lvl5pPr marL="2286000" lvl="4" indent="-330200" algn="l">
              <a:spcBef>
                <a:spcPts val="320"/>
              </a:spcBef>
              <a:spcAft>
                <a:spcPts val="0"/>
              </a:spcAft>
              <a:buClr>
                <a:schemeClr val="dk1"/>
              </a:buClr>
              <a:buSzPts val="1600"/>
              <a:buFont typeface="Comic Sans MS"/>
              <a:buChar char="»"/>
              <a:defRPr sz="1600"/>
            </a:lvl5pPr>
            <a:lvl6pPr marL="2743200" lvl="5" indent="-330200" algn="l">
              <a:spcBef>
                <a:spcPts val="320"/>
              </a:spcBef>
              <a:spcAft>
                <a:spcPts val="0"/>
              </a:spcAft>
              <a:buClr>
                <a:schemeClr val="dk1"/>
              </a:buClr>
              <a:buSzPts val="1600"/>
              <a:buFont typeface="Comic Sans MS"/>
              <a:buChar char="»"/>
              <a:defRPr sz="1600"/>
            </a:lvl6pPr>
            <a:lvl7pPr marL="3200400" lvl="6" indent="-330200" algn="l">
              <a:spcBef>
                <a:spcPts val="320"/>
              </a:spcBef>
              <a:spcAft>
                <a:spcPts val="0"/>
              </a:spcAft>
              <a:buClr>
                <a:schemeClr val="dk1"/>
              </a:buClr>
              <a:buSzPts val="1600"/>
              <a:buFont typeface="Comic Sans MS"/>
              <a:buChar char="»"/>
              <a:defRPr sz="1600"/>
            </a:lvl7pPr>
            <a:lvl8pPr marL="3657600" lvl="7" indent="-330200" algn="l">
              <a:spcBef>
                <a:spcPts val="320"/>
              </a:spcBef>
              <a:spcAft>
                <a:spcPts val="0"/>
              </a:spcAft>
              <a:buClr>
                <a:schemeClr val="dk1"/>
              </a:buClr>
              <a:buSzPts val="1600"/>
              <a:buFont typeface="Comic Sans MS"/>
              <a:buChar char="»"/>
              <a:defRPr sz="1600"/>
            </a:lvl8pPr>
            <a:lvl9pPr marL="4114800" lvl="8" indent="-330200" algn="l">
              <a:spcBef>
                <a:spcPts val="320"/>
              </a:spcBef>
              <a:spcAft>
                <a:spcPts val="0"/>
              </a:spcAft>
              <a:buClr>
                <a:schemeClr val="dk1"/>
              </a:buClr>
              <a:buSzPts val="1600"/>
              <a:buFont typeface="Comic Sans MS"/>
              <a:buChar char="»"/>
              <a:defRPr sz="1600"/>
            </a:lvl9pPr>
          </a:lstStyle>
          <a:p>
            <a:endParaRPr/>
          </a:p>
        </p:txBody>
      </p:sp>
      <p:sp>
        <p:nvSpPr>
          <p:cNvPr id="115" name="Google Shape;115;p87"/>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Comic Sans MS"/>
              <a:buNone/>
              <a:defRPr sz="2400" b="1"/>
            </a:lvl1pPr>
            <a:lvl2pPr marL="914400" lvl="1" indent="-228600" algn="l">
              <a:spcBef>
                <a:spcPts val="400"/>
              </a:spcBef>
              <a:spcAft>
                <a:spcPts val="0"/>
              </a:spcAft>
              <a:buClr>
                <a:srgbClr val="000099"/>
              </a:buClr>
              <a:buSzPts val="2000"/>
              <a:buFont typeface="Comic Sans MS"/>
              <a:buNone/>
              <a:defRPr sz="2000" b="1"/>
            </a:lvl2pPr>
            <a:lvl3pPr marL="1371600" lvl="2" indent="-228600" algn="l">
              <a:spcBef>
                <a:spcPts val="360"/>
              </a:spcBef>
              <a:spcAft>
                <a:spcPts val="0"/>
              </a:spcAft>
              <a:buClr>
                <a:schemeClr val="dk1"/>
              </a:buClr>
              <a:buSzPts val="1800"/>
              <a:buFont typeface="Comic Sans MS"/>
              <a:buNone/>
              <a:defRPr sz="1800" b="1"/>
            </a:lvl3pPr>
            <a:lvl4pPr marL="1828800" lvl="3" indent="-228600" algn="l">
              <a:spcBef>
                <a:spcPts val="320"/>
              </a:spcBef>
              <a:spcAft>
                <a:spcPts val="0"/>
              </a:spcAft>
              <a:buClr>
                <a:schemeClr val="dk1"/>
              </a:buClr>
              <a:buSzPts val="1600"/>
              <a:buFont typeface="Comic Sans MS"/>
              <a:buNone/>
              <a:defRPr sz="1600" b="1"/>
            </a:lvl4pPr>
            <a:lvl5pPr marL="2286000" lvl="4" indent="-228600" algn="l">
              <a:spcBef>
                <a:spcPts val="320"/>
              </a:spcBef>
              <a:spcAft>
                <a:spcPts val="0"/>
              </a:spcAft>
              <a:buClr>
                <a:schemeClr val="dk1"/>
              </a:buClr>
              <a:buSzPts val="1600"/>
              <a:buFont typeface="Comic Sans MS"/>
              <a:buNone/>
              <a:defRPr sz="1600" b="1"/>
            </a:lvl5pPr>
            <a:lvl6pPr marL="2743200" lvl="5" indent="-228600" algn="l">
              <a:spcBef>
                <a:spcPts val="320"/>
              </a:spcBef>
              <a:spcAft>
                <a:spcPts val="0"/>
              </a:spcAft>
              <a:buClr>
                <a:schemeClr val="dk1"/>
              </a:buClr>
              <a:buSzPts val="1600"/>
              <a:buFont typeface="Comic Sans MS"/>
              <a:buNone/>
              <a:defRPr sz="1600" b="1"/>
            </a:lvl6pPr>
            <a:lvl7pPr marL="3200400" lvl="6" indent="-228600" algn="l">
              <a:spcBef>
                <a:spcPts val="320"/>
              </a:spcBef>
              <a:spcAft>
                <a:spcPts val="0"/>
              </a:spcAft>
              <a:buClr>
                <a:schemeClr val="dk1"/>
              </a:buClr>
              <a:buSzPts val="1600"/>
              <a:buFont typeface="Comic Sans MS"/>
              <a:buNone/>
              <a:defRPr sz="1600" b="1"/>
            </a:lvl7pPr>
            <a:lvl8pPr marL="3657600" lvl="7" indent="-228600" algn="l">
              <a:spcBef>
                <a:spcPts val="320"/>
              </a:spcBef>
              <a:spcAft>
                <a:spcPts val="0"/>
              </a:spcAft>
              <a:buClr>
                <a:schemeClr val="dk1"/>
              </a:buClr>
              <a:buSzPts val="1600"/>
              <a:buFont typeface="Comic Sans MS"/>
              <a:buNone/>
              <a:defRPr sz="1600" b="1"/>
            </a:lvl8pPr>
            <a:lvl9pPr marL="4114800" lvl="8" indent="-228600" algn="l">
              <a:spcBef>
                <a:spcPts val="320"/>
              </a:spcBef>
              <a:spcAft>
                <a:spcPts val="0"/>
              </a:spcAft>
              <a:buClr>
                <a:schemeClr val="dk1"/>
              </a:buClr>
              <a:buSzPts val="1600"/>
              <a:buFont typeface="Comic Sans MS"/>
              <a:buNone/>
              <a:defRPr sz="1600" b="1"/>
            </a:lvl9pPr>
          </a:lstStyle>
          <a:p>
            <a:endParaRPr/>
          </a:p>
        </p:txBody>
      </p:sp>
      <p:sp>
        <p:nvSpPr>
          <p:cNvPr id="116" name="Google Shape;116;p87"/>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Font typeface="Comic Sans MS"/>
              <a:buChar char="•"/>
              <a:defRPr sz="2400"/>
            </a:lvl1pPr>
            <a:lvl2pPr marL="914400" lvl="1" indent="-355600" algn="l">
              <a:spcBef>
                <a:spcPts val="400"/>
              </a:spcBef>
              <a:spcAft>
                <a:spcPts val="0"/>
              </a:spcAft>
              <a:buClr>
                <a:srgbClr val="000099"/>
              </a:buClr>
              <a:buSzPts val="2000"/>
              <a:buFont typeface="Comic Sans MS"/>
              <a:buChar char="–"/>
              <a:defRPr sz="2000"/>
            </a:lvl2pPr>
            <a:lvl3pPr marL="1371600" lvl="2" indent="-342900" algn="l">
              <a:spcBef>
                <a:spcPts val="360"/>
              </a:spcBef>
              <a:spcAft>
                <a:spcPts val="0"/>
              </a:spcAft>
              <a:buClr>
                <a:schemeClr val="dk1"/>
              </a:buClr>
              <a:buSzPts val="1800"/>
              <a:buFont typeface="Comic Sans MS"/>
              <a:buChar char="•"/>
              <a:defRPr sz="1800"/>
            </a:lvl3pPr>
            <a:lvl4pPr marL="1828800" lvl="3" indent="-330200" algn="l">
              <a:spcBef>
                <a:spcPts val="320"/>
              </a:spcBef>
              <a:spcAft>
                <a:spcPts val="0"/>
              </a:spcAft>
              <a:buClr>
                <a:schemeClr val="dk1"/>
              </a:buClr>
              <a:buSzPts val="1600"/>
              <a:buFont typeface="Comic Sans MS"/>
              <a:buChar char="–"/>
              <a:defRPr sz="1600"/>
            </a:lvl4pPr>
            <a:lvl5pPr marL="2286000" lvl="4" indent="-330200" algn="l">
              <a:spcBef>
                <a:spcPts val="320"/>
              </a:spcBef>
              <a:spcAft>
                <a:spcPts val="0"/>
              </a:spcAft>
              <a:buClr>
                <a:schemeClr val="dk1"/>
              </a:buClr>
              <a:buSzPts val="1600"/>
              <a:buFont typeface="Comic Sans MS"/>
              <a:buChar char="»"/>
              <a:defRPr sz="1600"/>
            </a:lvl5pPr>
            <a:lvl6pPr marL="2743200" lvl="5" indent="-330200" algn="l">
              <a:spcBef>
                <a:spcPts val="320"/>
              </a:spcBef>
              <a:spcAft>
                <a:spcPts val="0"/>
              </a:spcAft>
              <a:buClr>
                <a:schemeClr val="dk1"/>
              </a:buClr>
              <a:buSzPts val="1600"/>
              <a:buFont typeface="Comic Sans MS"/>
              <a:buChar char="»"/>
              <a:defRPr sz="1600"/>
            </a:lvl6pPr>
            <a:lvl7pPr marL="3200400" lvl="6" indent="-330200" algn="l">
              <a:spcBef>
                <a:spcPts val="320"/>
              </a:spcBef>
              <a:spcAft>
                <a:spcPts val="0"/>
              </a:spcAft>
              <a:buClr>
                <a:schemeClr val="dk1"/>
              </a:buClr>
              <a:buSzPts val="1600"/>
              <a:buFont typeface="Comic Sans MS"/>
              <a:buChar char="»"/>
              <a:defRPr sz="1600"/>
            </a:lvl7pPr>
            <a:lvl8pPr marL="3657600" lvl="7" indent="-330200" algn="l">
              <a:spcBef>
                <a:spcPts val="320"/>
              </a:spcBef>
              <a:spcAft>
                <a:spcPts val="0"/>
              </a:spcAft>
              <a:buClr>
                <a:schemeClr val="dk1"/>
              </a:buClr>
              <a:buSzPts val="1600"/>
              <a:buFont typeface="Comic Sans MS"/>
              <a:buChar char="»"/>
              <a:defRPr sz="1600"/>
            </a:lvl8pPr>
            <a:lvl9pPr marL="4114800" lvl="8" indent="-330200" algn="l">
              <a:spcBef>
                <a:spcPts val="320"/>
              </a:spcBef>
              <a:spcAft>
                <a:spcPts val="0"/>
              </a:spcAft>
              <a:buClr>
                <a:schemeClr val="dk1"/>
              </a:buClr>
              <a:buSzPts val="1600"/>
              <a:buFont typeface="Comic Sans MS"/>
              <a:buChar char="»"/>
              <a:defRPr sz="1600"/>
            </a:lvl9pPr>
          </a:lstStyle>
          <a:p>
            <a:endParaRPr/>
          </a:p>
        </p:txBody>
      </p:sp>
      <p:sp>
        <p:nvSpPr>
          <p:cNvPr id="117" name="Google Shape;117;p87"/>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87"/>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9"/>
        <p:cNvGrpSpPr/>
        <p:nvPr/>
      </p:nvGrpSpPr>
      <p:grpSpPr>
        <a:xfrm>
          <a:off x="0" y="0"/>
          <a:ext cx="0" cy="0"/>
          <a:chOff x="0" y="0"/>
          <a:chExt cx="0" cy="0"/>
        </a:xfrm>
      </p:grpSpPr>
      <p:sp>
        <p:nvSpPr>
          <p:cNvPr id="120" name="Google Shape;120;p8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1" name="Google Shape;121;p88"/>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88"/>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3"/>
        <p:cNvGrpSpPr/>
        <p:nvPr/>
      </p:nvGrpSpPr>
      <p:grpSpPr>
        <a:xfrm>
          <a:off x="0" y="0"/>
          <a:ext cx="0" cy="0"/>
          <a:chOff x="0" y="0"/>
          <a:chExt cx="0" cy="0"/>
        </a:xfrm>
      </p:grpSpPr>
      <p:sp>
        <p:nvSpPr>
          <p:cNvPr id="124" name="Google Shape;124;p89"/>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89"/>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6"/>
        <p:cNvGrpSpPr/>
        <p:nvPr/>
      </p:nvGrpSpPr>
      <p:grpSpPr>
        <a:xfrm>
          <a:off x="0" y="0"/>
          <a:ext cx="0" cy="0"/>
          <a:chOff x="0" y="0"/>
          <a:chExt cx="0" cy="0"/>
        </a:xfrm>
      </p:grpSpPr>
      <p:sp>
        <p:nvSpPr>
          <p:cNvPr id="127" name="Google Shape;127;p9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8" name="Google Shape;128;p90"/>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Comic Sans MS"/>
              <a:buChar char="•"/>
              <a:defRPr sz="3200"/>
            </a:lvl1pPr>
            <a:lvl2pPr marL="914400" lvl="1" indent="-406400" algn="l">
              <a:spcBef>
                <a:spcPts val="560"/>
              </a:spcBef>
              <a:spcAft>
                <a:spcPts val="0"/>
              </a:spcAft>
              <a:buClr>
                <a:srgbClr val="000099"/>
              </a:buClr>
              <a:buSzPts val="2800"/>
              <a:buFont typeface="Comic Sans MS"/>
              <a:buChar char="–"/>
              <a:defRPr sz="2800"/>
            </a:lvl2pPr>
            <a:lvl3pPr marL="1371600" lvl="2" indent="-381000" algn="l">
              <a:spcBef>
                <a:spcPts val="480"/>
              </a:spcBef>
              <a:spcAft>
                <a:spcPts val="0"/>
              </a:spcAft>
              <a:buClr>
                <a:schemeClr val="dk1"/>
              </a:buClr>
              <a:buSzPts val="2400"/>
              <a:buFont typeface="Comic Sans MS"/>
              <a:buChar char="•"/>
              <a:defRPr sz="2400"/>
            </a:lvl3pPr>
            <a:lvl4pPr marL="1828800" lvl="3" indent="-355600" algn="l">
              <a:spcBef>
                <a:spcPts val="400"/>
              </a:spcBef>
              <a:spcAft>
                <a:spcPts val="0"/>
              </a:spcAft>
              <a:buClr>
                <a:schemeClr val="dk1"/>
              </a:buClr>
              <a:buSzPts val="2000"/>
              <a:buFont typeface="Comic Sans MS"/>
              <a:buChar char="–"/>
              <a:defRPr sz="2000"/>
            </a:lvl4pPr>
            <a:lvl5pPr marL="2286000" lvl="4" indent="-355600" algn="l">
              <a:spcBef>
                <a:spcPts val="400"/>
              </a:spcBef>
              <a:spcAft>
                <a:spcPts val="0"/>
              </a:spcAft>
              <a:buClr>
                <a:schemeClr val="dk1"/>
              </a:buClr>
              <a:buSzPts val="2000"/>
              <a:buFont typeface="Comic Sans MS"/>
              <a:buChar char="»"/>
              <a:defRPr sz="2000"/>
            </a:lvl5pPr>
            <a:lvl6pPr marL="2743200" lvl="5" indent="-355600" algn="l">
              <a:spcBef>
                <a:spcPts val="400"/>
              </a:spcBef>
              <a:spcAft>
                <a:spcPts val="0"/>
              </a:spcAft>
              <a:buClr>
                <a:schemeClr val="dk1"/>
              </a:buClr>
              <a:buSzPts val="2000"/>
              <a:buFont typeface="Comic Sans MS"/>
              <a:buChar char="»"/>
              <a:defRPr sz="2000"/>
            </a:lvl6pPr>
            <a:lvl7pPr marL="3200400" lvl="6" indent="-355600" algn="l">
              <a:spcBef>
                <a:spcPts val="400"/>
              </a:spcBef>
              <a:spcAft>
                <a:spcPts val="0"/>
              </a:spcAft>
              <a:buClr>
                <a:schemeClr val="dk1"/>
              </a:buClr>
              <a:buSzPts val="2000"/>
              <a:buFont typeface="Comic Sans MS"/>
              <a:buChar char="»"/>
              <a:defRPr sz="2000"/>
            </a:lvl7pPr>
            <a:lvl8pPr marL="3657600" lvl="7" indent="-355600" algn="l">
              <a:spcBef>
                <a:spcPts val="400"/>
              </a:spcBef>
              <a:spcAft>
                <a:spcPts val="0"/>
              </a:spcAft>
              <a:buClr>
                <a:schemeClr val="dk1"/>
              </a:buClr>
              <a:buSzPts val="2000"/>
              <a:buFont typeface="Comic Sans MS"/>
              <a:buChar char="»"/>
              <a:defRPr sz="2000"/>
            </a:lvl8pPr>
            <a:lvl9pPr marL="4114800" lvl="8" indent="-355600" algn="l">
              <a:spcBef>
                <a:spcPts val="400"/>
              </a:spcBef>
              <a:spcAft>
                <a:spcPts val="0"/>
              </a:spcAft>
              <a:buClr>
                <a:schemeClr val="dk1"/>
              </a:buClr>
              <a:buSzPts val="2000"/>
              <a:buFont typeface="Comic Sans MS"/>
              <a:buChar char="»"/>
              <a:defRPr sz="2000"/>
            </a:lvl9pPr>
          </a:lstStyle>
          <a:p>
            <a:endParaRPr/>
          </a:p>
        </p:txBody>
      </p:sp>
      <p:sp>
        <p:nvSpPr>
          <p:cNvPr id="129" name="Google Shape;129;p90"/>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Comic Sans MS"/>
              <a:buNone/>
              <a:defRPr sz="1400"/>
            </a:lvl1pPr>
            <a:lvl2pPr marL="914400" lvl="1" indent="-228600" algn="l">
              <a:spcBef>
                <a:spcPts val="240"/>
              </a:spcBef>
              <a:spcAft>
                <a:spcPts val="0"/>
              </a:spcAft>
              <a:buClr>
                <a:srgbClr val="000099"/>
              </a:buClr>
              <a:buSzPts val="1200"/>
              <a:buFont typeface="Comic Sans MS"/>
              <a:buNone/>
              <a:defRPr sz="1200"/>
            </a:lvl2pPr>
            <a:lvl3pPr marL="1371600" lvl="2" indent="-228600" algn="l">
              <a:spcBef>
                <a:spcPts val="200"/>
              </a:spcBef>
              <a:spcAft>
                <a:spcPts val="0"/>
              </a:spcAft>
              <a:buClr>
                <a:schemeClr val="dk1"/>
              </a:buClr>
              <a:buSzPts val="1000"/>
              <a:buFont typeface="Comic Sans MS"/>
              <a:buNone/>
              <a:defRPr sz="1000"/>
            </a:lvl3pPr>
            <a:lvl4pPr marL="1828800" lvl="3" indent="-228600" algn="l">
              <a:spcBef>
                <a:spcPts val="180"/>
              </a:spcBef>
              <a:spcAft>
                <a:spcPts val="0"/>
              </a:spcAft>
              <a:buClr>
                <a:schemeClr val="dk1"/>
              </a:buClr>
              <a:buSzPts val="900"/>
              <a:buFont typeface="Comic Sans MS"/>
              <a:buNone/>
              <a:defRPr sz="900"/>
            </a:lvl4pPr>
            <a:lvl5pPr marL="2286000" lvl="4" indent="-228600" algn="l">
              <a:spcBef>
                <a:spcPts val="180"/>
              </a:spcBef>
              <a:spcAft>
                <a:spcPts val="0"/>
              </a:spcAft>
              <a:buClr>
                <a:schemeClr val="dk1"/>
              </a:buClr>
              <a:buSzPts val="900"/>
              <a:buFont typeface="Comic Sans MS"/>
              <a:buNone/>
              <a:defRPr sz="900"/>
            </a:lvl5pPr>
            <a:lvl6pPr marL="2743200" lvl="5" indent="-228600" algn="l">
              <a:spcBef>
                <a:spcPts val="180"/>
              </a:spcBef>
              <a:spcAft>
                <a:spcPts val="0"/>
              </a:spcAft>
              <a:buClr>
                <a:schemeClr val="dk1"/>
              </a:buClr>
              <a:buSzPts val="900"/>
              <a:buFont typeface="Comic Sans MS"/>
              <a:buNone/>
              <a:defRPr sz="900"/>
            </a:lvl6pPr>
            <a:lvl7pPr marL="3200400" lvl="6" indent="-228600" algn="l">
              <a:spcBef>
                <a:spcPts val="180"/>
              </a:spcBef>
              <a:spcAft>
                <a:spcPts val="0"/>
              </a:spcAft>
              <a:buClr>
                <a:schemeClr val="dk1"/>
              </a:buClr>
              <a:buSzPts val="900"/>
              <a:buFont typeface="Comic Sans MS"/>
              <a:buNone/>
              <a:defRPr sz="900"/>
            </a:lvl7pPr>
            <a:lvl8pPr marL="3657600" lvl="7" indent="-228600" algn="l">
              <a:spcBef>
                <a:spcPts val="180"/>
              </a:spcBef>
              <a:spcAft>
                <a:spcPts val="0"/>
              </a:spcAft>
              <a:buClr>
                <a:schemeClr val="dk1"/>
              </a:buClr>
              <a:buSzPts val="900"/>
              <a:buFont typeface="Comic Sans MS"/>
              <a:buNone/>
              <a:defRPr sz="900"/>
            </a:lvl8pPr>
            <a:lvl9pPr marL="4114800" lvl="8" indent="-228600" algn="l">
              <a:spcBef>
                <a:spcPts val="180"/>
              </a:spcBef>
              <a:spcAft>
                <a:spcPts val="0"/>
              </a:spcAft>
              <a:buClr>
                <a:schemeClr val="dk1"/>
              </a:buClr>
              <a:buSzPts val="900"/>
              <a:buFont typeface="Comic Sans MS"/>
              <a:buNone/>
              <a:defRPr sz="900"/>
            </a:lvl9pPr>
          </a:lstStyle>
          <a:p>
            <a:endParaRPr/>
          </a:p>
        </p:txBody>
      </p:sp>
      <p:sp>
        <p:nvSpPr>
          <p:cNvPr id="130" name="Google Shape;130;p90"/>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90"/>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2"/>
        <p:cNvGrpSpPr/>
        <p:nvPr/>
      </p:nvGrpSpPr>
      <p:grpSpPr>
        <a:xfrm>
          <a:off x="0" y="0"/>
          <a:ext cx="0" cy="0"/>
          <a:chOff x="0" y="0"/>
          <a:chExt cx="0" cy="0"/>
        </a:xfrm>
      </p:grpSpPr>
      <p:sp>
        <p:nvSpPr>
          <p:cNvPr id="133" name="Google Shape;133;p9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4" name="Google Shape;134;p91"/>
          <p:cNvSpPr>
            <a:spLocks noGrp="1"/>
          </p:cNvSpPr>
          <p:nvPr>
            <p:ph type="pic" idx="2"/>
          </p:nvPr>
        </p:nvSpPr>
        <p:spPr>
          <a:xfrm>
            <a:off x="2389717" y="612775"/>
            <a:ext cx="7315200" cy="4114800"/>
          </a:xfrm>
          <a:prstGeom prst="rect">
            <a:avLst/>
          </a:prstGeom>
          <a:noFill/>
          <a:ln>
            <a:noFill/>
          </a:ln>
        </p:spPr>
      </p:sp>
      <p:sp>
        <p:nvSpPr>
          <p:cNvPr id="135" name="Google Shape;135;p91"/>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Font typeface="Comic Sans MS"/>
              <a:buNone/>
              <a:defRPr sz="1400"/>
            </a:lvl1pPr>
            <a:lvl2pPr marL="914400" lvl="1" indent="-228600" algn="l">
              <a:spcBef>
                <a:spcPts val="240"/>
              </a:spcBef>
              <a:spcAft>
                <a:spcPts val="0"/>
              </a:spcAft>
              <a:buClr>
                <a:srgbClr val="000099"/>
              </a:buClr>
              <a:buSzPts val="1200"/>
              <a:buFont typeface="Comic Sans MS"/>
              <a:buNone/>
              <a:defRPr sz="1200"/>
            </a:lvl2pPr>
            <a:lvl3pPr marL="1371600" lvl="2" indent="-228600" algn="l">
              <a:spcBef>
                <a:spcPts val="200"/>
              </a:spcBef>
              <a:spcAft>
                <a:spcPts val="0"/>
              </a:spcAft>
              <a:buClr>
                <a:schemeClr val="dk1"/>
              </a:buClr>
              <a:buSzPts val="1000"/>
              <a:buFont typeface="Comic Sans MS"/>
              <a:buNone/>
              <a:defRPr sz="1000"/>
            </a:lvl3pPr>
            <a:lvl4pPr marL="1828800" lvl="3" indent="-228600" algn="l">
              <a:spcBef>
                <a:spcPts val="180"/>
              </a:spcBef>
              <a:spcAft>
                <a:spcPts val="0"/>
              </a:spcAft>
              <a:buClr>
                <a:schemeClr val="dk1"/>
              </a:buClr>
              <a:buSzPts val="900"/>
              <a:buFont typeface="Comic Sans MS"/>
              <a:buNone/>
              <a:defRPr sz="900"/>
            </a:lvl4pPr>
            <a:lvl5pPr marL="2286000" lvl="4" indent="-228600" algn="l">
              <a:spcBef>
                <a:spcPts val="180"/>
              </a:spcBef>
              <a:spcAft>
                <a:spcPts val="0"/>
              </a:spcAft>
              <a:buClr>
                <a:schemeClr val="dk1"/>
              </a:buClr>
              <a:buSzPts val="900"/>
              <a:buFont typeface="Comic Sans MS"/>
              <a:buNone/>
              <a:defRPr sz="900"/>
            </a:lvl5pPr>
            <a:lvl6pPr marL="2743200" lvl="5" indent="-228600" algn="l">
              <a:spcBef>
                <a:spcPts val="180"/>
              </a:spcBef>
              <a:spcAft>
                <a:spcPts val="0"/>
              </a:spcAft>
              <a:buClr>
                <a:schemeClr val="dk1"/>
              </a:buClr>
              <a:buSzPts val="900"/>
              <a:buFont typeface="Comic Sans MS"/>
              <a:buNone/>
              <a:defRPr sz="900"/>
            </a:lvl6pPr>
            <a:lvl7pPr marL="3200400" lvl="6" indent="-228600" algn="l">
              <a:spcBef>
                <a:spcPts val="180"/>
              </a:spcBef>
              <a:spcAft>
                <a:spcPts val="0"/>
              </a:spcAft>
              <a:buClr>
                <a:schemeClr val="dk1"/>
              </a:buClr>
              <a:buSzPts val="900"/>
              <a:buFont typeface="Comic Sans MS"/>
              <a:buNone/>
              <a:defRPr sz="900"/>
            </a:lvl7pPr>
            <a:lvl8pPr marL="3657600" lvl="7" indent="-228600" algn="l">
              <a:spcBef>
                <a:spcPts val="180"/>
              </a:spcBef>
              <a:spcAft>
                <a:spcPts val="0"/>
              </a:spcAft>
              <a:buClr>
                <a:schemeClr val="dk1"/>
              </a:buClr>
              <a:buSzPts val="900"/>
              <a:buFont typeface="Comic Sans MS"/>
              <a:buNone/>
              <a:defRPr sz="900"/>
            </a:lvl8pPr>
            <a:lvl9pPr marL="4114800" lvl="8" indent="-228600" algn="l">
              <a:spcBef>
                <a:spcPts val="180"/>
              </a:spcBef>
              <a:spcAft>
                <a:spcPts val="0"/>
              </a:spcAft>
              <a:buClr>
                <a:schemeClr val="dk1"/>
              </a:buClr>
              <a:buSzPts val="900"/>
              <a:buFont typeface="Comic Sans MS"/>
              <a:buNone/>
              <a:defRPr sz="900"/>
            </a:lvl9pPr>
          </a:lstStyle>
          <a:p>
            <a:endParaRPr/>
          </a:p>
        </p:txBody>
      </p:sp>
      <p:sp>
        <p:nvSpPr>
          <p:cNvPr id="136" name="Google Shape;136;p91"/>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91"/>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8"/>
        <p:cNvGrpSpPr/>
        <p:nvPr/>
      </p:nvGrpSpPr>
      <p:grpSpPr>
        <a:xfrm>
          <a:off x="0" y="0"/>
          <a:ext cx="0" cy="0"/>
          <a:chOff x="0" y="0"/>
          <a:chExt cx="0" cy="0"/>
        </a:xfrm>
      </p:grpSpPr>
      <p:sp>
        <p:nvSpPr>
          <p:cNvPr id="139" name="Google Shape;139;p92"/>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0" name="Google Shape;140;p92"/>
          <p:cNvSpPr txBox="1">
            <a:spLocks noGrp="1"/>
          </p:cNvSpPr>
          <p:nvPr>
            <p:ph type="body" idx="1"/>
          </p:nvPr>
        </p:nvSpPr>
        <p:spPr>
          <a:xfrm rot="5400000">
            <a:off x="4038600" y="-1143000"/>
            <a:ext cx="4114800" cy="10363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rgbClr val="000099"/>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1" name="Google Shape;141;p92"/>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92"/>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93"/>
          <p:cNvSpPr txBox="1">
            <a:spLocks noGrp="1"/>
          </p:cNvSpPr>
          <p:nvPr>
            <p:ph type="title"/>
          </p:nvPr>
        </p:nvSpPr>
        <p:spPr>
          <a:xfrm rot="5400000">
            <a:off x="7239000" y="2057400"/>
            <a:ext cx="5486400" cy="2590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5" name="Google Shape;145;p93"/>
          <p:cNvSpPr txBox="1">
            <a:spLocks noGrp="1"/>
          </p:cNvSpPr>
          <p:nvPr>
            <p:ph type="body" idx="1"/>
          </p:nvPr>
        </p:nvSpPr>
        <p:spPr>
          <a:xfrm rot="5400000">
            <a:off x="1955800" y="-431800"/>
            <a:ext cx="5486400" cy="7569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rgbClr val="000099"/>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p93"/>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93"/>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Clip Art and Text" type="clipArtAndTx">
  <p:cSld name="CLIPART_AND_TEXT">
    <p:spTree>
      <p:nvGrpSpPr>
        <p:cNvPr id="1" name="Shape 148"/>
        <p:cNvGrpSpPr/>
        <p:nvPr/>
      </p:nvGrpSpPr>
      <p:grpSpPr>
        <a:xfrm>
          <a:off x="0" y="0"/>
          <a:ext cx="0" cy="0"/>
          <a:chOff x="0" y="0"/>
          <a:chExt cx="0" cy="0"/>
        </a:xfrm>
      </p:grpSpPr>
      <p:sp>
        <p:nvSpPr>
          <p:cNvPr id="149" name="Google Shape;149;p94"/>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0" name="Google Shape;150;p94"/>
          <p:cNvSpPr>
            <a:spLocks noGrp="1"/>
          </p:cNvSpPr>
          <p:nvPr>
            <p:ph type="clipArt" idx="2"/>
          </p:nvPr>
        </p:nvSpPr>
        <p:spPr>
          <a:xfrm>
            <a:off x="914400" y="1981200"/>
            <a:ext cx="5080000" cy="4114800"/>
          </a:xfrm>
          <a:prstGeom prst="rect">
            <a:avLst/>
          </a:prstGeom>
          <a:noFill/>
          <a:ln>
            <a:noFill/>
          </a:ln>
        </p:spPr>
      </p:sp>
      <p:sp>
        <p:nvSpPr>
          <p:cNvPr id="151" name="Google Shape;151;p94"/>
          <p:cNvSpPr txBox="1">
            <a:spLocks noGrp="1"/>
          </p:cNvSpPr>
          <p:nvPr>
            <p:ph type="body" idx="1"/>
          </p:nvPr>
        </p:nvSpPr>
        <p:spPr>
          <a:xfrm>
            <a:off x="6197600" y="1981200"/>
            <a:ext cx="5080000" cy="4114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rgbClr val="000099"/>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94"/>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94"/>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lvl="0" indent="0" algn="r">
              <a:spcBef>
                <a:spcPts val="0"/>
              </a:spcBef>
              <a:buNone/>
              <a:defRPr sz="1200">
                <a:solidFill>
                  <a:schemeClr val="dk1"/>
                </a:solidFill>
                <a:latin typeface="Comic Sans MS"/>
                <a:ea typeface="Comic Sans MS"/>
                <a:cs typeface="Comic Sans MS"/>
                <a:sym typeface="Comic Sans MS"/>
              </a:defRPr>
            </a:lvl1pPr>
            <a:lvl2pPr marL="0" lvl="1" indent="0" algn="r">
              <a:spcBef>
                <a:spcPts val="0"/>
              </a:spcBef>
              <a:buNone/>
              <a:defRPr sz="1200">
                <a:solidFill>
                  <a:schemeClr val="dk1"/>
                </a:solidFill>
                <a:latin typeface="Comic Sans MS"/>
                <a:ea typeface="Comic Sans MS"/>
                <a:cs typeface="Comic Sans MS"/>
                <a:sym typeface="Comic Sans MS"/>
              </a:defRPr>
            </a:lvl2pPr>
            <a:lvl3pPr marL="0" lvl="2" indent="0" algn="r">
              <a:spcBef>
                <a:spcPts val="0"/>
              </a:spcBef>
              <a:buNone/>
              <a:defRPr sz="1200">
                <a:solidFill>
                  <a:schemeClr val="dk1"/>
                </a:solidFill>
                <a:latin typeface="Comic Sans MS"/>
                <a:ea typeface="Comic Sans MS"/>
                <a:cs typeface="Comic Sans MS"/>
                <a:sym typeface="Comic Sans MS"/>
              </a:defRPr>
            </a:lvl3pPr>
            <a:lvl4pPr marL="0" lvl="3" indent="0" algn="r">
              <a:spcBef>
                <a:spcPts val="0"/>
              </a:spcBef>
              <a:buNone/>
              <a:defRPr sz="1200">
                <a:solidFill>
                  <a:schemeClr val="dk1"/>
                </a:solidFill>
                <a:latin typeface="Comic Sans MS"/>
                <a:ea typeface="Comic Sans MS"/>
                <a:cs typeface="Comic Sans MS"/>
                <a:sym typeface="Comic Sans MS"/>
              </a:defRPr>
            </a:lvl4pPr>
            <a:lvl5pPr marL="0" lvl="4" indent="0" algn="r">
              <a:spcBef>
                <a:spcPts val="0"/>
              </a:spcBef>
              <a:buNone/>
              <a:defRPr sz="1200">
                <a:solidFill>
                  <a:schemeClr val="dk1"/>
                </a:solidFill>
                <a:latin typeface="Comic Sans MS"/>
                <a:ea typeface="Comic Sans MS"/>
                <a:cs typeface="Comic Sans MS"/>
                <a:sym typeface="Comic Sans MS"/>
              </a:defRPr>
            </a:lvl5pPr>
            <a:lvl6pPr marL="0" lvl="5" indent="0" algn="r">
              <a:spcBef>
                <a:spcPts val="0"/>
              </a:spcBef>
              <a:buNone/>
              <a:defRPr sz="1200">
                <a:solidFill>
                  <a:schemeClr val="dk1"/>
                </a:solidFill>
                <a:latin typeface="Comic Sans MS"/>
                <a:ea typeface="Comic Sans MS"/>
                <a:cs typeface="Comic Sans MS"/>
                <a:sym typeface="Comic Sans MS"/>
              </a:defRPr>
            </a:lvl6pPr>
            <a:lvl7pPr marL="0" lvl="6" indent="0" algn="r">
              <a:spcBef>
                <a:spcPts val="0"/>
              </a:spcBef>
              <a:buNone/>
              <a:defRPr sz="1200">
                <a:solidFill>
                  <a:schemeClr val="dk1"/>
                </a:solidFill>
                <a:latin typeface="Comic Sans MS"/>
                <a:ea typeface="Comic Sans MS"/>
                <a:cs typeface="Comic Sans MS"/>
                <a:sym typeface="Comic Sans MS"/>
              </a:defRPr>
            </a:lvl7pPr>
            <a:lvl8pPr marL="0" lvl="7" indent="0" algn="r">
              <a:spcBef>
                <a:spcPts val="0"/>
              </a:spcBef>
              <a:buNone/>
              <a:defRPr sz="1200">
                <a:solidFill>
                  <a:schemeClr val="dk1"/>
                </a:solidFill>
                <a:latin typeface="Comic Sans MS"/>
                <a:ea typeface="Comic Sans MS"/>
                <a:cs typeface="Comic Sans MS"/>
                <a:sym typeface="Comic Sans MS"/>
              </a:defRPr>
            </a:lvl8pPr>
            <a:lvl9pPr marL="0" lvl="8" indent="0" algn="r">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7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7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75"/>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1pPr>
            <a:lvl2pPr marR="0" lvl="1"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2pPr>
            <a:lvl3pPr marR="0" lvl="2"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3pPr>
            <a:lvl4pPr marR="0" lvl="3"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4pPr>
            <a:lvl5pPr marR="0" lvl="4"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5pPr>
            <a:lvl6pPr marR="0" lvl="5"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6pPr>
            <a:lvl7pPr marR="0" lvl="6"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7pPr>
            <a:lvl8pPr marR="0" lvl="7"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8pPr>
            <a:lvl9pPr marR="0" lvl="8" algn="ctr" rtl="0">
              <a:spcBef>
                <a:spcPts val="0"/>
              </a:spcBef>
              <a:spcAft>
                <a:spcPts val="0"/>
              </a:spcAft>
              <a:buSzPts val="1400"/>
              <a:buNone/>
              <a:defRPr sz="4000" b="0" i="0" u="none" strike="noStrike" cap="none">
                <a:solidFill>
                  <a:srgbClr val="000099"/>
                </a:solidFill>
                <a:latin typeface="Comic Sans MS"/>
                <a:ea typeface="Comic Sans MS"/>
                <a:cs typeface="Comic Sans MS"/>
                <a:sym typeface="Comic Sans MS"/>
              </a:defRPr>
            </a:lvl9pPr>
          </a:lstStyle>
          <a:p>
            <a:endParaRPr/>
          </a:p>
        </p:txBody>
      </p:sp>
      <p:sp>
        <p:nvSpPr>
          <p:cNvPr id="86" name="Google Shape;86;p75"/>
          <p:cNvSpPr txBox="1">
            <a:spLocks noGrp="1"/>
          </p:cNvSpPr>
          <p:nvPr>
            <p:ph type="body" idx="1"/>
          </p:nvPr>
        </p:nvSpPr>
        <p:spPr>
          <a:xfrm>
            <a:off x="914400" y="1981200"/>
            <a:ext cx="10363200" cy="41148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Comic Sans MS"/>
              <a:buChar char="•"/>
              <a:defRPr sz="2800" b="0" i="0" u="none" strike="noStrike" cap="none">
                <a:solidFill>
                  <a:schemeClr val="dk1"/>
                </a:solidFill>
                <a:latin typeface="Comic Sans MS"/>
                <a:ea typeface="Comic Sans MS"/>
                <a:cs typeface="Comic Sans MS"/>
                <a:sym typeface="Comic Sans MS"/>
              </a:defRPr>
            </a:lvl1pPr>
            <a:lvl2pPr marL="914400" marR="0" lvl="1" indent="-355600" algn="l" rtl="0">
              <a:spcBef>
                <a:spcPts val="400"/>
              </a:spcBef>
              <a:spcAft>
                <a:spcPts val="0"/>
              </a:spcAft>
              <a:buClr>
                <a:srgbClr val="000099"/>
              </a:buClr>
              <a:buSzPts val="2000"/>
              <a:buFont typeface="Comic Sans MS"/>
              <a:buChar char="–"/>
              <a:defRPr sz="2000" b="0" i="0" u="none" strike="noStrike" cap="none">
                <a:solidFill>
                  <a:srgbClr val="000099"/>
                </a:solidFill>
                <a:latin typeface="Comic Sans MS"/>
                <a:ea typeface="Comic Sans MS"/>
                <a:cs typeface="Comic Sans MS"/>
                <a:sym typeface="Comic Sans MS"/>
              </a:defRPr>
            </a:lvl2pPr>
            <a:lvl3pPr marL="1371600" marR="0" lvl="2" indent="-342900" algn="l" rtl="0">
              <a:spcBef>
                <a:spcPts val="360"/>
              </a:spcBef>
              <a:spcAft>
                <a:spcPts val="0"/>
              </a:spcAft>
              <a:buClr>
                <a:schemeClr val="dk1"/>
              </a:buClr>
              <a:buSzPts val="1800"/>
              <a:buFont typeface="Comic Sans MS"/>
              <a:buChar char="•"/>
              <a:defRPr sz="1800" b="0" i="0" u="none" strike="noStrike" cap="none">
                <a:solidFill>
                  <a:schemeClr val="dk1"/>
                </a:solidFill>
                <a:latin typeface="Comic Sans MS"/>
                <a:ea typeface="Comic Sans MS"/>
                <a:cs typeface="Comic Sans MS"/>
                <a:sym typeface="Comic Sans MS"/>
              </a:defRPr>
            </a:lvl3pPr>
            <a:lvl4pPr marL="1828800" marR="0" lvl="3"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4pPr>
            <a:lvl5pPr marL="2286000" marR="0" lvl="4"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5pPr>
            <a:lvl6pPr marL="2743200" marR="0" lvl="5"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6pPr>
            <a:lvl7pPr marL="3200400" marR="0" lvl="6"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7pPr>
            <a:lvl8pPr marL="3657600" marR="0" lvl="7"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8pPr>
            <a:lvl9pPr marL="4114800" marR="0" lvl="8" indent="-330200" algn="l" rtl="0">
              <a:spcBef>
                <a:spcPts val="320"/>
              </a:spcBef>
              <a:spcAft>
                <a:spcPts val="0"/>
              </a:spcAft>
              <a:buClr>
                <a:schemeClr val="dk1"/>
              </a:buClr>
              <a:buSzPts val="1600"/>
              <a:buFont typeface="Comic Sans MS"/>
              <a:buChar char="»"/>
              <a:defRPr sz="1600" b="0" i="0" u="none" strike="noStrike" cap="none">
                <a:solidFill>
                  <a:schemeClr val="dk1"/>
                </a:solidFill>
                <a:latin typeface="Comic Sans MS"/>
                <a:ea typeface="Comic Sans MS"/>
                <a:cs typeface="Comic Sans MS"/>
                <a:sym typeface="Comic Sans MS"/>
              </a:defRPr>
            </a:lvl9pPr>
          </a:lstStyle>
          <a:p>
            <a:endParaRPr/>
          </a:p>
        </p:txBody>
      </p:sp>
      <p:sp>
        <p:nvSpPr>
          <p:cNvPr id="87" name="Google Shape;87;p75"/>
          <p:cNvSpPr txBox="1">
            <a:spLocks noGrp="1"/>
          </p:cNvSpPr>
          <p:nvPr>
            <p:ph type="ftr" idx="11"/>
          </p:nvPr>
        </p:nvSpPr>
        <p:spPr>
          <a:xfrm>
            <a:off x="4064000" y="6248400"/>
            <a:ext cx="3962400" cy="4572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a:solidFill>
                  <a:schemeClr val="dk1"/>
                </a:solidFill>
                <a:latin typeface="Comic Sans MS"/>
                <a:ea typeface="Comic Sans MS"/>
                <a:cs typeface="Comic Sans MS"/>
                <a:sym typeface="Comic Sans MS"/>
              </a:defRPr>
            </a:lvl1pPr>
            <a:lvl2pPr marR="0" lvl="1"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2pPr>
            <a:lvl3pPr marR="0" lvl="2"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3pPr>
            <a:lvl4pPr marR="0" lvl="3"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4pPr>
            <a:lvl5pPr marR="0" lvl="4"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5pPr>
            <a:lvl6pPr marR="0" lvl="5"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6pPr>
            <a:lvl7pPr marR="0" lvl="6"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7pPr>
            <a:lvl8pPr marR="0" lvl="7"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8pPr>
            <a:lvl9pPr marR="0" lvl="8" algn="l" rtl="0">
              <a:spcBef>
                <a:spcPts val="0"/>
              </a:spcBef>
              <a:spcAft>
                <a:spcPts val="0"/>
              </a:spcAft>
              <a:buSzPts val="1400"/>
              <a:buNone/>
              <a:defRPr sz="1800" b="0" i="0" u="none" strike="noStrike" cap="none">
                <a:solidFill>
                  <a:schemeClr val="dk1"/>
                </a:solidFill>
                <a:latin typeface="Comic Sans MS"/>
                <a:ea typeface="Comic Sans MS"/>
                <a:cs typeface="Comic Sans MS"/>
                <a:sym typeface="Comic Sans MS"/>
              </a:defRPr>
            </a:lvl9pPr>
          </a:lstStyle>
          <a:p>
            <a:endParaRPr/>
          </a:p>
        </p:txBody>
      </p:sp>
      <p:sp>
        <p:nvSpPr>
          <p:cNvPr id="88" name="Google Shape;88;p75"/>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a:solidFill>
                  <a:schemeClr val="dk1"/>
                </a:solidFill>
                <a:latin typeface="Comic Sans MS"/>
                <a:ea typeface="Comic Sans MS"/>
                <a:cs typeface="Comic Sans MS"/>
                <a:sym typeface="Comic Sans MS"/>
              </a:defRPr>
            </a:lvl1pPr>
            <a:lvl2pPr marL="0" marR="0" lvl="1" indent="0" algn="r" rtl="0">
              <a:spcBef>
                <a:spcPts val="0"/>
              </a:spcBef>
              <a:buNone/>
              <a:defRPr sz="1200">
                <a:solidFill>
                  <a:schemeClr val="dk1"/>
                </a:solidFill>
                <a:latin typeface="Comic Sans MS"/>
                <a:ea typeface="Comic Sans MS"/>
                <a:cs typeface="Comic Sans MS"/>
                <a:sym typeface="Comic Sans MS"/>
              </a:defRPr>
            </a:lvl2pPr>
            <a:lvl3pPr marL="0" marR="0" lvl="2" indent="0" algn="r" rtl="0">
              <a:spcBef>
                <a:spcPts val="0"/>
              </a:spcBef>
              <a:buNone/>
              <a:defRPr sz="1200">
                <a:solidFill>
                  <a:schemeClr val="dk1"/>
                </a:solidFill>
                <a:latin typeface="Comic Sans MS"/>
                <a:ea typeface="Comic Sans MS"/>
                <a:cs typeface="Comic Sans MS"/>
                <a:sym typeface="Comic Sans MS"/>
              </a:defRPr>
            </a:lvl3pPr>
            <a:lvl4pPr marL="0" marR="0" lvl="3" indent="0" algn="r" rtl="0">
              <a:spcBef>
                <a:spcPts val="0"/>
              </a:spcBef>
              <a:buNone/>
              <a:defRPr sz="1200">
                <a:solidFill>
                  <a:schemeClr val="dk1"/>
                </a:solidFill>
                <a:latin typeface="Comic Sans MS"/>
                <a:ea typeface="Comic Sans MS"/>
                <a:cs typeface="Comic Sans MS"/>
                <a:sym typeface="Comic Sans MS"/>
              </a:defRPr>
            </a:lvl4pPr>
            <a:lvl5pPr marL="0" marR="0" lvl="4" indent="0" algn="r" rtl="0">
              <a:spcBef>
                <a:spcPts val="0"/>
              </a:spcBef>
              <a:buNone/>
              <a:defRPr sz="1200">
                <a:solidFill>
                  <a:schemeClr val="dk1"/>
                </a:solidFill>
                <a:latin typeface="Comic Sans MS"/>
                <a:ea typeface="Comic Sans MS"/>
                <a:cs typeface="Comic Sans MS"/>
                <a:sym typeface="Comic Sans MS"/>
              </a:defRPr>
            </a:lvl5pPr>
            <a:lvl6pPr marL="0" marR="0" lvl="5" indent="0" algn="r" rtl="0">
              <a:spcBef>
                <a:spcPts val="0"/>
              </a:spcBef>
              <a:buNone/>
              <a:defRPr sz="1200">
                <a:solidFill>
                  <a:schemeClr val="dk1"/>
                </a:solidFill>
                <a:latin typeface="Comic Sans MS"/>
                <a:ea typeface="Comic Sans MS"/>
                <a:cs typeface="Comic Sans MS"/>
                <a:sym typeface="Comic Sans MS"/>
              </a:defRPr>
            </a:lvl6pPr>
            <a:lvl7pPr marL="0" marR="0" lvl="6" indent="0" algn="r" rtl="0">
              <a:spcBef>
                <a:spcPts val="0"/>
              </a:spcBef>
              <a:buNone/>
              <a:defRPr sz="1200">
                <a:solidFill>
                  <a:schemeClr val="dk1"/>
                </a:solidFill>
                <a:latin typeface="Comic Sans MS"/>
                <a:ea typeface="Comic Sans MS"/>
                <a:cs typeface="Comic Sans MS"/>
                <a:sym typeface="Comic Sans MS"/>
              </a:defRPr>
            </a:lvl7pPr>
            <a:lvl8pPr marL="0" marR="0" lvl="7" indent="0" algn="r" rtl="0">
              <a:spcBef>
                <a:spcPts val="0"/>
              </a:spcBef>
              <a:buNone/>
              <a:defRPr sz="1200">
                <a:solidFill>
                  <a:schemeClr val="dk1"/>
                </a:solidFill>
                <a:latin typeface="Comic Sans MS"/>
                <a:ea typeface="Comic Sans MS"/>
                <a:cs typeface="Comic Sans MS"/>
                <a:sym typeface="Comic Sans MS"/>
              </a:defRPr>
            </a:lvl8pPr>
            <a:lvl9pPr marL="0" marR="0" lvl="8" indent="0" algn="r" rtl="0">
              <a:spcBef>
                <a:spcPts val="0"/>
              </a:spcBef>
              <a:buNone/>
              <a:defRPr sz="1200">
                <a:solidFill>
                  <a:schemeClr val="dk1"/>
                </a:solidFill>
                <a:latin typeface="Comic Sans MS"/>
                <a:ea typeface="Comic Sans MS"/>
                <a:cs typeface="Comic Sans MS"/>
                <a:sym typeface="Comic Sans MS"/>
              </a:defRPr>
            </a:lvl9pPr>
          </a:lstStyle>
          <a:p>
            <a:pPr marL="0" lvl="0" indent="0" algn="r" rtl="0">
              <a:spcBef>
                <a:spcPts val="0"/>
              </a:spcBef>
              <a:spcAft>
                <a:spcPts val="0"/>
              </a:spcAft>
              <a:buNone/>
            </a:pPr>
            <a:fld id="{00000000-1234-1234-1234-123412341234}" type="slidenum">
              <a:rPr lang="en-US"/>
              <a:t>‹#›</a:t>
            </a:fld>
            <a:endParaRPr/>
          </a:p>
        </p:txBody>
      </p:sp>
      <p:cxnSp>
        <p:nvCxnSpPr>
          <p:cNvPr id="89" name="Google Shape;89;p75"/>
          <p:cNvCxnSpPr/>
          <p:nvPr/>
        </p:nvCxnSpPr>
        <p:spPr>
          <a:xfrm>
            <a:off x="711200" y="6096000"/>
            <a:ext cx="10769600" cy="0"/>
          </a:xfrm>
          <a:prstGeom prst="straightConnector1">
            <a:avLst/>
          </a:prstGeom>
          <a:noFill/>
          <a:ln w="9525" cap="flat" cmpd="sng">
            <a:solidFill>
              <a:schemeClr val="dk1"/>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5.png"/><Relationship Id="rId18" Type="http://schemas.openxmlformats.org/officeDocument/2006/relationships/oleObject" Target="../embeddings/oleObject9.bin"/><Relationship Id="rId3" Type="http://schemas.openxmlformats.org/officeDocument/2006/relationships/oleObject" Target="../embeddings/oleObject1.bin"/><Relationship Id="rId21" Type="http://schemas.openxmlformats.org/officeDocument/2006/relationships/oleObject" Target="../embeddings/oleObject11.bin"/><Relationship Id="rId7" Type="http://schemas.openxmlformats.org/officeDocument/2006/relationships/oleObject" Target="../embeddings/oleObject3.bin"/><Relationship Id="rId12" Type="http://schemas.openxmlformats.org/officeDocument/2006/relationships/oleObject" Target="../embeddings/oleObject6.bin"/><Relationship Id="rId17" Type="http://schemas.openxmlformats.org/officeDocument/2006/relationships/image" Target="../media/image7.png"/><Relationship Id="rId2" Type="http://schemas.openxmlformats.org/officeDocument/2006/relationships/notesSlide" Target="../notesSlides/notesSlide2.xml"/><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4.png"/><Relationship Id="rId5" Type="http://schemas.openxmlformats.org/officeDocument/2006/relationships/oleObject" Target="../embeddings/oleObject2.bin"/><Relationship Id="rId15" Type="http://schemas.openxmlformats.org/officeDocument/2006/relationships/image" Target="../media/image6.png"/><Relationship Id="rId10" Type="http://schemas.openxmlformats.org/officeDocument/2006/relationships/oleObject" Target="../embeddings/oleObject5.bin"/><Relationship Id="rId19" Type="http://schemas.openxmlformats.org/officeDocument/2006/relationships/image" Target="../media/image8.png"/><Relationship Id="rId4" Type="http://schemas.openxmlformats.org/officeDocument/2006/relationships/image" Target="../media/image1.png"/><Relationship Id="rId9" Type="http://schemas.openxmlformats.org/officeDocument/2006/relationships/image" Target="../media/image3.png"/><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3.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Play"/>
              <a:buNone/>
            </a:pPr>
            <a:r>
              <a:rPr lang="en-US"/>
              <a:t>Socket Programming</a:t>
            </a:r>
            <a:endParaRPr/>
          </a:p>
        </p:txBody>
      </p:sp>
      <p:sp>
        <p:nvSpPr>
          <p:cNvPr id="159" name="Google Shape;159;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b="0" i="0" u="none" strike="noStrike" cap="none">
                <a:solidFill>
                  <a:schemeClr val="dk1"/>
                </a:solidFill>
                <a:latin typeface="Comic Sans MS"/>
                <a:ea typeface="Comic Sans MS"/>
                <a:cs typeface="Comic Sans MS"/>
                <a:sym typeface="Comic Sans MS"/>
              </a:rPr>
              <a:t>2</a:t>
            </a:fld>
            <a:endParaRPr sz="1200" b="0" i="0" u="none" strike="noStrike" cap="none">
              <a:solidFill>
                <a:schemeClr val="dk1"/>
              </a:solidFill>
              <a:latin typeface="Comic Sans MS"/>
              <a:ea typeface="Comic Sans MS"/>
              <a:cs typeface="Comic Sans MS"/>
              <a:sym typeface="Comic Sans MS"/>
            </a:endParaRPr>
          </a:p>
        </p:txBody>
      </p:sp>
      <p:sp>
        <p:nvSpPr>
          <p:cNvPr id="166" name="Google Shape;166;p2"/>
          <p:cNvSpPr/>
          <p:nvPr/>
        </p:nvSpPr>
        <p:spPr>
          <a:xfrm>
            <a:off x="1893888" y="1371600"/>
            <a:ext cx="4248150" cy="903288"/>
          </a:xfrm>
          <a:prstGeom prst="rect">
            <a:avLst/>
          </a:prstGeom>
          <a:solidFill>
            <a:srgbClr val="FFFFFF"/>
          </a:solidFill>
          <a:ln w="19050" cap="flat" cmpd="sng">
            <a:solidFill>
              <a:schemeClr val="accent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i="0" u="none" strike="noStrike" cap="none">
              <a:solidFill>
                <a:schemeClr val="dk1"/>
              </a:solidFill>
              <a:latin typeface="Times New Roman"/>
              <a:ea typeface="Times New Roman"/>
              <a:cs typeface="Times New Roman"/>
              <a:sym typeface="Times New Roman"/>
            </a:endParaRPr>
          </a:p>
        </p:txBody>
      </p:sp>
      <p:sp>
        <p:nvSpPr>
          <p:cNvPr id="167" name="Google Shape;167;p2"/>
          <p:cNvSpPr txBox="1">
            <a:spLocks noGrp="1"/>
          </p:cNvSpPr>
          <p:nvPr>
            <p:ph type="title"/>
          </p:nvPr>
        </p:nvSpPr>
        <p:spPr>
          <a:xfrm>
            <a:off x="1714500" y="238125"/>
            <a:ext cx="83820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Recap: Client-Server Communication Paradigm</a:t>
            </a:r>
            <a:endParaRPr/>
          </a:p>
        </p:txBody>
      </p:sp>
      <p:sp>
        <p:nvSpPr>
          <p:cNvPr id="168" name="Google Shape;168;p2"/>
          <p:cNvSpPr txBox="1">
            <a:spLocks noGrp="1"/>
          </p:cNvSpPr>
          <p:nvPr>
            <p:ph type="body" idx="1"/>
          </p:nvPr>
        </p:nvSpPr>
        <p:spPr>
          <a:xfrm>
            <a:off x="1914525" y="1428750"/>
            <a:ext cx="4191000" cy="781050"/>
          </a:xfrm>
          <a:prstGeom prst="rect">
            <a:avLst/>
          </a:prstGeom>
          <a:noFill/>
          <a:ln>
            <a:noFill/>
          </a:ln>
        </p:spPr>
        <p:txBody>
          <a:bodyPr spcFirstLastPara="1" wrap="square" lIns="91425" tIns="45700" rIns="91425" bIns="45700" anchor="t" anchorCtr="0">
            <a:normAutofit/>
          </a:bodyPr>
          <a:lstStyle/>
          <a:p>
            <a:pPr marL="228600" lvl="0" indent="-228600" algn="ctr" rtl="0">
              <a:lnSpc>
                <a:spcPct val="90000"/>
              </a:lnSpc>
              <a:spcBef>
                <a:spcPts val="0"/>
              </a:spcBef>
              <a:spcAft>
                <a:spcPts val="0"/>
              </a:spcAft>
              <a:buClr>
                <a:schemeClr val="dk1"/>
              </a:buClr>
              <a:buSzPts val="2400"/>
              <a:buFont typeface="Arial"/>
              <a:buNone/>
            </a:pPr>
            <a:r>
              <a:rPr lang="en-US" sz="2400"/>
              <a:t>Typical network app has two pieces: </a:t>
            </a:r>
            <a:r>
              <a:rPr lang="en-US" sz="2400" i="1">
                <a:solidFill>
                  <a:schemeClr val="accent2"/>
                </a:solidFill>
              </a:rPr>
              <a:t>client</a:t>
            </a:r>
            <a:r>
              <a:rPr lang="en-US" sz="2400"/>
              <a:t> and </a:t>
            </a:r>
            <a:r>
              <a:rPr lang="en-US" sz="2400" i="1">
                <a:solidFill>
                  <a:schemeClr val="accent2"/>
                </a:solidFill>
              </a:rPr>
              <a:t>server</a:t>
            </a:r>
            <a:endParaRPr/>
          </a:p>
        </p:txBody>
      </p:sp>
      <p:grpSp>
        <p:nvGrpSpPr>
          <p:cNvPr id="169" name="Google Shape;169;p2"/>
          <p:cNvGrpSpPr/>
          <p:nvPr/>
        </p:nvGrpSpPr>
        <p:grpSpPr>
          <a:xfrm>
            <a:off x="6423025" y="1847850"/>
            <a:ext cx="3678238" cy="3670300"/>
            <a:chOff x="3092" y="1182"/>
            <a:chExt cx="2317" cy="2312"/>
          </a:xfrm>
        </p:grpSpPr>
        <p:sp>
          <p:nvSpPr>
            <p:cNvPr id="170" name="Google Shape;170;p2"/>
            <p:cNvSpPr/>
            <p:nvPr/>
          </p:nvSpPr>
          <p:spPr>
            <a:xfrm>
              <a:off x="4276" y="1272"/>
              <a:ext cx="1133" cy="1055"/>
            </a:xfrm>
            <a:custGeom>
              <a:avLst/>
              <a:gdLst/>
              <a:ahLst/>
              <a:cxnLst/>
              <a:rect l="l" t="t" r="r" b="b"/>
              <a:pathLst>
                <a:path w="1292" h="1255" extrusionOk="0">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1" name="Google Shape;171;p2"/>
            <p:cNvSpPr/>
            <p:nvPr/>
          </p:nvSpPr>
          <p:spPr>
            <a:xfrm>
              <a:off x="3092" y="1182"/>
              <a:ext cx="1176" cy="1001"/>
            </a:xfrm>
            <a:custGeom>
              <a:avLst/>
              <a:gdLst/>
              <a:ahLst/>
              <a:cxnLst/>
              <a:rect l="l" t="t" r="r" b="b"/>
              <a:pathLst>
                <a:path w="1340" h="1191" extrusionOk="0">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72" name="Google Shape;172;p2"/>
            <p:cNvSpPr/>
            <p:nvPr/>
          </p:nvSpPr>
          <p:spPr>
            <a:xfrm>
              <a:off x="3324" y="2096"/>
              <a:ext cx="1874" cy="1398"/>
            </a:xfrm>
            <a:custGeom>
              <a:avLst/>
              <a:gdLst/>
              <a:ahLst/>
              <a:cxnLst/>
              <a:rect l="l" t="t" r="r" b="b"/>
              <a:pathLst>
                <a:path w="2135" h="1662" extrusionOk="0">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173" name="Google Shape;173;p2"/>
            <p:cNvGrpSpPr/>
            <p:nvPr/>
          </p:nvGrpSpPr>
          <p:grpSpPr>
            <a:xfrm>
              <a:off x="3166" y="1267"/>
              <a:ext cx="462" cy="201"/>
              <a:chOff x="3552" y="246"/>
              <a:chExt cx="527" cy="248"/>
            </a:xfrm>
          </p:grpSpPr>
          <p:graphicFrame>
            <p:nvGraphicFramePr>
              <p:cNvPr id="174" name="Google Shape;174;p2"/>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r:id="rId3" imgW="299" imgH="248" progId="MS_ClipArt_Gallery.2">
                      <p:embed/>
                    </p:oleObj>
                  </mc:Choice>
                  <mc:Fallback>
                    <p:oleObj r:id="rId3" imgW="299" imgH="248" progId="MS_ClipArt_Gallery.2">
                      <p:embed/>
                      <p:pic>
                        <p:nvPicPr>
                          <p:cNvPr id="174" name="Google Shape;174;p2"/>
                          <p:cNvPicPr preferRelativeResize="0"/>
                          <p:nvPr/>
                        </p:nvPicPr>
                        <p:blipFill rotWithShape="1">
                          <a:blip r:embed="rId4">
                            <a:alphaModFix/>
                          </a:blip>
                          <a:srcRect/>
                          <a:stretch/>
                        </p:blipFill>
                        <p:spPr>
                          <a:xfrm>
                            <a:off x="3552" y="246"/>
                            <a:ext cx="299" cy="248"/>
                          </a:xfrm>
                          <a:prstGeom prst="rect">
                            <a:avLst/>
                          </a:prstGeom>
                          <a:noFill/>
                          <a:ln>
                            <a:noFill/>
                          </a:ln>
                        </p:spPr>
                      </p:pic>
                    </p:oleObj>
                  </mc:Fallback>
                </mc:AlternateContent>
              </a:graphicData>
            </a:graphic>
          </p:graphicFrame>
          <p:graphicFrame>
            <p:nvGraphicFramePr>
              <p:cNvPr id="175" name="Google Shape;175;p2"/>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r:id="rId5" imgW="201" imgH="144" progId="MS_ClipArt_Gallery.2">
                      <p:embed/>
                    </p:oleObj>
                  </mc:Choice>
                  <mc:Fallback>
                    <p:oleObj r:id="rId5" imgW="201" imgH="144" progId="MS_ClipArt_Gallery.2">
                      <p:embed/>
                      <p:pic>
                        <p:nvPicPr>
                          <p:cNvPr id="175" name="Google Shape;175;p2"/>
                          <p:cNvPicPr preferRelativeResize="0"/>
                          <p:nvPr/>
                        </p:nvPicPr>
                        <p:blipFill rotWithShape="1">
                          <a:blip r:embed="rId6">
                            <a:alphaModFix/>
                          </a:blip>
                          <a:srcRect/>
                          <a:stretch/>
                        </p:blipFill>
                        <p:spPr>
                          <a:xfrm>
                            <a:off x="3878" y="338"/>
                            <a:ext cx="201" cy="144"/>
                          </a:xfrm>
                          <a:prstGeom prst="rect">
                            <a:avLst/>
                          </a:prstGeom>
                          <a:noFill/>
                          <a:ln>
                            <a:noFill/>
                          </a:ln>
                        </p:spPr>
                      </p:pic>
                    </p:oleObj>
                  </mc:Fallback>
                </mc:AlternateContent>
              </a:graphicData>
            </a:graphic>
          </p:graphicFrame>
          <p:cxnSp>
            <p:nvCxnSpPr>
              <p:cNvPr id="176" name="Google Shape;176;p2"/>
              <p:cNvCxnSpPr/>
              <p:nvPr/>
            </p:nvCxnSpPr>
            <p:spPr>
              <a:xfrm rot="10800000" flipH="1">
                <a:off x="3844" y="434"/>
                <a:ext cx="82" cy="2"/>
              </a:xfrm>
              <a:prstGeom prst="straightConnector1">
                <a:avLst/>
              </a:prstGeom>
              <a:noFill/>
              <a:ln w="19050" cap="flat" cmpd="sng">
                <a:solidFill>
                  <a:schemeClr val="dk1"/>
                </a:solidFill>
                <a:prstDash val="solid"/>
                <a:round/>
                <a:headEnd type="none" w="med" len="med"/>
                <a:tailEnd type="none" w="med" len="med"/>
              </a:ln>
            </p:spPr>
          </p:cxnSp>
        </p:grpSp>
        <p:grpSp>
          <p:nvGrpSpPr>
            <p:cNvPr id="177" name="Google Shape;177;p2"/>
            <p:cNvGrpSpPr/>
            <p:nvPr/>
          </p:nvGrpSpPr>
          <p:grpSpPr>
            <a:xfrm>
              <a:off x="3166" y="1642"/>
              <a:ext cx="462" cy="201"/>
              <a:chOff x="3552" y="246"/>
              <a:chExt cx="527" cy="248"/>
            </a:xfrm>
          </p:grpSpPr>
          <p:graphicFrame>
            <p:nvGraphicFramePr>
              <p:cNvPr id="178" name="Google Shape;178;p2"/>
              <p:cNvGraphicFramePr/>
              <p:nvPr/>
            </p:nvGraphicFramePr>
            <p:xfrm>
              <a:off x="3552" y="246"/>
              <a:ext cx="299" cy="248"/>
            </p:xfrm>
            <a:graphic>
              <a:graphicData uri="http://schemas.openxmlformats.org/presentationml/2006/ole">
                <mc:AlternateContent xmlns:mc="http://schemas.openxmlformats.org/markup-compatibility/2006">
                  <mc:Choice xmlns:v="urn:schemas-microsoft-com:vml" Requires="v">
                    <p:oleObj r:id="rId7" imgW="299" imgH="248" progId="MS_ClipArt_Gallery.2">
                      <p:embed/>
                    </p:oleObj>
                  </mc:Choice>
                  <mc:Fallback>
                    <p:oleObj r:id="rId7" imgW="299" imgH="248" progId="MS_ClipArt_Gallery.2">
                      <p:embed/>
                      <p:pic>
                        <p:nvPicPr>
                          <p:cNvPr id="178" name="Google Shape;178;p2"/>
                          <p:cNvPicPr preferRelativeResize="0"/>
                          <p:nvPr/>
                        </p:nvPicPr>
                        <p:blipFill rotWithShape="1">
                          <a:blip r:embed="rId4">
                            <a:alphaModFix/>
                          </a:blip>
                          <a:srcRect/>
                          <a:stretch/>
                        </p:blipFill>
                        <p:spPr>
                          <a:xfrm>
                            <a:off x="3552" y="246"/>
                            <a:ext cx="299" cy="248"/>
                          </a:xfrm>
                          <a:prstGeom prst="rect">
                            <a:avLst/>
                          </a:prstGeom>
                          <a:noFill/>
                          <a:ln>
                            <a:noFill/>
                          </a:ln>
                        </p:spPr>
                      </p:pic>
                    </p:oleObj>
                  </mc:Fallback>
                </mc:AlternateContent>
              </a:graphicData>
            </a:graphic>
          </p:graphicFrame>
          <p:graphicFrame>
            <p:nvGraphicFramePr>
              <p:cNvPr id="179" name="Google Shape;179;p2"/>
              <p:cNvGraphicFramePr/>
              <p:nvPr/>
            </p:nvGraphicFramePr>
            <p:xfrm>
              <a:off x="3878" y="338"/>
              <a:ext cx="201" cy="144"/>
            </p:xfrm>
            <a:graphic>
              <a:graphicData uri="http://schemas.openxmlformats.org/presentationml/2006/ole">
                <mc:AlternateContent xmlns:mc="http://schemas.openxmlformats.org/markup-compatibility/2006">
                  <mc:Choice xmlns:v="urn:schemas-microsoft-com:vml" Requires="v">
                    <p:oleObj r:id="rId5" imgW="201" imgH="144" progId="MS_ClipArt_Gallery.2">
                      <p:embed/>
                    </p:oleObj>
                  </mc:Choice>
                  <mc:Fallback>
                    <p:oleObj r:id="rId5" imgW="201" imgH="144" progId="MS_ClipArt_Gallery.2">
                      <p:embed/>
                      <p:pic>
                        <p:nvPicPr>
                          <p:cNvPr id="179" name="Google Shape;179;p2"/>
                          <p:cNvPicPr preferRelativeResize="0"/>
                          <p:nvPr/>
                        </p:nvPicPr>
                        <p:blipFill rotWithShape="1">
                          <a:blip r:embed="rId6">
                            <a:alphaModFix/>
                          </a:blip>
                          <a:srcRect/>
                          <a:stretch/>
                        </p:blipFill>
                        <p:spPr>
                          <a:xfrm>
                            <a:off x="3878" y="338"/>
                            <a:ext cx="201" cy="144"/>
                          </a:xfrm>
                          <a:prstGeom prst="rect">
                            <a:avLst/>
                          </a:prstGeom>
                          <a:noFill/>
                          <a:ln>
                            <a:noFill/>
                          </a:ln>
                        </p:spPr>
                      </p:pic>
                    </p:oleObj>
                  </mc:Fallback>
                </mc:AlternateContent>
              </a:graphicData>
            </a:graphic>
          </p:graphicFrame>
          <p:cxnSp>
            <p:nvCxnSpPr>
              <p:cNvPr id="180" name="Google Shape;180;p2"/>
              <p:cNvCxnSpPr/>
              <p:nvPr/>
            </p:nvCxnSpPr>
            <p:spPr>
              <a:xfrm rot="10800000" flipH="1">
                <a:off x="3844" y="434"/>
                <a:ext cx="82" cy="2"/>
              </a:xfrm>
              <a:prstGeom prst="straightConnector1">
                <a:avLst/>
              </a:prstGeom>
              <a:noFill/>
              <a:ln w="19050" cap="flat" cmpd="sng">
                <a:solidFill>
                  <a:schemeClr val="dk1"/>
                </a:solidFill>
                <a:prstDash val="solid"/>
                <a:round/>
                <a:headEnd type="none" w="med" len="med"/>
                <a:tailEnd type="none" w="med" len="med"/>
              </a:ln>
            </p:spPr>
          </p:cxnSp>
        </p:grpSp>
        <p:grpSp>
          <p:nvGrpSpPr>
            <p:cNvPr id="181" name="Google Shape;181;p2"/>
            <p:cNvGrpSpPr/>
            <p:nvPr/>
          </p:nvGrpSpPr>
          <p:grpSpPr>
            <a:xfrm>
              <a:off x="3403" y="1508"/>
              <a:ext cx="44" cy="135"/>
              <a:chOff x="3842" y="406"/>
              <a:chExt cx="51" cy="167"/>
            </a:xfrm>
          </p:grpSpPr>
          <p:sp>
            <p:nvSpPr>
              <p:cNvPr id="182" name="Google Shape;182;p2"/>
              <p:cNvSpPr/>
              <p:nvPr/>
            </p:nvSpPr>
            <p:spPr>
              <a:xfrm>
                <a:off x="3842" y="406"/>
                <a:ext cx="48"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83" name="Google Shape;183;p2"/>
              <p:cNvSpPr/>
              <p:nvPr/>
            </p:nvSpPr>
            <p:spPr>
              <a:xfrm>
                <a:off x="3844" y="467"/>
                <a:ext cx="45" cy="4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84" name="Google Shape;184;p2"/>
              <p:cNvSpPr/>
              <p:nvPr/>
            </p:nvSpPr>
            <p:spPr>
              <a:xfrm>
                <a:off x="3845" y="526"/>
                <a:ext cx="48"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grpSp>
          <p:nvGrpSpPr>
            <p:cNvPr id="185" name="Google Shape;185;p2"/>
            <p:cNvGrpSpPr/>
            <p:nvPr/>
          </p:nvGrpSpPr>
          <p:grpSpPr>
            <a:xfrm>
              <a:off x="3699" y="1825"/>
              <a:ext cx="132" cy="249"/>
              <a:chOff x="4180" y="783"/>
              <a:chExt cx="150" cy="307"/>
            </a:xfrm>
          </p:grpSpPr>
          <p:sp>
            <p:nvSpPr>
              <p:cNvPr id="186" name="Google Shape;186;p2"/>
              <p:cNvSpPr/>
              <p:nvPr/>
            </p:nvSpPr>
            <p:spPr>
              <a:xfrm>
                <a:off x="4180" y="1018"/>
                <a:ext cx="150" cy="72"/>
              </a:xfrm>
              <a:prstGeom prst="parallelogram">
                <a:avLst>
                  <a:gd name="adj" fmla="val 81385"/>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87" name="Google Shape;187;p2"/>
              <p:cNvSpPr/>
              <p:nvPr/>
            </p:nvSpPr>
            <p:spPr>
              <a:xfrm>
                <a:off x="4256" y="785"/>
                <a:ext cx="69" cy="234"/>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88" name="Google Shape;188;p2"/>
              <p:cNvSpPr/>
              <p:nvPr/>
            </p:nvSpPr>
            <p:spPr>
              <a:xfrm>
                <a:off x="4181" y="852"/>
                <a:ext cx="94" cy="235"/>
              </a:xfrm>
              <a:prstGeom prst="rect">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89" name="Google Shape;189;p2"/>
              <p:cNvSpPr/>
              <p:nvPr/>
            </p:nvSpPr>
            <p:spPr>
              <a:xfrm>
                <a:off x="4180" y="783"/>
                <a:ext cx="150" cy="72"/>
              </a:xfrm>
              <a:prstGeom prst="parallelogram">
                <a:avLst>
                  <a:gd name="adj" fmla="val 81385"/>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190" name="Google Shape;190;p2"/>
              <p:cNvCxnSpPr/>
              <p:nvPr/>
            </p:nvCxnSpPr>
            <p:spPr>
              <a:xfrm>
                <a:off x="4330" y="788"/>
                <a:ext cx="0" cy="231"/>
              </a:xfrm>
              <a:prstGeom prst="straightConnector1">
                <a:avLst/>
              </a:prstGeom>
              <a:noFill/>
              <a:ln w="9525" cap="flat" cmpd="sng">
                <a:solidFill>
                  <a:schemeClr val="dk1"/>
                </a:solidFill>
                <a:prstDash val="solid"/>
                <a:round/>
                <a:headEnd type="none" w="med" len="med"/>
                <a:tailEnd type="none" w="med" len="med"/>
              </a:ln>
            </p:spPr>
          </p:cxnSp>
          <p:cxnSp>
            <p:nvCxnSpPr>
              <p:cNvPr id="191" name="Google Shape;191;p2"/>
              <p:cNvCxnSpPr/>
              <p:nvPr/>
            </p:nvCxnSpPr>
            <p:spPr>
              <a:xfrm flipH="1">
                <a:off x="4275" y="1018"/>
                <a:ext cx="55" cy="69"/>
              </a:xfrm>
              <a:prstGeom prst="straightConnector1">
                <a:avLst/>
              </a:prstGeom>
              <a:noFill/>
              <a:ln w="9525" cap="flat" cmpd="sng">
                <a:solidFill>
                  <a:schemeClr val="dk1"/>
                </a:solidFill>
                <a:prstDash val="solid"/>
                <a:round/>
                <a:headEnd type="none" w="med" len="med"/>
                <a:tailEnd type="none" w="med" len="med"/>
              </a:ln>
            </p:spPr>
          </p:cxnSp>
          <p:sp>
            <p:nvSpPr>
              <p:cNvPr id="192" name="Google Shape;192;p2"/>
              <p:cNvSpPr/>
              <p:nvPr/>
            </p:nvSpPr>
            <p:spPr>
              <a:xfrm>
                <a:off x="4192" y="883"/>
                <a:ext cx="64" cy="136"/>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93" name="Google Shape;193;p2"/>
              <p:cNvSpPr/>
              <p:nvPr/>
            </p:nvSpPr>
            <p:spPr>
              <a:xfrm>
                <a:off x="4202" y="924"/>
                <a:ext cx="49" cy="4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grpSp>
          <p:nvGrpSpPr>
            <p:cNvPr id="194" name="Google Shape;194;p2"/>
            <p:cNvGrpSpPr/>
            <p:nvPr/>
          </p:nvGrpSpPr>
          <p:grpSpPr>
            <a:xfrm rot="-5400000">
              <a:off x="3896" y="1873"/>
              <a:ext cx="50" cy="148"/>
              <a:chOff x="3843" y="405"/>
              <a:chExt cx="50" cy="168"/>
            </a:xfrm>
          </p:grpSpPr>
          <p:sp>
            <p:nvSpPr>
              <p:cNvPr id="195" name="Google Shape;195;p2"/>
              <p:cNvSpPr/>
              <p:nvPr/>
            </p:nvSpPr>
            <p:spPr>
              <a:xfrm>
                <a:off x="3843" y="405"/>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96" name="Google Shape;196;p2"/>
              <p:cNvSpPr/>
              <p:nvPr/>
            </p:nvSpPr>
            <p:spPr>
              <a:xfrm>
                <a:off x="3844" y="46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197" name="Google Shape;197;p2"/>
              <p:cNvSpPr/>
              <p:nvPr/>
            </p:nvSpPr>
            <p:spPr>
              <a:xfrm>
                <a:off x="3846" y="526"/>
                <a:ext cx="47" cy="47"/>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cxnSp>
          <p:nvCxnSpPr>
            <p:cNvPr id="198" name="Google Shape;198;p2"/>
            <p:cNvCxnSpPr/>
            <p:nvPr/>
          </p:nvCxnSpPr>
          <p:spPr>
            <a:xfrm>
              <a:off x="3785" y="1767"/>
              <a:ext cx="312" cy="1"/>
            </a:xfrm>
            <a:prstGeom prst="straightConnector1">
              <a:avLst/>
            </a:prstGeom>
            <a:noFill/>
            <a:ln w="12700" cap="flat" cmpd="sng">
              <a:solidFill>
                <a:schemeClr val="dk1"/>
              </a:solidFill>
              <a:prstDash val="solid"/>
              <a:round/>
              <a:headEnd type="none" w="med" len="med"/>
              <a:tailEnd type="none" w="med" len="med"/>
            </a:ln>
          </p:spPr>
        </p:cxnSp>
        <p:cxnSp>
          <p:nvCxnSpPr>
            <p:cNvPr id="199" name="Google Shape;199;p2"/>
            <p:cNvCxnSpPr/>
            <p:nvPr/>
          </p:nvCxnSpPr>
          <p:spPr>
            <a:xfrm>
              <a:off x="3787" y="1765"/>
              <a:ext cx="1" cy="60"/>
            </a:xfrm>
            <a:prstGeom prst="straightConnector1">
              <a:avLst/>
            </a:prstGeom>
            <a:noFill/>
            <a:ln w="12700" cap="flat" cmpd="sng">
              <a:solidFill>
                <a:schemeClr val="dk1"/>
              </a:solidFill>
              <a:prstDash val="solid"/>
              <a:round/>
              <a:headEnd type="none" w="med" len="med"/>
              <a:tailEnd type="none" w="med" len="med"/>
            </a:ln>
          </p:spPr>
        </p:cxnSp>
        <p:cxnSp>
          <p:nvCxnSpPr>
            <p:cNvPr id="200" name="Google Shape;200;p2"/>
            <p:cNvCxnSpPr/>
            <p:nvPr/>
          </p:nvCxnSpPr>
          <p:spPr>
            <a:xfrm>
              <a:off x="4099" y="1764"/>
              <a:ext cx="1" cy="52"/>
            </a:xfrm>
            <a:prstGeom prst="straightConnector1">
              <a:avLst/>
            </a:prstGeom>
            <a:noFill/>
            <a:ln w="12700" cap="flat" cmpd="sng">
              <a:solidFill>
                <a:schemeClr val="dk1"/>
              </a:solidFill>
              <a:prstDash val="solid"/>
              <a:round/>
              <a:headEnd type="none" w="med" len="med"/>
              <a:tailEnd type="none" w="med" len="med"/>
            </a:ln>
          </p:spPr>
        </p:cxnSp>
        <p:cxnSp>
          <p:nvCxnSpPr>
            <p:cNvPr id="201" name="Google Shape;201;p2"/>
            <p:cNvCxnSpPr/>
            <p:nvPr/>
          </p:nvCxnSpPr>
          <p:spPr>
            <a:xfrm>
              <a:off x="3596" y="1427"/>
              <a:ext cx="182" cy="167"/>
            </a:xfrm>
            <a:prstGeom prst="straightConnector1">
              <a:avLst/>
            </a:prstGeom>
            <a:noFill/>
            <a:ln w="12700" cap="flat" cmpd="sng">
              <a:solidFill>
                <a:schemeClr val="dk1"/>
              </a:solidFill>
              <a:prstDash val="solid"/>
              <a:round/>
              <a:headEnd type="none" w="med" len="med"/>
              <a:tailEnd type="none" w="med" len="med"/>
            </a:ln>
          </p:spPr>
        </p:cxnSp>
        <p:cxnSp>
          <p:nvCxnSpPr>
            <p:cNvPr id="202" name="Google Shape;202;p2"/>
            <p:cNvCxnSpPr/>
            <p:nvPr/>
          </p:nvCxnSpPr>
          <p:spPr>
            <a:xfrm rot="10800000" flipH="1">
              <a:off x="3604" y="1607"/>
              <a:ext cx="174" cy="208"/>
            </a:xfrm>
            <a:prstGeom prst="straightConnector1">
              <a:avLst/>
            </a:prstGeom>
            <a:noFill/>
            <a:ln w="12700" cap="flat" cmpd="sng">
              <a:solidFill>
                <a:schemeClr val="dk1"/>
              </a:solidFill>
              <a:prstDash val="solid"/>
              <a:round/>
              <a:headEnd type="none" w="med" len="med"/>
              <a:tailEnd type="none" w="med" len="med"/>
            </a:ln>
          </p:spPr>
        </p:cxnSp>
        <p:cxnSp>
          <p:nvCxnSpPr>
            <p:cNvPr id="203" name="Google Shape;203;p2"/>
            <p:cNvCxnSpPr/>
            <p:nvPr/>
          </p:nvCxnSpPr>
          <p:spPr>
            <a:xfrm rot="10800000" flipH="1">
              <a:off x="3936" y="1661"/>
              <a:ext cx="1" cy="103"/>
            </a:xfrm>
            <a:prstGeom prst="straightConnector1">
              <a:avLst/>
            </a:prstGeom>
            <a:noFill/>
            <a:ln w="12700" cap="flat" cmpd="sng">
              <a:solidFill>
                <a:schemeClr val="dk1"/>
              </a:solidFill>
              <a:prstDash val="solid"/>
              <a:round/>
              <a:headEnd type="none" w="med" len="med"/>
              <a:tailEnd type="none" w="med" len="med"/>
            </a:ln>
          </p:spPr>
        </p:cxnSp>
        <p:grpSp>
          <p:nvGrpSpPr>
            <p:cNvPr id="204" name="Google Shape;204;p2"/>
            <p:cNvGrpSpPr/>
            <p:nvPr/>
          </p:nvGrpSpPr>
          <p:grpSpPr>
            <a:xfrm>
              <a:off x="4011" y="1811"/>
              <a:ext cx="132" cy="249"/>
              <a:chOff x="4180" y="783"/>
              <a:chExt cx="150" cy="307"/>
            </a:xfrm>
          </p:grpSpPr>
          <p:sp>
            <p:nvSpPr>
              <p:cNvPr id="205" name="Google Shape;205;p2"/>
              <p:cNvSpPr/>
              <p:nvPr/>
            </p:nvSpPr>
            <p:spPr>
              <a:xfrm>
                <a:off x="4180" y="1018"/>
                <a:ext cx="150" cy="72"/>
              </a:xfrm>
              <a:prstGeom prst="parallelogram">
                <a:avLst>
                  <a:gd name="adj" fmla="val 81385"/>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06" name="Google Shape;206;p2"/>
              <p:cNvSpPr/>
              <p:nvPr/>
            </p:nvSpPr>
            <p:spPr>
              <a:xfrm>
                <a:off x="4256" y="785"/>
                <a:ext cx="69" cy="234"/>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07" name="Google Shape;207;p2"/>
              <p:cNvSpPr/>
              <p:nvPr/>
            </p:nvSpPr>
            <p:spPr>
              <a:xfrm>
                <a:off x="4181" y="852"/>
                <a:ext cx="94" cy="235"/>
              </a:xfrm>
              <a:prstGeom prst="rect">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08" name="Google Shape;208;p2"/>
              <p:cNvSpPr/>
              <p:nvPr/>
            </p:nvSpPr>
            <p:spPr>
              <a:xfrm>
                <a:off x="4180" y="783"/>
                <a:ext cx="150" cy="72"/>
              </a:xfrm>
              <a:prstGeom prst="parallelogram">
                <a:avLst>
                  <a:gd name="adj" fmla="val 81385"/>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09" name="Google Shape;209;p2"/>
              <p:cNvCxnSpPr/>
              <p:nvPr/>
            </p:nvCxnSpPr>
            <p:spPr>
              <a:xfrm>
                <a:off x="4330" y="788"/>
                <a:ext cx="0" cy="231"/>
              </a:xfrm>
              <a:prstGeom prst="straightConnector1">
                <a:avLst/>
              </a:prstGeom>
              <a:noFill/>
              <a:ln w="9525" cap="flat" cmpd="sng">
                <a:solidFill>
                  <a:schemeClr val="dk1"/>
                </a:solidFill>
                <a:prstDash val="solid"/>
                <a:round/>
                <a:headEnd type="none" w="med" len="med"/>
                <a:tailEnd type="none" w="med" len="med"/>
              </a:ln>
            </p:spPr>
          </p:cxnSp>
          <p:cxnSp>
            <p:nvCxnSpPr>
              <p:cNvPr id="210" name="Google Shape;210;p2"/>
              <p:cNvCxnSpPr/>
              <p:nvPr/>
            </p:nvCxnSpPr>
            <p:spPr>
              <a:xfrm flipH="1">
                <a:off x="4275" y="1018"/>
                <a:ext cx="55" cy="69"/>
              </a:xfrm>
              <a:prstGeom prst="straightConnector1">
                <a:avLst/>
              </a:prstGeom>
              <a:noFill/>
              <a:ln w="9525" cap="flat" cmpd="sng">
                <a:solidFill>
                  <a:schemeClr val="dk1"/>
                </a:solidFill>
                <a:prstDash val="solid"/>
                <a:round/>
                <a:headEnd type="none" w="med" len="med"/>
                <a:tailEnd type="none" w="med" len="med"/>
              </a:ln>
            </p:spPr>
          </p:cxnSp>
          <p:sp>
            <p:nvSpPr>
              <p:cNvPr id="211" name="Google Shape;211;p2"/>
              <p:cNvSpPr/>
              <p:nvPr/>
            </p:nvSpPr>
            <p:spPr>
              <a:xfrm>
                <a:off x="4192" y="883"/>
                <a:ext cx="64" cy="136"/>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12" name="Google Shape;212;p2"/>
              <p:cNvSpPr/>
              <p:nvPr/>
            </p:nvSpPr>
            <p:spPr>
              <a:xfrm>
                <a:off x="4202" y="924"/>
                <a:ext cx="49" cy="4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grpSp>
          <p:nvGrpSpPr>
            <p:cNvPr id="213" name="Google Shape;213;p2"/>
            <p:cNvGrpSpPr/>
            <p:nvPr/>
          </p:nvGrpSpPr>
          <p:grpSpPr>
            <a:xfrm>
              <a:off x="3408" y="2201"/>
              <a:ext cx="302" cy="583"/>
              <a:chOff x="3314" y="1248"/>
              <a:chExt cx="344" cy="694"/>
            </a:xfrm>
          </p:grpSpPr>
          <p:graphicFrame>
            <p:nvGraphicFramePr>
              <p:cNvPr id="214" name="Google Shape;214;p2"/>
              <p:cNvGraphicFramePr/>
              <p:nvPr/>
            </p:nvGraphicFramePr>
            <p:xfrm>
              <a:off x="3314" y="1248"/>
              <a:ext cx="299" cy="248"/>
            </p:xfrm>
            <a:graphic>
              <a:graphicData uri="http://schemas.openxmlformats.org/presentationml/2006/ole">
                <mc:AlternateContent xmlns:mc="http://schemas.openxmlformats.org/markup-compatibility/2006">
                  <mc:Choice xmlns:v="urn:schemas-microsoft-com:vml" Requires="v">
                    <p:oleObj r:id="rId8" imgW="299" imgH="248" progId="MS_ClipArt_Gallery.2">
                      <p:embed/>
                    </p:oleObj>
                  </mc:Choice>
                  <mc:Fallback>
                    <p:oleObj r:id="rId8" imgW="299" imgH="248" progId="MS_ClipArt_Gallery.2">
                      <p:embed/>
                      <p:pic>
                        <p:nvPicPr>
                          <p:cNvPr id="214" name="Google Shape;214;p2"/>
                          <p:cNvPicPr preferRelativeResize="0"/>
                          <p:nvPr/>
                        </p:nvPicPr>
                        <p:blipFill rotWithShape="1">
                          <a:blip r:embed="rId4">
                            <a:alphaModFix/>
                          </a:blip>
                          <a:srcRect/>
                          <a:stretch/>
                        </p:blipFill>
                        <p:spPr>
                          <a:xfrm>
                            <a:off x="3314" y="1248"/>
                            <a:ext cx="299" cy="248"/>
                          </a:xfrm>
                          <a:prstGeom prst="rect">
                            <a:avLst/>
                          </a:prstGeom>
                          <a:noFill/>
                          <a:ln>
                            <a:noFill/>
                          </a:ln>
                        </p:spPr>
                      </p:pic>
                    </p:oleObj>
                  </mc:Fallback>
                </mc:AlternateContent>
              </a:graphicData>
            </a:graphic>
          </p:graphicFrame>
          <p:cxnSp>
            <p:nvCxnSpPr>
              <p:cNvPr id="215" name="Google Shape;215;p2"/>
              <p:cNvCxnSpPr/>
              <p:nvPr/>
            </p:nvCxnSpPr>
            <p:spPr>
              <a:xfrm rot="10800000" flipH="1">
                <a:off x="3606" y="1433"/>
                <a:ext cx="52" cy="6"/>
              </a:xfrm>
              <a:prstGeom prst="straightConnector1">
                <a:avLst/>
              </a:prstGeom>
              <a:noFill/>
              <a:ln w="19050" cap="flat" cmpd="sng">
                <a:solidFill>
                  <a:schemeClr val="dk1"/>
                </a:solidFill>
                <a:prstDash val="solid"/>
                <a:round/>
                <a:headEnd type="none" w="med" len="med"/>
                <a:tailEnd type="none" w="med" len="med"/>
              </a:ln>
            </p:spPr>
          </p:cxnSp>
          <p:graphicFrame>
            <p:nvGraphicFramePr>
              <p:cNvPr id="216" name="Google Shape;216;p2"/>
              <p:cNvGraphicFramePr/>
              <p:nvPr/>
            </p:nvGraphicFramePr>
            <p:xfrm>
              <a:off x="3314" y="1694"/>
              <a:ext cx="299" cy="248"/>
            </p:xfrm>
            <a:graphic>
              <a:graphicData uri="http://schemas.openxmlformats.org/presentationml/2006/ole">
                <mc:AlternateContent xmlns:mc="http://schemas.openxmlformats.org/markup-compatibility/2006">
                  <mc:Choice xmlns:v="urn:schemas-microsoft-com:vml" Requires="v">
                    <p:oleObj r:id="rId8" imgW="299" imgH="248" progId="MS_ClipArt_Gallery.2">
                      <p:embed/>
                    </p:oleObj>
                  </mc:Choice>
                  <mc:Fallback>
                    <p:oleObj r:id="rId8" imgW="299" imgH="248" progId="MS_ClipArt_Gallery.2">
                      <p:embed/>
                      <p:pic>
                        <p:nvPicPr>
                          <p:cNvPr id="216" name="Google Shape;216;p2"/>
                          <p:cNvPicPr preferRelativeResize="0"/>
                          <p:nvPr/>
                        </p:nvPicPr>
                        <p:blipFill rotWithShape="1">
                          <a:blip r:embed="rId4">
                            <a:alphaModFix/>
                          </a:blip>
                          <a:srcRect/>
                          <a:stretch/>
                        </p:blipFill>
                        <p:spPr>
                          <a:xfrm>
                            <a:off x="3314" y="1694"/>
                            <a:ext cx="299" cy="248"/>
                          </a:xfrm>
                          <a:prstGeom prst="rect">
                            <a:avLst/>
                          </a:prstGeom>
                          <a:noFill/>
                          <a:ln>
                            <a:noFill/>
                          </a:ln>
                        </p:spPr>
                      </p:pic>
                    </p:oleObj>
                  </mc:Fallback>
                </mc:AlternateContent>
              </a:graphicData>
            </a:graphic>
          </p:graphicFrame>
          <p:cxnSp>
            <p:nvCxnSpPr>
              <p:cNvPr id="217" name="Google Shape;217;p2"/>
              <p:cNvCxnSpPr/>
              <p:nvPr/>
            </p:nvCxnSpPr>
            <p:spPr>
              <a:xfrm>
                <a:off x="3606" y="1882"/>
                <a:ext cx="52" cy="0"/>
              </a:xfrm>
              <a:prstGeom prst="straightConnector1">
                <a:avLst/>
              </a:prstGeom>
              <a:noFill/>
              <a:ln w="19050" cap="flat" cmpd="sng">
                <a:solidFill>
                  <a:schemeClr val="dk1"/>
                </a:solidFill>
                <a:prstDash val="solid"/>
                <a:round/>
                <a:headEnd type="none" w="med" len="med"/>
                <a:tailEnd type="none" w="med" len="med"/>
              </a:ln>
            </p:spPr>
          </p:cxnSp>
          <p:grpSp>
            <p:nvGrpSpPr>
              <p:cNvPr id="218" name="Google Shape;218;p2"/>
              <p:cNvGrpSpPr/>
              <p:nvPr/>
            </p:nvGrpSpPr>
            <p:grpSpPr>
              <a:xfrm>
                <a:off x="3404" y="1504"/>
                <a:ext cx="53" cy="165"/>
                <a:chOff x="3842" y="406"/>
                <a:chExt cx="53" cy="165"/>
              </a:xfrm>
            </p:grpSpPr>
            <p:sp>
              <p:nvSpPr>
                <p:cNvPr id="219" name="Google Shape;219;p2"/>
                <p:cNvSpPr/>
                <p:nvPr/>
              </p:nvSpPr>
              <p:spPr>
                <a:xfrm>
                  <a:off x="3842" y="406"/>
                  <a:ext cx="47" cy="46"/>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20" name="Google Shape;220;p2"/>
                <p:cNvSpPr/>
                <p:nvPr/>
              </p:nvSpPr>
              <p:spPr>
                <a:xfrm>
                  <a:off x="3844" y="464"/>
                  <a:ext cx="47" cy="49"/>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21" name="Google Shape;221;p2"/>
                <p:cNvSpPr/>
                <p:nvPr/>
              </p:nvSpPr>
              <p:spPr>
                <a:xfrm>
                  <a:off x="3847" y="526"/>
                  <a:ext cx="48" cy="45"/>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cxnSp>
            <p:nvCxnSpPr>
              <p:cNvPr id="222" name="Google Shape;222;p2"/>
              <p:cNvCxnSpPr/>
              <p:nvPr/>
            </p:nvCxnSpPr>
            <p:spPr>
              <a:xfrm>
                <a:off x="3653" y="1431"/>
                <a:ext cx="0" cy="450"/>
              </a:xfrm>
              <a:prstGeom prst="straightConnector1">
                <a:avLst/>
              </a:prstGeom>
              <a:noFill/>
              <a:ln w="12700" cap="flat" cmpd="sng">
                <a:solidFill>
                  <a:schemeClr val="dk1"/>
                </a:solidFill>
                <a:prstDash val="solid"/>
                <a:round/>
                <a:headEnd type="none" w="med" len="med"/>
                <a:tailEnd type="none" w="med" len="med"/>
              </a:ln>
            </p:spPr>
          </p:cxnSp>
        </p:grpSp>
        <p:graphicFrame>
          <p:nvGraphicFramePr>
            <p:cNvPr id="223" name="Google Shape;223;p2"/>
            <p:cNvGraphicFramePr/>
            <p:nvPr/>
          </p:nvGraphicFramePr>
          <p:xfrm>
            <a:off x="3955" y="2837"/>
            <a:ext cx="263" cy="209"/>
          </p:xfrm>
          <a:graphic>
            <a:graphicData uri="http://schemas.openxmlformats.org/presentationml/2006/ole">
              <mc:AlternateContent xmlns:mc="http://schemas.openxmlformats.org/markup-compatibility/2006">
                <mc:Choice xmlns:v="urn:schemas-microsoft-com:vml" Requires="v">
                  <p:oleObj r:id="rId8" imgW="263" imgH="209" progId="MS_ClipArt_Gallery.2">
                    <p:embed/>
                  </p:oleObj>
                </mc:Choice>
                <mc:Fallback>
                  <p:oleObj r:id="rId8" imgW="263" imgH="209" progId="MS_ClipArt_Gallery.2">
                    <p:embed/>
                    <p:pic>
                      <p:nvPicPr>
                        <p:cNvPr id="223" name="Google Shape;223;p2"/>
                        <p:cNvPicPr preferRelativeResize="0"/>
                        <p:nvPr/>
                      </p:nvPicPr>
                      <p:blipFill rotWithShape="1">
                        <a:blip r:embed="rId9">
                          <a:alphaModFix/>
                        </a:blip>
                        <a:srcRect/>
                        <a:stretch/>
                      </p:blipFill>
                      <p:spPr>
                        <a:xfrm>
                          <a:off x="3955" y="2837"/>
                          <a:ext cx="263" cy="209"/>
                        </a:xfrm>
                        <a:prstGeom prst="rect">
                          <a:avLst/>
                        </a:prstGeom>
                        <a:noFill/>
                        <a:ln>
                          <a:noFill/>
                        </a:ln>
                      </p:spPr>
                    </p:pic>
                  </p:oleObj>
                </mc:Fallback>
              </mc:AlternateContent>
            </a:graphicData>
          </a:graphic>
        </p:graphicFrame>
        <p:graphicFrame>
          <p:nvGraphicFramePr>
            <p:cNvPr id="224" name="Google Shape;224;p2"/>
            <p:cNvGraphicFramePr/>
            <p:nvPr/>
          </p:nvGraphicFramePr>
          <p:xfrm>
            <a:off x="3568" y="2830"/>
            <a:ext cx="262" cy="208"/>
          </p:xfrm>
          <a:graphic>
            <a:graphicData uri="http://schemas.openxmlformats.org/presentationml/2006/ole">
              <mc:AlternateContent xmlns:mc="http://schemas.openxmlformats.org/markup-compatibility/2006">
                <mc:Choice xmlns:v="urn:schemas-microsoft-com:vml" Requires="v">
                  <p:oleObj r:id="rId10" imgW="262" imgH="208" progId="MS_ClipArt_Gallery.2">
                    <p:embed/>
                  </p:oleObj>
                </mc:Choice>
                <mc:Fallback>
                  <p:oleObj r:id="rId10" imgW="262" imgH="208" progId="MS_ClipArt_Gallery.2">
                    <p:embed/>
                    <p:pic>
                      <p:nvPicPr>
                        <p:cNvPr id="224" name="Google Shape;224;p2"/>
                        <p:cNvPicPr preferRelativeResize="0"/>
                        <p:nvPr/>
                      </p:nvPicPr>
                      <p:blipFill rotWithShape="1">
                        <a:blip r:embed="rId11">
                          <a:alphaModFix/>
                        </a:blip>
                        <a:srcRect/>
                        <a:stretch/>
                      </p:blipFill>
                      <p:spPr>
                        <a:xfrm>
                          <a:off x="3568" y="2830"/>
                          <a:ext cx="262" cy="208"/>
                        </a:xfrm>
                        <a:prstGeom prst="rect">
                          <a:avLst/>
                        </a:prstGeom>
                        <a:noFill/>
                        <a:ln>
                          <a:noFill/>
                        </a:ln>
                      </p:spPr>
                    </p:pic>
                  </p:oleObj>
                </mc:Fallback>
              </mc:AlternateContent>
            </a:graphicData>
          </a:graphic>
        </p:graphicFrame>
        <p:sp>
          <p:nvSpPr>
            <p:cNvPr id="225" name="Google Shape;225;p2"/>
            <p:cNvSpPr/>
            <p:nvPr/>
          </p:nvSpPr>
          <p:spPr>
            <a:xfrm rot="-5400000">
              <a:off x="3831" y="2895"/>
              <a:ext cx="40" cy="4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26" name="Google Shape;226;p2"/>
            <p:cNvSpPr/>
            <p:nvPr/>
          </p:nvSpPr>
          <p:spPr>
            <a:xfrm rot="-5400000">
              <a:off x="3884" y="2894"/>
              <a:ext cx="40" cy="42"/>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27" name="Google Shape;227;p2"/>
            <p:cNvSpPr/>
            <p:nvPr/>
          </p:nvSpPr>
          <p:spPr>
            <a:xfrm rot="-5400000">
              <a:off x="3933" y="2897"/>
              <a:ext cx="39" cy="41"/>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28" name="Google Shape;228;p2"/>
            <p:cNvCxnSpPr/>
            <p:nvPr/>
          </p:nvCxnSpPr>
          <p:spPr>
            <a:xfrm rot="-5400000">
              <a:off x="4097" y="2823"/>
              <a:ext cx="38" cy="1"/>
            </a:xfrm>
            <a:prstGeom prst="straightConnector1">
              <a:avLst/>
            </a:prstGeom>
            <a:noFill/>
            <a:ln w="19050" cap="flat" cmpd="sng">
              <a:solidFill>
                <a:schemeClr val="dk1"/>
              </a:solidFill>
              <a:prstDash val="solid"/>
              <a:round/>
              <a:headEnd type="none" w="med" len="med"/>
              <a:tailEnd type="none" w="med" len="med"/>
            </a:ln>
          </p:spPr>
        </p:cxnSp>
        <p:cxnSp>
          <p:nvCxnSpPr>
            <p:cNvPr id="229" name="Google Shape;229;p2"/>
            <p:cNvCxnSpPr/>
            <p:nvPr/>
          </p:nvCxnSpPr>
          <p:spPr>
            <a:xfrm rot="-5400000">
              <a:off x="3702" y="2816"/>
              <a:ext cx="40" cy="0"/>
            </a:xfrm>
            <a:prstGeom prst="straightConnector1">
              <a:avLst/>
            </a:prstGeom>
            <a:noFill/>
            <a:ln w="19050" cap="flat" cmpd="sng">
              <a:solidFill>
                <a:schemeClr val="dk1"/>
              </a:solidFill>
              <a:prstDash val="solid"/>
              <a:round/>
              <a:headEnd type="none" w="med" len="med"/>
              <a:tailEnd type="none" w="med" len="med"/>
            </a:ln>
          </p:spPr>
        </p:cxnSp>
        <p:cxnSp>
          <p:nvCxnSpPr>
            <p:cNvPr id="230" name="Google Shape;230;p2"/>
            <p:cNvCxnSpPr/>
            <p:nvPr/>
          </p:nvCxnSpPr>
          <p:spPr>
            <a:xfrm>
              <a:off x="3921" y="2604"/>
              <a:ext cx="0" cy="395"/>
            </a:xfrm>
            <a:prstGeom prst="straightConnector1">
              <a:avLst/>
            </a:prstGeom>
            <a:noFill/>
            <a:ln w="12700" cap="flat" cmpd="sng">
              <a:solidFill>
                <a:schemeClr val="dk1"/>
              </a:solidFill>
              <a:prstDash val="solid"/>
              <a:round/>
              <a:headEnd type="none" w="med" len="med"/>
              <a:tailEnd type="none" w="med" len="med"/>
            </a:ln>
          </p:spPr>
        </p:cxnSp>
        <p:cxnSp>
          <p:nvCxnSpPr>
            <p:cNvPr id="231" name="Google Shape;231;p2"/>
            <p:cNvCxnSpPr/>
            <p:nvPr/>
          </p:nvCxnSpPr>
          <p:spPr>
            <a:xfrm rot="10800000" flipH="1">
              <a:off x="3710" y="2564"/>
              <a:ext cx="59" cy="2"/>
            </a:xfrm>
            <a:prstGeom prst="straightConnector1">
              <a:avLst/>
            </a:prstGeom>
            <a:noFill/>
            <a:ln w="12700" cap="flat" cmpd="sng">
              <a:solidFill>
                <a:schemeClr val="dk1"/>
              </a:solidFill>
              <a:prstDash val="solid"/>
              <a:round/>
              <a:headEnd type="none" w="med" len="med"/>
              <a:tailEnd type="none" w="med" len="med"/>
            </a:ln>
          </p:spPr>
        </p:cxnSp>
        <p:cxnSp>
          <p:nvCxnSpPr>
            <p:cNvPr id="232" name="Google Shape;232;p2"/>
            <p:cNvCxnSpPr/>
            <p:nvPr/>
          </p:nvCxnSpPr>
          <p:spPr>
            <a:xfrm>
              <a:off x="4089" y="2593"/>
              <a:ext cx="191" cy="243"/>
            </a:xfrm>
            <a:prstGeom prst="straightConnector1">
              <a:avLst/>
            </a:prstGeom>
            <a:noFill/>
            <a:ln w="12700" cap="flat" cmpd="sng">
              <a:solidFill>
                <a:schemeClr val="dk1"/>
              </a:solidFill>
              <a:prstDash val="solid"/>
              <a:round/>
              <a:headEnd type="none" w="med" len="med"/>
              <a:tailEnd type="none" w="med" len="med"/>
            </a:ln>
          </p:spPr>
        </p:cxnSp>
        <p:cxnSp>
          <p:nvCxnSpPr>
            <p:cNvPr id="233" name="Google Shape;233;p2"/>
            <p:cNvCxnSpPr/>
            <p:nvPr/>
          </p:nvCxnSpPr>
          <p:spPr>
            <a:xfrm flipH="1">
              <a:off x="4590" y="2591"/>
              <a:ext cx="176" cy="247"/>
            </a:xfrm>
            <a:prstGeom prst="straightConnector1">
              <a:avLst/>
            </a:prstGeom>
            <a:noFill/>
            <a:ln w="12700" cap="flat" cmpd="sng">
              <a:solidFill>
                <a:schemeClr val="dk1"/>
              </a:solidFill>
              <a:prstDash val="solid"/>
              <a:round/>
              <a:headEnd type="none" w="med" len="med"/>
              <a:tailEnd type="none" w="med" len="med"/>
            </a:ln>
          </p:spPr>
        </p:cxnSp>
        <p:graphicFrame>
          <p:nvGraphicFramePr>
            <p:cNvPr id="234" name="Google Shape;234;p2"/>
            <p:cNvGraphicFramePr/>
            <p:nvPr/>
          </p:nvGraphicFramePr>
          <p:xfrm>
            <a:off x="4702" y="2309"/>
            <a:ext cx="128" cy="152"/>
          </p:xfrm>
          <a:graphic>
            <a:graphicData uri="http://schemas.openxmlformats.org/presentationml/2006/ole">
              <mc:AlternateContent xmlns:mc="http://schemas.openxmlformats.org/markup-compatibility/2006">
                <mc:Choice xmlns:v="urn:schemas-microsoft-com:vml" Requires="v">
                  <p:oleObj r:id="rId12" imgW="128" imgH="152" progId="MS_ClipArt_Gallery.2">
                    <p:embed/>
                  </p:oleObj>
                </mc:Choice>
                <mc:Fallback>
                  <p:oleObj r:id="rId12" imgW="128" imgH="152" progId="MS_ClipArt_Gallery.2">
                    <p:embed/>
                    <p:pic>
                      <p:nvPicPr>
                        <p:cNvPr id="234" name="Google Shape;234;p2"/>
                        <p:cNvPicPr preferRelativeResize="0"/>
                        <p:nvPr/>
                      </p:nvPicPr>
                      <p:blipFill rotWithShape="1">
                        <a:blip r:embed="rId13">
                          <a:alphaModFix/>
                        </a:blip>
                        <a:srcRect/>
                        <a:stretch/>
                      </p:blipFill>
                      <p:spPr>
                        <a:xfrm>
                          <a:off x="4702" y="2309"/>
                          <a:ext cx="128" cy="152"/>
                        </a:xfrm>
                        <a:prstGeom prst="rect">
                          <a:avLst/>
                        </a:prstGeom>
                        <a:noFill/>
                        <a:ln>
                          <a:noFill/>
                        </a:ln>
                      </p:spPr>
                    </p:pic>
                  </p:oleObj>
                </mc:Fallback>
              </mc:AlternateContent>
            </a:graphicData>
          </a:graphic>
        </p:graphicFrame>
        <p:graphicFrame>
          <p:nvGraphicFramePr>
            <p:cNvPr id="235" name="Google Shape;235;p2"/>
            <p:cNvGraphicFramePr/>
            <p:nvPr/>
          </p:nvGraphicFramePr>
          <p:xfrm>
            <a:off x="3860" y="2360"/>
            <a:ext cx="128" cy="151"/>
          </p:xfrm>
          <a:graphic>
            <a:graphicData uri="http://schemas.openxmlformats.org/presentationml/2006/ole">
              <mc:AlternateContent xmlns:mc="http://schemas.openxmlformats.org/markup-compatibility/2006">
                <mc:Choice xmlns:v="urn:schemas-microsoft-com:vml" Requires="v">
                  <p:oleObj r:id="rId14" imgW="128" imgH="151" progId="MS_ClipArt_Gallery.2">
                    <p:embed/>
                  </p:oleObj>
                </mc:Choice>
                <mc:Fallback>
                  <p:oleObj r:id="rId14" imgW="128" imgH="151" progId="MS_ClipArt_Gallery.2">
                    <p:embed/>
                    <p:pic>
                      <p:nvPicPr>
                        <p:cNvPr id="235" name="Google Shape;235;p2"/>
                        <p:cNvPicPr preferRelativeResize="0"/>
                        <p:nvPr/>
                      </p:nvPicPr>
                      <p:blipFill rotWithShape="1">
                        <a:blip r:embed="rId15">
                          <a:alphaModFix/>
                        </a:blip>
                        <a:srcRect/>
                        <a:stretch/>
                      </p:blipFill>
                      <p:spPr>
                        <a:xfrm>
                          <a:off x="3860" y="2360"/>
                          <a:ext cx="128" cy="151"/>
                        </a:xfrm>
                        <a:prstGeom prst="rect">
                          <a:avLst/>
                        </a:prstGeom>
                        <a:noFill/>
                        <a:ln>
                          <a:noFill/>
                        </a:ln>
                      </p:spPr>
                    </p:pic>
                  </p:oleObj>
                </mc:Fallback>
              </mc:AlternateContent>
            </a:graphicData>
          </a:graphic>
        </p:graphicFrame>
        <p:sp>
          <p:nvSpPr>
            <p:cNvPr id="236" name="Google Shape;236;p2"/>
            <p:cNvSpPr/>
            <p:nvPr/>
          </p:nvSpPr>
          <p:spPr>
            <a:xfrm>
              <a:off x="3911" y="2218"/>
              <a:ext cx="853" cy="192"/>
            </a:xfrm>
            <a:custGeom>
              <a:avLst/>
              <a:gdLst/>
              <a:ahLst/>
              <a:cxnLst/>
              <a:rect l="l" t="t" r="r" b="b"/>
              <a:pathLst>
                <a:path w="972" h="228" extrusionOk="0">
                  <a:moveTo>
                    <a:pt x="0" y="228"/>
                  </a:moveTo>
                  <a:cubicBezTo>
                    <a:pt x="135" y="123"/>
                    <a:pt x="270" y="18"/>
                    <a:pt x="432" y="9"/>
                  </a:cubicBezTo>
                  <a:cubicBezTo>
                    <a:pt x="594" y="0"/>
                    <a:pt x="783" y="85"/>
                    <a:pt x="972" y="171"/>
                  </a:cubicBezTo>
                </a:path>
              </a:pathLst>
            </a:custGeom>
            <a:noFill/>
            <a:ln w="19050" cap="flat" cmpd="sng">
              <a:solidFill>
                <a:schemeClr val="dk1"/>
              </a:solidFill>
              <a:prstDash val="dash"/>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237" name="Google Shape;237;p2"/>
            <p:cNvGrpSpPr/>
            <p:nvPr/>
          </p:nvGrpSpPr>
          <p:grpSpPr>
            <a:xfrm>
              <a:off x="4079" y="3114"/>
              <a:ext cx="256" cy="269"/>
              <a:chOff x="2870" y="1518"/>
              <a:chExt cx="292" cy="320"/>
            </a:xfrm>
          </p:grpSpPr>
          <p:graphicFrame>
            <p:nvGraphicFramePr>
              <p:cNvPr id="238" name="Google Shape;238;p2"/>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r:id="rId16" imgW="272" imgH="282" progId="MS_ClipArt_Gallery.2">
                      <p:embed/>
                    </p:oleObj>
                  </mc:Choice>
                  <mc:Fallback>
                    <p:oleObj r:id="rId16" imgW="272" imgH="282" progId="MS_ClipArt_Gallery.2">
                      <p:embed/>
                      <p:pic>
                        <p:nvPicPr>
                          <p:cNvPr id="238" name="Google Shape;238;p2"/>
                          <p:cNvPicPr preferRelativeResize="0"/>
                          <p:nvPr/>
                        </p:nvPicPr>
                        <p:blipFill rotWithShape="1">
                          <a:blip r:embed="rId17">
                            <a:alphaModFix/>
                          </a:blip>
                          <a:srcRect/>
                          <a:stretch/>
                        </p:blipFill>
                        <p:spPr>
                          <a:xfrm>
                            <a:off x="2870" y="1518"/>
                            <a:ext cx="272" cy="282"/>
                          </a:xfrm>
                          <a:prstGeom prst="rect">
                            <a:avLst/>
                          </a:prstGeom>
                          <a:noFill/>
                          <a:ln>
                            <a:noFill/>
                          </a:ln>
                        </p:spPr>
                      </p:pic>
                    </p:oleObj>
                  </mc:Fallback>
                </mc:AlternateContent>
              </a:graphicData>
            </a:graphic>
          </p:graphicFrame>
          <p:graphicFrame>
            <p:nvGraphicFramePr>
              <p:cNvPr id="239" name="Google Shape;239;p2"/>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r:id="rId18" imgW="249" imgH="236" progId="MS_ClipArt_Gallery.2">
                      <p:embed/>
                    </p:oleObj>
                  </mc:Choice>
                  <mc:Fallback>
                    <p:oleObj r:id="rId18" imgW="249" imgH="236" progId="MS_ClipArt_Gallery.2">
                      <p:embed/>
                      <p:pic>
                        <p:nvPicPr>
                          <p:cNvPr id="239" name="Google Shape;239;p2"/>
                          <p:cNvPicPr preferRelativeResize="0"/>
                          <p:nvPr/>
                        </p:nvPicPr>
                        <p:blipFill rotWithShape="1">
                          <a:blip r:embed="rId19">
                            <a:alphaModFix/>
                          </a:blip>
                          <a:srcRect/>
                          <a:stretch/>
                        </p:blipFill>
                        <p:spPr>
                          <a:xfrm>
                            <a:off x="2913" y="1602"/>
                            <a:ext cx="249" cy="236"/>
                          </a:xfrm>
                          <a:prstGeom prst="rect">
                            <a:avLst/>
                          </a:prstGeom>
                          <a:noFill/>
                          <a:ln>
                            <a:noFill/>
                          </a:ln>
                        </p:spPr>
                      </p:pic>
                    </p:oleObj>
                  </mc:Fallback>
                </mc:AlternateContent>
              </a:graphicData>
            </a:graphic>
          </p:graphicFrame>
        </p:grpSp>
        <p:grpSp>
          <p:nvGrpSpPr>
            <p:cNvPr id="240" name="Google Shape;240;p2"/>
            <p:cNvGrpSpPr/>
            <p:nvPr/>
          </p:nvGrpSpPr>
          <p:grpSpPr>
            <a:xfrm>
              <a:off x="4569" y="3134"/>
              <a:ext cx="256" cy="269"/>
              <a:chOff x="2870" y="1518"/>
              <a:chExt cx="292" cy="320"/>
            </a:xfrm>
          </p:grpSpPr>
          <p:graphicFrame>
            <p:nvGraphicFramePr>
              <p:cNvPr id="241" name="Google Shape;241;p2"/>
              <p:cNvGraphicFramePr/>
              <p:nvPr/>
            </p:nvGraphicFramePr>
            <p:xfrm>
              <a:off x="2870" y="1518"/>
              <a:ext cx="272" cy="282"/>
            </p:xfrm>
            <a:graphic>
              <a:graphicData uri="http://schemas.openxmlformats.org/presentationml/2006/ole">
                <mc:AlternateContent xmlns:mc="http://schemas.openxmlformats.org/markup-compatibility/2006">
                  <mc:Choice xmlns:v="urn:schemas-microsoft-com:vml" Requires="v">
                    <p:oleObj r:id="rId16" imgW="272" imgH="282" progId="MS_ClipArt_Gallery.2">
                      <p:embed/>
                    </p:oleObj>
                  </mc:Choice>
                  <mc:Fallback>
                    <p:oleObj r:id="rId16" imgW="272" imgH="282" progId="MS_ClipArt_Gallery.2">
                      <p:embed/>
                      <p:pic>
                        <p:nvPicPr>
                          <p:cNvPr id="241" name="Google Shape;241;p2"/>
                          <p:cNvPicPr preferRelativeResize="0"/>
                          <p:nvPr/>
                        </p:nvPicPr>
                        <p:blipFill rotWithShape="1">
                          <a:blip r:embed="rId17">
                            <a:alphaModFix/>
                          </a:blip>
                          <a:srcRect/>
                          <a:stretch/>
                        </p:blipFill>
                        <p:spPr>
                          <a:xfrm>
                            <a:off x="2870" y="1518"/>
                            <a:ext cx="272" cy="282"/>
                          </a:xfrm>
                          <a:prstGeom prst="rect">
                            <a:avLst/>
                          </a:prstGeom>
                          <a:noFill/>
                          <a:ln>
                            <a:noFill/>
                          </a:ln>
                        </p:spPr>
                      </p:pic>
                    </p:oleObj>
                  </mc:Fallback>
                </mc:AlternateContent>
              </a:graphicData>
            </a:graphic>
          </p:graphicFrame>
          <p:graphicFrame>
            <p:nvGraphicFramePr>
              <p:cNvPr id="242" name="Google Shape;242;p2"/>
              <p:cNvGraphicFramePr/>
              <p:nvPr/>
            </p:nvGraphicFramePr>
            <p:xfrm>
              <a:off x="2913" y="1602"/>
              <a:ext cx="249" cy="236"/>
            </p:xfrm>
            <a:graphic>
              <a:graphicData uri="http://schemas.openxmlformats.org/presentationml/2006/ole">
                <mc:AlternateContent xmlns:mc="http://schemas.openxmlformats.org/markup-compatibility/2006">
                  <mc:Choice xmlns:v="urn:schemas-microsoft-com:vml" Requires="v">
                    <p:oleObj r:id="rId20" imgW="249" imgH="236" progId="MS_ClipArt_Gallery.2">
                      <p:embed/>
                    </p:oleObj>
                  </mc:Choice>
                  <mc:Fallback>
                    <p:oleObj r:id="rId20" imgW="249" imgH="236" progId="MS_ClipArt_Gallery.2">
                      <p:embed/>
                      <p:pic>
                        <p:nvPicPr>
                          <p:cNvPr id="242" name="Google Shape;242;p2"/>
                          <p:cNvPicPr preferRelativeResize="0"/>
                          <p:nvPr/>
                        </p:nvPicPr>
                        <p:blipFill rotWithShape="1">
                          <a:blip r:embed="rId19">
                            <a:alphaModFix/>
                          </a:blip>
                          <a:srcRect/>
                          <a:stretch/>
                        </p:blipFill>
                        <p:spPr>
                          <a:xfrm>
                            <a:off x="2913" y="1602"/>
                            <a:ext cx="249" cy="236"/>
                          </a:xfrm>
                          <a:prstGeom prst="rect">
                            <a:avLst/>
                          </a:prstGeom>
                          <a:noFill/>
                          <a:ln>
                            <a:noFill/>
                          </a:ln>
                        </p:spPr>
                      </p:pic>
                    </p:oleObj>
                  </mc:Fallback>
                </mc:AlternateContent>
              </a:graphicData>
            </a:graphic>
          </p:graphicFrame>
        </p:grpSp>
        <p:grpSp>
          <p:nvGrpSpPr>
            <p:cNvPr id="243" name="Google Shape;243;p2"/>
            <p:cNvGrpSpPr/>
            <p:nvPr/>
          </p:nvGrpSpPr>
          <p:grpSpPr>
            <a:xfrm>
              <a:off x="4308" y="2955"/>
              <a:ext cx="239" cy="237"/>
              <a:chOff x="4733" y="2082"/>
              <a:chExt cx="272" cy="282"/>
            </a:xfrm>
          </p:grpSpPr>
          <p:graphicFrame>
            <p:nvGraphicFramePr>
              <p:cNvPr id="244" name="Google Shape;244;p2"/>
              <p:cNvGraphicFramePr/>
              <p:nvPr/>
            </p:nvGraphicFramePr>
            <p:xfrm>
              <a:off x="4733" y="2082"/>
              <a:ext cx="272" cy="282"/>
            </p:xfrm>
            <a:graphic>
              <a:graphicData uri="http://schemas.openxmlformats.org/presentationml/2006/ole">
                <mc:AlternateContent xmlns:mc="http://schemas.openxmlformats.org/markup-compatibility/2006">
                  <mc:Choice xmlns:v="urn:schemas-microsoft-com:vml" Requires="v">
                    <p:oleObj r:id="rId21" imgW="272" imgH="282" progId="MS_ClipArt_Gallery.2">
                      <p:embed/>
                    </p:oleObj>
                  </mc:Choice>
                  <mc:Fallback>
                    <p:oleObj r:id="rId21" imgW="272" imgH="282" progId="MS_ClipArt_Gallery.2">
                      <p:embed/>
                      <p:pic>
                        <p:nvPicPr>
                          <p:cNvPr id="244" name="Google Shape;244;p2"/>
                          <p:cNvPicPr preferRelativeResize="0"/>
                          <p:nvPr/>
                        </p:nvPicPr>
                        <p:blipFill rotWithShape="1">
                          <a:blip r:embed="rId17">
                            <a:alphaModFix/>
                          </a:blip>
                          <a:srcRect/>
                          <a:stretch/>
                        </p:blipFill>
                        <p:spPr>
                          <a:xfrm>
                            <a:off x="4733" y="2082"/>
                            <a:ext cx="272" cy="282"/>
                          </a:xfrm>
                          <a:prstGeom prst="rect">
                            <a:avLst/>
                          </a:prstGeom>
                          <a:noFill/>
                          <a:ln>
                            <a:noFill/>
                          </a:ln>
                        </p:spPr>
                      </p:pic>
                    </p:oleObj>
                  </mc:Fallback>
                </mc:AlternateContent>
              </a:graphicData>
            </a:graphic>
          </p:graphicFrame>
          <p:sp>
            <p:nvSpPr>
              <p:cNvPr id="245" name="Google Shape;245;p2"/>
              <p:cNvSpPr/>
              <p:nvPr/>
            </p:nvSpPr>
            <p:spPr>
              <a:xfrm>
                <a:off x="4812" y="2181"/>
                <a:ext cx="192" cy="183"/>
              </a:xfrm>
              <a:prstGeom prst="rect">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cxnSp>
          <p:nvCxnSpPr>
            <p:cNvPr id="246" name="Google Shape;246;p2"/>
            <p:cNvCxnSpPr/>
            <p:nvPr/>
          </p:nvCxnSpPr>
          <p:spPr>
            <a:xfrm>
              <a:off x="4501" y="2894"/>
              <a:ext cx="0" cy="144"/>
            </a:xfrm>
            <a:prstGeom prst="straightConnector1">
              <a:avLst/>
            </a:prstGeom>
            <a:noFill/>
            <a:ln w="12700" cap="flat" cmpd="sng">
              <a:solidFill>
                <a:schemeClr val="dk1"/>
              </a:solidFill>
              <a:prstDash val="solid"/>
              <a:round/>
              <a:headEnd type="none" w="med" len="med"/>
              <a:tailEnd type="none" w="med" len="med"/>
            </a:ln>
          </p:spPr>
        </p:cxnSp>
        <p:grpSp>
          <p:nvGrpSpPr>
            <p:cNvPr id="247" name="Google Shape;247;p2"/>
            <p:cNvGrpSpPr/>
            <p:nvPr/>
          </p:nvGrpSpPr>
          <p:grpSpPr>
            <a:xfrm>
              <a:off x="4955" y="2531"/>
              <a:ext cx="131" cy="258"/>
              <a:chOff x="4180" y="783"/>
              <a:chExt cx="150" cy="307"/>
            </a:xfrm>
          </p:grpSpPr>
          <p:sp>
            <p:nvSpPr>
              <p:cNvPr id="248" name="Google Shape;248;p2"/>
              <p:cNvSpPr/>
              <p:nvPr/>
            </p:nvSpPr>
            <p:spPr>
              <a:xfrm>
                <a:off x="4180" y="1019"/>
                <a:ext cx="150" cy="71"/>
              </a:xfrm>
              <a:prstGeom prst="parallelogram">
                <a:avLst>
                  <a:gd name="adj" fmla="val 81387"/>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49" name="Google Shape;249;p2"/>
              <p:cNvSpPr/>
              <p:nvPr/>
            </p:nvSpPr>
            <p:spPr>
              <a:xfrm>
                <a:off x="4256" y="785"/>
                <a:ext cx="71" cy="236"/>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50" name="Google Shape;250;p2"/>
              <p:cNvSpPr/>
              <p:nvPr/>
            </p:nvSpPr>
            <p:spPr>
              <a:xfrm>
                <a:off x="4181" y="852"/>
                <a:ext cx="95" cy="236"/>
              </a:xfrm>
              <a:prstGeom prst="rect">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51" name="Google Shape;251;p2"/>
              <p:cNvSpPr/>
              <p:nvPr/>
            </p:nvSpPr>
            <p:spPr>
              <a:xfrm>
                <a:off x="4180" y="783"/>
                <a:ext cx="150" cy="71"/>
              </a:xfrm>
              <a:prstGeom prst="parallelogram">
                <a:avLst>
                  <a:gd name="adj" fmla="val 81387"/>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52" name="Google Shape;252;p2"/>
              <p:cNvCxnSpPr/>
              <p:nvPr/>
            </p:nvCxnSpPr>
            <p:spPr>
              <a:xfrm>
                <a:off x="4330" y="788"/>
                <a:ext cx="0" cy="231"/>
              </a:xfrm>
              <a:prstGeom prst="straightConnector1">
                <a:avLst/>
              </a:prstGeom>
              <a:noFill/>
              <a:ln w="9525" cap="flat" cmpd="sng">
                <a:solidFill>
                  <a:schemeClr val="dk1"/>
                </a:solidFill>
                <a:prstDash val="solid"/>
                <a:round/>
                <a:headEnd type="none" w="med" len="med"/>
                <a:tailEnd type="none" w="med" len="med"/>
              </a:ln>
            </p:spPr>
          </p:cxnSp>
          <p:cxnSp>
            <p:nvCxnSpPr>
              <p:cNvPr id="253" name="Google Shape;253;p2"/>
              <p:cNvCxnSpPr/>
              <p:nvPr/>
            </p:nvCxnSpPr>
            <p:spPr>
              <a:xfrm flipH="1">
                <a:off x="4276" y="1019"/>
                <a:ext cx="54" cy="69"/>
              </a:xfrm>
              <a:prstGeom prst="straightConnector1">
                <a:avLst/>
              </a:prstGeom>
              <a:noFill/>
              <a:ln w="9525" cap="flat" cmpd="sng">
                <a:solidFill>
                  <a:schemeClr val="dk1"/>
                </a:solidFill>
                <a:prstDash val="solid"/>
                <a:round/>
                <a:headEnd type="none" w="med" len="med"/>
                <a:tailEnd type="none" w="med" len="med"/>
              </a:ln>
            </p:spPr>
          </p:cxnSp>
          <p:sp>
            <p:nvSpPr>
              <p:cNvPr id="254" name="Google Shape;254;p2"/>
              <p:cNvSpPr/>
              <p:nvPr/>
            </p:nvSpPr>
            <p:spPr>
              <a:xfrm>
                <a:off x="4193" y="883"/>
                <a:ext cx="63" cy="136"/>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55" name="Google Shape;255;p2"/>
              <p:cNvSpPr/>
              <p:nvPr/>
            </p:nvSpPr>
            <p:spPr>
              <a:xfrm>
                <a:off x="4202" y="923"/>
                <a:ext cx="48" cy="49"/>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grpSp>
          <p:nvGrpSpPr>
            <p:cNvPr id="256" name="Google Shape;256;p2"/>
            <p:cNvGrpSpPr/>
            <p:nvPr/>
          </p:nvGrpSpPr>
          <p:grpSpPr>
            <a:xfrm>
              <a:off x="4947" y="2811"/>
              <a:ext cx="131" cy="258"/>
              <a:chOff x="4180" y="783"/>
              <a:chExt cx="150" cy="307"/>
            </a:xfrm>
          </p:grpSpPr>
          <p:sp>
            <p:nvSpPr>
              <p:cNvPr id="257" name="Google Shape;257;p2"/>
              <p:cNvSpPr/>
              <p:nvPr/>
            </p:nvSpPr>
            <p:spPr>
              <a:xfrm>
                <a:off x="4180" y="1019"/>
                <a:ext cx="150" cy="71"/>
              </a:xfrm>
              <a:prstGeom prst="parallelogram">
                <a:avLst>
                  <a:gd name="adj" fmla="val 81387"/>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58" name="Google Shape;258;p2"/>
              <p:cNvSpPr/>
              <p:nvPr/>
            </p:nvSpPr>
            <p:spPr>
              <a:xfrm>
                <a:off x="4256" y="785"/>
                <a:ext cx="71" cy="236"/>
              </a:xfrm>
              <a:prstGeom prst="rect">
                <a:avLst/>
              </a:prstGeom>
              <a:solidFill>
                <a:srgbClr val="33CCCC"/>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59" name="Google Shape;259;p2"/>
              <p:cNvSpPr/>
              <p:nvPr/>
            </p:nvSpPr>
            <p:spPr>
              <a:xfrm>
                <a:off x="4181" y="852"/>
                <a:ext cx="95" cy="236"/>
              </a:xfrm>
              <a:prstGeom prst="rect">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60" name="Google Shape;260;p2"/>
              <p:cNvSpPr/>
              <p:nvPr/>
            </p:nvSpPr>
            <p:spPr>
              <a:xfrm>
                <a:off x="4180" y="783"/>
                <a:ext cx="150" cy="71"/>
              </a:xfrm>
              <a:prstGeom prst="parallelogram">
                <a:avLst>
                  <a:gd name="adj" fmla="val 81387"/>
                </a:avLst>
              </a:prstGeom>
              <a:solidFill>
                <a:srgbClr val="33CCCC"/>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61" name="Google Shape;261;p2"/>
              <p:cNvCxnSpPr/>
              <p:nvPr/>
            </p:nvCxnSpPr>
            <p:spPr>
              <a:xfrm>
                <a:off x="4330" y="788"/>
                <a:ext cx="0" cy="231"/>
              </a:xfrm>
              <a:prstGeom prst="straightConnector1">
                <a:avLst/>
              </a:prstGeom>
              <a:noFill/>
              <a:ln w="9525" cap="flat" cmpd="sng">
                <a:solidFill>
                  <a:schemeClr val="dk1"/>
                </a:solidFill>
                <a:prstDash val="solid"/>
                <a:round/>
                <a:headEnd type="none" w="med" len="med"/>
                <a:tailEnd type="none" w="med" len="med"/>
              </a:ln>
            </p:spPr>
          </p:cxnSp>
          <p:cxnSp>
            <p:nvCxnSpPr>
              <p:cNvPr id="262" name="Google Shape;262;p2"/>
              <p:cNvCxnSpPr/>
              <p:nvPr/>
            </p:nvCxnSpPr>
            <p:spPr>
              <a:xfrm flipH="1">
                <a:off x="4276" y="1019"/>
                <a:ext cx="54" cy="69"/>
              </a:xfrm>
              <a:prstGeom prst="straightConnector1">
                <a:avLst/>
              </a:prstGeom>
              <a:noFill/>
              <a:ln w="9525" cap="flat" cmpd="sng">
                <a:solidFill>
                  <a:schemeClr val="dk1"/>
                </a:solidFill>
                <a:prstDash val="solid"/>
                <a:round/>
                <a:headEnd type="none" w="med" len="med"/>
                <a:tailEnd type="none" w="med" len="med"/>
              </a:ln>
            </p:spPr>
          </p:cxnSp>
          <p:sp>
            <p:nvSpPr>
              <p:cNvPr id="263" name="Google Shape;263;p2"/>
              <p:cNvSpPr/>
              <p:nvPr/>
            </p:nvSpPr>
            <p:spPr>
              <a:xfrm>
                <a:off x="4193" y="883"/>
                <a:ext cx="63" cy="136"/>
              </a:xfrm>
              <a:prstGeom prst="rect">
                <a:avLst/>
              </a:prstGeom>
              <a:solidFill>
                <a:schemeClr val="accent2"/>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64" name="Google Shape;264;p2"/>
              <p:cNvSpPr/>
              <p:nvPr/>
            </p:nvSpPr>
            <p:spPr>
              <a:xfrm>
                <a:off x="4202" y="923"/>
                <a:ext cx="48" cy="49"/>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cxnSp>
          <p:nvCxnSpPr>
            <p:cNvPr id="265" name="Google Shape;265;p2"/>
            <p:cNvCxnSpPr/>
            <p:nvPr/>
          </p:nvCxnSpPr>
          <p:spPr>
            <a:xfrm rot="-5400000">
              <a:off x="4711" y="2767"/>
              <a:ext cx="385" cy="0"/>
            </a:xfrm>
            <a:prstGeom prst="straightConnector1">
              <a:avLst/>
            </a:prstGeom>
            <a:noFill/>
            <a:ln w="12700" cap="flat" cmpd="sng">
              <a:solidFill>
                <a:schemeClr val="dk1"/>
              </a:solidFill>
              <a:prstDash val="solid"/>
              <a:round/>
              <a:headEnd type="none" w="med" len="med"/>
              <a:tailEnd type="none" w="med" len="med"/>
            </a:ln>
          </p:spPr>
        </p:cxnSp>
        <p:cxnSp>
          <p:nvCxnSpPr>
            <p:cNvPr id="266" name="Google Shape;266;p2"/>
            <p:cNvCxnSpPr/>
            <p:nvPr/>
          </p:nvCxnSpPr>
          <p:spPr>
            <a:xfrm rot="10800000">
              <a:off x="4934" y="2925"/>
              <a:ext cx="0" cy="65"/>
            </a:xfrm>
            <a:prstGeom prst="straightConnector1">
              <a:avLst/>
            </a:prstGeom>
            <a:noFill/>
            <a:ln w="12700" cap="flat" cmpd="sng">
              <a:solidFill>
                <a:schemeClr val="dk1"/>
              </a:solidFill>
              <a:prstDash val="solid"/>
              <a:round/>
              <a:headEnd type="none" w="med" len="med"/>
              <a:tailEnd type="none" w="med" len="med"/>
            </a:ln>
          </p:spPr>
        </p:cxnSp>
        <p:cxnSp>
          <p:nvCxnSpPr>
            <p:cNvPr id="267" name="Google Shape;267;p2"/>
            <p:cNvCxnSpPr/>
            <p:nvPr/>
          </p:nvCxnSpPr>
          <p:spPr>
            <a:xfrm rot="10800000">
              <a:off x="4928" y="2630"/>
              <a:ext cx="0" cy="56"/>
            </a:xfrm>
            <a:prstGeom prst="straightConnector1">
              <a:avLst/>
            </a:prstGeom>
            <a:noFill/>
            <a:ln w="12700" cap="flat" cmpd="sng">
              <a:solidFill>
                <a:schemeClr val="dk1"/>
              </a:solidFill>
              <a:prstDash val="solid"/>
              <a:round/>
              <a:headEnd type="none" w="med" len="med"/>
              <a:tailEnd type="none" w="med" len="med"/>
            </a:ln>
          </p:spPr>
        </p:cxnSp>
        <p:cxnSp>
          <p:nvCxnSpPr>
            <p:cNvPr id="268" name="Google Shape;268;p2"/>
            <p:cNvCxnSpPr/>
            <p:nvPr/>
          </p:nvCxnSpPr>
          <p:spPr>
            <a:xfrm rot="10800000" flipH="1">
              <a:off x="4096" y="1459"/>
              <a:ext cx="289" cy="131"/>
            </a:xfrm>
            <a:prstGeom prst="straightConnector1">
              <a:avLst/>
            </a:prstGeom>
            <a:noFill/>
            <a:ln w="12700" cap="flat" cmpd="sng">
              <a:solidFill>
                <a:schemeClr val="dk1"/>
              </a:solidFill>
              <a:prstDash val="solid"/>
              <a:round/>
              <a:headEnd type="none" w="med" len="med"/>
              <a:tailEnd type="none" w="med" len="med"/>
            </a:ln>
          </p:spPr>
        </p:cxnSp>
        <p:cxnSp>
          <p:nvCxnSpPr>
            <p:cNvPr id="269" name="Google Shape;269;p2"/>
            <p:cNvCxnSpPr/>
            <p:nvPr/>
          </p:nvCxnSpPr>
          <p:spPr>
            <a:xfrm>
              <a:off x="4685" y="1449"/>
              <a:ext cx="306" cy="131"/>
            </a:xfrm>
            <a:prstGeom prst="straightConnector1">
              <a:avLst/>
            </a:prstGeom>
            <a:noFill/>
            <a:ln w="12700" cap="flat" cmpd="sng">
              <a:solidFill>
                <a:schemeClr val="dk1"/>
              </a:solidFill>
              <a:prstDash val="solid"/>
              <a:round/>
              <a:headEnd type="none" w="med" len="med"/>
              <a:tailEnd type="none" w="med" len="med"/>
            </a:ln>
          </p:spPr>
        </p:cxnSp>
        <p:cxnSp>
          <p:nvCxnSpPr>
            <p:cNvPr id="270" name="Google Shape;270;p2"/>
            <p:cNvCxnSpPr/>
            <p:nvPr/>
          </p:nvCxnSpPr>
          <p:spPr>
            <a:xfrm flipH="1">
              <a:off x="5012" y="1661"/>
              <a:ext cx="152" cy="429"/>
            </a:xfrm>
            <a:prstGeom prst="straightConnector1">
              <a:avLst/>
            </a:prstGeom>
            <a:noFill/>
            <a:ln w="12700" cap="flat" cmpd="sng">
              <a:solidFill>
                <a:schemeClr val="dk1"/>
              </a:solidFill>
              <a:prstDash val="solid"/>
              <a:round/>
              <a:headEnd type="none" w="med" len="med"/>
              <a:tailEnd type="none" w="med" len="med"/>
            </a:ln>
          </p:spPr>
        </p:cxnSp>
        <p:cxnSp>
          <p:nvCxnSpPr>
            <p:cNvPr id="271" name="Google Shape;271;p2"/>
            <p:cNvCxnSpPr/>
            <p:nvPr/>
          </p:nvCxnSpPr>
          <p:spPr>
            <a:xfrm>
              <a:off x="4527" y="1520"/>
              <a:ext cx="0" cy="272"/>
            </a:xfrm>
            <a:prstGeom prst="straightConnector1">
              <a:avLst/>
            </a:prstGeom>
            <a:noFill/>
            <a:ln w="12700" cap="flat" cmpd="sng">
              <a:solidFill>
                <a:schemeClr val="dk1"/>
              </a:solidFill>
              <a:prstDash val="solid"/>
              <a:round/>
              <a:headEnd type="none" w="med" len="med"/>
              <a:tailEnd type="none" w="med" len="med"/>
            </a:ln>
          </p:spPr>
        </p:cxnSp>
        <p:cxnSp>
          <p:nvCxnSpPr>
            <p:cNvPr id="272" name="Google Shape;272;p2"/>
            <p:cNvCxnSpPr/>
            <p:nvPr/>
          </p:nvCxnSpPr>
          <p:spPr>
            <a:xfrm>
              <a:off x="4543" y="1928"/>
              <a:ext cx="337" cy="232"/>
            </a:xfrm>
            <a:prstGeom prst="straightConnector1">
              <a:avLst/>
            </a:prstGeom>
            <a:noFill/>
            <a:ln w="12700" cap="flat" cmpd="sng">
              <a:solidFill>
                <a:schemeClr val="dk1"/>
              </a:solidFill>
              <a:prstDash val="solid"/>
              <a:round/>
              <a:headEnd type="none" w="med" len="med"/>
              <a:tailEnd type="none" w="med" len="med"/>
            </a:ln>
          </p:spPr>
        </p:cxnSp>
        <p:cxnSp>
          <p:nvCxnSpPr>
            <p:cNvPr id="273" name="Google Shape;273;p2"/>
            <p:cNvCxnSpPr/>
            <p:nvPr/>
          </p:nvCxnSpPr>
          <p:spPr>
            <a:xfrm flipH="1">
              <a:off x="4833" y="2221"/>
              <a:ext cx="168" cy="227"/>
            </a:xfrm>
            <a:prstGeom prst="straightConnector1">
              <a:avLst/>
            </a:prstGeom>
            <a:noFill/>
            <a:ln w="12700" cap="flat" cmpd="sng">
              <a:solidFill>
                <a:schemeClr val="dk1"/>
              </a:solidFill>
              <a:prstDash val="solid"/>
              <a:round/>
              <a:headEnd type="none" w="med" len="med"/>
              <a:tailEnd type="none" w="med" len="med"/>
            </a:ln>
          </p:spPr>
        </p:cxnSp>
        <p:cxnSp>
          <p:nvCxnSpPr>
            <p:cNvPr id="274" name="Google Shape;274;p2"/>
            <p:cNvCxnSpPr/>
            <p:nvPr/>
          </p:nvCxnSpPr>
          <p:spPr>
            <a:xfrm flipH="1">
              <a:off x="4690" y="1641"/>
              <a:ext cx="353" cy="242"/>
            </a:xfrm>
            <a:prstGeom prst="straightConnector1">
              <a:avLst/>
            </a:prstGeom>
            <a:noFill/>
            <a:ln w="12700" cap="flat" cmpd="sng">
              <a:solidFill>
                <a:schemeClr val="dk1"/>
              </a:solidFill>
              <a:prstDash val="solid"/>
              <a:round/>
              <a:headEnd type="none" w="med" len="med"/>
              <a:tailEnd type="none" w="med" len="med"/>
            </a:ln>
          </p:spPr>
        </p:cxnSp>
        <p:cxnSp>
          <p:nvCxnSpPr>
            <p:cNvPr id="275" name="Google Shape;275;p2"/>
            <p:cNvCxnSpPr/>
            <p:nvPr/>
          </p:nvCxnSpPr>
          <p:spPr>
            <a:xfrm flipH="1">
              <a:off x="4696" y="1288"/>
              <a:ext cx="221" cy="161"/>
            </a:xfrm>
            <a:prstGeom prst="straightConnector1">
              <a:avLst/>
            </a:prstGeom>
            <a:noFill/>
            <a:ln w="12700" cap="flat" cmpd="sng">
              <a:solidFill>
                <a:schemeClr val="dk1"/>
              </a:solidFill>
              <a:prstDash val="solid"/>
              <a:round/>
              <a:headEnd type="none" w="med" len="med"/>
              <a:tailEnd type="none" w="med" len="med"/>
            </a:ln>
          </p:spPr>
        </p:cxnSp>
        <p:cxnSp>
          <p:nvCxnSpPr>
            <p:cNvPr id="276" name="Google Shape;276;p2"/>
            <p:cNvCxnSpPr/>
            <p:nvPr/>
          </p:nvCxnSpPr>
          <p:spPr>
            <a:xfrm flipH="1">
              <a:off x="5148" y="1399"/>
              <a:ext cx="127" cy="111"/>
            </a:xfrm>
            <a:prstGeom prst="straightConnector1">
              <a:avLst/>
            </a:prstGeom>
            <a:noFill/>
            <a:ln w="12700" cap="flat" cmpd="sng">
              <a:solidFill>
                <a:schemeClr val="dk1"/>
              </a:solidFill>
              <a:prstDash val="solid"/>
              <a:round/>
              <a:headEnd type="none" w="med" len="med"/>
              <a:tailEnd type="none" w="med" len="med"/>
            </a:ln>
          </p:spPr>
        </p:cxnSp>
        <p:grpSp>
          <p:nvGrpSpPr>
            <p:cNvPr id="277" name="Google Shape;277;p2"/>
            <p:cNvGrpSpPr/>
            <p:nvPr/>
          </p:nvGrpSpPr>
          <p:grpSpPr>
            <a:xfrm>
              <a:off x="3769" y="1520"/>
              <a:ext cx="316" cy="147"/>
              <a:chOff x="3600" y="219"/>
              <a:chExt cx="360" cy="175"/>
            </a:xfrm>
          </p:grpSpPr>
          <p:sp>
            <p:nvSpPr>
              <p:cNvPr id="278" name="Google Shape;278;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79" name="Google Shape;279;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280" name="Google Shape;280;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281" name="Google Shape;281;p2"/>
              <p:cNvSpPr/>
              <p:nvPr/>
            </p:nvSpPr>
            <p:spPr>
              <a:xfrm>
                <a:off x="3603" y="289"/>
                <a:ext cx="352"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82" name="Google Shape;282;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283" name="Google Shape;283;p2"/>
              <p:cNvGrpSpPr/>
              <p:nvPr/>
            </p:nvGrpSpPr>
            <p:grpSpPr>
              <a:xfrm>
                <a:off x="3686" y="244"/>
                <a:ext cx="177" cy="65"/>
                <a:chOff x="2848" y="848"/>
                <a:chExt cx="140" cy="96"/>
              </a:xfrm>
            </p:grpSpPr>
            <p:cxnSp>
              <p:nvCxnSpPr>
                <p:cNvPr id="284" name="Google Shape;284;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285" name="Google Shape;285;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286" name="Google Shape;286;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287" name="Google Shape;287;p2"/>
              <p:cNvGrpSpPr/>
              <p:nvPr/>
            </p:nvGrpSpPr>
            <p:grpSpPr>
              <a:xfrm rot="10800000" flipH="1">
                <a:off x="3686" y="243"/>
                <a:ext cx="177" cy="67"/>
                <a:chOff x="2848" y="846"/>
                <a:chExt cx="140" cy="100"/>
              </a:xfrm>
            </p:grpSpPr>
            <p:cxnSp>
              <p:nvCxnSpPr>
                <p:cNvPr id="288" name="Google Shape;288;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289" name="Google Shape;289;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290" name="Google Shape;290;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291" name="Google Shape;291;p2"/>
            <p:cNvGrpSpPr/>
            <p:nvPr/>
          </p:nvGrpSpPr>
          <p:grpSpPr>
            <a:xfrm>
              <a:off x="4369" y="1376"/>
              <a:ext cx="316" cy="147"/>
              <a:chOff x="3600" y="219"/>
              <a:chExt cx="360" cy="175"/>
            </a:xfrm>
          </p:grpSpPr>
          <p:sp>
            <p:nvSpPr>
              <p:cNvPr id="292" name="Google Shape;292;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293" name="Google Shape;293;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294" name="Google Shape;294;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295" name="Google Shape;295;p2"/>
              <p:cNvSpPr/>
              <p:nvPr/>
            </p:nvSpPr>
            <p:spPr>
              <a:xfrm>
                <a:off x="3603" y="289"/>
                <a:ext cx="352"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296" name="Google Shape;296;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297" name="Google Shape;297;p2"/>
              <p:cNvGrpSpPr/>
              <p:nvPr/>
            </p:nvGrpSpPr>
            <p:grpSpPr>
              <a:xfrm>
                <a:off x="3686" y="244"/>
                <a:ext cx="177" cy="65"/>
                <a:chOff x="2848" y="848"/>
                <a:chExt cx="140" cy="96"/>
              </a:xfrm>
            </p:grpSpPr>
            <p:cxnSp>
              <p:nvCxnSpPr>
                <p:cNvPr id="298" name="Google Shape;298;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299" name="Google Shape;299;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00" name="Google Shape;300;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01" name="Google Shape;301;p2"/>
              <p:cNvGrpSpPr/>
              <p:nvPr/>
            </p:nvGrpSpPr>
            <p:grpSpPr>
              <a:xfrm rot="10800000" flipH="1">
                <a:off x="3686" y="243"/>
                <a:ext cx="177" cy="67"/>
                <a:chOff x="2848" y="846"/>
                <a:chExt cx="140" cy="100"/>
              </a:xfrm>
            </p:grpSpPr>
            <p:cxnSp>
              <p:nvCxnSpPr>
                <p:cNvPr id="302" name="Google Shape;302;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03" name="Google Shape;303;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04" name="Google Shape;304;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305" name="Google Shape;305;p2"/>
            <p:cNvGrpSpPr/>
            <p:nvPr/>
          </p:nvGrpSpPr>
          <p:grpSpPr>
            <a:xfrm>
              <a:off x="4380" y="1790"/>
              <a:ext cx="316" cy="147"/>
              <a:chOff x="3600" y="219"/>
              <a:chExt cx="360" cy="175"/>
            </a:xfrm>
          </p:grpSpPr>
          <p:sp>
            <p:nvSpPr>
              <p:cNvPr id="306" name="Google Shape;306;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07" name="Google Shape;307;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08" name="Google Shape;308;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09" name="Google Shape;309;p2"/>
              <p:cNvSpPr/>
              <p:nvPr/>
            </p:nvSpPr>
            <p:spPr>
              <a:xfrm>
                <a:off x="3603" y="289"/>
                <a:ext cx="352"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10" name="Google Shape;310;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11" name="Google Shape;311;p2"/>
              <p:cNvGrpSpPr/>
              <p:nvPr/>
            </p:nvGrpSpPr>
            <p:grpSpPr>
              <a:xfrm>
                <a:off x="3686" y="244"/>
                <a:ext cx="177" cy="65"/>
                <a:chOff x="2848" y="848"/>
                <a:chExt cx="140" cy="96"/>
              </a:xfrm>
            </p:grpSpPr>
            <p:cxnSp>
              <p:nvCxnSpPr>
                <p:cNvPr id="312" name="Google Shape;312;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13" name="Google Shape;313;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14" name="Google Shape;314;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15" name="Google Shape;315;p2"/>
              <p:cNvGrpSpPr/>
              <p:nvPr/>
            </p:nvGrpSpPr>
            <p:grpSpPr>
              <a:xfrm rot="10800000" flipH="1">
                <a:off x="3686" y="243"/>
                <a:ext cx="177" cy="67"/>
                <a:chOff x="2848" y="846"/>
                <a:chExt cx="140" cy="100"/>
              </a:xfrm>
            </p:grpSpPr>
            <p:cxnSp>
              <p:nvCxnSpPr>
                <p:cNvPr id="316" name="Google Shape;316;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17" name="Google Shape;317;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18" name="Google Shape;318;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319" name="Google Shape;319;p2"/>
            <p:cNvGrpSpPr/>
            <p:nvPr/>
          </p:nvGrpSpPr>
          <p:grpSpPr>
            <a:xfrm>
              <a:off x="4991" y="1507"/>
              <a:ext cx="315" cy="147"/>
              <a:chOff x="3600" y="219"/>
              <a:chExt cx="360" cy="175"/>
            </a:xfrm>
          </p:grpSpPr>
          <p:sp>
            <p:nvSpPr>
              <p:cNvPr id="320" name="Google Shape;320;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21" name="Google Shape;321;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22" name="Google Shape;322;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23" name="Google Shape;323;p2"/>
              <p:cNvSpPr/>
              <p:nvPr/>
            </p:nvSpPr>
            <p:spPr>
              <a:xfrm>
                <a:off x="3603" y="289"/>
                <a:ext cx="353"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24" name="Google Shape;324;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25" name="Google Shape;325;p2"/>
              <p:cNvGrpSpPr/>
              <p:nvPr/>
            </p:nvGrpSpPr>
            <p:grpSpPr>
              <a:xfrm>
                <a:off x="3686" y="244"/>
                <a:ext cx="177" cy="65"/>
                <a:chOff x="2848" y="848"/>
                <a:chExt cx="140" cy="96"/>
              </a:xfrm>
            </p:grpSpPr>
            <p:cxnSp>
              <p:nvCxnSpPr>
                <p:cNvPr id="326" name="Google Shape;326;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27" name="Google Shape;327;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28" name="Google Shape;328;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29" name="Google Shape;329;p2"/>
              <p:cNvGrpSpPr/>
              <p:nvPr/>
            </p:nvGrpSpPr>
            <p:grpSpPr>
              <a:xfrm rot="10800000" flipH="1">
                <a:off x="3686" y="243"/>
                <a:ext cx="177" cy="67"/>
                <a:chOff x="2848" y="846"/>
                <a:chExt cx="140" cy="100"/>
              </a:xfrm>
            </p:grpSpPr>
            <p:cxnSp>
              <p:nvCxnSpPr>
                <p:cNvPr id="330" name="Google Shape;330;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31" name="Google Shape;331;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32" name="Google Shape;332;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333" name="Google Shape;333;p2"/>
            <p:cNvGrpSpPr/>
            <p:nvPr/>
          </p:nvGrpSpPr>
          <p:grpSpPr>
            <a:xfrm>
              <a:off x="4869" y="2072"/>
              <a:ext cx="316" cy="147"/>
              <a:chOff x="3600" y="219"/>
              <a:chExt cx="360" cy="175"/>
            </a:xfrm>
          </p:grpSpPr>
          <p:sp>
            <p:nvSpPr>
              <p:cNvPr id="334" name="Google Shape;334;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35" name="Google Shape;335;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36" name="Google Shape;336;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37" name="Google Shape;337;p2"/>
              <p:cNvSpPr/>
              <p:nvPr/>
            </p:nvSpPr>
            <p:spPr>
              <a:xfrm>
                <a:off x="3603" y="289"/>
                <a:ext cx="352"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38" name="Google Shape;338;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39" name="Google Shape;339;p2"/>
              <p:cNvGrpSpPr/>
              <p:nvPr/>
            </p:nvGrpSpPr>
            <p:grpSpPr>
              <a:xfrm>
                <a:off x="3686" y="244"/>
                <a:ext cx="177" cy="65"/>
                <a:chOff x="2848" y="848"/>
                <a:chExt cx="140" cy="96"/>
              </a:xfrm>
            </p:grpSpPr>
            <p:cxnSp>
              <p:nvCxnSpPr>
                <p:cNvPr id="340" name="Google Shape;340;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41" name="Google Shape;341;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42" name="Google Shape;342;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43" name="Google Shape;343;p2"/>
              <p:cNvGrpSpPr/>
              <p:nvPr/>
            </p:nvGrpSpPr>
            <p:grpSpPr>
              <a:xfrm rot="10800000" flipH="1">
                <a:off x="3686" y="243"/>
                <a:ext cx="177" cy="67"/>
                <a:chOff x="2848" y="846"/>
                <a:chExt cx="140" cy="100"/>
              </a:xfrm>
            </p:grpSpPr>
            <p:cxnSp>
              <p:nvCxnSpPr>
                <p:cNvPr id="344" name="Google Shape;344;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45" name="Google Shape;345;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46" name="Google Shape;346;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347" name="Google Shape;347;p2"/>
            <p:cNvGrpSpPr/>
            <p:nvPr/>
          </p:nvGrpSpPr>
          <p:grpSpPr>
            <a:xfrm>
              <a:off x="4659" y="2440"/>
              <a:ext cx="316" cy="148"/>
              <a:chOff x="3600" y="219"/>
              <a:chExt cx="360" cy="175"/>
            </a:xfrm>
          </p:grpSpPr>
          <p:sp>
            <p:nvSpPr>
              <p:cNvPr id="348" name="Google Shape;348;p2"/>
              <p:cNvSpPr/>
              <p:nvPr/>
            </p:nvSpPr>
            <p:spPr>
              <a:xfrm>
                <a:off x="3603" y="297"/>
                <a:ext cx="357" cy="97"/>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49" name="Google Shape;349;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50" name="Google Shape;350;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51" name="Google Shape;351;p2"/>
              <p:cNvSpPr/>
              <p:nvPr/>
            </p:nvSpPr>
            <p:spPr>
              <a:xfrm>
                <a:off x="3603" y="289"/>
                <a:ext cx="352" cy="59"/>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52" name="Google Shape;352;p2"/>
              <p:cNvSpPr/>
              <p:nvPr/>
            </p:nvSpPr>
            <p:spPr>
              <a:xfrm>
                <a:off x="3600" y="219"/>
                <a:ext cx="357" cy="114"/>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53" name="Google Shape;353;p2"/>
              <p:cNvGrpSpPr/>
              <p:nvPr/>
            </p:nvGrpSpPr>
            <p:grpSpPr>
              <a:xfrm>
                <a:off x="3686" y="244"/>
                <a:ext cx="177" cy="67"/>
                <a:chOff x="2848" y="848"/>
                <a:chExt cx="140" cy="100"/>
              </a:xfrm>
            </p:grpSpPr>
            <p:cxnSp>
              <p:nvCxnSpPr>
                <p:cNvPr id="354" name="Google Shape;354;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55" name="Google Shape;355;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56" name="Google Shape;356;p2"/>
                <p:cNvCxnSpPr/>
                <p:nvPr/>
              </p:nvCxnSpPr>
              <p:spPr>
                <a:xfrm>
                  <a:off x="2894" y="850"/>
                  <a:ext cx="52" cy="98"/>
                </a:xfrm>
                <a:prstGeom prst="straightConnector1">
                  <a:avLst/>
                </a:prstGeom>
                <a:noFill/>
                <a:ln w="28575" cap="flat" cmpd="sng">
                  <a:solidFill>
                    <a:schemeClr val="dk1"/>
                  </a:solidFill>
                  <a:prstDash val="solid"/>
                  <a:round/>
                  <a:headEnd type="none" w="med" len="med"/>
                  <a:tailEnd type="none" w="med" len="med"/>
                </a:ln>
              </p:spPr>
            </p:cxnSp>
          </p:grpSp>
          <p:grpSp>
            <p:nvGrpSpPr>
              <p:cNvPr id="357" name="Google Shape;357;p2"/>
              <p:cNvGrpSpPr/>
              <p:nvPr/>
            </p:nvGrpSpPr>
            <p:grpSpPr>
              <a:xfrm rot="10800000" flipH="1">
                <a:off x="3686" y="242"/>
                <a:ext cx="177" cy="67"/>
                <a:chOff x="2848" y="848"/>
                <a:chExt cx="140" cy="100"/>
              </a:xfrm>
            </p:grpSpPr>
            <p:cxnSp>
              <p:nvCxnSpPr>
                <p:cNvPr id="358" name="Google Shape;358;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59" name="Google Shape;359;p2"/>
                <p:cNvCxnSpPr/>
                <p:nvPr/>
              </p:nvCxnSpPr>
              <p:spPr>
                <a:xfrm>
                  <a:off x="2944" y="948"/>
                  <a:ext cx="44" cy="0"/>
                </a:xfrm>
                <a:prstGeom prst="straightConnector1">
                  <a:avLst/>
                </a:prstGeom>
                <a:noFill/>
                <a:ln w="28575" cap="flat" cmpd="sng">
                  <a:solidFill>
                    <a:schemeClr val="dk1"/>
                  </a:solidFill>
                  <a:prstDash val="solid"/>
                  <a:round/>
                  <a:headEnd type="none" w="med" len="med"/>
                  <a:tailEnd type="none" w="med" len="med"/>
                </a:ln>
              </p:spPr>
            </p:cxnSp>
            <p:cxnSp>
              <p:nvCxnSpPr>
                <p:cNvPr id="360" name="Google Shape;360;p2"/>
                <p:cNvCxnSpPr/>
                <p:nvPr/>
              </p:nvCxnSpPr>
              <p:spPr>
                <a:xfrm>
                  <a:off x="2894" y="850"/>
                  <a:ext cx="52" cy="98"/>
                </a:xfrm>
                <a:prstGeom prst="straightConnector1">
                  <a:avLst/>
                </a:prstGeom>
                <a:noFill/>
                <a:ln w="28575" cap="flat" cmpd="sng">
                  <a:solidFill>
                    <a:schemeClr val="dk1"/>
                  </a:solidFill>
                  <a:prstDash val="solid"/>
                  <a:round/>
                  <a:headEnd type="none" w="med" len="med"/>
                  <a:tailEnd type="none" w="med" len="med"/>
                </a:ln>
              </p:spPr>
            </p:cxnSp>
          </p:grpSp>
        </p:grpSp>
        <p:grpSp>
          <p:nvGrpSpPr>
            <p:cNvPr id="361" name="Google Shape;361;p2"/>
            <p:cNvGrpSpPr/>
            <p:nvPr/>
          </p:nvGrpSpPr>
          <p:grpSpPr>
            <a:xfrm>
              <a:off x="4275" y="2748"/>
              <a:ext cx="315" cy="147"/>
              <a:chOff x="3600" y="219"/>
              <a:chExt cx="360" cy="175"/>
            </a:xfrm>
          </p:grpSpPr>
          <p:sp>
            <p:nvSpPr>
              <p:cNvPr id="362" name="Google Shape;362;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63" name="Google Shape;363;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64" name="Google Shape;364;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65" name="Google Shape;365;p2"/>
              <p:cNvSpPr/>
              <p:nvPr/>
            </p:nvSpPr>
            <p:spPr>
              <a:xfrm>
                <a:off x="3603" y="289"/>
                <a:ext cx="353"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66" name="Google Shape;366;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67" name="Google Shape;367;p2"/>
              <p:cNvGrpSpPr/>
              <p:nvPr/>
            </p:nvGrpSpPr>
            <p:grpSpPr>
              <a:xfrm>
                <a:off x="3686" y="244"/>
                <a:ext cx="177" cy="65"/>
                <a:chOff x="2848" y="848"/>
                <a:chExt cx="140" cy="96"/>
              </a:xfrm>
            </p:grpSpPr>
            <p:cxnSp>
              <p:nvCxnSpPr>
                <p:cNvPr id="368" name="Google Shape;368;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69" name="Google Shape;369;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70" name="Google Shape;370;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71" name="Google Shape;371;p2"/>
              <p:cNvGrpSpPr/>
              <p:nvPr/>
            </p:nvGrpSpPr>
            <p:grpSpPr>
              <a:xfrm rot="10800000" flipH="1">
                <a:off x="3686" y="243"/>
                <a:ext cx="177" cy="67"/>
                <a:chOff x="2848" y="846"/>
                <a:chExt cx="140" cy="100"/>
              </a:xfrm>
            </p:grpSpPr>
            <p:cxnSp>
              <p:nvCxnSpPr>
                <p:cNvPr id="372" name="Google Shape;372;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73" name="Google Shape;373;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74" name="Google Shape;374;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grpSp>
          <p:nvGrpSpPr>
            <p:cNvPr id="375" name="Google Shape;375;p2"/>
            <p:cNvGrpSpPr/>
            <p:nvPr/>
          </p:nvGrpSpPr>
          <p:grpSpPr>
            <a:xfrm>
              <a:off x="3769" y="2511"/>
              <a:ext cx="316" cy="147"/>
              <a:chOff x="3600" y="219"/>
              <a:chExt cx="360" cy="175"/>
            </a:xfrm>
          </p:grpSpPr>
          <p:sp>
            <p:nvSpPr>
              <p:cNvPr id="376" name="Google Shape;376;p2"/>
              <p:cNvSpPr/>
              <p:nvPr/>
            </p:nvSpPr>
            <p:spPr>
              <a:xfrm>
                <a:off x="3603" y="298"/>
                <a:ext cx="357" cy="96"/>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cxnSp>
            <p:nvCxnSpPr>
              <p:cNvPr id="377" name="Google Shape;377;p2"/>
              <p:cNvCxnSpPr/>
              <p:nvPr/>
            </p:nvCxnSpPr>
            <p:spPr>
              <a:xfrm>
                <a:off x="3603" y="289"/>
                <a:ext cx="0" cy="60"/>
              </a:xfrm>
              <a:prstGeom prst="straightConnector1">
                <a:avLst/>
              </a:prstGeom>
              <a:noFill/>
              <a:ln w="12700" cap="flat" cmpd="sng">
                <a:solidFill>
                  <a:schemeClr val="dk1"/>
                </a:solidFill>
                <a:prstDash val="solid"/>
                <a:round/>
                <a:headEnd type="none" w="med" len="med"/>
                <a:tailEnd type="none" w="med" len="med"/>
              </a:ln>
            </p:spPr>
          </p:cxnSp>
          <p:cxnSp>
            <p:nvCxnSpPr>
              <p:cNvPr id="378" name="Google Shape;378;p2"/>
              <p:cNvCxnSpPr/>
              <p:nvPr/>
            </p:nvCxnSpPr>
            <p:spPr>
              <a:xfrm>
                <a:off x="3960" y="289"/>
                <a:ext cx="0" cy="60"/>
              </a:xfrm>
              <a:prstGeom prst="straightConnector1">
                <a:avLst/>
              </a:prstGeom>
              <a:noFill/>
              <a:ln w="12700" cap="flat" cmpd="sng">
                <a:solidFill>
                  <a:schemeClr val="dk1"/>
                </a:solidFill>
                <a:prstDash val="solid"/>
                <a:round/>
                <a:headEnd type="none" w="med" len="med"/>
                <a:tailEnd type="none" w="med" len="med"/>
              </a:ln>
            </p:spPr>
          </p:cxnSp>
          <p:sp>
            <p:nvSpPr>
              <p:cNvPr id="379" name="Google Shape;379;p2"/>
              <p:cNvSpPr/>
              <p:nvPr/>
            </p:nvSpPr>
            <p:spPr>
              <a:xfrm>
                <a:off x="3603" y="289"/>
                <a:ext cx="352" cy="58"/>
              </a:xfrm>
              <a:prstGeom prst="rect">
                <a:avLst/>
              </a:prstGeom>
              <a:solidFill>
                <a:schemeClr val="hlink"/>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80" name="Google Shape;380;p2"/>
              <p:cNvSpPr/>
              <p:nvPr/>
            </p:nvSpPr>
            <p:spPr>
              <a:xfrm>
                <a:off x="3600" y="219"/>
                <a:ext cx="357" cy="113"/>
              </a:xfrm>
              <a:prstGeom prst="ellipse">
                <a:avLst/>
              </a:prstGeom>
              <a:solidFill>
                <a:schemeClr val="hlink"/>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grpSp>
            <p:nvGrpSpPr>
              <p:cNvPr id="381" name="Google Shape;381;p2"/>
              <p:cNvGrpSpPr/>
              <p:nvPr/>
            </p:nvGrpSpPr>
            <p:grpSpPr>
              <a:xfrm>
                <a:off x="3686" y="244"/>
                <a:ext cx="177" cy="65"/>
                <a:chOff x="2848" y="848"/>
                <a:chExt cx="140" cy="96"/>
              </a:xfrm>
            </p:grpSpPr>
            <p:cxnSp>
              <p:nvCxnSpPr>
                <p:cNvPr id="382" name="Google Shape;382;p2"/>
                <p:cNvCxnSpPr/>
                <p:nvPr/>
              </p:nvCxnSpPr>
              <p:spPr>
                <a:xfrm rot="10800000" flipH="1">
                  <a:off x="2848" y="848"/>
                  <a:ext cx="50" cy="2"/>
                </a:xfrm>
                <a:prstGeom prst="straightConnector1">
                  <a:avLst/>
                </a:prstGeom>
                <a:noFill/>
                <a:ln w="28575" cap="flat" cmpd="sng">
                  <a:solidFill>
                    <a:schemeClr val="dk1"/>
                  </a:solidFill>
                  <a:prstDash val="solid"/>
                  <a:round/>
                  <a:headEnd type="none" w="med" len="med"/>
                  <a:tailEnd type="none" w="med" len="med"/>
                </a:ln>
              </p:spPr>
            </p:cxnSp>
            <p:cxnSp>
              <p:nvCxnSpPr>
                <p:cNvPr id="383" name="Google Shape;383;p2"/>
                <p:cNvCxnSpPr/>
                <p:nvPr/>
              </p:nvCxnSpPr>
              <p:spPr>
                <a:xfrm>
                  <a:off x="2944" y="943"/>
                  <a:ext cx="44" cy="0"/>
                </a:xfrm>
                <a:prstGeom prst="straightConnector1">
                  <a:avLst/>
                </a:prstGeom>
                <a:noFill/>
                <a:ln w="28575" cap="flat" cmpd="sng">
                  <a:solidFill>
                    <a:schemeClr val="dk1"/>
                  </a:solidFill>
                  <a:prstDash val="solid"/>
                  <a:round/>
                  <a:headEnd type="none" w="med" len="med"/>
                  <a:tailEnd type="none" w="med" len="med"/>
                </a:ln>
              </p:spPr>
            </p:cxnSp>
            <p:cxnSp>
              <p:nvCxnSpPr>
                <p:cNvPr id="384" name="Google Shape;384;p2"/>
                <p:cNvCxnSpPr/>
                <p:nvPr/>
              </p:nvCxnSpPr>
              <p:spPr>
                <a:xfrm>
                  <a:off x="2894" y="850"/>
                  <a:ext cx="52" cy="94"/>
                </a:xfrm>
                <a:prstGeom prst="straightConnector1">
                  <a:avLst/>
                </a:prstGeom>
                <a:noFill/>
                <a:ln w="28575" cap="flat" cmpd="sng">
                  <a:solidFill>
                    <a:schemeClr val="dk1"/>
                  </a:solidFill>
                  <a:prstDash val="solid"/>
                  <a:round/>
                  <a:headEnd type="none" w="med" len="med"/>
                  <a:tailEnd type="none" w="med" len="med"/>
                </a:ln>
              </p:spPr>
            </p:cxnSp>
          </p:grpSp>
          <p:grpSp>
            <p:nvGrpSpPr>
              <p:cNvPr id="385" name="Google Shape;385;p2"/>
              <p:cNvGrpSpPr/>
              <p:nvPr/>
            </p:nvGrpSpPr>
            <p:grpSpPr>
              <a:xfrm rot="10800000" flipH="1">
                <a:off x="3686" y="243"/>
                <a:ext cx="177" cy="67"/>
                <a:chOff x="2848" y="846"/>
                <a:chExt cx="140" cy="100"/>
              </a:xfrm>
            </p:grpSpPr>
            <p:cxnSp>
              <p:nvCxnSpPr>
                <p:cNvPr id="386" name="Google Shape;386;p2"/>
                <p:cNvCxnSpPr/>
                <p:nvPr/>
              </p:nvCxnSpPr>
              <p:spPr>
                <a:xfrm rot="10800000" flipH="1">
                  <a:off x="2848" y="846"/>
                  <a:ext cx="50" cy="4"/>
                </a:xfrm>
                <a:prstGeom prst="straightConnector1">
                  <a:avLst/>
                </a:prstGeom>
                <a:noFill/>
                <a:ln w="28575" cap="flat" cmpd="sng">
                  <a:solidFill>
                    <a:schemeClr val="dk1"/>
                  </a:solidFill>
                  <a:prstDash val="solid"/>
                  <a:round/>
                  <a:headEnd type="none" w="med" len="med"/>
                  <a:tailEnd type="none" w="med" len="med"/>
                </a:ln>
              </p:spPr>
            </p:cxnSp>
            <p:cxnSp>
              <p:nvCxnSpPr>
                <p:cNvPr id="387" name="Google Shape;387;p2"/>
                <p:cNvCxnSpPr/>
                <p:nvPr/>
              </p:nvCxnSpPr>
              <p:spPr>
                <a:xfrm>
                  <a:off x="2944" y="946"/>
                  <a:ext cx="44" cy="0"/>
                </a:xfrm>
                <a:prstGeom prst="straightConnector1">
                  <a:avLst/>
                </a:prstGeom>
                <a:noFill/>
                <a:ln w="28575" cap="flat" cmpd="sng">
                  <a:solidFill>
                    <a:schemeClr val="dk1"/>
                  </a:solidFill>
                  <a:prstDash val="solid"/>
                  <a:round/>
                  <a:headEnd type="none" w="med" len="med"/>
                  <a:tailEnd type="none" w="med" len="med"/>
                </a:ln>
              </p:spPr>
            </p:cxnSp>
            <p:cxnSp>
              <p:nvCxnSpPr>
                <p:cNvPr id="388" name="Google Shape;388;p2"/>
                <p:cNvCxnSpPr/>
                <p:nvPr/>
              </p:nvCxnSpPr>
              <p:spPr>
                <a:xfrm>
                  <a:off x="2894" y="849"/>
                  <a:ext cx="52" cy="97"/>
                </a:xfrm>
                <a:prstGeom prst="straightConnector1">
                  <a:avLst/>
                </a:prstGeom>
                <a:noFill/>
                <a:ln w="28575" cap="flat" cmpd="sng">
                  <a:solidFill>
                    <a:schemeClr val="dk1"/>
                  </a:solidFill>
                  <a:prstDash val="solid"/>
                  <a:round/>
                  <a:headEnd type="none" w="med" len="med"/>
                  <a:tailEnd type="none" w="med" len="med"/>
                </a:ln>
              </p:spPr>
            </p:cxnSp>
          </p:grpSp>
        </p:grpSp>
        <p:cxnSp>
          <p:nvCxnSpPr>
            <p:cNvPr id="389" name="Google Shape;389;p2"/>
            <p:cNvCxnSpPr/>
            <p:nvPr/>
          </p:nvCxnSpPr>
          <p:spPr>
            <a:xfrm rot="10800000" flipH="1">
              <a:off x="3930" y="2645"/>
              <a:ext cx="1" cy="157"/>
            </a:xfrm>
            <a:prstGeom prst="straightConnector1">
              <a:avLst/>
            </a:prstGeom>
            <a:noFill/>
            <a:ln w="12700" cap="flat" cmpd="sng">
              <a:solidFill>
                <a:schemeClr val="dk1"/>
              </a:solidFill>
              <a:prstDash val="solid"/>
              <a:round/>
              <a:headEnd type="none" w="med" len="med"/>
              <a:tailEnd type="none" w="med" len="med"/>
            </a:ln>
          </p:spPr>
        </p:cxnSp>
      </p:grpSp>
      <p:grpSp>
        <p:nvGrpSpPr>
          <p:cNvPr id="390" name="Google Shape;390;p2"/>
          <p:cNvGrpSpPr/>
          <p:nvPr/>
        </p:nvGrpSpPr>
        <p:grpSpPr>
          <a:xfrm>
            <a:off x="6264276" y="1500188"/>
            <a:ext cx="3738563" cy="3725862"/>
            <a:chOff x="2986" y="945"/>
            <a:chExt cx="2355" cy="2347"/>
          </a:xfrm>
        </p:grpSpPr>
        <p:grpSp>
          <p:nvGrpSpPr>
            <p:cNvPr id="391" name="Google Shape;391;p2"/>
            <p:cNvGrpSpPr/>
            <p:nvPr/>
          </p:nvGrpSpPr>
          <p:grpSpPr>
            <a:xfrm>
              <a:off x="2986" y="945"/>
              <a:ext cx="513" cy="541"/>
              <a:chOff x="2938" y="2925"/>
              <a:chExt cx="513" cy="541"/>
            </a:xfrm>
          </p:grpSpPr>
          <p:sp>
            <p:nvSpPr>
              <p:cNvPr id="392" name="Google Shape;392;p2"/>
              <p:cNvSpPr/>
              <p:nvPr/>
            </p:nvSpPr>
            <p:spPr>
              <a:xfrm>
                <a:off x="3000" y="2925"/>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93" name="Google Shape;393;p2"/>
              <p:cNvSpPr/>
              <p:nvPr/>
            </p:nvSpPr>
            <p:spPr>
              <a:xfrm>
                <a:off x="2979" y="2940"/>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94" name="Google Shape;394;p2"/>
              <p:cNvSpPr/>
              <p:nvPr/>
            </p:nvSpPr>
            <p:spPr>
              <a:xfrm>
                <a:off x="2982" y="2943"/>
                <a:ext cx="426" cy="12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395" name="Google Shape;395;p2"/>
              <p:cNvSpPr txBox="1"/>
              <p:nvPr/>
            </p:nvSpPr>
            <p:spPr>
              <a:xfrm>
                <a:off x="2938" y="2928"/>
                <a:ext cx="513" cy="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000"/>
                  <a:buFont typeface="Comic Sans MS"/>
                  <a:buNone/>
                </a:pPr>
                <a:r>
                  <a:rPr lang="en-US" sz="1000" b="0" u="none">
                    <a:solidFill>
                      <a:schemeClr val="lt1"/>
                    </a:solidFill>
                    <a:latin typeface="Comic Sans MS"/>
                    <a:ea typeface="Comic Sans MS"/>
                    <a:cs typeface="Comic Sans MS"/>
                    <a:sym typeface="Comic Sans MS"/>
                  </a:rPr>
                  <a:t>application</a:t>
                </a:r>
                <a:endParaRPr sz="1000" b="0" u="none">
                  <a:solidFill>
                    <a:schemeClr val="dk1"/>
                  </a:solidFill>
                  <a:latin typeface="Comic Sans MS"/>
                  <a:ea typeface="Comic Sans MS"/>
                  <a:cs typeface="Comic Sans MS"/>
                  <a:sym typeface="Comic Sans MS"/>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transport</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network</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data link</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physical</a:t>
                </a:r>
                <a:endParaRPr sz="2400" b="0" u="none">
                  <a:solidFill>
                    <a:schemeClr val="dk1"/>
                  </a:solidFill>
                  <a:latin typeface="Times New Roman"/>
                  <a:ea typeface="Times New Roman"/>
                  <a:cs typeface="Times New Roman"/>
                  <a:sym typeface="Times New Roman"/>
                </a:endParaRPr>
              </a:p>
            </p:txBody>
          </p:sp>
          <p:cxnSp>
            <p:nvCxnSpPr>
              <p:cNvPr id="396" name="Google Shape;396;p2"/>
              <p:cNvCxnSpPr/>
              <p:nvPr/>
            </p:nvCxnSpPr>
            <p:spPr>
              <a:xfrm>
                <a:off x="2979" y="3156"/>
                <a:ext cx="435" cy="3"/>
              </a:xfrm>
              <a:prstGeom prst="straightConnector1">
                <a:avLst/>
              </a:prstGeom>
              <a:noFill/>
              <a:ln w="12700" cap="flat" cmpd="sng">
                <a:solidFill>
                  <a:schemeClr val="dk1"/>
                </a:solidFill>
                <a:prstDash val="solid"/>
                <a:round/>
                <a:headEnd type="none" w="med" len="med"/>
                <a:tailEnd type="none" w="med" len="med"/>
              </a:ln>
            </p:spPr>
          </p:cxnSp>
          <p:cxnSp>
            <p:nvCxnSpPr>
              <p:cNvPr id="397" name="Google Shape;397;p2"/>
              <p:cNvCxnSpPr/>
              <p:nvPr/>
            </p:nvCxnSpPr>
            <p:spPr>
              <a:xfrm>
                <a:off x="2985" y="3243"/>
                <a:ext cx="435" cy="3"/>
              </a:xfrm>
              <a:prstGeom prst="straightConnector1">
                <a:avLst/>
              </a:prstGeom>
              <a:noFill/>
              <a:ln w="12700" cap="flat" cmpd="sng">
                <a:solidFill>
                  <a:schemeClr val="dk1"/>
                </a:solidFill>
                <a:prstDash val="solid"/>
                <a:round/>
                <a:headEnd type="none" w="med" len="med"/>
                <a:tailEnd type="none" w="med" len="med"/>
              </a:ln>
            </p:spPr>
          </p:cxnSp>
          <p:cxnSp>
            <p:nvCxnSpPr>
              <p:cNvPr id="398" name="Google Shape;398;p2"/>
              <p:cNvCxnSpPr/>
              <p:nvPr/>
            </p:nvCxnSpPr>
            <p:spPr>
              <a:xfrm>
                <a:off x="2985" y="3330"/>
                <a:ext cx="435" cy="3"/>
              </a:xfrm>
              <a:prstGeom prst="straightConnector1">
                <a:avLst/>
              </a:prstGeom>
              <a:noFill/>
              <a:ln w="12700" cap="flat" cmpd="sng">
                <a:solidFill>
                  <a:schemeClr val="dk1"/>
                </a:solidFill>
                <a:prstDash val="solid"/>
                <a:round/>
                <a:headEnd type="none" w="med" len="med"/>
                <a:tailEnd type="none" w="med" len="med"/>
              </a:ln>
            </p:spPr>
          </p:cxnSp>
        </p:grpSp>
        <p:grpSp>
          <p:nvGrpSpPr>
            <p:cNvPr id="399" name="Google Shape;399;p2"/>
            <p:cNvGrpSpPr/>
            <p:nvPr/>
          </p:nvGrpSpPr>
          <p:grpSpPr>
            <a:xfrm>
              <a:off x="4828" y="2751"/>
              <a:ext cx="513" cy="541"/>
              <a:chOff x="2938" y="2925"/>
              <a:chExt cx="513" cy="541"/>
            </a:xfrm>
          </p:grpSpPr>
          <p:sp>
            <p:nvSpPr>
              <p:cNvPr id="400" name="Google Shape;400;p2"/>
              <p:cNvSpPr/>
              <p:nvPr/>
            </p:nvSpPr>
            <p:spPr>
              <a:xfrm>
                <a:off x="3000" y="2925"/>
                <a:ext cx="426" cy="48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401" name="Google Shape;401;p2"/>
              <p:cNvSpPr/>
              <p:nvPr/>
            </p:nvSpPr>
            <p:spPr>
              <a:xfrm>
                <a:off x="2979" y="2940"/>
                <a:ext cx="435" cy="504"/>
              </a:xfrm>
              <a:prstGeom prst="rect">
                <a:avLst/>
              </a:prstGeom>
              <a:solidFill>
                <a:schemeClr val="lt1"/>
              </a:solidFill>
              <a:ln w="1270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402" name="Google Shape;402;p2"/>
              <p:cNvSpPr/>
              <p:nvPr/>
            </p:nvSpPr>
            <p:spPr>
              <a:xfrm>
                <a:off x="2982" y="2943"/>
                <a:ext cx="426" cy="126"/>
              </a:xfrm>
              <a:prstGeom prst="rect">
                <a:avLst/>
              </a:prstGeom>
              <a:solidFill>
                <a:srgbClr val="FF0000"/>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403" name="Google Shape;403;p2"/>
              <p:cNvSpPr txBox="1"/>
              <p:nvPr/>
            </p:nvSpPr>
            <p:spPr>
              <a:xfrm>
                <a:off x="2938" y="2928"/>
                <a:ext cx="513" cy="5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lt1"/>
                  </a:buClr>
                  <a:buSzPts val="1000"/>
                  <a:buFont typeface="Comic Sans MS"/>
                  <a:buNone/>
                </a:pPr>
                <a:r>
                  <a:rPr lang="en-US" sz="1000" b="0" u="none">
                    <a:solidFill>
                      <a:schemeClr val="lt1"/>
                    </a:solidFill>
                    <a:latin typeface="Comic Sans MS"/>
                    <a:ea typeface="Comic Sans MS"/>
                    <a:cs typeface="Comic Sans MS"/>
                    <a:sym typeface="Comic Sans MS"/>
                  </a:rPr>
                  <a:t>application</a:t>
                </a:r>
                <a:endParaRPr sz="1000" b="0" u="none">
                  <a:solidFill>
                    <a:schemeClr val="dk1"/>
                  </a:solidFill>
                  <a:latin typeface="Comic Sans MS"/>
                  <a:ea typeface="Comic Sans MS"/>
                  <a:cs typeface="Comic Sans MS"/>
                  <a:sym typeface="Comic Sans MS"/>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transport</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network</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data link</a:t>
                </a:r>
                <a:endParaRPr/>
              </a:p>
              <a:p>
                <a:pPr marL="0" marR="0" lvl="0" indent="0" algn="ctr" rtl="0">
                  <a:spcBef>
                    <a:spcPts val="0"/>
                  </a:spcBef>
                  <a:spcAft>
                    <a:spcPts val="0"/>
                  </a:spcAft>
                  <a:buClr>
                    <a:schemeClr val="dk1"/>
                  </a:buClr>
                  <a:buSzPts val="1000"/>
                  <a:buFont typeface="Comic Sans MS"/>
                  <a:buNone/>
                </a:pPr>
                <a:r>
                  <a:rPr lang="en-US" sz="1000" b="0" u="none">
                    <a:solidFill>
                      <a:schemeClr val="dk1"/>
                    </a:solidFill>
                    <a:latin typeface="Comic Sans MS"/>
                    <a:ea typeface="Comic Sans MS"/>
                    <a:cs typeface="Comic Sans MS"/>
                    <a:sym typeface="Comic Sans MS"/>
                  </a:rPr>
                  <a:t>physical</a:t>
                </a:r>
                <a:endParaRPr sz="2400" b="0" u="none">
                  <a:solidFill>
                    <a:schemeClr val="dk1"/>
                  </a:solidFill>
                  <a:latin typeface="Times New Roman"/>
                  <a:ea typeface="Times New Roman"/>
                  <a:cs typeface="Times New Roman"/>
                  <a:sym typeface="Times New Roman"/>
                </a:endParaRPr>
              </a:p>
            </p:txBody>
          </p:sp>
          <p:cxnSp>
            <p:nvCxnSpPr>
              <p:cNvPr id="404" name="Google Shape;404;p2"/>
              <p:cNvCxnSpPr/>
              <p:nvPr/>
            </p:nvCxnSpPr>
            <p:spPr>
              <a:xfrm>
                <a:off x="2979" y="3156"/>
                <a:ext cx="435" cy="3"/>
              </a:xfrm>
              <a:prstGeom prst="straightConnector1">
                <a:avLst/>
              </a:prstGeom>
              <a:noFill/>
              <a:ln w="12700" cap="flat" cmpd="sng">
                <a:solidFill>
                  <a:schemeClr val="dk1"/>
                </a:solidFill>
                <a:prstDash val="solid"/>
                <a:round/>
                <a:headEnd type="none" w="med" len="med"/>
                <a:tailEnd type="none" w="med" len="med"/>
              </a:ln>
            </p:spPr>
          </p:cxnSp>
          <p:cxnSp>
            <p:nvCxnSpPr>
              <p:cNvPr id="405" name="Google Shape;405;p2"/>
              <p:cNvCxnSpPr/>
              <p:nvPr/>
            </p:nvCxnSpPr>
            <p:spPr>
              <a:xfrm>
                <a:off x="2985" y="3243"/>
                <a:ext cx="435" cy="3"/>
              </a:xfrm>
              <a:prstGeom prst="straightConnector1">
                <a:avLst/>
              </a:prstGeom>
              <a:noFill/>
              <a:ln w="12700" cap="flat" cmpd="sng">
                <a:solidFill>
                  <a:schemeClr val="dk1"/>
                </a:solidFill>
                <a:prstDash val="solid"/>
                <a:round/>
                <a:headEnd type="none" w="med" len="med"/>
                <a:tailEnd type="none" w="med" len="med"/>
              </a:ln>
            </p:spPr>
          </p:cxnSp>
          <p:cxnSp>
            <p:nvCxnSpPr>
              <p:cNvPr id="406" name="Google Shape;406;p2"/>
              <p:cNvCxnSpPr/>
              <p:nvPr/>
            </p:nvCxnSpPr>
            <p:spPr>
              <a:xfrm>
                <a:off x="2985" y="3330"/>
                <a:ext cx="435" cy="3"/>
              </a:xfrm>
              <a:prstGeom prst="straightConnector1">
                <a:avLst/>
              </a:prstGeom>
              <a:noFill/>
              <a:ln w="12700" cap="flat" cmpd="sng">
                <a:solidFill>
                  <a:schemeClr val="dk1"/>
                </a:solidFill>
                <a:prstDash val="solid"/>
                <a:round/>
                <a:headEnd type="none" w="med" len="med"/>
                <a:tailEnd type="none" w="med" len="med"/>
              </a:ln>
            </p:spPr>
          </p:cxnSp>
        </p:grpSp>
      </p:grpSp>
      <p:sp>
        <p:nvSpPr>
          <p:cNvPr id="407" name="Google Shape;407;p2"/>
          <p:cNvSpPr/>
          <p:nvPr/>
        </p:nvSpPr>
        <p:spPr>
          <a:xfrm>
            <a:off x="1939926" y="2362200"/>
            <a:ext cx="4295775" cy="20574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400" b="0" u="none">
                <a:solidFill>
                  <a:srgbClr val="FF0000"/>
                </a:solidFill>
                <a:latin typeface="Play"/>
                <a:ea typeface="Play"/>
                <a:cs typeface="Play"/>
                <a:sym typeface="Play"/>
              </a:rPr>
              <a:t>Client:</a:t>
            </a:r>
            <a:endParaRPr/>
          </a:p>
          <a:p>
            <a:pPr marL="0" marR="0" lvl="0" indent="0" algn="l" rtl="0">
              <a:spcBef>
                <a:spcPts val="0"/>
              </a:spcBef>
              <a:spcAft>
                <a:spcPts val="0"/>
              </a:spcAft>
              <a:buNone/>
            </a:pPr>
            <a:r>
              <a:rPr lang="en-US" sz="2400" b="0" u="none">
                <a:solidFill>
                  <a:schemeClr val="dk1"/>
                </a:solidFill>
                <a:latin typeface="Play"/>
                <a:ea typeface="Play"/>
                <a:cs typeface="Play"/>
                <a:sym typeface="Play"/>
              </a:rPr>
              <a:t>initiates contact with server (“speaks first”)</a:t>
            </a:r>
            <a:endParaRPr/>
          </a:p>
          <a:p>
            <a:pPr marL="0" marR="0" lvl="0" indent="0" algn="l" rtl="0">
              <a:spcBef>
                <a:spcPts val="0"/>
              </a:spcBef>
              <a:spcAft>
                <a:spcPts val="0"/>
              </a:spcAft>
              <a:buNone/>
            </a:pPr>
            <a:r>
              <a:rPr lang="en-US" sz="2400" b="0" u="none">
                <a:solidFill>
                  <a:schemeClr val="dk1"/>
                </a:solidFill>
                <a:latin typeface="Play"/>
                <a:ea typeface="Play"/>
                <a:cs typeface="Play"/>
                <a:sym typeface="Play"/>
              </a:rPr>
              <a:t>typically requests service from server</a:t>
            </a:r>
            <a:endParaRPr/>
          </a:p>
        </p:txBody>
      </p:sp>
      <p:grpSp>
        <p:nvGrpSpPr>
          <p:cNvPr id="408" name="Google Shape;408;p2"/>
          <p:cNvGrpSpPr/>
          <p:nvPr/>
        </p:nvGrpSpPr>
        <p:grpSpPr>
          <a:xfrm>
            <a:off x="7000876" y="1724025"/>
            <a:ext cx="2238375" cy="2743200"/>
            <a:chOff x="3450" y="1086"/>
            <a:chExt cx="1410" cy="1728"/>
          </a:xfrm>
        </p:grpSpPr>
        <p:cxnSp>
          <p:nvCxnSpPr>
            <p:cNvPr id="409" name="Google Shape;409;p2"/>
            <p:cNvCxnSpPr/>
            <p:nvPr/>
          </p:nvCxnSpPr>
          <p:spPr>
            <a:xfrm>
              <a:off x="3462" y="1086"/>
              <a:ext cx="1398" cy="1728"/>
            </a:xfrm>
            <a:prstGeom prst="straightConnector1">
              <a:avLst/>
            </a:prstGeom>
            <a:noFill/>
            <a:ln w="38100" cap="flat" cmpd="sng">
              <a:solidFill>
                <a:srgbClr val="FF0000"/>
              </a:solidFill>
              <a:prstDash val="solid"/>
              <a:round/>
              <a:headEnd type="none" w="med" len="med"/>
              <a:tailEnd type="triangle" w="med" len="med"/>
            </a:ln>
          </p:spPr>
        </p:cxnSp>
        <p:grpSp>
          <p:nvGrpSpPr>
            <p:cNvPr id="410" name="Google Shape;410;p2"/>
            <p:cNvGrpSpPr/>
            <p:nvPr/>
          </p:nvGrpSpPr>
          <p:grpSpPr>
            <a:xfrm>
              <a:off x="3450" y="1481"/>
              <a:ext cx="688" cy="250"/>
              <a:chOff x="4032" y="2303"/>
              <a:chExt cx="688" cy="250"/>
            </a:xfrm>
          </p:grpSpPr>
          <p:sp>
            <p:nvSpPr>
              <p:cNvPr id="411" name="Google Shape;411;p2"/>
              <p:cNvSpPr/>
              <p:nvPr/>
            </p:nvSpPr>
            <p:spPr>
              <a:xfrm>
                <a:off x="4086" y="2358"/>
                <a:ext cx="594" cy="16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412" name="Google Shape;412;p2"/>
              <p:cNvSpPr txBox="1"/>
              <p:nvPr/>
            </p:nvSpPr>
            <p:spPr>
              <a:xfrm>
                <a:off x="4032" y="2303"/>
                <a:ext cx="688"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000"/>
                  <a:buFont typeface="Comic Sans MS"/>
                  <a:buNone/>
                </a:pPr>
                <a:r>
                  <a:rPr lang="en-US" sz="2000" b="0" u="none">
                    <a:solidFill>
                      <a:srgbClr val="FF0000"/>
                    </a:solidFill>
                    <a:latin typeface="Comic Sans MS"/>
                    <a:ea typeface="Comic Sans MS"/>
                    <a:cs typeface="Comic Sans MS"/>
                    <a:sym typeface="Comic Sans MS"/>
                  </a:rPr>
                  <a:t>request</a:t>
                </a:r>
                <a:endParaRPr sz="2400" b="0" u="none">
                  <a:solidFill>
                    <a:schemeClr val="dk1"/>
                  </a:solidFill>
                  <a:latin typeface="Times New Roman"/>
                  <a:ea typeface="Times New Roman"/>
                  <a:cs typeface="Times New Roman"/>
                  <a:sym typeface="Times New Roman"/>
                </a:endParaRPr>
              </a:p>
            </p:txBody>
          </p:sp>
        </p:grpSp>
      </p:grpSp>
      <p:grpSp>
        <p:nvGrpSpPr>
          <p:cNvPr id="413" name="Google Shape;413;p2"/>
          <p:cNvGrpSpPr/>
          <p:nvPr/>
        </p:nvGrpSpPr>
        <p:grpSpPr>
          <a:xfrm>
            <a:off x="7096125" y="1609725"/>
            <a:ext cx="2914650" cy="2743200"/>
            <a:chOff x="3510" y="1014"/>
            <a:chExt cx="1836" cy="1728"/>
          </a:xfrm>
        </p:grpSpPr>
        <p:cxnSp>
          <p:nvCxnSpPr>
            <p:cNvPr id="414" name="Google Shape;414;p2"/>
            <p:cNvCxnSpPr/>
            <p:nvPr/>
          </p:nvCxnSpPr>
          <p:spPr>
            <a:xfrm>
              <a:off x="3510" y="1014"/>
              <a:ext cx="1440" cy="1728"/>
            </a:xfrm>
            <a:prstGeom prst="straightConnector1">
              <a:avLst/>
            </a:prstGeom>
            <a:noFill/>
            <a:ln w="38100" cap="flat" cmpd="sng">
              <a:solidFill>
                <a:srgbClr val="FF0000"/>
              </a:solidFill>
              <a:prstDash val="solid"/>
              <a:round/>
              <a:headEnd type="triangle" w="med" len="med"/>
              <a:tailEnd type="none" w="med" len="med"/>
            </a:ln>
          </p:spPr>
        </p:cxnSp>
        <p:grpSp>
          <p:nvGrpSpPr>
            <p:cNvPr id="415" name="Google Shape;415;p2"/>
            <p:cNvGrpSpPr/>
            <p:nvPr/>
          </p:nvGrpSpPr>
          <p:grpSpPr>
            <a:xfrm>
              <a:off x="4752" y="2387"/>
              <a:ext cx="594" cy="250"/>
              <a:chOff x="4086" y="2303"/>
              <a:chExt cx="594" cy="250"/>
            </a:xfrm>
          </p:grpSpPr>
          <p:sp>
            <p:nvSpPr>
              <p:cNvPr id="416" name="Google Shape;416;p2"/>
              <p:cNvSpPr/>
              <p:nvPr/>
            </p:nvSpPr>
            <p:spPr>
              <a:xfrm>
                <a:off x="4086" y="2358"/>
                <a:ext cx="594" cy="168"/>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b="0" u="none">
                  <a:solidFill>
                    <a:schemeClr val="dk1"/>
                  </a:solidFill>
                  <a:latin typeface="Times New Roman"/>
                  <a:ea typeface="Times New Roman"/>
                  <a:cs typeface="Times New Roman"/>
                  <a:sym typeface="Times New Roman"/>
                </a:endParaRPr>
              </a:p>
            </p:txBody>
          </p:sp>
          <p:sp>
            <p:nvSpPr>
              <p:cNvPr id="417" name="Google Shape;417;p2"/>
              <p:cNvSpPr txBox="1"/>
              <p:nvPr/>
            </p:nvSpPr>
            <p:spPr>
              <a:xfrm>
                <a:off x="4129" y="2303"/>
                <a:ext cx="494" cy="2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rgbClr val="FF0000"/>
                  </a:buClr>
                  <a:buSzPts val="2000"/>
                  <a:buFont typeface="Comic Sans MS"/>
                  <a:buNone/>
                </a:pPr>
                <a:r>
                  <a:rPr lang="en-US" sz="2000" b="0" u="none">
                    <a:solidFill>
                      <a:srgbClr val="FF0000"/>
                    </a:solidFill>
                    <a:latin typeface="Comic Sans MS"/>
                    <a:ea typeface="Comic Sans MS"/>
                    <a:cs typeface="Comic Sans MS"/>
                    <a:sym typeface="Comic Sans MS"/>
                  </a:rPr>
                  <a:t>reply</a:t>
                </a:r>
                <a:endParaRPr sz="2400" b="0" u="none">
                  <a:solidFill>
                    <a:schemeClr val="dk1"/>
                  </a:solidFill>
                  <a:latin typeface="Times New Roman"/>
                  <a:ea typeface="Times New Roman"/>
                  <a:cs typeface="Times New Roman"/>
                  <a:sym typeface="Times New Roman"/>
                </a:endParaRPr>
              </a:p>
            </p:txBody>
          </p:sp>
        </p:grpSp>
      </p:grpSp>
      <p:sp>
        <p:nvSpPr>
          <p:cNvPr id="418" name="Google Shape;418;p2"/>
          <p:cNvSpPr/>
          <p:nvPr/>
        </p:nvSpPr>
        <p:spPr>
          <a:xfrm>
            <a:off x="1914525" y="4465638"/>
            <a:ext cx="5181600" cy="12192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800">
                <a:solidFill>
                  <a:srgbClr val="FF0000"/>
                </a:solidFill>
                <a:latin typeface="Play"/>
                <a:ea typeface="Play"/>
                <a:cs typeface="Play"/>
                <a:sym typeface="Play"/>
              </a:rPr>
              <a:t>Server</a:t>
            </a:r>
            <a:r>
              <a:rPr lang="en-US" sz="2000">
                <a:solidFill>
                  <a:srgbClr val="FF0000"/>
                </a:solidFill>
                <a:latin typeface="Play"/>
                <a:ea typeface="Play"/>
                <a:cs typeface="Play"/>
                <a:sym typeface="Play"/>
              </a:rPr>
              <a:t>:</a:t>
            </a:r>
            <a:endParaRPr/>
          </a:p>
          <a:p>
            <a:pPr marL="0" marR="0" lvl="0" indent="0" algn="l" rtl="0">
              <a:spcBef>
                <a:spcPts val="0"/>
              </a:spcBef>
              <a:spcAft>
                <a:spcPts val="0"/>
              </a:spcAft>
              <a:buNone/>
            </a:pPr>
            <a:r>
              <a:rPr lang="en-US" sz="1800">
                <a:solidFill>
                  <a:schemeClr val="dk1"/>
                </a:solidFill>
                <a:latin typeface="Play"/>
                <a:ea typeface="Play"/>
                <a:cs typeface="Play"/>
                <a:sym typeface="Play"/>
              </a:rPr>
              <a:t>provides requested service to client</a:t>
            </a:r>
            <a:endParaRPr/>
          </a:p>
        </p:txBody>
      </p:sp>
      <p:pic>
        <p:nvPicPr>
          <p:cNvPr id="1039" name="Picture 15">
            <a:extLst>
              <a:ext uri="{FF2B5EF4-FFF2-40B4-BE49-F238E27FC236}">
                <a16:creationId xmlns:a16="http://schemas.microsoft.com/office/drawing/2014/main" id="{36F6411E-7928-572C-40DC-636AC70F7C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8" name="Picture 14">
            <a:extLst>
              <a:ext uri="{FF2B5EF4-FFF2-40B4-BE49-F238E27FC236}">
                <a16:creationId xmlns:a16="http://schemas.microsoft.com/office/drawing/2014/main" id="{5A0B9EBE-41F5-DB2A-D197-15F34BC0551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7" name="Picture 13">
            <a:extLst>
              <a:ext uri="{FF2B5EF4-FFF2-40B4-BE49-F238E27FC236}">
                <a16:creationId xmlns:a16="http://schemas.microsoft.com/office/drawing/2014/main" id="{0A77CF99-D073-0090-1065-7D20134D92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6" name="Picture 12">
            <a:extLst>
              <a:ext uri="{FF2B5EF4-FFF2-40B4-BE49-F238E27FC236}">
                <a16:creationId xmlns:a16="http://schemas.microsoft.com/office/drawing/2014/main" id="{6E4ED680-09D8-8F8F-0B05-4BAA978B258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5" name="Picture 11">
            <a:extLst>
              <a:ext uri="{FF2B5EF4-FFF2-40B4-BE49-F238E27FC236}">
                <a16:creationId xmlns:a16="http://schemas.microsoft.com/office/drawing/2014/main" id="{7B46023F-065B-6AEA-3612-04A7A0865D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4" name="Picture 10">
            <a:extLst>
              <a:ext uri="{FF2B5EF4-FFF2-40B4-BE49-F238E27FC236}">
                <a16:creationId xmlns:a16="http://schemas.microsoft.com/office/drawing/2014/main" id="{AF79F433-CC54-92C6-A89B-D92636B196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3" name="Picture 9">
            <a:extLst>
              <a:ext uri="{FF2B5EF4-FFF2-40B4-BE49-F238E27FC236}">
                <a16:creationId xmlns:a16="http://schemas.microsoft.com/office/drawing/2014/main" id="{AD563733-1B0C-2BF2-7643-8C5B3C6479F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2" name="Picture 8">
            <a:extLst>
              <a:ext uri="{FF2B5EF4-FFF2-40B4-BE49-F238E27FC236}">
                <a16:creationId xmlns:a16="http://schemas.microsoft.com/office/drawing/2014/main" id="{64F591D3-FF7F-ACFD-A1C4-4691FDE6960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1" name="Picture 7">
            <a:extLst>
              <a:ext uri="{FF2B5EF4-FFF2-40B4-BE49-F238E27FC236}">
                <a16:creationId xmlns:a16="http://schemas.microsoft.com/office/drawing/2014/main" id="{C6B95D55-6622-0647-DB1F-F93C3F4B90E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30" name="Picture 6">
            <a:extLst>
              <a:ext uri="{FF2B5EF4-FFF2-40B4-BE49-F238E27FC236}">
                <a16:creationId xmlns:a16="http://schemas.microsoft.com/office/drawing/2014/main" id="{81646D05-6288-A43F-F0EE-E562B201FBE1}"/>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29" name="Picture 5">
            <a:extLst>
              <a:ext uri="{FF2B5EF4-FFF2-40B4-BE49-F238E27FC236}">
                <a16:creationId xmlns:a16="http://schemas.microsoft.com/office/drawing/2014/main" id="{9B347B10-CBD5-F179-72A7-24E920FBF2B8}"/>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28" name="Picture 4">
            <a:extLst>
              <a:ext uri="{FF2B5EF4-FFF2-40B4-BE49-F238E27FC236}">
                <a16:creationId xmlns:a16="http://schemas.microsoft.com/office/drawing/2014/main" id="{73223214-8E86-1436-C792-17DF0EA6909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27" name="Picture 3">
            <a:extLst>
              <a:ext uri="{FF2B5EF4-FFF2-40B4-BE49-F238E27FC236}">
                <a16:creationId xmlns:a16="http://schemas.microsoft.com/office/drawing/2014/main" id="{AC0B60A8-BD66-EB4F-79BC-97985BC6F5C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26" name="Picture 2">
            <a:extLst>
              <a:ext uri="{FF2B5EF4-FFF2-40B4-BE49-F238E27FC236}">
                <a16:creationId xmlns:a16="http://schemas.microsoft.com/office/drawing/2014/main" id="{1D9762BC-2513-CA62-71C7-691D183C798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pic>
        <p:nvPicPr>
          <p:cNvPr id="1025" name="Picture 1">
            <a:extLst>
              <a:ext uri="{FF2B5EF4-FFF2-40B4-BE49-F238E27FC236}">
                <a16:creationId xmlns:a16="http://schemas.microsoft.com/office/drawing/2014/main" id="{215164FB-5E28-B142-5E03-0E46F25C754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0" y="0"/>
            <a:ext cx="0" cy="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90"/>
                                        </p:tgtEl>
                                        <p:attrNameLst>
                                          <p:attrName>style.visibility</p:attrName>
                                        </p:attrNameLst>
                                      </p:cBhvr>
                                      <p:to>
                                        <p:strVal val="visible"/>
                                      </p:to>
                                    </p:set>
                                    <p:animEffect transition="in" filter="fade">
                                      <p:cBhvr>
                                        <p:cTn id="15" dur="500"/>
                                        <p:tgtEl>
                                          <p:spTgt spid="39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08"/>
                                        </p:tgtEl>
                                        <p:attrNameLst>
                                          <p:attrName>style.visibility</p:attrName>
                                        </p:attrNameLst>
                                      </p:cBhvr>
                                      <p:to>
                                        <p:strVal val="visible"/>
                                      </p:to>
                                    </p:set>
                                    <p:animEffect transition="in" filter="fade">
                                      <p:cBhvr>
                                        <p:cTn id="20" dur="500"/>
                                        <p:tgtEl>
                                          <p:spTgt spid="40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13"/>
                                        </p:tgtEl>
                                        <p:attrNameLst>
                                          <p:attrName>style.visibility</p:attrName>
                                        </p:attrNameLst>
                                      </p:cBhvr>
                                      <p:to>
                                        <p:strVal val="visible"/>
                                      </p:to>
                                    </p:set>
                                    <p:animEffect transition="in" filter="fade">
                                      <p:cBhvr>
                                        <p:cTn id="25" dur="500"/>
                                        <p:tgtEl>
                                          <p:spTgt spid="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3" name="Google Shape;423;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Client/server model</a:t>
            </a:r>
            <a:endParaRPr/>
          </a:p>
        </p:txBody>
      </p:sp>
      <p:sp>
        <p:nvSpPr>
          <p:cNvPr id="424" name="Google Shape;424;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Client asks (</a:t>
            </a:r>
            <a:r>
              <a:rPr lang="en-US" sz="2400" i="1"/>
              <a:t>request</a:t>
            </a:r>
            <a:r>
              <a:rPr lang="en-US" sz="2400"/>
              <a:t>) – server provides (</a:t>
            </a:r>
            <a:r>
              <a:rPr lang="en-US" sz="2400" i="1"/>
              <a:t>response</a:t>
            </a:r>
            <a:r>
              <a:rPr lang="en-US" sz="2400"/>
              <a:t>)</a:t>
            </a:r>
            <a:endParaRPr/>
          </a:p>
          <a:p>
            <a:pPr marL="228600" lvl="0" indent="-228600" algn="l" rtl="0">
              <a:lnSpc>
                <a:spcPct val="90000"/>
              </a:lnSpc>
              <a:spcBef>
                <a:spcPts val="1000"/>
              </a:spcBef>
              <a:spcAft>
                <a:spcPts val="0"/>
              </a:spcAft>
              <a:buClr>
                <a:schemeClr val="dk1"/>
              </a:buClr>
              <a:buSzPts val="2400"/>
              <a:buChar char="•"/>
            </a:pPr>
            <a:r>
              <a:rPr lang="en-US" sz="2400"/>
              <a:t>Typically: single server - multiple clients </a:t>
            </a:r>
            <a:endParaRPr/>
          </a:p>
          <a:p>
            <a:pPr marL="228600" lvl="0" indent="-228600" algn="l" rtl="0">
              <a:lnSpc>
                <a:spcPct val="90000"/>
              </a:lnSpc>
              <a:spcBef>
                <a:spcPts val="1000"/>
              </a:spcBef>
              <a:spcAft>
                <a:spcPts val="0"/>
              </a:spcAft>
              <a:buClr>
                <a:schemeClr val="dk1"/>
              </a:buClr>
              <a:buSzPts val="2400"/>
              <a:buChar char="•"/>
            </a:pPr>
            <a:r>
              <a:rPr lang="en-US" sz="2400"/>
              <a:t>The server does not need to know </a:t>
            </a:r>
            <a:r>
              <a:rPr lang="en-US" sz="2400" i="1"/>
              <a:t>anything</a:t>
            </a:r>
            <a:r>
              <a:rPr lang="en-US" sz="2400"/>
              <a:t> about the client</a:t>
            </a:r>
            <a:endParaRPr/>
          </a:p>
          <a:p>
            <a:pPr marL="685800" lvl="1" indent="-228600" algn="l" rtl="0">
              <a:lnSpc>
                <a:spcPct val="90000"/>
              </a:lnSpc>
              <a:spcBef>
                <a:spcPts val="500"/>
              </a:spcBef>
              <a:spcAft>
                <a:spcPts val="0"/>
              </a:spcAft>
              <a:buClr>
                <a:schemeClr val="dk1"/>
              </a:buClr>
              <a:buSzPts val="2400"/>
              <a:buChar char="•"/>
            </a:pPr>
            <a:r>
              <a:rPr lang="en-US"/>
              <a:t>even that it exists</a:t>
            </a:r>
            <a:endParaRPr/>
          </a:p>
          <a:p>
            <a:pPr marL="228600" lvl="0" indent="-228600" algn="l" rtl="0">
              <a:lnSpc>
                <a:spcPct val="90000"/>
              </a:lnSpc>
              <a:spcBef>
                <a:spcPts val="1000"/>
              </a:spcBef>
              <a:spcAft>
                <a:spcPts val="0"/>
              </a:spcAft>
              <a:buClr>
                <a:schemeClr val="dk1"/>
              </a:buClr>
              <a:buSzPts val="2400"/>
              <a:buChar char="•"/>
            </a:pPr>
            <a:r>
              <a:rPr lang="en-US" sz="2400"/>
              <a:t>The client should always know </a:t>
            </a:r>
            <a:r>
              <a:rPr lang="en-US" sz="2400" i="1"/>
              <a:t>something</a:t>
            </a:r>
            <a:r>
              <a:rPr lang="en-US" sz="2400"/>
              <a:t> about the server</a:t>
            </a:r>
            <a:endParaRPr/>
          </a:p>
          <a:p>
            <a:pPr marL="685800" lvl="1" indent="-228600" algn="l" rtl="0">
              <a:lnSpc>
                <a:spcPct val="90000"/>
              </a:lnSpc>
              <a:spcBef>
                <a:spcPts val="500"/>
              </a:spcBef>
              <a:spcAft>
                <a:spcPts val="0"/>
              </a:spcAft>
              <a:buClr>
                <a:schemeClr val="dk1"/>
              </a:buClr>
              <a:buSzPts val="2400"/>
              <a:buChar char="•"/>
            </a:pPr>
            <a:r>
              <a:rPr lang="en-US"/>
              <a:t>at least where it is located</a:t>
            </a:r>
            <a:endParaRPr/>
          </a:p>
          <a:p>
            <a:pPr marL="685800" lvl="1" indent="-228600" algn="l" rtl="0">
              <a:lnSpc>
                <a:spcPct val="90000"/>
              </a:lnSpc>
              <a:spcBef>
                <a:spcPts val="500"/>
              </a:spcBef>
              <a:spcAft>
                <a:spcPts val="0"/>
              </a:spcAft>
              <a:buClr>
                <a:schemeClr val="dk1"/>
              </a:buClr>
              <a:buSzPts val="2400"/>
              <a:buFont typeface="Arial"/>
              <a:buNone/>
            </a:pPr>
            <a:endParaRPr/>
          </a:p>
          <a:p>
            <a:pPr marL="685800" lvl="1" indent="-76200" algn="l" rtl="0">
              <a:lnSpc>
                <a:spcPct val="90000"/>
              </a:lnSpc>
              <a:spcBef>
                <a:spcPts val="500"/>
              </a:spcBef>
              <a:spcAft>
                <a:spcPts val="0"/>
              </a:spcAft>
              <a:buClr>
                <a:schemeClr val="dk1"/>
              </a:buClr>
              <a:buSzPts val="2400"/>
              <a:buNone/>
            </a:pPr>
            <a:endParaRPr/>
          </a:p>
          <a:p>
            <a:pPr marL="228600" lvl="0" indent="-50800" algn="l" rtl="0">
              <a:lnSpc>
                <a:spcPct val="90000"/>
              </a:lnSpc>
              <a:spcBef>
                <a:spcPts val="1000"/>
              </a:spcBef>
              <a:spcAft>
                <a:spcPts val="0"/>
              </a:spcAft>
              <a:buClr>
                <a:schemeClr val="dk1"/>
              </a:buClr>
              <a:buSzPts val="2800"/>
              <a:buNone/>
            </a:pPr>
            <a:endParaRPr/>
          </a:p>
        </p:txBody>
      </p:sp>
      <p:sp>
        <p:nvSpPr>
          <p:cNvPr id="425" name="Google Shape;425;p3"/>
          <p:cNvSpPr/>
          <p:nvPr/>
        </p:nvSpPr>
        <p:spPr>
          <a:xfrm>
            <a:off x="4822370" y="4509461"/>
            <a:ext cx="1203325" cy="796925"/>
          </a:xfrm>
          <a:prstGeom prst="ellipse">
            <a:avLst/>
          </a:prstGeom>
          <a:solidFill>
            <a:srgbClr val="CC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Client</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process</a:t>
            </a:r>
            <a:endParaRPr/>
          </a:p>
        </p:txBody>
      </p:sp>
      <p:cxnSp>
        <p:nvCxnSpPr>
          <p:cNvPr id="426" name="Google Shape;426;p3"/>
          <p:cNvCxnSpPr/>
          <p:nvPr/>
        </p:nvCxnSpPr>
        <p:spPr>
          <a:xfrm rot="10800000">
            <a:off x="5919333" y="4752347"/>
            <a:ext cx="2560637" cy="0"/>
          </a:xfrm>
          <a:prstGeom prst="straightConnector1">
            <a:avLst/>
          </a:prstGeom>
          <a:noFill/>
          <a:ln w="12700" cap="flat" cmpd="sng">
            <a:solidFill>
              <a:schemeClr val="dk1"/>
            </a:solidFill>
            <a:prstDash val="dash"/>
            <a:round/>
            <a:headEnd type="triangle" w="med" len="med"/>
            <a:tailEnd type="none" w="med" len="med"/>
          </a:ln>
        </p:spPr>
      </p:cxnSp>
      <p:sp>
        <p:nvSpPr>
          <p:cNvPr id="427" name="Google Shape;427;p3"/>
          <p:cNvSpPr/>
          <p:nvPr/>
        </p:nvSpPr>
        <p:spPr>
          <a:xfrm>
            <a:off x="8403770" y="4509461"/>
            <a:ext cx="1203325" cy="796925"/>
          </a:xfrm>
          <a:prstGeom prst="ellipse">
            <a:avLst/>
          </a:prstGeom>
          <a:solidFill>
            <a:srgbClr val="CC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process</a:t>
            </a:r>
            <a:endParaRPr/>
          </a:p>
        </p:txBody>
      </p:sp>
      <p:sp>
        <p:nvSpPr>
          <p:cNvPr id="428" name="Google Shape;428;p3"/>
          <p:cNvSpPr txBox="1"/>
          <p:nvPr/>
        </p:nvSpPr>
        <p:spPr>
          <a:xfrm>
            <a:off x="5852657" y="4062954"/>
            <a:ext cx="2487612"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1. Client sends request</a:t>
            </a:r>
            <a:endParaRPr/>
          </a:p>
        </p:txBody>
      </p:sp>
      <p:sp>
        <p:nvSpPr>
          <p:cNvPr id="429" name="Google Shape;429;p3"/>
          <p:cNvSpPr txBox="1"/>
          <p:nvPr/>
        </p:nvSpPr>
        <p:spPr>
          <a:xfrm>
            <a:off x="9380083" y="5101597"/>
            <a:ext cx="1239837" cy="8255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2. Server </a:t>
            </a:r>
            <a:endParaRPr/>
          </a:p>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handles</a:t>
            </a:r>
            <a:endParaRPr/>
          </a:p>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request</a:t>
            </a:r>
            <a:endParaRPr/>
          </a:p>
        </p:txBody>
      </p:sp>
      <p:cxnSp>
        <p:nvCxnSpPr>
          <p:cNvPr id="430" name="Google Shape;430;p3"/>
          <p:cNvCxnSpPr/>
          <p:nvPr/>
        </p:nvCxnSpPr>
        <p:spPr>
          <a:xfrm rot="10800000">
            <a:off x="5932033" y="5139697"/>
            <a:ext cx="2560637" cy="0"/>
          </a:xfrm>
          <a:prstGeom prst="straightConnector1">
            <a:avLst/>
          </a:prstGeom>
          <a:noFill/>
          <a:ln w="12700" cap="flat" cmpd="sng">
            <a:solidFill>
              <a:schemeClr val="dk1"/>
            </a:solidFill>
            <a:prstDash val="dash"/>
            <a:round/>
            <a:headEnd type="none" w="med" len="med"/>
            <a:tailEnd type="triangle" w="med" len="med"/>
          </a:ln>
        </p:spPr>
      </p:cxnSp>
      <p:sp>
        <p:nvSpPr>
          <p:cNvPr id="431" name="Google Shape;431;p3"/>
          <p:cNvSpPr txBox="1"/>
          <p:nvPr/>
        </p:nvSpPr>
        <p:spPr>
          <a:xfrm>
            <a:off x="5852657" y="5152397"/>
            <a:ext cx="2709862"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3. Server sends response</a:t>
            </a:r>
            <a:endParaRPr/>
          </a:p>
        </p:txBody>
      </p:sp>
      <p:sp>
        <p:nvSpPr>
          <p:cNvPr id="432" name="Google Shape;432;p3"/>
          <p:cNvSpPr txBox="1"/>
          <p:nvPr/>
        </p:nvSpPr>
        <p:spPr>
          <a:xfrm>
            <a:off x="3971470" y="5092072"/>
            <a:ext cx="1128713" cy="8255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4. Client </a:t>
            </a:r>
            <a:endParaRPr/>
          </a:p>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handles</a:t>
            </a:r>
            <a:endParaRPr/>
          </a:p>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response</a:t>
            </a:r>
            <a:endParaRPr/>
          </a:p>
        </p:txBody>
      </p:sp>
      <p:cxnSp>
        <p:nvCxnSpPr>
          <p:cNvPr id="433" name="Google Shape;433;p3"/>
          <p:cNvCxnSpPr/>
          <p:nvPr/>
        </p:nvCxnSpPr>
        <p:spPr>
          <a:xfrm>
            <a:off x="9610270" y="4971422"/>
            <a:ext cx="836613" cy="0"/>
          </a:xfrm>
          <a:prstGeom prst="straightConnector1">
            <a:avLst/>
          </a:prstGeom>
          <a:noFill/>
          <a:ln w="12700" cap="flat" cmpd="sng">
            <a:solidFill>
              <a:schemeClr val="dk1"/>
            </a:solidFill>
            <a:prstDash val="solid"/>
            <a:round/>
            <a:headEnd type="triangle" w="med" len="med"/>
            <a:tailEnd type="triangle" w="med" len="med"/>
          </a:ln>
        </p:spPr>
      </p:cxnSp>
      <p:sp>
        <p:nvSpPr>
          <p:cNvPr id="434" name="Google Shape;434;p3"/>
          <p:cNvSpPr/>
          <p:nvPr/>
        </p:nvSpPr>
        <p:spPr>
          <a:xfrm>
            <a:off x="10446883" y="4611060"/>
            <a:ext cx="1089025" cy="569912"/>
          </a:xfrm>
          <a:prstGeom prst="flowChartMagneticDisk">
            <a:avLst/>
          </a:prstGeom>
          <a:solidFill>
            <a:srgbClr val="CC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Resource</a:t>
            </a:r>
            <a:endParaRPr/>
          </a:p>
        </p:txBody>
      </p:sp>
      <p:sp>
        <p:nvSpPr>
          <p:cNvPr id="435" name="Google Shape;435;p3"/>
          <p:cNvSpPr txBox="1"/>
          <p:nvPr/>
        </p:nvSpPr>
        <p:spPr>
          <a:xfrm>
            <a:off x="4501694" y="6235072"/>
            <a:ext cx="6629400" cy="6413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1">
                <a:solidFill>
                  <a:schemeClr val="dk1"/>
                </a:solidFill>
                <a:latin typeface="Comic Sans MS"/>
                <a:ea typeface="Comic Sans MS"/>
                <a:cs typeface="Comic Sans MS"/>
                <a:sym typeface="Comic Sans MS"/>
              </a:rPr>
              <a:t>Note: clients and servers are processes running on hosts </a:t>
            </a:r>
            <a:endParaRPr/>
          </a:p>
          <a:p>
            <a:pPr marL="0" marR="0" lvl="0" indent="0" algn="l" rtl="0">
              <a:spcBef>
                <a:spcPts val="0"/>
              </a:spcBef>
              <a:spcAft>
                <a:spcPts val="0"/>
              </a:spcAft>
              <a:buNone/>
            </a:pPr>
            <a:r>
              <a:rPr lang="en-US" sz="1800" b="1" i="1">
                <a:solidFill>
                  <a:schemeClr val="dk1"/>
                </a:solidFill>
                <a:latin typeface="Comic Sans MS"/>
                <a:ea typeface="Comic Sans MS"/>
                <a:cs typeface="Comic Sans MS"/>
                <a:sym typeface="Comic Sans MS"/>
              </a:rPr>
              <a:t>(can be the same or different hosts).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4"/>
          <p:cNvSpPr/>
          <p:nvPr/>
        </p:nvSpPr>
        <p:spPr>
          <a:xfrm>
            <a:off x="8264526" y="3990975"/>
            <a:ext cx="1465263" cy="1035050"/>
          </a:xfrm>
          <a:prstGeom prst="rect">
            <a:avLst/>
          </a:prstGeom>
          <a:solidFill>
            <a:srgbClr val="FFFF99"/>
          </a:solidFill>
          <a:ln w="127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1" name="Google Shape;441;p4"/>
          <p:cNvSpPr/>
          <p:nvPr/>
        </p:nvSpPr>
        <p:spPr>
          <a:xfrm>
            <a:off x="2320926" y="3990975"/>
            <a:ext cx="1465263" cy="1035050"/>
          </a:xfrm>
          <a:prstGeom prst="rect">
            <a:avLst/>
          </a:prstGeom>
          <a:solidFill>
            <a:srgbClr val="FFFF99"/>
          </a:solidFill>
          <a:ln w="12700" cap="flat" cmpd="sng">
            <a:solidFill>
              <a:schemeClr val="dk1"/>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2" name="Google Shape;442;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Internet Connections (TCP/IP)</a:t>
            </a:r>
            <a:endParaRPr/>
          </a:p>
        </p:txBody>
      </p:sp>
      <p:sp>
        <p:nvSpPr>
          <p:cNvPr id="443" name="Google Shape;443;p4"/>
          <p:cNvSpPr txBox="1"/>
          <p:nvPr/>
        </p:nvSpPr>
        <p:spPr>
          <a:xfrm>
            <a:off x="3784600" y="4470401"/>
            <a:ext cx="4565650"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Connection socket pair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a:t>
            </a:r>
            <a:r>
              <a:rPr lang="en-US" sz="1600" b="1">
                <a:solidFill>
                  <a:srgbClr val="FF0000"/>
                </a:solidFill>
                <a:latin typeface="Comic Sans MS"/>
                <a:ea typeface="Comic Sans MS"/>
                <a:cs typeface="Comic Sans MS"/>
                <a:sym typeface="Comic Sans MS"/>
              </a:rPr>
              <a:t>128.2.194.242</a:t>
            </a:r>
            <a:r>
              <a:rPr lang="en-US" sz="1600" b="1">
                <a:solidFill>
                  <a:schemeClr val="dk1"/>
                </a:solidFill>
                <a:latin typeface="Comic Sans MS"/>
                <a:ea typeface="Comic Sans MS"/>
                <a:cs typeface="Comic Sans MS"/>
                <a:sym typeface="Comic Sans MS"/>
              </a:rPr>
              <a:t>:</a:t>
            </a:r>
            <a:r>
              <a:rPr lang="en-US" sz="1600" b="1">
                <a:solidFill>
                  <a:srgbClr val="00FF00"/>
                </a:solidFill>
                <a:latin typeface="Comic Sans MS"/>
                <a:ea typeface="Comic Sans MS"/>
                <a:cs typeface="Comic Sans MS"/>
                <a:sym typeface="Comic Sans MS"/>
              </a:rPr>
              <a:t>3479</a:t>
            </a:r>
            <a:r>
              <a:rPr lang="en-US" sz="1600" b="1">
                <a:solidFill>
                  <a:schemeClr val="dk1"/>
                </a:solidFill>
                <a:latin typeface="Comic Sans MS"/>
                <a:ea typeface="Comic Sans MS"/>
                <a:cs typeface="Comic Sans MS"/>
                <a:sym typeface="Comic Sans MS"/>
              </a:rPr>
              <a:t>, </a:t>
            </a:r>
            <a:r>
              <a:rPr lang="en-US" sz="1600" b="1">
                <a:solidFill>
                  <a:srgbClr val="9966FF"/>
                </a:solidFill>
                <a:latin typeface="Comic Sans MS"/>
                <a:ea typeface="Comic Sans MS"/>
                <a:cs typeface="Comic Sans MS"/>
                <a:sym typeface="Comic Sans MS"/>
              </a:rPr>
              <a:t>208.216.181.15</a:t>
            </a:r>
            <a:r>
              <a:rPr lang="en-US" sz="1600" b="1">
                <a:solidFill>
                  <a:schemeClr val="dk1"/>
                </a:solidFill>
                <a:latin typeface="Comic Sans MS"/>
                <a:ea typeface="Comic Sans MS"/>
                <a:cs typeface="Comic Sans MS"/>
                <a:sym typeface="Comic Sans MS"/>
              </a:rPr>
              <a:t>:</a:t>
            </a:r>
            <a:r>
              <a:rPr lang="en-US" sz="1600" b="1">
                <a:solidFill>
                  <a:srgbClr val="00FFFF"/>
                </a:solidFill>
                <a:latin typeface="Comic Sans MS"/>
                <a:ea typeface="Comic Sans MS"/>
                <a:cs typeface="Comic Sans MS"/>
                <a:sym typeface="Comic Sans MS"/>
              </a:rPr>
              <a:t>80</a:t>
            </a:r>
            <a:r>
              <a:rPr lang="en-US" sz="1600" b="1">
                <a:solidFill>
                  <a:schemeClr val="dk1"/>
                </a:solidFill>
                <a:latin typeface="Comic Sans MS"/>
                <a:ea typeface="Comic Sans MS"/>
                <a:cs typeface="Comic Sans MS"/>
                <a:sym typeface="Comic Sans MS"/>
              </a:rPr>
              <a:t>)</a:t>
            </a:r>
            <a:endParaRPr/>
          </a:p>
        </p:txBody>
      </p:sp>
      <p:sp>
        <p:nvSpPr>
          <p:cNvPr id="444" name="Google Shape;444;p4"/>
          <p:cNvSpPr/>
          <p:nvPr/>
        </p:nvSpPr>
        <p:spPr>
          <a:xfrm>
            <a:off x="8312151" y="4098926"/>
            <a:ext cx="1287463"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(port 80)</a:t>
            </a:r>
            <a:endParaRPr/>
          </a:p>
        </p:txBody>
      </p:sp>
      <p:sp>
        <p:nvSpPr>
          <p:cNvPr id="445" name="Google Shape;445;p4"/>
          <p:cNvSpPr/>
          <p:nvPr/>
        </p:nvSpPr>
        <p:spPr>
          <a:xfrm>
            <a:off x="2457451" y="4098926"/>
            <a:ext cx="1287463"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Client</a:t>
            </a:r>
            <a:endParaRPr/>
          </a:p>
        </p:txBody>
      </p:sp>
      <p:cxnSp>
        <p:nvCxnSpPr>
          <p:cNvPr id="446" name="Google Shape;446;p4"/>
          <p:cNvCxnSpPr/>
          <p:nvPr/>
        </p:nvCxnSpPr>
        <p:spPr>
          <a:xfrm>
            <a:off x="3802063" y="4502150"/>
            <a:ext cx="4451350" cy="0"/>
          </a:xfrm>
          <a:prstGeom prst="straightConnector1">
            <a:avLst/>
          </a:prstGeom>
          <a:noFill/>
          <a:ln w="28575" cap="flat" cmpd="sng">
            <a:solidFill>
              <a:schemeClr val="dk1"/>
            </a:solidFill>
            <a:prstDash val="solid"/>
            <a:round/>
            <a:headEnd type="triangle" w="med" len="med"/>
            <a:tailEnd type="triangle" w="med" len="med"/>
          </a:ln>
        </p:spPr>
      </p:cxnSp>
      <p:sp>
        <p:nvSpPr>
          <p:cNvPr id="447" name="Google Shape;447;p4"/>
          <p:cNvSpPr/>
          <p:nvPr/>
        </p:nvSpPr>
        <p:spPr>
          <a:xfrm>
            <a:off x="3673475" y="4437064"/>
            <a:ext cx="128588" cy="128587"/>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8" name="Google Shape;448;p4"/>
          <p:cNvSpPr/>
          <p:nvPr/>
        </p:nvSpPr>
        <p:spPr>
          <a:xfrm>
            <a:off x="8253414" y="4437064"/>
            <a:ext cx="128587" cy="128587"/>
          </a:xfrm>
          <a:prstGeom prst="ellipse">
            <a:avLst/>
          </a:prstGeom>
          <a:solidFill>
            <a:schemeClr val="dk1"/>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49" name="Google Shape;449;p4"/>
          <p:cNvSpPr txBox="1"/>
          <p:nvPr/>
        </p:nvSpPr>
        <p:spPr>
          <a:xfrm>
            <a:off x="2987675" y="3228976"/>
            <a:ext cx="2305050"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Client socket address</a:t>
            </a:r>
            <a:endParaRPr/>
          </a:p>
          <a:p>
            <a:pPr marL="0" marR="0" lvl="0" indent="0" algn="ctr" rtl="0">
              <a:spcBef>
                <a:spcPts val="0"/>
              </a:spcBef>
              <a:spcAft>
                <a:spcPts val="0"/>
              </a:spcAft>
              <a:buNone/>
            </a:pPr>
            <a:r>
              <a:rPr lang="en-US" sz="1600" b="1">
                <a:solidFill>
                  <a:srgbClr val="FF0000"/>
                </a:solidFill>
                <a:latin typeface="Comic Sans MS"/>
                <a:ea typeface="Comic Sans MS"/>
                <a:cs typeface="Comic Sans MS"/>
                <a:sym typeface="Comic Sans MS"/>
              </a:rPr>
              <a:t>128.2.194.242</a:t>
            </a:r>
            <a:r>
              <a:rPr lang="en-US" sz="1600" b="1">
                <a:solidFill>
                  <a:schemeClr val="dk1"/>
                </a:solidFill>
                <a:latin typeface="Comic Sans MS"/>
                <a:ea typeface="Comic Sans MS"/>
                <a:cs typeface="Comic Sans MS"/>
                <a:sym typeface="Comic Sans MS"/>
              </a:rPr>
              <a:t>:</a:t>
            </a:r>
            <a:r>
              <a:rPr lang="en-US" sz="1600" b="1">
                <a:solidFill>
                  <a:srgbClr val="00FF00"/>
                </a:solidFill>
                <a:latin typeface="Comic Sans MS"/>
                <a:ea typeface="Comic Sans MS"/>
                <a:cs typeface="Comic Sans MS"/>
                <a:sym typeface="Comic Sans MS"/>
              </a:rPr>
              <a:t>3479</a:t>
            </a:r>
            <a:endParaRPr/>
          </a:p>
        </p:txBody>
      </p:sp>
      <p:sp>
        <p:nvSpPr>
          <p:cNvPr id="450" name="Google Shape;450;p4"/>
          <p:cNvSpPr txBox="1"/>
          <p:nvPr/>
        </p:nvSpPr>
        <p:spPr>
          <a:xfrm>
            <a:off x="6681788" y="3228976"/>
            <a:ext cx="2589212"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i="1">
                <a:solidFill>
                  <a:schemeClr val="dk1"/>
                </a:solidFill>
                <a:latin typeface="Comic Sans MS"/>
                <a:ea typeface="Comic Sans MS"/>
                <a:cs typeface="Comic Sans MS"/>
                <a:sym typeface="Comic Sans MS"/>
              </a:rPr>
              <a:t>Server socket address</a:t>
            </a:r>
            <a:endParaRPr/>
          </a:p>
          <a:p>
            <a:pPr marL="0" marR="0" lvl="0" indent="0" algn="ctr" rtl="0">
              <a:spcBef>
                <a:spcPts val="0"/>
              </a:spcBef>
              <a:spcAft>
                <a:spcPts val="0"/>
              </a:spcAft>
              <a:buNone/>
            </a:pPr>
            <a:r>
              <a:rPr lang="en-US" sz="1600" b="1">
                <a:solidFill>
                  <a:srgbClr val="9966FF"/>
                </a:solidFill>
                <a:latin typeface="Comic Sans MS"/>
                <a:ea typeface="Comic Sans MS"/>
                <a:cs typeface="Comic Sans MS"/>
                <a:sym typeface="Comic Sans MS"/>
              </a:rPr>
              <a:t>208.216.181.15</a:t>
            </a:r>
            <a:r>
              <a:rPr lang="en-US" sz="1600" b="1">
                <a:solidFill>
                  <a:schemeClr val="dk1"/>
                </a:solidFill>
                <a:latin typeface="Comic Sans MS"/>
                <a:ea typeface="Comic Sans MS"/>
                <a:cs typeface="Comic Sans MS"/>
                <a:sym typeface="Comic Sans MS"/>
              </a:rPr>
              <a:t>:</a:t>
            </a:r>
            <a:r>
              <a:rPr lang="en-US" sz="1600" b="1">
                <a:solidFill>
                  <a:srgbClr val="00FFFF"/>
                </a:solidFill>
                <a:latin typeface="Comic Sans MS"/>
                <a:ea typeface="Comic Sans MS"/>
                <a:cs typeface="Comic Sans MS"/>
                <a:sym typeface="Comic Sans MS"/>
              </a:rPr>
              <a:t>80</a:t>
            </a:r>
            <a:endParaRPr/>
          </a:p>
        </p:txBody>
      </p:sp>
      <p:cxnSp>
        <p:nvCxnSpPr>
          <p:cNvPr id="451" name="Google Shape;451;p4"/>
          <p:cNvCxnSpPr/>
          <p:nvPr/>
        </p:nvCxnSpPr>
        <p:spPr>
          <a:xfrm flipH="1">
            <a:off x="3802063" y="3810001"/>
            <a:ext cx="303212" cy="627063"/>
          </a:xfrm>
          <a:prstGeom prst="straightConnector1">
            <a:avLst/>
          </a:prstGeom>
          <a:noFill/>
          <a:ln w="12700" cap="flat" cmpd="sng">
            <a:solidFill>
              <a:schemeClr val="dk1"/>
            </a:solidFill>
            <a:prstDash val="dash"/>
            <a:round/>
            <a:headEnd type="none" w="med" len="med"/>
            <a:tailEnd type="triangle" w="med" len="med"/>
          </a:ln>
        </p:spPr>
      </p:cxnSp>
      <p:cxnSp>
        <p:nvCxnSpPr>
          <p:cNvPr id="452" name="Google Shape;452;p4"/>
          <p:cNvCxnSpPr/>
          <p:nvPr/>
        </p:nvCxnSpPr>
        <p:spPr>
          <a:xfrm>
            <a:off x="7969251" y="3810001"/>
            <a:ext cx="303213" cy="627063"/>
          </a:xfrm>
          <a:prstGeom prst="straightConnector1">
            <a:avLst/>
          </a:prstGeom>
          <a:noFill/>
          <a:ln w="12700" cap="flat" cmpd="sng">
            <a:solidFill>
              <a:schemeClr val="dk1"/>
            </a:solidFill>
            <a:prstDash val="dash"/>
            <a:round/>
            <a:headEnd type="none" w="med" len="med"/>
            <a:tailEnd type="triangle" w="med" len="med"/>
          </a:ln>
        </p:spPr>
      </p:cxnSp>
      <p:sp>
        <p:nvSpPr>
          <p:cNvPr id="453" name="Google Shape;453;p4"/>
          <p:cNvSpPr txBox="1"/>
          <p:nvPr/>
        </p:nvSpPr>
        <p:spPr>
          <a:xfrm>
            <a:off x="2106613" y="5133976"/>
            <a:ext cx="2093912"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Client host address</a:t>
            </a:r>
            <a:endParaRPr/>
          </a:p>
          <a:p>
            <a:pPr marL="0" marR="0" lvl="0" indent="0" algn="ctr" rtl="0">
              <a:spcBef>
                <a:spcPts val="0"/>
              </a:spcBef>
              <a:spcAft>
                <a:spcPts val="0"/>
              </a:spcAft>
              <a:buNone/>
            </a:pPr>
            <a:r>
              <a:rPr lang="en-US" sz="1600" b="1">
                <a:solidFill>
                  <a:srgbClr val="FF0000"/>
                </a:solidFill>
                <a:latin typeface="Comic Sans MS"/>
                <a:ea typeface="Comic Sans MS"/>
                <a:cs typeface="Comic Sans MS"/>
                <a:sym typeface="Comic Sans MS"/>
              </a:rPr>
              <a:t>128.2.194.242</a:t>
            </a:r>
            <a:r>
              <a:rPr lang="en-US" sz="1600" b="1">
                <a:solidFill>
                  <a:schemeClr val="dk1"/>
                </a:solidFill>
                <a:latin typeface="Comic Sans MS"/>
                <a:ea typeface="Comic Sans MS"/>
                <a:cs typeface="Comic Sans MS"/>
                <a:sym typeface="Comic Sans MS"/>
              </a:rPr>
              <a:t> </a:t>
            </a:r>
            <a:endParaRPr sz="2400" b="1">
              <a:solidFill>
                <a:schemeClr val="dk1"/>
              </a:solidFill>
              <a:latin typeface="Comic Sans MS"/>
              <a:ea typeface="Comic Sans MS"/>
              <a:cs typeface="Comic Sans MS"/>
              <a:sym typeface="Comic Sans MS"/>
            </a:endParaRPr>
          </a:p>
        </p:txBody>
      </p:sp>
      <p:sp>
        <p:nvSpPr>
          <p:cNvPr id="454" name="Google Shape;454;p4"/>
          <p:cNvSpPr txBox="1"/>
          <p:nvPr/>
        </p:nvSpPr>
        <p:spPr>
          <a:xfrm>
            <a:off x="7942264" y="5133976"/>
            <a:ext cx="2205037"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Server host address</a:t>
            </a:r>
            <a:endParaRPr/>
          </a:p>
          <a:p>
            <a:pPr marL="0" marR="0" lvl="0" indent="0" algn="ctr" rtl="0">
              <a:spcBef>
                <a:spcPts val="0"/>
              </a:spcBef>
              <a:spcAft>
                <a:spcPts val="0"/>
              </a:spcAft>
              <a:buNone/>
            </a:pPr>
            <a:r>
              <a:rPr lang="en-US" sz="1600" b="1">
                <a:solidFill>
                  <a:srgbClr val="9966FF"/>
                </a:solidFill>
                <a:latin typeface="Comic Sans MS"/>
                <a:ea typeface="Comic Sans MS"/>
                <a:cs typeface="Comic Sans MS"/>
                <a:sym typeface="Comic Sans MS"/>
              </a:rPr>
              <a:t>208.216.181.15</a:t>
            </a:r>
            <a:endParaRPr/>
          </a:p>
        </p:txBody>
      </p:sp>
      <p:sp>
        <p:nvSpPr>
          <p:cNvPr id="455" name="Google Shape;455;p4"/>
          <p:cNvSpPr txBox="1">
            <a:spLocks noGrp="1"/>
          </p:cNvSpPr>
          <p:nvPr>
            <p:ph type="body" idx="1"/>
          </p:nvPr>
        </p:nvSpPr>
        <p:spPr>
          <a:xfrm>
            <a:off x="1981200" y="1600201"/>
            <a:ext cx="8229600" cy="1846263"/>
          </a:xfrm>
          <a:prstGeom prst="rect">
            <a:avLst/>
          </a:prstGeom>
          <a:noFill/>
          <a:ln>
            <a:noFill/>
          </a:ln>
        </p:spPr>
        <p:txBody>
          <a:bodyPr spcFirstLastPara="1" wrap="square" lIns="90475" tIns="44425" rIns="90475" bIns="44425" anchor="t" anchorCtr="0">
            <a:normAutofit/>
          </a:bodyPr>
          <a:lstStyle/>
          <a:p>
            <a:pPr marL="228600" lvl="0" indent="-228600" algn="l" rtl="0">
              <a:lnSpc>
                <a:spcPct val="80000"/>
              </a:lnSpc>
              <a:spcBef>
                <a:spcPts val="0"/>
              </a:spcBef>
              <a:spcAft>
                <a:spcPts val="0"/>
              </a:spcAft>
              <a:buClr>
                <a:schemeClr val="dk1"/>
              </a:buClr>
              <a:buSzPts val="2000"/>
              <a:buChar char="•"/>
            </a:pPr>
            <a:r>
              <a:rPr lang="en-US" sz="2000"/>
              <a:t>Address the machine on the network</a:t>
            </a:r>
            <a:endParaRPr/>
          </a:p>
          <a:p>
            <a:pPr marL="685800" lvl="1" indent="-228600" algn="l" rtl="0">
              <a:lnSpc>
                <a:spcPct val="80000"/>
              </a:lnSpc>
              <a:spcBef>
                <a:spcPts val="500"/>
              </a:spcBef>
              <a:spcAft>
                <a:spcPts val="0"/>
              </a:spcAft>
              <a:buClr>
                <a:schemeClr val="dk1"/>
              </a:buClr>
              <a:buSzPts val="1800"/>
              <a:buChar char="•"/>
            </a:pPr>
            <a:r>
              <a:rPr lang="en-US" sz="1800"/>
              <a:t>By IP address </a:t>
            </a:r>
            <a:endParaRPr/>
          </a:p>
          <a:p>
            <a:pPr marL="228600" lvl="0" indent="-228600" algn="l" rtl="0">
              <a:lnSpc>
                <a:spcPct val="80000"/>
              </a:lnSpc>
              <a:spcBef>
                <a:spcPts val="1000"/>
              </a:spcBef>
              <a:spcAft>
                <a:spcPts val="0"/>
              </a:spcAft>
              <a:buClr>
                <a:schemeClr val="dk1"/>
              </a:buClr>
              <a:buSzPts val="2000"/>
              <a:buChar char="•"/>
            </a:pPr>
            <a:r>
              <a:rPr lang="en-US" sz="2000"/>
              <a:t>Address the process</a:t>
            </a:r>
            <a:endParaRPr/>
          </a:p>
          <a:p>
            <a:pPr marL="685800" lvl="1" indent="-228600" algn="l" rtl="0">
              <a:lnSpc>
                <a:spcPct val="80000"/>
              </a:lnSpc>
              <a:spcBef>
                <a:spcPts val="500"/>
              </a:spcBef>
              <a:spcAft>
                <a:spcPts val="0"/>
              </a:spcAft>
              <a:buClr>
                <a:schemeClr val="dk1"/>
              </a:buClr>
              <a:buSzPts val="1800"/>
              <a:buChar char="•"/>
            </a:pPr>
            <a:r>
              <a:rPr lang="en-US" sz="1800"/>
              <a:t>By the “port”-number</a:t>
            </a:r>
            <a:endParaRPr/>
          </a:p>
          <a:p>
            <a:pPr marL="228600" lvl="0" indent="-228600" algn="l" rtl="0">
              <a:lnSpc>
                <a:spcPct val="80000"/>
              </a:lnSpc>
              <a:spcBef>
                <a:spcPts val="1000"/>
              </a:spcBef>
              <a:spcAft>
                <a:spcPts val="0"/>
              </a:spcAft>
              <a:buClr>
                <a:schemeClr val="dk1"/>
              </a:buClr>
              <a:buSzPts val="2000"/>
              <a:buChar char="•"/>
            </a:pPr>
            <a:r>
              <a:rPr lang="en-US" sz="2000"/>
              <a:t>The pair of </a:t>
            </a:r>
            <a:r>
              <a:rPr lang="en-US" sz="2000" i="1"/>
              <a:t>IP-address + port </a:t>
            </a:r>
            <a:r>
              <a:rPr lang="en-US" sz="2000"/>
              <a:t>– makes up a “</a:t>
            </a:r>
            <a:r>
              <a:rPr lang="en-US" sz="2000" i="1"/>
              <a:t>socket-address”</a:t>
            </a:r>
            <a:endParaRPr/>
          </a:p>
        </p:txBody>
      </p:sp>
      <p:sp>
        <p:nvSpPr>
          <p:cNvPr id="456" name="Google Shape;456;p4"/>
          <p:cNvSpPr txBox="1"/>
          <p:nvPr/>
        </p:nvSpPr>
        <p:spPr>
          <a:xfrm>
            <a:off x="2030414" y="5954713"/>
            <a:ext cx="2638425" cy="754062"/>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600" b="1" i="1">
                <a:solidFill>
                  <a:schemeClr val="dk1"/>
                </a:solidFill>
                <a:latin typeface="Comic Sans MS"/>
                <a:ea typeface="Comic Sans MS"/>
                <a:cs typeface="Comic Sans MS"/>
                <a:sym typeface="Comic Sans MS"/>
              </a:rPr>
              <a:t>Note: </a:t>
            </a:r>
            <a:r>
              <a:rPr lang="en-US" sz="1600" b="1" i="1">
                <a:solidFill>
                  <a:srgbClr val="00FF00"/>
                </a:solidFill>
                <a:latin typeface="Comic Sans MS"/>
                <a:ea typeface="Comic Sans MS"/>
                <a:cs typeface="Comic Sans MS"/>
                <a:sym typeface="Comic Sans MS"/>
              </a:rPr>
              <a:t>3479</a:t>
            </a:r>
            <a:r>
              <a:rPr lang="en-US" sz="1600" b="1" i="1">
                <a:solidFill>
                  <a:schemeClr val="dk1"/>
                </a:solidFill>
                <a:latin typeface="Comic Sans MS"/>
                <a:ea typeface="Comic Sans MS"/>
                <a:cs typeface="Comic Sans MS"/>
                <a:sym typeface="Comic Sans MS"/>
              </a:rPr>
              <a:t> is an</a:t>
            </a:r>
            <a:endParaRPr/>
          </a:p>
          <a:p>
            <a:pPr marL="0" marR="0" lvl="0" indent="0" algn="ctr" rtl="0">
              <a:lnSpc>
                <a:spcPct val="90000"/>
              </a:lnSpc>
              <a:spcBef>
                <a:spcPts val="0"/>
              </a:spcBef>
              <a:spcAft>
                <a:spcPts val="0"/>
              </a:spcAft>
              <a:buNone/>
            </a:pPr>
            <a:r>
              <a:rPr lang="en-US" sz="1600" b="1" i="1">
                <a:solidFill>
                  <a:schemeClr val="dk1"/>
                </a:solidFill>
                <a:latin typeface="Comic Sans MS"/>
                <a:ea typeface="Comic Sans MS"/>
                <a:cs typeface="Comic Sans MS"/>
                <a:sym typeface="Comic Sans MS"/>
              </a:rPr>
              <a:t>ephemeral port allocated</a:t>
            </a:r>
            <a:endParaRPr/>
          </a:p>
          <a:p>
            <a:pPr marL="0" marR="0" lvl="0" indent="0" algn="ctr" rtl="0">
              <a:lnSpc>
                <a:spcPct val="90000"/>
              </a:lnSpc>
              <a:spcBef>
                <a:spcPts val="0"/>
              </a:spcBef>
              <a:spcAft>
                <a:spcPts val="0"/>
              </a:spcAft>
              <a:buNone/>
            </a:pPr>
            <a:r>
              <a:rPr lang="en-US" sz="1600" b="1" i="1">
                <a:solidFill>
                  <a:schemeClr val="dk1"/>
                </a:solidFill>
                <a:latin typeface="Comic Sans MS"/>
                <a:ea typeface="Comic Sans MS"/>
                <a:cs typeface="Comic Sans MS"/>
                <a:sym typeface="Comic Sans MS"/>
              </a:rPr>
              <a:t>by the kernel </a:t>
            </a:r>
            <a:endParaRPr/>
          </a:p>
        </p:txBody>
      </p:sp>
      <p:sp>
        <p:nvSpPr>
          <p:cNvPr id="457" name="Google Shape;457;p4"/>
          <p:cNvSpPr txBox="1"/>
          <p:nvPr/>
        </p:nvSpPr>
        <p:spPr>
          <a:xfrm>
            <a:off x="7405688" y="5946775"/>
            <a:ext cx="3179762" cy="533400"/>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1600" b="1" i="1">
                <a:solidFill>
                  <a:schemeClr val="dk1"/>
                </a:solidFill>
                <a:latin typeface="Comic Sans MS"/>
                <a:ea typeface="Comic Sans MS"/>
                <a:cs typeface="Comic Sans MS"/>
                <a:sym typeface="Comic Sans MS"/>
              </a:rPr>
              <a:t>Note: </a:t>
            </a:r>
            <a:r>
              <a:rPr lang="en-US" sz="1600" b="1" i="1">
                <a:solidFill>
                  <a:srgbClr val="00FFFF"/>
                </a:solidFill>
                <a:latin typeface="Comic Sans MS"/>
                <a:ea typeface="Comic Sans MS"/>
                <a:cs typeface="Comic Sans MS"/>
                <a:sym typeface="Comic Sans MS"/>
              </a:rPr>
              <a:t>80</a:t>
            </a:r>
            <a:r>
              <a:rPr lang="en-US" sz="1600" b="1" i="1">
                <a:solidFill>
                  <a:schemeClr val="dk1"/>
                </a:solidFill>
                <a:latin typeface="Comic Sans MS"/>
                <a:ea typeface="Comic Sans MS"/>
                <a:cs typeface="Comic Sans MS"/>
                <a:sym typeface="Comic Sans MS"/>
              </a:rPr>
              <a:t> is a well-known port</a:t>
            </a:r>
            <a:endParaRPr/>
          </a:p>
          <a:p>
            <a:pPr marL="0" marR="0" lvl="0" indent="0" algn="ctr" rtl="0">
              <a:lnSpc>
                <a:spcPct val="90000"/>
              </a:lnSpc>
              <a:spcBef>
                <a:spcPts val="0"/>
              </a:spcBef>
              <a:spcAft>
                <a:spcPts val="0"/>
              </a:spcAft>
              <a:buNone/>
            </a:pPr>
            <a:r>
              <a:rPr lang="en-US" sz="1600" b="1" i="1">
                <a:solidFill>
                  <a:schemeClr val="dk1"/>
                </a:solidFill>
                <a:latin typeface="Comic Sans MS"/>
                <a:ea typeface="Comic Sans MS"/>
                <a:cs typeface="Comic Sans MS"/>
                <a:sym typeface="Comic Sans MS"/>
              </a:rPr>
              <a:t>associated with Web servers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1"/>
        <p:cNvGrpSpPr/>
        <p:nvPr/>
      </p:nvGrpSpPr>
      <p:grpSpPr>
        <a:xfrm>
          <a:off x="0" y="0"/>
          <a:ext cx="0" cy="0"/>
          <a:chOff x="0" y="0"/>
          <a:chExt cx="0" cy="0"/>
        </a:xfrm>
      </p:grpSpPr>
      <p:sp>
        <p:nvSpPr>
          <p:cNvPr id="462" name="Google Shape;462;p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3" name="Google Shape;463;p5"/>
          <p:cNvSpPr/>
          <p:nvPr/>
        </p:nvSpPr>
        <p:spPr>
          <a:xfrm rot="5400000" flipH="1">
            <a:off x="-638515" y="639280"/>
            <a:ext cx="6858000" cy="5579440"/>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4" name="Google Shape;464;p5"/>
          <p:cNvSpPr/>
          <p:nvPr/>
        </p:nvSpPr>
        <p:spPr>
          <a:xfrm rot="5400000" flipH="1">
            <a:off x="-393206" y="395206"/>
            <a:ext cx="6346209" cy="5576080"/>
          </a:xfrm>
          <a:prstGeom prst="rect">
            <a:avLst/>
          </a:prstGeom>
          <a:gradFill>
            <a:gsLst>
              <a:gs pos="0">
                <a:srgbClr val="000000">
                  <a:alpha val="0"/>
                </a:srgbClr>
              </a:gs>
              <a:gs pos="99000">
                <a:srgbClr val="156082">
                  <a:alpha val="0"/>
                </a:srgbClr>
              </a:gs>
              <a:gs pos="100000">
                <a:srgbClr val="156082">
                  <a:alpha val="0"/>
                </a:srgbClr>
              </a:gs>
            </a:gsLst>
            <a:lin ang="1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5" name="Google Shape;465;p5"/>
          <p:cNvSpPr/>
          <p:nvPr/>
        </p:nvSpPr>
        <p:spPr>
          <a:xfrm rot="5400000" flipH="1">
            <a:off x="1528907" y="2818967"/>
            <a:ext cx="2501979" cy="5576080"/>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6" name="Google Shape;466;p5"/>
          <p:cNvSpPr/>
          <p:nvPr/>
        </p:nvSpPr>
        <p:spPr>
          <a:xfrm rot="5400000" flipH="1">
            <a:off x="-425002" y="852793"/>
            <a:ext cx="6858001" cy="5152412"/>
          </a:xfrm>
          <a:prstGeom prst="rect">
            <a:avLst/>
          </a:prstGeom>
          <a:gradFill>
            <a:gsLst>
              <a:gs pos="0">
                <a:srgbClr val="000000">
                  <a:alpha val="0"/>
                </a:srgbClr>
              </a:gs>
              <a:gs pos="99000">
                <a:srgbClr val="156082">
                  <a:alpha val="10980"/>
                </a:srgbClr>
              </a:gs>
              <a:gs pos="100000">
                <a:srgbClr val="156082">
                  <a:alpha val="10980"/>
                </a:srgbClr>
              </a:gs>
            </a:gsLst>
            <a:lin ang="78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7" name="Google Shape;467;p5"/>
          <p:cNvSpPr/>
          <p:nvPr/>
        </p:nvSpPr>
        <p:spPr>
          <a:xfrm rot="6097846">
            <a:off x="818753" y="1128497"/>
            <a:ext cx="4318303" cy="4318303"/>
          </a:xfrm>
          <a:prstGeom prst="ellipse">
            <a:avLst/>
          </a:prstGeom>
          <a:gradFill>
            <a:gsLst>
              <a:gs pos="0">
                <a:srgbClr val="156082">
                  <a:alpha val="0"/>
                </a:srgbClr>
              </a:gs>
              <a:gs pos="39000">
                <a:srgbClr val="156082">
                  <a:alpha val="0"/>
                </a:srgbClr>
              </a:gs>
              <a:gs pos="100000">
                <a:srgbClr val="43AFE2">
                  <a:alpha val="14901"/>
                </a:srgbClr>
              </a:gs>
            </a:gsLst>
            <a:lin ang="17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68" name="Google Shape;468;p5"/>
          <p:cNvSpPr txBox="1">
            <a:spLocks noGrp="1"/>
          </p:cNvSpPr>
          <p:nvPr>
            <p:ph type="title"/>
          </p:nvPr>
        </p:nvSpPr>
        <p:spPr>
          <a:xfrm>
            <a:off x="826396" y="586855"/>
            <a:ext cx="4230100"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4000"/>
              <a:buFont typeface="Play"/>
              <a:buNone/>
            </a:pPr>
            <a:r>
              <a:rPr lang="en-US" sz="4000">
                <a:solidFill>
                  <a:srgbClr val="FFFFFF"/>
                </a:solidFill>
              </a:rPr>
              <a:t>Clients</a:t>
            </a:r>
            <a:endParaRPr/>
          </a:p>
        </p:txBody>
      </p:sp>
      <p:sp>
        <p:nvSpPr>
          <p:cNvPr id="469" name="Google Shape;469;p5"/>
          <p:cNvSpPr txBox="1">
            <a:spLocks noGrp="1"/>
          </p:cNvSpPr>
          <p:nvPr>
            <p:ph type="body" idx="1"/>
          </p:nvPr>
        </p:nvSpPr>
        <p:spPr>
          <a:xfrm>
            <a:off x="6503158" y="649480"/>
            <a:ext cx="4862447" cy="5546047"/>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n-US" sz="2000"/>
              <a:t>Examples of client programs</a:t>
            </a:r>
            <a:endParaRPr/>
          </a:p>
          <a:p>
            <a:pPr marL="685800" lvl="1" indent="-228600" algn="l" rtl="0">
              <a:lnSpc>
                <a:spcPct val="90000"/>
              </a:lnSpc>
              <a:spcBef>
                <a:spcPts val="500"/>
              </a:spcBef>
              <a:spcAft>
                <a:spcPts val="0"/>
              </a:spcAft>
              <a:buClr>
                <a:schemeClr val="dk1"/>
              </a:buClr>
              <a:buSzPts val="2000"/>
              <a:buChar char="•"/>
            </a:pPr>
            <a:r>
              <a:rPr lang="en-US" sz="2000"/>
              <a:t>Web browsers, </a:t>
            </a:r>
            <a:r>
              <a:rPr lang="en-US" sz="2000">
                <a:latin typeface="Courier New"/>
                <a:ea typeface="Courier New"/>
                <a:cs typeface="Courier New"/>
                <a:sym typeface="Courier New"/>
              </a:rPr>
              <a:t>ftp</a:t>
            </a:r>
            <a:r>
              <a:rPr lang="en-US" sz="2000"/>
              <a:t>, </a:t>
            </a:r>
            <a:r>
              <a:rPr lang="en-US" sz="2000">
                <a:latin typeface="Courier New"/>
                <a:ea typeface="Courier New"/>
                <a:cs typeface="Courier New"/>
                <a:sym typeface="Courier New"/>
              </a:rPr>
              <a:t>telnet</a:t>
            </a:r>
            <a:r>
              <a:rPr lang="en-US" sz="2000"/>
              <a:t>, </a:t>
            </a:r>
            <a:r>
              <a:rPr lang="en-US" sz="2000">
                <a:latin typeface="Courier New"/>
                <a:ea typeface="Courier New"/>
                <a:cs typeface="Courier New"/>
                <a:sym typeface="Courier New"/>
              </a:rPr>
              <a:t>ssh</a:t>
            </a:r>
            <a:endParaRPr/>
          </a:p>
          <a:p>
            <a:pPr marL="228600" lvl="0" indent="-228600" algn="l" rtl="0">
              <a:lnSpc>
                <a:spcPct val="90000"/>
              </a:lnSpc>
              <a:spcBef>
                <a:spcPts val="1000"/>
              </a:spcBef>
              <a:spcAft>
                <a:spcPts val="0"/>
              </a:spcAft>
              <a:buClr>
                <a:schemeClr val="dk1"/>
              </a:buClr>
              <a:buSzPts val="2000"/>
              <a:buChar char="•"/>
            </a:pPr>
            <a:r>
              <a:rPr lang="en-US" sz="2000"/>
              <a:t>How does a client find the server?</a:t>
            </a:r>
            <a:endParaRPr/>
          </a:p>
          <a:p>
            <a:pPr marL="685800" lvl="1" indent="-228600" algn="l" rtl="0">
              <a:lnSpc>
                <a:spcPct val="90000"/>
              </a:lnSpc>
              <a:spcBef>
                <a:spcPts val="500"/>
              </a:spcBef>
              <a:spcAft>
                <a:spcPts val="0"/>
              </a:spcAft>
              <a:buClr>
                <a:schemeClr val="dk1"/>
              </a:buClr>
              <a:buSzPts val="2000"/>
              <a:buChar char="•"/>
            </a:pPr>
            <a:r>
              <a:rPr lang="en-US" sz="2000"/>
              <a:t>The IP address in the server socket address identifies the host</a:t>
            </a:r>
            <a:endParaRPr/>
          </a:p>
          <a:p>
            <a:pPr marL="685800" lvl="1" indent="-228600" algn="l" rtl="0">
              <a:lnSpc>
                <a:spcPct val="90000"/>
              </a:lnSpc>
              <a:spcBef>
                <a:spcPts val="500"/>
              </a:spcBef>
              <a:spcAft>
                <a:spcPts val="0"/>
              </a:spcAft>
              <a:buClr>
                <a:schemeClr val="dk1"/>
              </a:buClr>
              <a:buSzPts val="2000"/>
              <a:buChar char="•"/>
            </a:pPr>
            <a:r>
              <a:rPr lang="en-US" sz="2000"/>
              <a:t>The (well-known) port in the server socket address identifies the service, and thus implicitly identifies the server process that performs that service.</a:t>
            </a:r>
            <a:endParaRPr/>
          </a:p>
          <a:p>
            <a:pPr marL="685800" lvl="1" indent="-228600" algn="l" rtl="0">
              <a:lnSpc>
                <a:spcPct val="90000"/>
              </a:lnSpc>
              <a:spcBef>
                <a:spcPts val="500"/>
              </a:spcBef>
              <a:spcAft>
                <a:spcPts val="0"/>
              </a:spcAft>
              <a:buClr>
                <a:schemeClr val="dk1"/>
              </a:buClr>
              <a:buSzPts val="2000"/>
              <a:buChar char="•"/>
            </a:pPr>
            <a:r>
              <a:rPr lang="en-US" sz="2000"/>
              <a:t>Examples of well known ports</a:t>
            </a:r>
            <a:endParaRPr/>
          </a:p>
          <a:p>
            <a:pPr marL="1143000" lvl="2" indent="-228600" algn="l" rtl="0">
              <a:lnSpc>
                <a:spcPct val="90000"/>
              </a:lnSpc>
              <a:spcBef>
                <a:spcPts val="500"/>
              </a:spcBef>
              <a:spcAft>
                <a:spcPts val="0"/>
              </a:spcAft>
              <a:buClr>
                <a:schemeClr val="dk1"/>
              </a:buClr>
              <a:buSzPts val="2000"/>
              <a:buChar char="•"/>
            </a:pPr>
            <a:r>
              <a:rPr lang="en-US"/>
              <a:t>Port 7: Echo server</a:t>
            </a:r>
            <a:endParaRPr/>
          </a:p>
          <a:p>
            <a:pPr marL="1143000" lvl="2" indent="-228600" algn="l" rtl="0">
              <a:lnSpc>
                <a:spcPct val="90000"/>
              </a:lnSpc>
              <a:spcBef>
                <a:spcPts val="500"/>
              </a:spcBef>
              <a:spcAft>
                <a:spcPts val="0"/>
              </a:spcAft>
              <a:buClr>
                <a:schemeClr val="dk1"/>
              </a:buClr>
              <a:buSzPts val="2000"/>
              <a:buChar char="•"/>
            </a:pPr>
            <a:r>
              <a:rPr lang="en-US"/>
              <a:t>Port 23: Telnet server</a:t>
            </a:r>
            <a:endParaRPr/>
          </a:p>
          <a:p>
            <a:pPr marL="1143000" lvl="2" indent="-228600" algn="l" rtl="0">
              <a:lnSpc>
                <a:spcPct val="90000"/>
              </a:lnSpc>
              <a:spcBef>
                <a:spcPts val="500"/>
              </a:spcBef>
              <a:spcAft>
                <a:spcPts val="0"/>
              </a:spcAft>
              <a:buClr>
                <a:schemeClr val="dk1"/>
              </a:buClr>
              <a:buSzPts val="2000"/>
              <a:buChar char="•"/>
            </a:pPr>
            <a:r>
              <a:rPr lang="en-US"/>
              <a:t>Port 25: Mail server</a:t>
            </a:r>
            <a:endParaRPr/>
          </a:p>
          <a:p>
            <a:pPr marL="1143000" lvl="2" indent="-228600" algn="l" rtl="0">
              <a:lnSpc>
                <a:spcPct val="90000"/>
              </a:lnSpc>
              <a:spcBef>
                <a:spcPts val="500"/>
              </a:spcBef>
              <a:spcAft>
                <a:spcPts val="0"/>
              </a:spcAft>
              <a:buClr>
                <a:schemeClr val="dk1"/>
              </a:buClr>
              <a:buSzPts val="2000"/>
              <a:buChar char="•"/>
            </a:pPr>
            <a:r>
              <a:rPr lang="en-US"/>
              <a:t>Port 80: Web server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6"/>
          <p:cNvSpPr/>
          <p:nvPr/>
        </p:nvSpPr>
        <p:spPr>
          <a:xfrm>
            <a:off x="1905000" y="2425700"/>
            <a:ext cx="1295400" cy="1143000"/>
          </a:xfrm>
          <a:prstGeom prst="rect">
            <a:avLst/>
          </a:prstGeom>
          <a:solidFill>
            <a:srgbClr val="FFFF99"/>
          </a:solidFill>
          <a:ln w="254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5" name="Google Shape;475;p6"/>
          <p:cNvSpPr/>
          <p:nvPr/>
        </p:nvSpPr>
        <p:spPr>
          <a:xfrm>
            <a:off x="6324600" y="1949450"/>
            <a:ext cx="3505200" cy="1981200"/>
          </a:xfrm>
          <a:prstGeom prst="rect">
            <a:avLst/>
          </a:prstGeom>
          <a:solidFill>
            <a:srgbClr val="FFFF99"/>
          </a:solidFill>
          <a:ln w="254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6" name="Google Shape;476;p6"/>
          <p:cNvSpPr/>
          <p:nvPr/>
        </p:nvSpPr>
        <p:spPr>
          <a:xfrm>
            <a:off x="1905000" y="4895850"/>
            <a:ext cx="1295400" cy="1143000"/>
          </a:xfrm>
          <a:prstGeom prst="rect">
            <a:avLst/>
          </a:prstGeom>
          <a:solidFill>
            <a:srgbClr val="FFFF99"/>
          </a:solidFill>
          <a:ln w="254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7" name="Google Shape;477;p6"/>
          <p:cNvSpPr/>
          <p:nvPr/>
        </p:nvSpPr>
        <p:spPr>
          <a:xfrm>
            <a:off x="6324600" y="4419600"/>
            <a:ext cx="3505200" cy="1981200"/>
          </a:xfrm>
          <a:prstGeom prst="rect">
            <a:avLst/>
          </a:prstGeom>
          <a:solidFill>
            <a:srgbClr val="FFFF99"/>
          </a:solidFill>
          <a:ln w="25400" cap="flat" cmpd="sng">
            <a:solidFill>
              <a:schemeClr val="dk1"/>
            </a:solidFill>
            <a:prstDash val="dot"/>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78" name="Google Shape;47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Using Ports to Identify Services</a:t>
            </a:r>
            <a:endParaRPr/>
          </a:p>
        </p:txBody>
      </p:sp>
      <p:sp>
        <p:nvSpPr>
          <p:cNvPr id="479" name="Google Shape;479;p6"/>
          <p:cNvSpPr/>
          <p:nvPr/>
        </p:nvSpPr>
        <p:spPr>
          <a:xfrm>
            <a:off x="7834313" y="2068514"/>
            <a:ext cx="1746250"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Web 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(port 80)</a:t>
            </a:r>
            <a:endParaRPr/>
          </a:p>
        </p:txBody>
      </p:sp>
      <p:sp>
        <p:nvSpPr>
          <p:cNvPr id="480" name="Google Shape;480;p6"/>
          <p:cNvSpPr txBox="1"/>
          <p:nvPr/>
        </p:nvSpPr>
        <p:spPr>
          <a:xfrm>
            <a:off x="1889125" y="2060575"/>
            <a:ext cx="1244600"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omic Sans MS"/>
                <a:ea typeface="Comic Sans MS"/>
                <a:cs typeface="Comic Sans MS"/>
                <a:sym typeface="Comic Sans MS"/>
              </a:rPr>
              <a:t>Client host</a:t>
            </a:r>
            <a:endParaRPr/>
          </a:p>
        </p:txBody>
      </p:sp>
      <p:sp>
        <p:nvSpPr>
          <p:cNvPr id="481" name="Google Shape;481;p6"/>
          <p:cNvSpPr txBox="1"/>
          <p:nvPr/>
        </p:nvSpPr>
        <p:spPr>
          <a:xfrm>
            <a:off x="6553201" y="1603375"/>
            <a:ext cx="2949575" cy="3365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chemeClr val="dk1"/>
                </a:solidFill>
                <a:latin typeface="Comic Sans MS"/>
                <a:ea typeface="Comic Sans MS"/>
                <a:cs typeface="Comic Sans MS"/>
                <a:sym typeface="Comic Sans MS"/>
              </a:rPr>
              <a:t>Server host 128.2.194.242</a:t>
            </a:r>
            <a:endParaRPr/>
          </a:p>
        </p:txBody>
      </p:sp>
      <p:cxnSp>
        <p:nvCxnSpPr>
          <p:cNvPr id="482" name="Google Shape;482;p6"/>
          <p:cNvCxnSpPr/>
          <p:nvPr/>
        </p:nvCxnSpPr>
        <p:spPr>
          <a:xfrm>
            <a:off x="3048000" y="2940050"/>
            <a:ext cx="3429000" cy="0"/>
          </a:xfrm>
          <a:prstGeom prst="straightConnector1">
            <a:avLst/>
          </a:prstGeom>
          <a:noFill/>
          <a:ln w="25400" cap="flat" cmpd="sng">
            <a:solidFill>
              <a:schemeClr val="dk1"/>
            </a:solidFill>
            <a:prstDash val="solid"/>
            <a:round/>
            <a:headEnd type="none" w="med" len="med"/>
            <a:tailEnd type="triangle" w="med" len="med"/>
          </a:ln>
        </p:spPr>
      </p:cxnSp>
      <p:sp>
        <p:nvSpPr>
          <p:cNvPr id="483" name="Google Shape;483;p6"/>
          <p:cNvSpPr/>
          <p:nvPr/>
        </p:nvSpPr>
        <p:spPr>
          <a:xfrm>
            <a:off x="7848600" y="3016251"/>
            <a:ext cx="1746250"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Echo 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(port 7)</a:t>
            </a:r>
            <a:endParaRPr/>
          </a:p>
        </p:txBody>
      </p:sp>
      <p:sp>
        <p:nvSpPr>
          <p:cNvPr id="484" name="Google Shape;484;p6"/>
          <p:cNvSpPr txBox="1"/>
          <p:nvPr/>
        </p:nvSpPr>
        <p:spPr>
          <a:xfrm>
            <a:off x="3505200" y="2114550"/>
            <a:ext cx="2654300" cy="825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Service request for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128.2.194.242:80</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(i.e., the Web server)</a:t>
            </a:r>
            <a:endParaRPr/>
          </a:p>
        </p:txBody>
      </p:sp>
      <p:cxnSp>
        <p:nvCxnSpPr>
          <p:cNvPr id="485" name="Google Shape;485;p6"/>
          <p:cNvCxnSpPr/>
          <p:nvPr/>
        </p:nvCxnSpPr>
        <p:spPr>
          <a:xfrm rot="10800000" flipH="1">
            <a:off x="7467600" y="2635250"/>
            <a:ext cx="457200" cy="228600"/>
          </a:xfrm>
          <a:prstGeom prst="straightConnector1">
            <a:avLst/>
          </a:prstGeom>
          <a:noFill/>
          <a:ln w="25400" cap="flat" cmpd="sng">
            <a:solidFill>
              <a:schemeClr val="dk1"/>
            </a:solidFill>
            <a:prstDash val="solid"/>
            <a:round/>
            <a:headEnd type="none" w="med" len="med"/>
            <a:tailEnd type="triangle" w="med" len="med"/>
          </a:ln>
        </p:spPr>
      </p:cxnSp>
      <p:sp>
        <p:nvSpPr>
          <p:cNvPr id="486" name="Google Shape;486;p6"/>
          <p:cNvSpPr/>
          <p:nvPr/>
        </p:nvSpPr>
        <p:spPr>
          <a:xfrm>
            <a:off x="7834313" y="4538664"/>
            <a:ext cx="1746250"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Web 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(port 80)</a:t>
            </a:r>
            <a:endParaRPr/>
          </a:p>
        </p:txBody>
      </p:sp>
      <p:cxnSp>
        <p:nvCxnSpPr>
          <p:cNvPr id="487" name="Google Shape;487;p6"/>
          <p:cNvCxnSpPr/>
          <p:nvPr/>
        </p:nvCxnSpPr>
        <p:spPr>
          <a:xfrm>
            <a:off x="3048000" y="5410200"/>
            <a:ext cx="3429000" cy="0"/>
          </a:xfrm>
          <a:prstGeom prst="straightConnector1">
            <a:avLst/>
          </a:prstGeom>
          <a:noFill/>
          <a:ln w="25400" cap="flat" cmpd="sng">
            <a:solidFill>
              <a:schemeClr val="dk1"/>
            </a:solidFill>
            <a:prstDash val="solid"/>
            <a:round/>
            <a:headEnd type="none" w="med" len="med"/>
            <a:tailEnd type="triangle" w="med" len="med"/>
          </a:ln>
        </p:spPr>
      </p:cxnSp>
      <p:sp>
        <p:nvSpPr>
          <p:cNvPr id="488" name="Google Shape;488;p6"/>
          <p:cNvSpPr/>
          <p:nvPr/>
        </p:nvSpPr>
        <p:spPr>
          <a:xfrm>
            <a:off x="7848600" y="5486401"/>
            <a:ext cx="1746250" cy="796925"/>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Echo server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(port 7)</a:t>
            </a:r>
            <a:endParaRPr/>
          </a:p>
        </p:txBody>
      </p:sp>
      <p:sp>
        <p:nvSpPr>
          <p:cNvPr id="489" name="Google Shape;489;p6"/>
          <p:cNvSpPr txBox="1"/>
          <p:nvPr/>
        </p:nvSpPr>
        <p:spPr>
          <a:xfrm>
            <a:off x="3575051" y="4606925"/>
            <a:ext cx="2430463" cy="825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Service request for</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128.2.194.242:7</a:t>
            </a:r>
            <a:endParaRPr/>
          </a:p>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(i.e., the echo server)</a:t>
            </a:r>
            <a:endParaRPr/>
          </a:p>
        </p:txBody>
      </p:sp>
      <p:cxnSp>
        <p:nvCxnSpPr>
          <p:cNvPr id="490" name="Google Shape;490;p6"/>
          <p:cNvCxnSpPr/>
          <p:nvPr/>
        </p:nvCxnSpPr>
        <p:spPr>
          <a:xfrm>
            <a:off x="7467600" y="5486400"/>
            <a:ext cx="457200" cy="228600"/>
          </a:xfrm>
          <a:prstGeom prst="straightConnector1">
            <a:avLst/>
          </a:prstGeom>
          <a:noFill/>
          <a:ln w="25400" cap="flat" cmpd="sng">
            <a:solidFill>
              <a:schemeClr val="dk1"/>
            </a:solidFill>
            <a:prstDash val="solid"/>
            <a:round/>
            <a:headEnd type="none" w="med" len="med"/>
            <a:tailEnd type="triangle" w="med" len="med"/>
          </a:ln>
        </p:spPr>
      </p:cxnSp>
      <p:sp>
        <p:nvSpPr>
          <p:cNvPr id="491" name="Google Shape;491;p6"/>
          <p:cNvSpPr/>
          <p:nvPr/>
        </p:nvSpPr>
        <p:spPr>
          <a:xfrm>
            <a:off x="4419600" y="3840243"/>
            <a:ext cx="366960" cy="458629"/>
          </a:xfrm>
          <a:prstGeom prst="downArrow">
            <a:avLst>
              <a:gd name="adj1" fmla="val 50000"/>
              <a:gd name="adj2" fmla="val 50245"/>
            </a:avLst>
          </a:prstGeom>
          <a:noFill/>
          <a:ln w="38100" cap="flat" cmpd="sng">
            <a:solidFill>
              <a:schemeClr val="dk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492" name="Google Shape;492;p6"/>
          <p:cNvSpPr/>
          <p:nvPr/>
        </p:nvSpPr>
        <p:spPr>
          <a:xfrm>
            <a:off x="6477000" y="2711450"/>
            <a:ext cx="1066800" cy="457200"/>
          </a:xfrm>
          <a:prstGeom prst="ellipse">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Kernel</a:t>
            </a:r>
            <a:endParaRPr/>
          </a:p>
        </p:txBody>
      </p:sp>
      <p:sp>
        <p:nvSpPr>
          <p:cNvPr id="493" name="Google Shape;493;p6"/>
          <p:cNvSpPr/>
          <p:nvPr/>
        </p:nvSpPr>
        <p:spPr>
          <a:xfrm>
            <a:off x="6477000" y="5181600"/>
            <a:ext cx="1066800" cy="457200"/>
          </a:xfrm>
          <a:prstGeom prst="ellipse">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Kernel</a:t>
            </a:r>
            <a:endParaRPr/>
          </a:p>
        </p:txBody>
      </p:sp>
      <p:sp>
        <p:nvSpPr>
          <p:cNvPr id="494" name="Google Shape;494;p6"/>
          <p:cNvSpPr/>
          <p:nvPr/>
        </p:nvSpPr>
        <p:spPr>
          <a:xfrm>
            <a:off x="2054138" y="2738533"/>
            <a:ext cx="1046338" cy="476060"/>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Client</a:t>
            </a:r>
            <a:endParaRPr/>
          </a:p>
        </p:txBody>
      </p:sp>
      <p:sp>
        <p:nvSpPr>
          <p:cNvPr id="495" name="Google Shape;495;p6"/>
          <p:cNvSpPr/>
          <p:nvPr/>
        </p:nvSpPr>
        <p:spPr>
          <a:xfrm>
            <a:off x="2054138" y="5208683"/>
            <a:ext cx="1046338" cy="476060"/>
          </a:xfrm>
          <a:prstGeom prst="ellipse">
            <a:avLst/>
          </a:prstGeom>
          <a:solidFill>
            <a:srgbClr val="FFFFFF"/>
          </a:solidFill>
          <a:ln w="12700" cap="flat" cmpd="sng">
            <a:solidFill>
              <a:schemeClr val="dk1"/>
            </a:solidFill>
            <a:prstDash val="solid"/>
            <a:round/>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b="1">
                <a:solidFill>
                  <a:schemeClr val="dk1"/>
                </a:solidFill>
                <a:latin typeface="Comic Sans MS"/>
                <a:ea typeface="Comic Sans MS"/>
                <a:cs typeface="Comic Sans MS"/>
                <a:sym typeface="Comic Sans MS"/>
              </a:rPr>
              <a:t>Client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Servers</a:t>
            </a:r>
            <a:endParaRPr/>
          </a:p>
        </p:txBody>
      </p:sp>
      <p:sp>
        <p:nvSpPr>
          <p:cNvPr id="501" name="Google Shape;50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Servers are long-running processes (daemons).</a:t>
            </a:r>
            <a:endParaRPr/>
          </a:p>
          <a:p>
            <a:pPr marL="685800" lvl="1" indent="-228600" algn="l" rtl="0">
              <a:lnSpc>
                <a:spcPct val="90000"/>
              </a:lnSpc>
              <a:spcBef>
                <a:spcPts val="500"/>
              </a:spcBef>
              <a:spcAft>
                <a:spcPts val="0"/>
              </a:spcAft>
              <a:buClr>
                <a:schemeClr val="dk1"/>
              </a:buClr>
              <a:buSzPts val="2400"/>
              <a:buChar char="•"/>
            </a:pPr>
            <a:r>
              <a:rPr lang="en-US"/>
              <a:t>Created at boot-time (typically) by the init process (process 1)</a:t>
            </a:r>
            <a:endParaRPr/>
          </a:p>
          <a:p>
            <a:pPr marL="685800" lvl="1" indent="-228600" algn="l" rtl="0">
              <a:lnSpc>
                <a:spcPct val="90000"/>
              </a:lnSpc>
              <a:spcBef>
                <a:spcPts val="500"/>
              </a:spcBef>
              <a:spcAft>
                <a:spcPts val="0"/>
              </a:spcAft>
              <a:buClr>
                <a:schemeClr val="dk1"/>
              </a:buClr>
              <a:buSzPts val="2400"/>
              <a:buChar char="•"/>
            </a:pPr>
            <a:r>
              <a:rPr lang="en-US"/>
              <a:t>Run continuously until the machine is turned off.</a:t>
            </a:r>
            <a:endParaRPr/>
          </a:p>
          <a:p>
            <a:pPr marL="228600" lvl="0" indent="-228600" algn="l" rtl="0">
              <a:lnSpc>
                <a:spcPct val="90000"/>
              </a:lnSpc>
              <a:spcBef>
                <a:spcPts val="1000"/>
              </a:spcBef>
              <a:spcAft>
                <a:spcPts val="0"/>
              </a:spcAft>
              <a:buClr>
                <a:schemeClr val="dk1"/>
              </a:buClr>
              <a:buSzPts val="2800"/>
              <a:buChar char="•"/>
            </a:pPr>
            <a:r>
              <a:rPr lang="en-US"/>
              <a:t>Each server waits for requests to arrive on a well-known port associated with a particular service.</a:t>
            </a:r>
            <a:endParaRPr/>
          </a:p>
          <a:p>
            <a:pPr marL="685800" lvl="1" indent="-228600" algn="l" rtl="0">
              <a:lnSpc>
                <a:spcPct val="90000"/>
              </a:lnSpc>
              <a:spcBef>
                <a:spcPts val="500"/>
              </a:spcBef>
              <a:spcAft>
                <a:spcPts val="0"/>
              </a:spcAft>
              <a:buClr>
                <a:schemeClr val="dk1"/>
              </a:buClr>
              <a:buSzPts val="2400"/>
              <a:buChar char="•"/>
            </a:pPr>
            <a:r>
              <a:rPr lang="en-US"/>
              <a:t>Port 7: echo server</a:t>
            </a:r>
            <a:endParaRPr/>
          </a:p>
          <a:p>
            <a:pPr marL="685800" lvl="1" indent="-228600" algn="l" rtl="0">
              <a:lnSpc>
                <a:spcPct val="90000"/>
              </a:lnSpc>
              <a:spcBef>
                <a:spcPts val="500"/>
              </a:spcBef>
              <a:spcAft>
                <a:spcPts val="0"/>
              </a:spcAft>
              <a:buClr>
                <a:schemeClr val="dk1"/>
              </a:buClr>
              <a:buSzPts val="2400"/>
              <a:buChar char="•"/>
            </a:pPr>
            <a:r>
              <a:rPr lang="en-US"/>
              <a:t>Port 23: telnet server</a:t>
            </a:r>
            <a:endParaRPr/>
          </a:p>
          <a:p>
            <a:pPr marL="685800" lvl="1" indent="-228600" algn="l" rtl="0">
              <a:lnSpc>
                <a:spcPct val="90000"/>
              </a:lnSpc>
              <a:spcBef>
                <a:spcPts val="500"/>
              </a:spcBef>
              <a:spcAft>
                <a:spcPts val="0"/>
              </a:spcAft>
              <a:buClr>
                <a:schemeClr val="dk1"/>
              </a:buClr>
              <a:buSzPts val="2400"/>
              <a:buChar char="•"/>
            </a:pPr>
            <a:r>
              <a:rPr lang="en-US"/>
              <a:t>Port 25: mail server</a:t>
            </a:r>
            <a:endParaRPr/>
          </a:p>
          <a:p>
            <a:pPr marL="685800" lvl="1" indent="-228600" algn="l" rtl="0">
              <a:lnSpc>
                <a:spcPct val="90000"/>
              </a:lnSpc>
              <a:spcBef>
                <a:spcPts val="500"/>
              </a:spcBef>
              <a:spcAft>
                <a:spcPts val="0"/>
              </a:spcAft>
              <a:buClr>
                <a:schemeClr val="dk1"/>
              </a:buClr>
              <a:buSzPts val="2400"/>
              <a:buChar char="•"/>
            </a:pPr>
            <a:r>
              <a:rPr lang="en-US"/>
              <a:t>Port 80: HTTP server</a:t>
            </a:r>
            <a:endParaRPr/>
          </a:p>
          <a:p>
            <a:pPr marL="228600" lvl="0" indent="-228600" algn="l" rtl="0">
              <a:lnSpc>
                <a:spcPct val="90000"/>
              </a:lnSpc>
              <a:spcBef>
                <a:spcPts val="1000"/>
              </a:spcBef>
              <a:spcAft>
                <a:spcPts val="0"/>
              </a:spcAft>
              <a:buClr>
                <a:srgbClr val="FF0000"/>
              </a:buClr>
              <a:buSzPts val="2400"/>
              <a:buChar char="•"/>
            </a:pPr>
            <a:r>
              <a:rPr lang="en-US" sz="2400">
                <a:solidFill>
                  <a:srgbClr val="FF0000"/>
                </a:solidFill>
              </a:rPr>
              <a:t>Other applications should choose between 1024 and 65535</a:t>
            </a:r>
            <a:endParaRPr/>
          </a:p>
          <a:p>
            <a:pPr marL="228600" lvl="0" indent="-50800" algn="l" rtl="0">
              <a:lnSpc>
                <a:spcPct val="90000"/>
              </a:lnSpc>
              <a:spcBef>
                <a:spcPts val="1000"/>
              </a:spcBef>
              <a:spcAft>
                <a:spcPts val="0"/>
              </a:spcAft>
              <a:buClr>
                <a:schemeClr val="dk1"/>
              </a:buClr>
              <a:buSzPts val="2800"/>
              <a:buNone/>
            </a:pPr>
            <a:endParaRPr/>
          </a:p>
        </p:txBody>
      </p:sp>
      <p:sp>
        <p:nvSpPr>
          <p:cNvPr id="502" name="Google Shape;502;p7"/>
          <p:cNvSpPr/>
          <p:nvPr/>
        </p:nvSpPr>
        <p:spPr>
          <a:xfrm>
            <a:off x="6781800" y="4038601"/>
            <a:ext cx="3124200" cy="1203325"/>
          </a:xfrm>
          <a:prstGeom prst="rect">
            <a:avLst/>
          </a:prstGeom>
          <a:solidFill>
            <a:srgbClr val="FFFF99"/>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chemeClr val="dk1"/>
                </a:solidFill>
                <a:latin typeface="Comic Sans MS"/>
                <a:ea typeface="Comic Sans MS"/>
                <a:cs typeface="Comic Sans MS"/>
                <a:sym typeface="Comic Sans MS"/>
              </a:rPr>
              <a:t>See /etc/services for a comprehensive list of the services available on a Linux machine.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6"/>
        <p:cNvGrpSpPr/>
        <p:nvPr/>
      </p:nvGrpSpPr>
      <p:grpSpPr>
        <a:xfrm>
          <a:off x="0" y="0"/>
          <a:ext cx="0" cy="0"/>
          <a:chOff x="0" y="0"/>
          <a:chExt cx="0" cy="0"/>
        </a:xfrm>
      </p:grpSpPr>
      <p:pic>
        <p:nvPicPr>
          <p:cNvPr id="507" name="Google Shape;507;p8"/>
          <p:cNvPicPr preferRelativeResize="0">
            <a:picLocks noGrp="1"/>
          </p:cNvPicPr>
          <p:nvPr>
            <p:ph type="body" idx="1"/>
          </p:nvPr>
        </p:nvPicPr>
        <p:blipFill rotWithShape="1">
          <a:blip r:embed="rId3">
            <a:alphaModFix/>
          </a:blip>
          <a:srcRect t="4031" b="5243"/>
          <a:stretch/>
        </p:blipFill>
        <p:spPr>
          <a:xfrm>
            <a:off x="20" y="10"/>
            <a:ext cx="12191980" cy="6857990"/>
          </a:xfrm>
          <a:prstGeom prst="rect">
            <a:avLst/>
          </a:prstGeom>
          <a:noFill/>
          <a:ln>
            <a:noFill/>
          </a:ln>
        </p:spPr>
      </p:pic>
      <p:sp>
        <p:nvSpPr>
          <p:cNvPr id="508" name="Google Shape;508;p8"/>
          <p:cNvSpPr/>
          <p:nvPr/>
        </p:nvSpPr>
        <p:spPr>
          <a:xfrm rot="10800000" flipH="1">
            <a:off x="1622650" y="5181600"/>
            <a:ext cx="9165010" cy="1174750"/>
          </a:xfrm>
          <a:custGeom>
            <a:avLst/>
            <a:gdLst/>
            <a:ahLst/>
            <a:cxnLst/>
            <a:rect l="l" t="t" r="r" b="b"/>
            <a:pathLst>
              <a:path w="9165010" h="1073384" extrusionOk="0">
                <a:moveTo>
                  <a:pt x="0" y="1073384"/>
                </a:moveTo>
                <a:lnTo>
                  <a:pt x="9165010" y="1073384"/>
                </a:lnTo>
                <a:lnTo>
                  <a:pt x="9165010" y="266817"/>
                </a:lnTo>
                <a:lnTo>
                  <a:pt x="4757604" y="266817"/>
                </a:lnTo>
                <a:lnTo>
                  <a:pt x="4582505" y="0"/>
                </a:lnTo>
                <a:lnTo>
                  <a:pt x="4407407" y="266817"/>
                </a:lnTo>
                <a:lnTo>
                  <a:pt x="0" y="266817"/>
                </a:lnTo>
                <a:close/>
              </a:path>
            </a:pathLst>
          </a:custGeom>
          <a:solidFill>
            <a:srgbClr val="404040">
              <a:alpha val="9294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09" name="Google Shape;509;p8"/>
          <p:cNvSpPr txBox="1">
            <a:spLocks noGrp="1"/>
          </p:cNvSpPr>
          <p:nvPr>
            <p:ph type="title"/>
          </p:nvPr>
        </p:nvSpPr>
        <p:spPr>
          <a:xfrm>
            <a:off x="1771650" y="5254391"/>
            <a:ext cx="8867012" cy="77493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4000"/>
              <a:buFont typeface="Play"/>
              <a:buNone/>
            </a:pPr>
            <a:r>
              <a:rPr lang="en-US" sz="4000">
                <a:solidFill>
                  <a:srgbClr val="FFFFFF"/>
                </a:solidFill>
              </a:rPr>
              <a:t>Sockets!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3"/>
        <p:cNvGrpSpPr/>
        <p:nvPr/>
      </p:nvGrpSpPr>
      <p:grpSpPr>
        <a:xfrm>
          <a:off x="0" y="0"/>
          <a:ext cx="0" cy="0"/>
          <a:chOff x="0" y="0"/>
          <a:chExt cx="0" cy="0"/>
        </a:xfrm>
      </p:grpSpPr>
      <p:sp>
        <p:nvSpPr>
          <p:cNvPr id="514" name="Google Shape;514;p9"/>
          <p:cNvSpPr/>
          <p:nvPr/>
        </p:nvSpPr>
        <p:spPr>
          <a:xfrm>
            <a:off x="10" y="-5705"/>
            <a:ext cx="12191990" cy="1694346"/>
          </a:xfrm>
          <a:prstGeom prst="rect">
            <a:avLst/>
          </a:prstGeom>
          <a:solidFill>
            <a:srgbClr val="26262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5" name="Google Shape;515;p9"/>
          <p:cNvSpPr txBox="1">
            <a:spLocks noGrp="1"/>
          </p:cNvSpPr>
          <p:nvPr>
            <p:ph type="title"/>
          </p:nvPr>
        </p:nvSpPr>
        <p:spPr>
          <a:xfrm>
            <a:off x="1156851" y="637762"/>
            <a:ext cx="9888496" cy="900131"/>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lt1"/>
              </a:buClr>
              <a:buSzPts val="4000"/>
              <a:buFont typeface="Play"/>
              <a:buNone/>
            </a:pPr>
            <a:r>
              <a:rPr lang="en-US" sz="4000">
                <a:solidFill>
                  <a:schemeClr val="lt1"/>
                </a:solidFill>
              </a:rPr>
              <a:t>What are sockets?</a:t>
            </a:r>
            <a:endParaRPr/>
          </a:p>
        </p:txBody>
      </p:sp>
      <p:sp>
        <p:nvSpPr>
          <p:cNvPr id="516" name="Google Shape;516;p9"/>
          <p:cNvSpPr/>
          <p:nvPr/>
        </p:nvSpPr>
        <p:spPr>
          <a:xfrm>
            <a:off x="0" y="1688641"/>
            <a:ext cx="12191990" cy="5169359"/>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7" name="Google Shape;517;p9"/>
          <p:cNvSpPr/>
          <p:nvPr/>
        </p:nvSpPr>
        <p:spPr>
          <a:xfrm>
            <a:off x="1156851" y="2010758"/>
            <a:ext cx="457190" cy="45719"/>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18" name="Google Shape;518;p9"/>
          <p:cNvSpPr txBox="1">
            <a:spLocks noGrp="1"/>
          </p:cNvSpPr>
          <p:nvPr>
            <p:ph type="body" idx="1"/>
          </p:nvPr>
        </p:nvSpPr>
        <p:spPr>
          <a:xfrm>
            <a:off x="1155548" y="2217343"/>
            <a:ext cx="9880893" cy="3959619"/>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Abstract representation of a network connection on application level</a:t>
            </a:r>
            <a:endParaRPr/>
          </a:p>
          <a:p>
            <a:pPr marL="685800" lvl="1" indent="-228600" algn="l" rtl="0">
              <a:lnSpc>
                <a:spcPct val="90000"/>
              </a:lnSpc>
              <a:spcBef>
                <a:spcPts val="500"/>
              </a:spcBef>
              <a:spcAft>
                <a:spcPts val="0"/>
              </a:spcAft>
              <a:buClr>
                <a:schemeClr val="dk1"/>
              </a:buClr>
              <a:buSzPts val="2400"/>
              <a:buChar char="•"/>
            </a:pPr>
            <a:r>
              <a:rPr lang="en-US"/>
              <a:t>Corresponding API provided by the host’s OS</a:t>
            </a:r>
            <a:endParaRPr/>
          </a:p>
          <a:p>
            <a:pPr marL="685800" lvl="1" indent="-228600" algn="l" rtl="0">
              <a:lnSpc>
                <a:spcPct val="90000"/>
              </a:lnSpc>
              <a:spcBef>
                <a:spcPts val="500"/>
              </a:spcBef>
              <a:spcAft>
                <a:spcPts val="0"/>
              </a:spcAft>
              <a:buClr>
                <a:schemeClr val="dk1"/>
              </a:buClr>
              <a:buSzPts val="2400"/>
              <a:buChar char="•"/>
            </a:pPr>
            <a:r>
              <a:rPr lang="en-US"/>
              <a:t>OS responsible for actual data transmission</a:t>
            </a:r>
            <a:endParaRPr/>
          </a:p>
          <a:p>
            <a:pPr marL="685800" lvl="1" indent="-228600" algn="l" rtl="0">
              <a:lnSpc>
                <a:spcPct val="90000"/>
              </a:lnSpc>
              <a:spcBef>
                <a:spcPts val="500"/>
              </a:spcBef>
              <a:spcAft>
                <a:spcPts val="0"/>
              </a:spcAft>
              <a:buClr>
                <a:schemeClr val="dk1"/>
              </a:buClr>
              <a:buSzPts val="2400"/>
              <a:buChar char="•"/>
            </a:pPr>
            <a:r>
              <a:rPr lang="en-US"/>
              <a:t>Application responsible for content</a:t>
            </a:r>
            <a:endParaRPr/>
          </a:p>
          <a:p>
            <a:pPr marL="228600" lvl="0" indent="-228600" algn="l" rtl="0">
              <a:lnSpc>
                <a:spcPct val="90000"/>
              </a:lnSpc>
              <a:spcBef>
                <a:spcPts val="1000"/>
              </a:spcBef>
              <a:spcAft>
                <a:spcPts val="0"/>
              </a:spcAft>
              <a:buClr>
                <a:schemeClr val="dk1"/>
              </a:buClr>
              <a:buSzPts val="2400"/>
              <a:buChar char="•"/>
            </a:pPr>
            <a:r>
              <a:rPr lang="en-US" sz="2400"/>
              <a:t>Makes sending data to a connected remote host similar to simply writing data to a file</a:t>
            </a:r>
            <a:endParaRPr/>
          </a:p>
          <a:p>
            <a:pPr marL="685800" lvl="1" indent="-228600" algn="l" rtl="0">
              <a:lnSpc>
                <a:spcPct val="90000"/>
              </a:lnSpc>
              <a:spcBef>
                <a:spcPts val="500"/>
              </a:spcBef>
              <a:spcAft>
                <a:spcPts val="0"/>
              </a:spcAft>
              <a:buClr>
                <a:schemeClr val="dk1"/>
              </a:buClr>
              <a:buSzPts val="2400"/>
              <a:buChar char="•"/>
            </a:pPr>
            <a:r>
              <a:rPr lang="en-US"/>
              <a:t>Receiving data is similar to reading from a file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10"/>
          <p:cNvSpPr txBox="1">
            <a:spLocks noGrp="1"/>
          </p:cNvSpPr>
          <p:nvPr>
            <p:ph type="body" idx="1"/>
          </p:nvPr>
        </p:nvSpPr>
        <p:spPr>
          <a:xfrm>
            <a:off x="1981200" y="5638801"/>
            <a:ext cx="8229600" cy="715963"/>
          </a:xfrm>
          <a:prstGeom prst="rect">
            <a:avLst/>
          </a:prstGeom>
          <a:noFill/>
          <a:ln>
            <a:noFill/>
          </a:ln>
        </p:spPr>
        <p:txBody>
          <a:bodyPr spcFirstLastPara="1" wrap="square" lIns="91425" tIns="45700" rIns="91425" bIns="45700" anchor="t" anchorCtr="0">
            <a:normAutofit/>
          </a:bodyPr>
          <a:lstStyle/>
          <a:p>
            <a:pPr marL="228600" lvl="0" indent="-228600" algn="l" rtl="0">
              <a:lnSpc>
                <a:spcPct val="80000"/>
              </a:lnSpc>
              <a:spcBef>
                <a:spcPts val="0"/>
              </a:spcBef>
              <a:spcAft>
                <a:spcPts val="0"/>
              </a:spcAft>
              <a:buClr>
                <a:schemeClr val="dk1"/>
              </a:buClr>
              <a:buSzPts val="2400"/>
              <a:buFont typeface="Arial"/>
              <a:buNone/>
            </a:pPr>
            <a:r>
              <a:rPr lang="en-US" sz="2400"/>
              <a:t>   The interface that the OS provides to its networking subsystem</a:t>
            </a:r>
            <a:endParaRPr/>
          </a:p>
        </p:txBody>
      </p:sp>
      <p:sp>
        <p:nvSpPr>
          <p:cNvPr id="524" name="Google Shape;524;p10"/>
          <p:cNvSpPr txBox="1"/>
          <p:nvPr/>
        </p:nvSpPr>
        <p:spPr>
          <a:xfrm>
            <a:off x="7315200" y="2857500"/>
            <a:ext cx="2438400" cy="1143000"/>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noAutofit/>
          </a:bodyPr>
          <a:lstStyle/>
          <a:p>
            <a:pPr marL="0" marR="0" lvl="0" indent="0" algn="l" rtl="0">
              <a:spcBef>
                <a:spcPts val="0"/>
              </a:spcBef>
              <a:spcAft>
                <a:spcPts val="0"/>
              </a:spcAft>
              <a:buNone/>
            </a:pPr>
            <a:r>
              <a:rPr lang="en-US" sz="1400" b="1">
                <a:solidFill>
                  <a:schemeClr val="dk1"/>
                </a:solidFill>
                <a:latin typeface="Arial"/>
                <a:ea typeface="Arial"/>
                <a:cs typeface="Arial"/>
                <a:sym typeface="Arial"/>
              </a:rPr>
              <a:t>application layer</a:t>
            </a:r>
            <a:endParaRPr/>
          </a:p>
        </p:txBody>
      </p:sp>
      <p:grpSp>
        <p:nvGrpSpPr>
          <p:cNvPr id="525" name="Google Shape;525;p10"/>
          <p:cNvGrpSpPr/>
          <p:nvPr/>
        </p:nvGrpSpPr>
        <p:grpSpPr>
          <a:xfrm>
            <a:off x="7315200" y="4005263"/>
            <a:ext cx="2438400" cy="1243012"/>
            <a:chOff x="768" y="2316"/>
            <a:chExt cx="1536" cy="783"/>
          </a:xfrm>
        </p:grpSpPr>
        <p:sp>
          <p:nvSpPr>
            <p:cNvPr id="526" name="Google Shape;526;p10"/>
            <p:cNvSpPr txBox="1"/>
            <p:nvPr/>
          </p:nvSpPr>
          <p:spPr>
            <a:xfrm>
              <a:off x="768" y="2316"/>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transport layer (TCP/UDP)</a:t>
              </a:r>
              <a:endParaRPr/>
            </a:p>
          </p:txBody>
        </p:sp>
        <p:sp>
          <p:nvSpPr>
            <p:cNvPr id="527" name="Google Shape;527;p10"/>
            <p:cNvSpPr txBox="1"/>
            <p:nvPr/>
          </p:nvSpPr>
          <p:spPr>
            <a:xfrm>
              <a:off x="768" y="2508"/>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network layer (IP)</a:t>
              </a:r>
              <a:endParaRPr/>
            </a:p>
          </p:txBody>
        </p:sp>
        <p:sp>
          <p:nvSpPr>
            <p:cNvPr id="528" name="Google Shape;528;p10"/>
            <p:cNvSpPr txBox="1"/>
            <p:nvPr/>
          </p:nvSpPr>
          <p:spPr>
            <a:xfrm>
              <a:off x="768" y="2703"/>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link layer (e.g. ethernet)</a:t>
              </a:r>
              <a:endParaRPr/>
            </a:p>
          </p:txBody>
        </p:sp>
        <p:sp>
          <p:nvSpPr>
            <p:cNvPr id="529" name="Google Shape;529;p10"/>
            <p:cNvSpPr txBox="1"/>
            <p:nvPr/>
          </p:nvSpPr>
          <p:spPr>
            <a:xfrm>
              <a:off x="768" y="2901"/>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physical layer</a:t>
              </a:r>
              <a:endParaRPr/>
            </a:p>
          </p:txBody>
        </p:sp>
      </p:grpSp>
      <p:sp>
        <p:nvSpPr>
          <p:cNvPr id="530" name="Google Shape;530;p10"/>
          <p:cNvSpPr txBox="1"/>
          <p:nvPr/>
        </p:nvSpPr>
        <p:spPr>
          <a:xfrm>
            <a:off x="2743200" y="2867025"/>
            <a:ext cx="2438400" cy="1143000"/>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noAutofit/>
          </a:bodyPr>
          <a:lstStyle/>
          <a:p>
            <a:pPr marL="0" marR="0" lvl="0" indent="0" algn="l" rtl="0">
              <a:spcBef>
                <a:spcPts val="0"/>
              </a:spcBef>
              <a:spcAft>
                <a:spcPts val="0"/>
              </a:spcAft>
              <a:buNone/>
            </a:pPr>
            <a:r>
              <a:rPr lang="en-US" sz="1400" b="1">
                <a:solidFill>
                  <a:schemeClr val="dk1"/>
                </a:solidFill>
                <a:latin typeface="Arial"/>
                <a:ea typeface="Arial"/>
                <a:cs typeface="Arial"/>
                <a:sym typeface="Arial"/>
              </a:rPr>
              <a:t>application layer</a:t>
            </a:r>
            <a:endParaRPr/>
          </a:p>
        </p:txBody>
      </p:sp>
      <p:grpSp>
        <p:nvGrpSpPr>
          <p:cNvPr id="531" name="Google Shape;531;p10"/>
          <p:cNvGrpSpPr/>
          <p:nvPr/>
        </p:nvGrpSpPr>
        <p:grpSpPr>
          <a:xfrm>
            <a:off x="2743200" y="4014788"/>
            <a:ext cx="2438400" cy="1243012"/>
            <a:chOff x="768" y="2316"/>
            <a:chExt cx="1536" cy="783"/>
          </a:xfrm>
        </p:grpSpPr>
        <p:sp>
          <p:nvSpPr>
            <p:cNvPr id="532" name="Google Shape;532;p10"/>
            <p:cNvSpPr txBox="1"/>
            <p:nvPr/>
          </p:nvSpPr>
          <p:spPr>
            <a:xfrm>
              <a:off x="768" y="2316"/>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transport layer (TCP/UDP)</a:t>
              </a:r>
              <a:endParaRPr/>
            </a:p>
          </p:txBody>
        </p:sp>
        <p:sp>
          <p:nvSpPr>
            <p:cNvPr id="533" name="Google Shape;533;p10"/>
            <p:cNvSpPr txBox="1"/>
            <p:nvPr/>
          </p:nvSpPr>
          <p:spPr>
            <a:xfrm>
              <a:off x="768" y="2508"/>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network layer (IP)</a:t>
              </a:r>
              <a:endParaRPr/>
            </a:p>
          </p:txBody>
        </p:sp>
        <p:sp>
          <p:nvSpPr>
            <p:cNvPr id="534" name="Google Shape;534;p10"/>
            <p:cNvSpPr txBox="1"/>
            <p:nvPr/>
          </p:nvSpPr>
          <p:spPr>
            <a:xfrm>
              <a:off x="768" y="2703"/>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link layer (e.g. ethernet)</a:t>
              </a:r>
              <a:endParaRPr/>
            </a:p>
          </p:txBody>
        </p:sp>
        <p:sp>
          <p:nvSpPr>
            <p:cNvPr id="535" name="Google Shape;535;p10"/>
            <p:cNvSpPr txBox="1"/>
            <p:nvPr/>
          </p:nvSpPr>
          <p:spPr>
            <a:xfrm>
              <a:off x="768" y="2901"/>
              <a:ext cx="1536" cy="198"/>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ctr" rtl="0">
                <a:spcBef>
                  <a:spcPts val="0"/>
                </a:spcBef>
                <a:spcAft>
                  <a:spcPts val="0"/>
                </a:spcAft>
                <a:buNone/>
              </a:pPr>
              <a:r>
                <a:rPr lang="en-US" sz="1400" b="1">
                  <a:solidFill>
                    <a:schemeClr val="dk1"/>
                  </a:solidFill>
                  <a:latin typeface="Arial"/>
                  <a:ea typeface="Arial"/>
                  <a:cs typeface="Arial"/>
                  <a:sym typeface="Arial"/>
                </a:rPr>
                <a:t>physical layer</a:t>
              </a:r>
              <a:endParaRPr/>
            </a:p>
          </p:txBody>
        </p:sp>
      </p:grpSp>
      <p:sp>
        <p:nvSpPr>
          <p:cNvPr id="536" name="Google Shape;536;p10"/>
          <p:cNvSpPr/>
          <p:nvPr/>
        </p:nvSpPr>
        <p:spPr>
          <a:xfrm>
            <a:off x="3048000" y="394335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OS network</a:t>
            </a:r>
            <a:endParaRPr/>
          </a:p>
          <a:p>
            <a:pPr marL="0" marR="0" lvl="0" indent="0" algn="ctr" rtl="0">
              <a:spcBef>
                <a:spcPts val="360"/>
              </a:spcBef>
              <a:spcAft>
                <a:spcPts val="0"/>
              </a:spcAft>
              <a:buNone/>
            </a:pPr>
            <a:r>
              <a:rPr lang="en-US" sz="1800" b="1">
                <a:solidFill>
                  <a:schemeClr val="dk1"/>
                </a:solidFill>
                <a:latin typeface="Arial"/>
                <a:ea typeface="Arial"/>
                <a:cs typeface="Arial"/>
                <a:sym typeface="Arial"/>
              </a:rPr>
              <a:t>stack</a:t>
            </a:r>
            <a:endParaRPr sz="1800" b="1">
              <a:solidFill>
                <a:schemeClr val="dk1"/>
              </a:solidFill>
              <a:latin typeface="Arial"/>
              <a:ea typeface="Arial"/>
              <a:cs typeface="Arial"/>
              <a:sym typeface="Arial"/>
            </a:endParaRPr>
          </a:p>
        </p:txBody>
      </p:sp>
      <p:sp>
        <p:nvSpPr>
          <p:cNvPr id="537" name="Google Shape;537;p10"/>
          <p:cNvSpPr/>
          <p:nvPr/>
        </p:nvSpPr>
        <p:spPr>
          <a:xfrm>
            <a:off x="1905000" y="304800"/>
            <a:ext cx="8382000" cy="7620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3600">
                <a:solidFill>
                  <a:schemeClr val="dk2"/>
                </a:solidFill>
                <a:latin typeface="Comic Sans MS"/>
                <a:ea typeface="Comic Sans MS"/>
                <a:cs typeface="Comic Sans MS"/>
                <a:sym typeface="Comic Sans MS"/>
              </a:rPr>
              <a:t>Sockets as means for inter-process communication (IPC)</a:t>
            </a:r>
            <a:endParaRPr sz="3600">
              <a:solidFill>
                <a:schemeClr val="dk2"/>
              </a:solidFill>
              <a:latin typeface="Comic Sans MS"/>
              <a:ea typeface="Comic Sans MS"/>
              <a:cs typeface="Comic Sans MS"/>
              <a:sym typeface="Comic Sans MS"/>
            </a:endParaRPr>
          </a:p>
        </p:txBody>
      </p:sp>
      <p:pic>
        <p:nvPicPr>
          <p:cNvPr id="538" name="Google Shape;538;p10"/>
          <p:cNvPicPr preferRelativeResize="0"/>
          <p:nvPr/>
        </p:nvPicPr>
        <p:blipFill rotWithShape="1">
          <a:blip r:embed="rId3">
            <a:alphaModFix/>
          </a:blip>
          <a:srcRect/>
          <a:stretch/>
        </p:blipFill>
        <p:spPr>
          <a:xfrm>
            <a:off x="3286126" y="1700214"/>
            <a:ext cx="1285875" cy="962025"/>
          </a:xfrm>
          <a:prstGeom prst="rect">
            <a:avLst/>
          </a:prstGeom>
          <a:noFill/>
          <a:ln>
            <a:noFill/>
          </a:ln>
        </p:spPr>
      </p:pic>
      <p:sp>
        <p:nvSpPr>
          <p:cNvPr id="539" name="Google Shape;539;p10"/>
          <p:cNvSpPr/>
          <p:nvPr/>
        </p:nvSpPr>
        <p:spPr>
          <a:xfrm>
            <a:off x="2683189" y="3124135"/>
            <a:ext cx="2406022" cy="522418"/>
          </a:xfrm>
          <a:prstGeom prst="ellipse">
            <a:avLst/>
          </a:prstGeom>
          <a:noFill/>
          <a:ln w="9525" cap="flat" cmpd="sng">
            <a:solidFill>
              <a:schemeClr val="dk1"/>
            </a:solidFill>
            <a:prstDash val="solid"/>
            <a:round/>
            <a:headEnd type="none" w="sm" len="sm"/>
            <a:tailEnd type="none" w="sm" len="sm"/>
          </a:ln>
        </p:spPr>
        <p:txBody>
          <a:bodyPr spcFirstLastPara="1" wrap="square" lIns="90000" tIns="46800" rIns="90000" bIns="46800" anchor="ctr"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Client Process</a:t>
            </a:r>
            <a:endParaRPr sz="1800" b="1">
              <a:solidFill>
                <a:schemeClr val="dk1"/>
              </a:solidFill>
              <a:latin typeface="Arial"/>
              <a:ea typeface="Arial"/>
              <a:cs typeface="Arial"/>
              <a:sym typeface="Arial"/>
            </a:endParaRPr>
          </a:p>
        </p:txBody>
      </p:sp>
      <p:sp>
        <p:nvSpPr>
          <p:cNvPr id="540" name="Google Shape;540;p10"/>
          <p:cNvSpPr/>
          <p:nvPr/>
        </p:nvSpPr>
        <p:spPr>
          <a:xfrm>
            <a:off x="7283306" y="3132073"/>
            <a:ext cx="2464088" cy="522418"/>
          </a:xfrm>
          <a:prstGeom prst="ellipse">
            <a:avLst/>
          </a:prstGeom>
          <a:noFill/>
          <a:ln w="9525" cap="flat" cmpd="sng">
            <a:solidFill>
              <a:schemeClr val="dk1"/>
            </a:solidFill>
            <a:prstDash val="solid"/>
            <a:round/>
            <a:headEnd type="none" w="sm" len="sm"/>
            <a:tailEnd type="none" w="sm" len="sm"/>
          </a:ln>
        </p:spPr>
        <p:txBody>
          <a:bodyPr spcFirstLastPara="1" wrap="square" lIns="90000" tIns="46800" rIns="90000" bIns="46800" anchor="ctr" anchorCtr="0">
            <a:sp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Server Process</a:t>
            </a:r>
            <a:endParaRPr sz="1800" b="1">
              <a:solidFill>
                <a:schemeClr val="dk1"/>
              </a:solidFill>
              <a:latin typeface="Arial"/>
              <a:ea typeface="Arial"/>
              <a:cs typeface="Arial"/>
              <a:sym typeface="Arial"/>
            </a:endParaRPr>
          </a:p>
        </p:txBody>
      </p:sp>
      <p:cxnSp>
        <p:nvCxnSpPr>
          <p:cNvPr id="541" name="Google Shape;541;p10"/>
          <p:cNvCxnSpPr/>
          <p:nvPr/>
        </p:nvCxnSpPr>
        <p:spPr>
          <a:xfrm>
            <a:off x="4833938" y="3424238"/>
            <a:ext cx="2743200" cy="0"/>
          </a:xfrm>
          <a:prstGeom prst="straightConnector1">
            <a:avLst/>
          </a:prstGeom>
          <a:noFill/>
          <a:ln w="9525" cap="flat" cmpd="sng">
            <a:solidFill>
              <a:schemeClr val="dk1"/>
            </a:solidFill>
            <a:prstDash val="solid"/>
            <a:round/>
            <a:headEnd type="stealth" w="med" len="med"/>
            <a:tailEnd type="stealth" w="med" len="med"/>
          </a:ln>
        </p:spPr>
      </p:cxnSp>
      <p:pic>
        <p:nvPicPr>
          <p:cNvPr id="542" name="Google Shape;542;p10"/>
          <p:cNvPicPr preferRelativeResize="0"/>
          <p:nvPr/>
        </p:nvPicPr>
        <p:blipFill rotWithShape="1">
          <a:blip r:embed="rId3">
            <a:alphaModFix/>
          </a:blip>
          <a:srcRect/>
          <a:stretch/>
        </p:blipFill>
        <p:spPr>
          <a:xfrm>
            <a:off x="7848601" y="1681164"/>
            <a:ext cx="1285875" cy="962025"/>
          </a:xfrm>
          <a:prstGeom prst="rect">
            <a:avLst/>
          </a:prstGeom>
          <a:noFill/>
          <a:ln>
            <a:noFill/>
          </a:ln>
        </p:spPr>
      </p:pic>
      <p:sp>
        <p:nvSpPr>
          <p:cNvPr id="543" name="Google Shape;543;p10"/>
          <p:cNvSpPr/>
          <p:nvPr/>
        </p:nvSpPr>
        <p:spPr>
          <a:xfrm>
            <a:off x="3414713" y="3562351"/>
            <a:ext cx="939800" cy="492125"/>
          </a:xfrm>
          <a:prstGeom prst="rect">
            <a:avLst/>
          </a:prstGeom>
          <a:solidFill>
            <a:schemeClr val="folHlink"/>
          </a:solidFill>
          <a:ln w="9525" cap="flat" cmpd="sng">
            <a:solidFill>
              <a:schemeClr val="dk1"/>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Socket</a:t>
            </a:r>
            <a:endParaRPr sz="1800" b="1">
              <a:solidFill>
                <a:schemeClr val="dk1"/>
              </a:solidFill>
              <a:latin typeface="Arial"/>
              <a:ea typeface="Arial"/>
              <a:cs typeface="Arial"/>
              <a:sym typeface="Arial"/>
            </a:endParaRPr>
          </a:p>
        </p:txBody>
      </p:sp>
      <p:sp>
        <p:nvSpPr>
          <p:cNvPr id="544" name="Google Shape;544;p10"/>
          <p:cNvSpPr/>
          <p:nvPr/>
        </p:nvSpPr>
        <p:spPr>
          <a:xfrm>
            <a:off x="7696200" y="3943350"/>
            <a:ext cx="1676400" cy="914400"/>
          </a:xfrm>
          <a:prstGeom prst="rect">
            <a:avLst/>
          </a:prstGeom>
          <a:noFill/>
          <a:ln w="9525" cap="flat" cmpd="sng">
            <a:solidFill>
              <a:schemeClr val="dk1"/>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OS network</a:t>
            </a:r>
            <a:endParaRPr/>
          </a:p>
          <a:p>
            <a:pPr marL="0" marR="0" lvl="0" indent="0" algn="ctr" rtl="0">
              <a:spcBef>
                <a:spcPts val="360"/>
              </a:spcBef>
              <a:spcAft>
                <a:spcPts val="0"/>
              </a:spcAft>
              <a:buNone/>
            </a:pPr>
            <a:r>
              <a:rPr lang="en-US" sz="1800" b="1">
                <a:solidFill>
                  <a:schemeClr val="dk1"/>
                </a:solidFill>
                <a:latin typeface="Arial"/>
                <a:ea typeface="Arial"/>
                <a:cs typeface="Arial"/>
                <a:sym typeface="Arial"/>
              </a:rPr>
              <a:t>stack</a:t>
            </a:r>
            <a:endParaRPr sz="1800" b="1">
              <a:solidFill>
                <a:schemeClr val="dk1"/>
              </a:solidFill>
              <a:latin typeface="Arial"/>
              <a:ea typeface="Arial"/>
              <a:cs typeface="Arial"/>
              <a:sym typeface="Arial"/>
            </a:endParaRPr>
          </a:p>
        </p:txBody>
      </p:sp>
      <p:sp>
        <p:nvSpPr>
          <p:cNvPr id="545" name="Google Shape;545;p10"/>
          <p:cNvSpPr/>
          <p:nvPr/>
        </p:nvSpPr>
        <p:spPr>
          <a:xfrm>
            <a:off x="8051800" y="3562351"/>
            <a:ext cx="939800" cy="492125"/>
          </a:xfrm>
          <a:prstGeom prst="rect">
            <a:avLst/>
          </a:prstGeom>
          <a:solidFill>
            <a:schemeClr val="folHlink"/>
          </a:solidFill>
          <a:ln w="9525" cap="flat" cmpd="sng">
            <a:solidFill>
              <a:schemeClr val="dk1"/>
            </a:solidFill>
            <a:prstDash val="solid"/>
            <a:miter lim="800000"/>
            <a:headEnd type="none" w="sm" len="sm"/>
            <a:tailEnd type="none" w="sm" len="sm"/>
          </a:ln>
        </p:spPr>
        <p:txBody>
          <a:bodyPr spcFirstLastPara="1" wrap="square" lIns="90000" tIns="46800" rIns="90000" bIns="46800" anchor="ctr" anchorCtr="0">
            <a:noAutofit/>
          </a:bodyPr>
          <a:lstStyle/>
          <a:p>
            <a:pPr marL="0" marR="0" lvl="0" indent="0" algn="ctr" rtl="0">
              <a:spcBef>
                <a:spcPts val="0"/>
              </a:spcBef>
              <a:spcAft>
                <a:spcPts val="0"/>
              </a:spcAft>
              <a:buNone/>
            </a:pPr>
            <a:r>
              <a:rPr lang="en-US" sz="1800" b="1">
                <a:solidFill>
                  <a:schemeClr val="dk1"/>
                </a:solidFill>
                <a:latin typeface="Arial"/>
                <a:ea typeface="Arial"/>
                <a:cs typeface="Arial"/>
                <a:sym typeface="Arial"/>
              </a:rPr>
              <a:t>Socket</a:t>
            </a:r>
            <a:endParaRPr sz="1800" b="1">
              <a:solidFill>
                <a:schemeClr val="dk1"/>
              </a:solidFill>
              <a:latin typeface="Arial"/>
              <a:ea typeface="Arial"/>
              <a:cs typeface="Arial"/>
              <a:sym typeface="Arial"/>
            </a:endParaRPr>
          </a:p>
        </p:txBody>
      </p:sp>
      <p:grpSp>
        <p:nvGrpSpPr>
          <p:cNvPr id="546" name="Google Shape;546;p10"/>
          <p:cNvGrpSpPr/>
          <p:nvPr/>
        </p:nvGrpSpPr>
        <p:grpSpPr>
          <a:xfrm>
            <a:off x="4843463" y="4171955"/>
            <a:ext cx="2743200" cy="371476"/>
            <a:chOff x="2091" y="2160"/>
            <a:chExt cx="1728" cy="234"/>
          </a:xfrm>
        </p:grpSpPr>
        <p:cxnSp>
          <p:nvCxnSpPr>
            <p:cNvPr id="547" name="Google Shape;547;p10"/>
            <p:cNvCxnSpPr/>
            <p:nvPr/>
          </p:nvCxnSpPr>
          <p:spPr>
            <a:xfrm>
              <a:off x="2091" y="2352"/>
              <a:ext cx="1728" cy="0"/>
            </a:xfrm>
            <a:prstGeom prst="straightConnector1">
              <a:avLst/>
            </a:prstGeom>
            <a:noFill/>
            <a:ln w="9525" cap="flat" cmpd="sng">
              <a:solidFill>
                <a:schemeClr val="dk1"/>
              </a:solidFill>
              <a:prstDash val="solid"/>
              <a:round/>
              <a:headEnd type="stealth" w="med" len="med"/>
              <a:tailEnd type="stealth" w="med" len="med"/>
            </a:ln>
          </p:spPr>
        </p:cxnSp>
        <p:sp>
          <p:nvSpPr>
            <p:cNvPr id="548" name="Google Shape;548;p10"/>
            <p:cNvSpPr txBox="1"/>
            <p:nvPr/>
          </p:nvSpPr>
          <p:spPr>
            <a:xfrm>
              <a:off x="2622" y="2160"/>
              <a:ext cx="642" cy="234"/>
            </a:xfrm>
            <a:prstGeom prst="rect">
              <a:avLst/>
            </a:prstGeom>
            <a:noFill/>
            <a:ln>
              <a:noFill/>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Internet</a:t>
              </a:r>
              <a:endParaRPr sz="1800" b="1">
                <a:solidFill>
                  <a:schemeClr val="dk1"/>
                </a:solidFill>
                <a:latin typeface="Arial"/>
                <a:ea typeface="Arial"/>
                <a:cs typeface="Arial"/>
                <a:sym typeface="Arial"/>
              </a:endParaRPr>
            </a:p>
          </p:txBody>
        </p:sp>
      </p:grpSp>
      <p:grpSp>
        <p:nvGrpSpPr>
          <p:cNvPr id="549" name="Google Shape;549;p10"/>
          <p:cNvGrpSpPr/>
          <p:nvPr/>
        </p:nvGrpSpPr>
        <p:grpSpPr>
          <a:xfrm>
            <a:off x="5257800" y="4800606"/>
            <a:ext cx="1981200" cy="371476"/>
            <a:chOff x="2352" y="2928"/>
            <a:chExt cx="1248" cy="234"/>
          </a:xfrm>
        </p:grpSpPr>
        <p:cxnSp>
          <p:nvCxnSpPr>
            <p:cNvPr id="550" name="Google Shape;550;p10"/>
            <p:cNvCxnSpPr/>
            <p:nvPr/>
          </p:nvCxnSpPr>
          <p:spPr>
            <a:xfrm>
              <a:off x="2352" y="3129"/>
              <a:ext cx="1248" cy="0"/>
            </a:xfrm>
            <a:prstGeom prst="straightConnector1">
              <a:avLst/>
            </a:prstGeom>
            <a:noFill/>
            <a:ln w="9525" cap="flat" cmpd="sng">
              <a:solidFill>
                <a:schemeClr val="dk1"/>
              </a:solidFill>
              <a:prstDash val="solid"/>
              <a:round/>
              <a:headEnd type="stealth" w="med" len="med"/>
              <a:tailEnd type="stealth" w="med" len="med"/>
            </a:ln>
          </p:spPr>
        </p:cxnSp>
        <p:sp>
          <p:nvSpPr>
            <p:cNvPr id="551" name="Google Shape;551;p10"/>
            <p:cNvSpPr txBox="1"/>
            <p:nvPr/>
          </p:nvSpPr>
          <p:spPr>
            <a:xfrm>
              <a:off x="2640" y="2928"/>
              <a:ext cx="668" cy="234"/>
            </a:xfrm>
            <a:prstGeom prst="rect">
              <a:avLst/>
            </a:prstGeom>
            <a:noFill/>
            <a:ln>
              <a:noFill/>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Internet</a:t>
              </a:r>
              <a:endParaRPr sz="1800" b="1">
                <a:solidFill>
                  <a:schemeClr val="dk1"/>
                </a:solidFill>
                <a:latin typeface="Arial"/>
                <a:ea typeface="Arial"/>
                <a:cs typeface="Arial"/>
                <a:sym typeface="Arial"/>
              </a:endParaRPr>
            </a:p>
          </p:txBody>
        </p:sp>
      </p:grpSp>
      <p:sp>
        <p:nvSpPr>
          <p:cNvPr id="552" name="Google Shape;552;p10"/>
          <p:cNvSpPr/>
          <p:nvPr/>
        </p:nvSpPr>
        <p:spPr>
          <a:xfrm>
            <a:off x="5699126" y="3122614"/>
            <a:ext cx="1018975" cy="371513"/>
          </a:xfrm>
          <a:prstGeom prst="rect">
            <a:avLst/>
          </a:prstGeom>
          <a:noFill/>
          <a:ln>
            <a:noFill/>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chemeClr val="dk1"/>
                </a:solidFill>
                <a:latin typeface="Arial"/>
                <a:ea typeface="Arial"/>
                <a:cs typeface="Arial"/>
                <a:sym typeface="Arial"/>
              </a:rPr>
              <a:t>Internet</a:t>
            </a:r>
            <a:endParaRPr sz="1800" b="1">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8"/>
                                        </p:tgtEl>
                                        <p:attrNameLst>
                                          <p:attrName>style.visibility</p:attrName>
                                        </p:attrNameLst>
                                      </p:cBhvr>
                                      <p:to>
                                        <p:strVal val="visible"/>
                                      </p:to>
                                    </p:set>
                                    <p:animEffect transition="in" filter="fade">
                                      <p:cBhvr>
                                        <p:cTn id="7" dur="500"/>
                                        <p:tgtEl>
                                          <p:spTgt spid="538"/>
                                        </p:tgtEl>
                                      </p:cBhvr>
                                    </p:animEffect>
                                  </p:childTnLst>
                                </p:cTn>
                              </p:par>
                              <p:par>
                                <p:cTn id="8" presetID="10" presetClass="entr" presetSubtype="0" fill="hold" nodeType="withEffect">
                                  <p:stCondLst>
                                    <p:cond delay="0"/>
                                  </p:stCondLst>
                                  <p:childTnLst>
                                    <p:set>
                                      <p:cBhvr>
                                        <p:cTn id="9" dur="1" fill="hold">
                                          <p:stCondLst>
                                            <p:cond delay="0"/>
                                          </p:stCondLst>
                                        </p:cTn>
                                        <p:tgtEl>
                                          <p:spTgt spid="542"/>
                                        </p:tgtEl>
                                        <p:attrNameLst>
                                          <p:attrName>style.visibility</p:attrName>
                                        </p:attrNameLst>
                                      </p:cBhvr>
                                      <p:to>
                                        <p:strVal val="visible"/>
                                      </p:to>
                                    </p:set>
                                    <p:animEffect transition="in" filter="fade">
                                      <p:cBhvr>
                                        <p:cTn id="10" dur="500"/>
                                        <p:tgtEl>
                                          <p:spTgt spid="542"/>
                                        </p:tgtEl>
                                      </p:cBhvr>
                                    </p:animEffect>
                                  </p:childTnLst>
                                </p:cTn>
                              </p:par>
                              <p:par>
                                <p:cTn id="11" presetID="10" presetClass="entr" presetSubtype="0" fill="hold" nodeType="withEffect">
                                  <p:stCondLst>
                                    <p:cond delay="0"/>
                                  </p:stCondLst>
                                  <p:childTnLst>
                                    <p:set>
                                      <p:cBhvr>
                                        <p:cTn id="12" dur="1" fill="hold">
                                          <p:stCondLst>
                                            <p:cond delay="0"/>
                                          </p:stCondLst>
                                        </p:cTn>
                                        <p:tgtEl>
                                          <p:spTgt spid="552"/>
                                        </p:tgtEl>
                                        <p:attrNameLst>
                                          <p:attrName>style.visibility</p:attrName>
                                        </p:attrNameLst>
                                      </p:cBhvr>
                                      <p:to>
                                        <p:strVal val="visible"/>
                                      </p:to>
                                    </p:set>
                                    <p:animEffect transition="in" filter="fade">
                                      <p:cBhvr>
                                        <p:cTn id="13" dur="500"/>
                                        <p:tgtEl>
                                          <p:spTgt spid="55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xit" presetSubtype="0" fill="hold" nodeType="clickEffect">
                                  <p:stCondLst>
                                    <p:cond delay="0"/>
                                  </p:stCondLst>
                                  <p:childTnLst>
                                    <p:animEffect transition="out" filter="fade">
                                      <p:cBhvr>
                                        <p:cTn id="17" dur="500"/>
                                        <p:tgtEl>
                                          <p:spTgt spid="541"/>
                                        </p:tgtEl>
                                      </p:cBhvr>
                                    </p:animEffect>
                                    <p:set>
                                      <p:cBhvr>
                                        <p:cTn id="18" dur="1" fill="hold">
                                          <p:stCondLst>
                                            <p:cond delay="500"/>
                                          </p:stCondLst>
                                        </p:cTn>
                                        <p:tgtEl>
                                          <p:spTgt spid="541"/>
                                        </p:tgtEl>
                                        <p:attrNameLst>
                                          <p:attrName>style.visibility</p:attrName>
                                        </p:attrNameLst>
                                      </p:cBhvr>
                                      <p:to>
                                        <p:strVal val="hidden"/>
                                      </p:to>
                                    </p:set>
                                  </p:childTnLst>
                                </p:cTn>
                              </p:par>
                              <p:par>
                                <p:cTn id="19" presetID="10" presetClass="exit" presetSubtype="0" fill="hold" nodeType="withEffect">
                                  <p:stCondLst>
                                    <p:cond delay="0"/>
                                  </p:stCondLst>
                                  <p:childTnLst>
                                    <p:animEffect transition="out" filter="fade">
                                      <p:cBhvr>
                                        <p:cTn id="20" dur="500"/>
                                        <p:tgtEl>
                                          <p:spTgt spid="552"/>
                                        </p:tgtEl>
                                      </p:cBhvr>
                                    </p:animEffect>
                                    <p:set>
                                      <p:cBhvr>
                                        <p:cTn id="21" dur="1" fill="hold">
                                          <p:stCondLst>
                                            <p:cond delay="500"/>
                                          </p:stCondLst>
                                        </p:cTn>
                                        <p:tgtEl>
                                          <p:spTgt spid="552"/>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544"/>
                                        </p:tgtEl>
                                        <p:attrNameLst>
                                          <p:attrName>style.visibility</p:attrName>
                                        </p:attrNameLst>
                                      </p:cBhvr>
                                      <p:to>
                                        <p:strVal val="visible"/>
                                      </p:to>
                                    </p:set>
                                    <p:animEffect transition="in" filter="fade">
                                      <p:cBhvr>
                                        <p:cTn id="24" dur="500"/>
                                        <p:tgtEl>
                                          <p:spTgt spid="544"/>
                                        </p:tgtEl>
                                      </p:cBhvr>
                                    </p:animEffect>
                                  </p:childTnLst>
                                </p:cTn>
                              </p:par>
                              <p:par>
                                <p:cTn id="25" presetID="10" presetClass="entr" presetSubtype="0" fill="hold" nodeType="withEffect">
                                  <p:stCondLst>
                                    <p:cond delay="0"/>
                                  </p:stCondLst>
                                  <p:childTnLst>
                                    <p:set>
                                      <p:cBhvr>
                                        <p:cTn id="26" dur="1" fill="hold">
                                          <p:stCondLst>
                                            <p:cond delay="0"/>
                                          </p:stCondLst>
                                        </p:cTn>
                                        <p:tgtEl>
                                          <p:spTgt spid="545"/>
                                        </p:tgtEl>
                                        <p:attrNameLst>
                                          <p:attrName>style.visibility</p:attrName>
                                        </p:attrNameLst>
                                      </p:cBhvr>
                                      <p:to>
                                        <p:strVal val="visible"/>
                                      </p:to>
                                    </p:set>
                                    <p:animEffect transition="in" filter="fade">
                                      <p:cBhvr>
                                        <p:cTn id="27" dur="500"/>
                                        <p:tgtEl>
                                          <p:spTgt spid="545"/>
                                        </p:tgtEl>
                                      </p:cBhvr>
                                    </p:animEffect>
                                  </p:childTnLst>
                                </p:cTn>
                              </p:par>
                              <p:par>
                                <p:cTn id="28" presetID="10" presetClass="entr" presetSubtype="0" fill="hold" nodeType="withEffect">
                                  <p:stCondLst>
                                    <p:cond delay="0"/>
                                  </p:stCondLst>
                                  <p:childTnLst>
                                    <p:set>
                                      <p:cBhvr>
                                        <p:cTn id="29" dur="1" fill="hold">
                                          <p:stCondLst>
                                            <p:cond delay="0"/>
                                          </p:stCondLst>
                                        </p:cTn>
                                        <p:tgtEl>
                                          <p:spTgt spid="546"/>
                                        </p:tgtEl>
                                        <p:attrNameLst>
                                          <p:attrName>style.visibility</p:attrName>
                                        </p:attrNameLst>
                                      </p:cBhvr>
                                      <p:to>
                                        <p:strVal val="visible"/>
                                      </p:to>
                                    </p:set>
                                    <p:animEffect transition="in" filter="fade">
                                      <p:cBhvr>
                                        <p:cTn id="30" dur="500"/>
                                        <p:tgtEl>
                                          <p:spTgt spid="546"/>
                                        </p:tgtEl>
                                      </p:cBhvr>
                                    </p:animEffect>
                                  </p:childTnLst>
                                </p:cTn>
                              </p:par>
                              <p:par>
                                <p:cTn id="31" presetID="10" presetClass="entr" presetSubtype="0" fill="hold" nodeType="withEffect">
                                  <p:stCondLst>
                                    <p:cond delay="0"/>
                                  </p:stCondLst>
                                  <p:childTnLst>
                                    <p:set>
                                      <p:cBhvr>
                                        <p:cTn id="32" dur="1" fill="hold">
                                          <p:stCondLst>
                                            <p:cond delay="0"/>
                                          </p:stCondLst>
                                        </p:cTn>
                                        <p:tgtEl>
                                          <p:spTgt spid="536"/>
                                        </p:tgtEl>
                                        <p:attrNameLst>
                                          <p:attrName>style.visibility</p:attrName>
                                        </p:attrNameLst>
                                      </p:cBhvr>
                                      <p:to>
                                        <p:strVal val="visible"/>
                                      </p:to>
                                    </p:set>
                                    <p:animEffect transition="in" filter="fade">
                                      <p:cBhvr>
                                        <p:cTn id="33" dur="500"/>
                                        <p:tgtEl>
                                          <p:spTgt spid="536"/>
                                        </p:tgtEl>
                                      </p:cBhvr>
                                    </p:animEffect>
                                  </p:childTnLst>
                                </p:cTn>
                              </p:par>
                              <p:par>
                                <p:cTn id="34" presetID="10" presetClass="entr" presetSubtype="0" fill="hold" nodeType="withEffect">
                                  <p:stCondLst>
                                    <p:cond delay="0"/>
                                  </p:stCondLst>
                                  <p:childTnLst>
                                    <p:set>
                                      <p:cBhvr>
                                        <p:cTn id="35" dur="1" fill="hold">
                                          <p:stCondLst>
                                            <p:cond delay="0"/>
                                          </p:stCondLst>
                                        </p:cTn>
                                        <p:tgtEl>
                                          <p:spTgt spid="543"/>
                                        </p:tgtEl>
                                        <p:attrNameLst>
                                          <p:attrName>style.visibility</p:attrName>
                                        </p:attrNameLst>
                                      </p:cBhvr>
                                      <p:to>
                                        <p:strVal val="visible"/>
                                      </p:to>
                                    </p:set>
                                    <p:animEffect transition="in" filter="fade">
                                      <p:cBhvr>
                                        <p:cTn id="36" dur="500"/>
                                        <p:tgtEl>
                                          <p:spTgt spid="54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531"/>
                                        </p:tgtEl>
                                        <p:attrNameLst>
                                          <p:attrName>style.visibility</p:attrName>
                                        </p:attrNameLst>
                                      </p:cBhvr>
                                      <p:to>
                                        <p:strVal val="visible"/>
                                      </p:to>
                                    </p:set>
                                    <p:animEffect transition="in" filter="fade">
                                      <p:cBhvr>
                                        <p:cTn id="41" dur="500"/>
                                        <p:tgtEl>
                                          <p:spTgt spid="531"/>
                                        </p:tgtEl>
                                      </p:cBhvr>
                                    </p:animEffect>
                                  </p:childTnLst>
                                </p:cTn>
                              </p:par>
                              <p:par>
                                <p:cTn id="42" presetID="10" presetClass="entr" presetSubtype="0" fill="hold" nodeType="withEffect">
                                  <p:stCondLst>
                                    <p:cond delay="0"/>
                                  </p:stCondLst>
                                  <p:childTnLst>
                                    <p:set>
                                      <p:cBhvr>
                                        <p:cTn id="43" dur="1" fill="hold">
                                          <p:stCondLst>
                                            <p:cond delay="0"/>
                                          </p:stCondLst>
                                        </p:cTn>
                                        <p:tgtEl>
                                          <p:spTgt spid="525"/>
                                        </p:tgtEl>
                                        <p:attrNameLst>
                                          <p:attrName>style.visibility</p:attrName>
                                        </p:attrNameLst>
                                      </p:cBhvr>
                                      <p:to>
                                        <p:strVal val="visible"/>
                                      </p:to>
                                    </p:set>
                                    <p:animEffect transition="in" filter="fade">
                                      <p:cBhvr>
                                        <p:cTn id="44" dur="500"/>
                                        <p:tgtEl>
                                          <p:spTgt spid="525"/>
                                        </p:tgtEl>
                                      </p:cBhvr>
                                    </p:animEffect>
                                  </p:childTnLst>
                                </p:cTn>
                              </p:par>
                              <p:par>
                                <p:cTn id="45" presetID="10" presetClass="exit" presetSubtype="0" fill="hold" nodeType="withEffect">
                                  <p:stCondLst>
                                    <p:cond delay="0"/>
                                  </p:stCondLst>
                                  <p:childTnLst>
                                    <p:animEffect transition="out" filter="fade">
                                      <p:cBhvr>
                                        <p:cTn id="46" dur="500"/>
                                        <p:tgtEl>
                                          <p:spTgt spid="536"/>
                                        </p:tgtEl>
                                      </p:cBhvr>
                                    </p:animEffect>
                                    <p:set>
                                      <p:cBhvr>
                                        <p:cTn id="47" dur="1" fill="hold">
                                          <p:stCondLst>
                                            <p:cond delay="500"/>
                                          </p:stCondLst>
                                        </p:cTn>
                                        <p:tgtEl>
                                          <p:spTgt spid="536"/>
                                        </p:tgtEl>
                                        <p:attrNameLst>
                                          <p:attrName>style.visibility</p:attrName>
                                        </p:attrNameLst>
                                      </p:cBhvr>
                                      <p:to>
                                        <p:strVal val="hidden"/>
                                      </p:to>
                                    </p:set>
                                  </p:childTnLst>
                                </p:cTn>
                              </p:par>
                              <p:par>
                                <p:cTn id="48" presetID="10" presetClass="exit" presetSubtype="0" fill="hold" nodeType="withEffect">
                                  <p:stCondLst>
                                    <p:cond delay="0"/>
                                  </p:stCondLst>
                                  <p:childTnLst>
                                    <p:animEffect transition="out" filter="fade">
                                      <p:cBhvr>
                                        <p:cTn id="49" dur="500"/>
                                        <p:tgtEl>
                                          <p:spTgt spid="544"/>
                                        </p:tgtEl>
                                      </p:cBhvr>
                                    </p:animEffect>
                                    <p:set>
                                      <p:cBhvr>
                                        <p:cTn id="50" dur="1" fill="hold">
                                          <p:stCondLst>
                                            <p:cond delay="500"/>
                                          </p:stCondLst>
                                        </p:cTn>
                                        <p:tgtEl>
                                          <p:spTgt spid="544"/>
                                        </p:tgtEl>
                                        <p:attrNameLst>
                                          <p:attrName>style.visibility</p:attrName>
                                        </p:attrNameLst>
                                      </p:cBhvr>
                                      <p:to>
                                        <p:strVal val="hidden"/>
                                      </p:to>
                                    </p:set>
                                  </p:childTnLst>
                                </p:cTn>
                              </p:par>
                              <p:par>
                                <p:cTn id="51" presetID="10" presetClass="entr" presetSubtype="0" fill="hold" nodeType="withEffect">
                                  <p:stCondLst>
                                    <p:cond delay="0"/>
                                  </p:stCondLst>
                                  <p:childTnLst>
                                    <p:set>
                                      <p:cBhvr>
                                        <p:cTn id="52" dur="1" fill="hold">
                                          <p:stCondLst>
                                            <p:cond delay="0"/>
                                          </p:stCondLst>
                                        </p:cTn>
                                        <p:tgtEl>
                                          <p:spTgt spid="549"/>
                                        </p:tgtEl>
                                        <p:attrNameLst>
                                          <p:attrName>style.visibility</p:attrName>
                                        </p:attrNameLst>
                                      </p:cBhvr>
                                      <p:to>
                                        <p:strVal val="visible"/>
                                      </p:to>
                                    </p:set>
                                    <p:animEffect transition="in" filter="fade">
                                      <p:cBhvr>
                                        <p:cTn id="53" dur="500"/>
                                        <p:tgtEl>
                                          <p:spTgt spid="549"/>
                                        </p:tgtEl>
                                      </p:cBhvr>
                                    </p:animEffect>
                                  </p:childTnLst>
                                </p:cTn>
                              </p:par>
                              <p:par>
                                <p:cTn id="54" presetID="10" presetClass="exit" presetSubtype="0" fill="hold" nodeType="withEffect">
                                  <p:stCondLst>
                                    <p:cond delay="0"/>
                                  </p:stCondLst>
                                  <p:childTnLst>
                                    <p:animEffect transition="out" filter="fade">
                                      <p:cBhvr>
                                        <p:cTn id="55" dur="500"/>
                                        <p:tgtEl>
                                          <p:spTgt spid="546"/>
                                        </p:tgtEl>
                                      </p:cBhvr>
                                    </p:animEffect>
                                    <p:set>
                                      <p:cBhvr>
                                        <p:cTn id="56" dur="1" fill="hold">
                                          <p:stCondLst>
                                            <p:cond delay="500"/>
                                          </p:stCondLst>
                                        </p:cTn>
                                        <p:tgtEl>
                                          <p:spTgt spid="546"/>
                                        </p:tgtEl>
                                        <p:attrNameLst>
                                          <p:attrName>style.visibility</p:attrName>
                                        </p:attrNameLst>
                                      </p:cBhvr>
                                      <p:to>
                                        <p:strVal val="hidden"/>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530"/>
                                        </p:tgtEl>
                                        <p:attrNameLst>
                                          <p:attrName>style.visibility</p:attrName>
                                        </p:attrNameLst>
                                      </p:cBhvr>
                                      <p:to>
                                        <p:strVal val="visible"/>
                                      </p:to>
                                    </p:set>
                                    <p:animEffect transition="in" filter="fade">
                                      <p:cBhvr>
                                        <p:cTn id="61" dur="500"/>
                                        <p:tgtEl>
                                          <p:spTgt spid="530"/>
                                        </p:tgtEl>
                                      </p:cBhvr>
                                    </p:animEffect>
                                  </p:childTnLst>
                                </p:cTn>
                              </p:par>
                              <p:par>
                                <p:cTn id="62" presetID="10" presetClass="entr" presetSubtype="0" fill="hold" nodeType="withEffect">
                                  <p:stCondLst>
                                    <p:cond delay="0"/>
                                  </p:stCondLst>
                                  <p:childTnLst>
                                    <p:set>
                                      <p:cBhvr>
                                        <p:cTn id="63" dur="1" fill="hold">
                                          <p:stCondLst>
                                            <p:cond delay="0"/>
                                          </p:stCondLst>
                                        </p:cTn>
                                        <p:tgtEl>
                                          <p:spTgt spid="524"/>
                                        </p:tgtEl>
                                        <p:attrNameLst>
                                          <p:attrName>style.visibility</p:attrName>
                                        </p:attrNameLst>
                                      </p:cBhvr>
                                      <p:to>
                                        <p:strVal val="visible"/>
                                      </p:to>
                                    </p:set>
                                    <p:animEffect transition="in" filter="fade">
                                      <p:cBhvr>
                                        <p:cTn id="64" dur="500"/>
                                        <p:tgtEl>
                                          <p:spTgt spid="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56"/>
        <p:cNvGrpSpPr/>
        <p:nvPr/>
      </p:nvGrpSpPr>
      <p:grpSpPr>
        <a:xfrm>
          <a:off x="0" y="0"/>
          <a:ext cx="0" cy="0"/>
          <a:chOff x="0" y="0"/>
          <a:chExt cx="0" cy="0"/>
        </a:xfrm>
      </p:grpSpPr>
      <p:sp>
        <p:nvSpPr>
          <p:cNvPr id="557" name="Google Shape;557;p11"/>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558" name="Google Shape;558;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000"/>
              <a:buFont typeface="Play"/>
              <a:buNone/>
            </a:pPr>
            <a:r>
              <a:rPr lang="en-US" sz="5000"/>
              <a:t>How do Sockets releate to Applications?</a:t>
            </a:r>
            <a:endParaRPr/>
          </a:p>
        </p:txBody>
      </p:sp>
      <p:sp>
        <p:nvSpPr>
          <p:cNvPr id="559" name="Google Shape;559;p11"/>
          <p:cNvSpPr/>
          <p:nvPr/>
        </p:nvSpPr>
        <p:spPr>
          <a:xfrm>
            <a:off x="838200" y="1865313"/>
            <a:ext cx="10424160" cy="18288"/>
          </a:xfrm>
          <a:custGeom>
            <a:avLst/>
            <a:gdLst/>
            <a:ahLst/>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nvGrpSpPr>
          <p:cNvPr id="560" name="Google Shape;560;p11"/>
          <p:cNvGrpSpPr/>
          <p:nvPr/>
        </p:nvGrpSpPr>
        <p:grpSpPr>
          <a:xfrm>
            <a:off x="839483" y="2512930"/>
            <a:ext cx="10513032" cy="3379188"/>
            <a:chOff x="1283" y="284843"/>
            <a:chExt cx="10513032" cy="3379188"/>
          </a:xfrm>
        </p:grpSpPr>
        <p:sp>
          <p:nvSpPr>
            <p:cNvPr id="561" name="Google Shape;561;p11"/>
            <p:cNvSpPr/>
            <p:nvPr/>
          </p:nvSpPr>
          <p:spPr>
            <a:xfrm>
              <a:off x="1283" y="284843"/>
              <a:ext cx="3003723" cy="1501861"/>
            </a:xfrm>
            <a:prstGeom prst="roundRect">
              <a:avLst>
                <a:gd name="adj" fmla="val 10000"/>
              </a:avLst>
            </a:prstGeom>
            <a:solidFill>
              <a:srgbClr val="A0289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11"/>
            <p:cNvSpPr txBox="1"/>
            <p:nvPr/>
          </p:nvSpPr>
          <p:spPr>
            <a:xfrm>
              <a:off x="45271" y="328831"/>
              <a:ext cx="2915747" cy="1413885"/>
            </a:xfrm>
            <a:prstGeom prst="rect">
              <a:avLst/>
            </a:prstGeom>
            <a:noFill/>
            <a:ln>
              <a:noFill/>
            </a:ln>
          </p:spPr>
          <p:txBody>
            <a:bodyPr spcFirstLastPara="1" wrap="square" lIns="78100" tIns="52050" rIns="78100" bIns="52050" anchor="ctr" anchorCtr="0">
              <a:noAutofit/>
            </a:bodyPr>
            <a:lstStyle/>
            <a:p>
              <a:pPr marL="0" marR="0" lvl="0" indent="0" algn="ctr" rtl="0">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Browsers, Webservers</a:t>
              </a:r>
              <a:endParaRPr/>
            </a:p>
          </p:txBody>
        </p:sp>
        <p:sp>
          <p:nvSpPr>
            <p:cNvPr id="563" name="Google Shape;563;p11"/>
            <p:cNvSpPr/>
            <p:nvPr/>
          </p:nvSpPr>
          <p:spPr>
            <a:xfrm>
              <a:off x="301656" y="1786705"/>
              <a:ext cx="300372" cy="1126396"/>
            </a:xfrm>
            <a:custGeom>
              <a:avLst/>
              <a:gdLst/>
              <a:ahLst/>
              <a:cxnLst/>
              <a:rect l="l" t="t" r="r" b="b"/>
              <a:pathLst>
                <a:path w="120000" h="120000" extrusionOk="0">
                  <a:moveTo>
                    <a:pt x="0" y="0"/>
                  </a:moveTo>
                  <a:lnTo>
                    <a:pt x="0" y="120000"/>
                  </a:lnTo>
                  <a:lnTo>
                    <a:pt x="120000" y="120000"/>
                  </a:lnTo>
                </a:path>
              </a:pathLst>
            </a:custGeom>
            <a:noFill/>
            <a:ln w="19050" cap="flat" cmpd="sng">
              <a:solidFill>
                <a:srgbClr val="4EA62C"/>
              </a:solidFill>
              <a:prstDash val="solid"/>
              <a:miter lim="800000"/>
              <a:headEnd type="none" w="sm" len="sm"/>
              <a:tailEnd type="none" w="sm" len="sm"/>
            </a:ln>
          </p:spPr>
          <p:txBody>
            <a:bodyPr/>
            <a:lstStyle/>
            <a:p>
              <a:endParaRPr lang="en-US"/>
            </a:p>
          </p:txBody>
        </p:sp>
        <p:sp>
          <p:nvSpPr>
            <p:cNvPr id="564" name="Google Shape;564;p11"/>
            <p:cNvSpPr/>
            <p:nvPr/>
          </p:nvSpPr>
          <p:spPr>
            <a:xfrm>
              <a:off x="602028" y="2162170"/>
              <a:ext cx="2402978" cy="1501861"/>
            </a:xfrm>
            <a:prstGeom prst="roundRect">
              <a:avLst>
                <a:gd name="adj" fmla="val 10000"/>
              </a:avLst>
            </a:prstGeom>
            <a:solidFill>
              <a:schemeClr val="lt1">
                <a:alpha val="89803"/>
              </a:schemeClr>
            </a:solidFill>
            <a:ln w="19050" cap="flat" cmpd="sng">
              <a:solidFill>
                <a:srgbClr val="A0289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txBox="1"/>
            <p:nvPr/>
          </p:nvSpPr>
          <p:spPr>
            <a:xfrm>
              <a:off x="646016" y="2206158"/>
              <a:ext cx="2315002" cy="1413885"/>
            </a:xfrm>
            <a:prstGeom prst="rect">
              <a:avLst/>
            </a:prstGeom>
            <a:noFill/>
            <a:ln>
              <a:noFill/>
            </a:ln>
          </p:spPr>
          <p:txBody>
            <a:bodyPr spcFirstLastPara="1" wrap="square" lIns="43800" tIns="29200" rIns="43800" bIns="29200" anchor="ctr" anchorCtr="0">
              <a:noAutofit/>
            </a:bodyPr>
            <a:lstStyle/>
            <a:p>
              <a:pPr marL="0" marR="0" lvl="0" indent="0" algn="ctr" rtl="0">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HTTP</a:t>
              </a:r>
              <a:endParaRPr/>
            </a:p>
          </p:txBody>
        </p:sp>
        <p:sp>
          <p:nvSpPr>
            <p:cNvPr id="566" name="Google Shape;566;p11"/>
            <p:cNvSpPr/>
            <p:nvPr/>
          </p:nvSpPr>
          <p:spPr>
            <a:xfrm>
              <a:off x="3755938" y="284843"/>
              <a:ext cx="3003723" cy="1501861"/>
            </a:xfrm>
            <a:prstGeom prst="roundRect">
              <a:avLst>
                <a:gd name="adj" fmla="val 10000"/>
              </a:avLst>
            </a:prstGeom>
            <a:solidFill>
              <a:srgbClr val="2B6FA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11"/>
            <p:cNvSpPr txBox="1"/>
            <p:nvPr/>
          </p:nvSpPr>
          <p:spPr>
            <a:xfrm>
              <a:off x="3799926" y="328831"/>
              <a:ext cx="2915747" cy="1413885"/>
            </a:xfrm>
            <a:prstGeom prst="rect">
              <a:avLst/>
            </a:prstGeom>
            <a:noFill/>
            <a:ln>
              <a:noFill/>
            </a:ln>
          </p:spPr>
          <p:txBody>
            <a:bodyPr spcFirstLastPara="1" wrap="square" lIns="78100" tIns="52050" rIns="78100" bIns="52050" anchor="ctr" anchorCtr="0">
              <a:noAutofit/>
            </a:bodyPr>
            <a:lstStyle/>
            <a:p>
              <a:pPr marL="0" marR="0" lvl="0" indent="0" algn="ctr" rtl="0">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Mailservers, Mailclients</a:t>
              </a:r>
              <a:endParaRPr/>
            </a:p>
          </p:txBody>
        </p:sp>
        <p:sp>
          <p:nvSpPr>
            <p:cNvPr id="568" name="Google Shape;568;p11"/>
            <p:cNvSpPr/>
            <p:nvPr/>
          </p:nvSpPr>
          <p:spPr>
            <a:xfrm>
              <a:off x="4056310" y="1786705"/>
              <a:ext cx="300372" cy="1126396"/>
            </a:xfrm>
            <a:custGeom>
              <a:avLst/>
              <a:gdLst/>
              <a:ahLst/>
              <a:cxnLst/>
              <a:rect l="l" t="t" r="r" b="b"/>
              <a:pathLst>
                <a:path w="120000" h="120000" extrusionOk="0">
                  <a:moveTo>
                    <a:pt x="0" y="0"/>
                  </a:moveTo>
                  <a:lnTo>
                    <a:pt x="0" y="120000"/>
                  </a:lnTo>
                  <a:lnTo>
                    <a:pt x="120000" y="120000"/>
                  </a:lnTo>
                </a:path>
              </a:pathLst>
            </a:custGeom>
            <a:noFill/>
            <a:ln w="19050" cap="flat" cmpd="sng">
              <a:solidFill>
                <a:srgbClr val="4EA62C"/>
              </a:solidFill>
              <a:prstDash val="solid"/>
              <a:miter lim="800000"/>
              <a:headEnd type="none" w="sm" len="sm"/>
              <a:tailEnd type="none" w="sm" len="sm"/>
            </a:ln>
          </p:spPr>
          <p:txBody>
            <a:bodyPr/>
            <a:lstStyle/>
            <a:p>
              <a:endParaRPr lang="en-US"/>
            </a:p>
          </p:txBody>
        </p:sp>
        <p:sp>
          <p:nvSpPr>
            <p:cNvPr id="569" name="Google Shape;569;p11"/>
            <p:cNvSpPr/>
            <p:nvPr/>
          </p:nvSpPr>
          <p:spPr>
            <a:xfrm>
              <a:off x="4356682" y="2162170"/>
              <a:ext cx="2402978" cy="1501861"/>
            </a:xfrm>
            <a:prstGeom prst="roundRect">
              <a:avLst>
                <a:gd name="adj" fmla="val 10000"/>
              </a:avLst>
            </a:prstGeom>
            <a:solidFill>
              <a:schemeClr val="lt1">
                <a:alpha val="89803"/>
              </a:schemeClr>
            </a:solidFill>
            <a:ln w="19050" cap="flat" cmpd="sng">
              <a:solidFill>
                <a:srgbClr val="2B6FA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txBox="1"/>
            <p:nvPr/>
          </p:nvSpPr>
          <p:spPr>
            <a:xfrm>
              <a:off x="4400670" y="2206158"/>
              <a:ext cx="2315002" cy="1413885"/>
            </a:xfrm>
            <a:prstGeom prst="rect">
              <a:avLst/>
            </a:prstGeom>
            <a:noFill/>
            <a:ln>
              <a:noFill/>
            </a:ln>
          </p:spPr>
          <p:txBody>
            <a:bodyPr spcFirstLastPara="1" wrap="square" lIns="43800" tIns="29200" rIns="43800" bIns="29200" anchor="ctr" anchorCtr="0">
              <a:noAutofit/>
            </a:bodyPr>
            <a:lstStyle/>
            <a:p>
              <a:pPr marL="0" marR="0" lvl="0" indent="0" algn="ctr" rtl="0">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SMTP/IMAP/POP3</a:t>
              </a:r>
              <a:endParaRPr/>
            </a:p>
          </p:txBody>
        </p:sp>
        <p:sp>
          <p:nvSpPr>
            <p:cNvPr id="571" name="Google Shape;571;p11"/>
            <p:cNvSpPr/>
            <p:nvPr/>
          </p:nvSpPr>
          <p:spPr>
            <a:xfrm>
              <a:off x="7510592" y="284843"/>
              <a:ext cx="3003723" cy="1501861"/>
            </a:xfrm>
            <a:prstGeom prst="roundRect">
              <a:avLst>
                <a:gd name="adj" fmla="val 10000"/>
              </a:avLst>
            </a:prstGeom>
            <a:solidFill>
              <a:srgbClr val="4CA62C"/>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11"/>
            <p:cNvSpPr txBox="1"/>
            <p:nvPr/>
          </p:nvSpPr>
          <p:spPr>
            <a:xfrm>
              <a:off x="7554580" y="328831"/>
              <a:ext cx="2915747" cy="1413885"/>
            </a:xfrm>
            <a:prstGeom prst="rect">
              <a:avLst/>
            </a:prstGeom>
            <a:noFill/>
            <a:ln>
              <a:noFill/>
            </a:ln>
          </p:spPr>
          <p:txBody>
            <a:bodyPr spcFirstLastPara="1" wrap="square" lIns="78100" tIns="52050" rIns="78100" bIns="52050" anchor="ctr" anchorCtr="0">
              <a:noAutofit/>
            </a:bodyPr>
            <a:lstStyle/>
            <a:p>
              <a:pPr marL="0" marR="0" lvl="0" indent="0" algn="ctr" rtl="0">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Peer 2 Peer Apps</a:t>
              </a:r>
              <a:endParaRPr/>
            </a:p>
          </p:txBody>
        </p:sp>
        <p:sp>
          <p:nvSpPr>
            <p:cNvPr id="573" name="Google Shape;573;p11"/>
            <p:cNvSpPr/>
            <p:nvPr/>
          </p:nvSpPr>
          <p:spPr>
            <a:xfrm>
              <a:off x="7810965" y="1786705"/>
              <a:ext cx="300372" cy="1126396"/>
            </a:xfrm>
            <a:custGeom>
              <a:avLst/>
              <a:gdLst/>
              <a:ahLst/>
              <a:cxnLst/>
              <a:rect l="l" t="t" r="r" b="b"/>
              <a:pathLst>
                <a:path w="120000" h="120000" extrusionOk="0">
                  <a:moveTo>
                    <a:pt x="0" y="0"/>
                  </a:moveTo>
                  <a:lnTo>
                    <a:pt x="0" y="120000"/>
                  </a:lnTo>
                  <a:lnTo>
                    <a:pt x="120000" y="120000"/>
                  </a:lnTo>
                </a:path>
              </a:pathLst>
            </a:custGeom>
            <a:noFill/>
            <a:ln w="19050" cap="flat" cmpd="sng">
              <a:solidFill>
                <a:srgbClr val="4EA62C"/>
              </a:solidFill>
              <a:prstDash val="solid"/>
              <a:miter lim="800000"/>
              <a:headEnd type="none" w="sm" len="sm"/>
              <a:tailEnd type="none" w="sm" len="sm"/>
            </a:ln>
          </p:spPr>
          <p:txBody>
            <a:bodyPr/>
            <a:lstStyle/>
            <a:p>
              <a:endParaRPr lang="en-US"/>
            </a:p>
          </p:txBody>
        </p:sp>
        <p:sp>
          <p:nvSpPr>
            <p:cNvPr id="574" name="Google Shape;574;p11"/>
            <p:cNvSpPr/>
            <p:nvPr/>
          </p:nvSpPr>
          <p:spPr>
            <a:xfrm>
              <a:off x="8111337" y="2162170"/>
              <a:ext cx="2402978" cy="1501861"/>
            </a:xfrm>
            <a:prstGeom prst="roundRect">
              <a:avLst>
                <a:gd name="adj" fmla="val 10000"/>
              </a:avLst>
            </a:prstGeom>
            <a:solidFill>
              <a:schemeClr val="lt1">
                <a:alpha val="89803"/>
              </a:schemeClr>
            </a:solidFill>
            <a:ln w="19050" cap="flat" cmpd="sng">
              <a:solidFill>
                <a:srgbClr val="4CA62C"/>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txBox="1"/>
            <p:nvPr/>
          </p:nvSpPr>
          <p:spPr>
            <a:xfrm>
              <a:off x="8155325" y="2206158"/>
              <a:ext cx="2315002" cy="1413885"/>
            </a:xfrm>
            <a:prstGeom prst="rect">
              <a:avLst/>
            </a:prstGeom>
            <a:noFill/>
            <a:ln>
              <a:noFill/>
            </a:ln>
          </p:spPr>
          <p:txBody>
            <a:bodyPr spcFirstLastPara="1" wrap="square" lIns="43800" tIns="29200" rIns="43800" bIns="29200" anchor="ctr" anchorCtr="0">
              <a:noAutofit/>
            </a:bodyPr>
            <a:lstStyle/>
            <a:p>
              <a:pPr marL="0" marR="0" lvl="0" indent="0" algn="ctr" rtl="0">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e.g., Bittorrent</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Socket programming</a:t>
            </a:r>
            <a:endParaRPr/>
          </a:p>
        </p:txBody>
      </p:sp>
      <p:sp>
        <p:nvSpPr>
          <p:cNvPr id="581" name="Google Shape;581;p12"/>
          <p:cNvSpPr txBox="1"/>
          <p:nvPr/>
        </p:nvSpPr>
        <p:spPr>
          <a:xfrm>
            <a:off x="535696" y="1629447"/>
            <a:ext cx="11607216" cy="15335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85000"/>
              </a:lnSpc>
              <a:spcBef>
                <a:spcPts val="0"/>
              </a:spcBef>
              <a:spcAft>
                <a:spcPts val="0"/>
              </a:spcAft>
              <a:buClr>
                <a:srgbClr val="000099"/>
              </a:buClr>
              <a:buSzPts val="3200"/>
              <a:buFont typeface="Noto Sans Symbols"/>
              <a:buNone/>
            </a:pPr>
            <a:r>
              <a:rPr lang="en-US" sz="3200" i="1">
                <a:solidFill>
                  <a:srgbClr val="CC0000"/>
                </a:solidFill>
                <a:latin typeface="Calibri"/>
                <a:ea typeface="Calibri"/>
                <a:cs typeface="Calibri"/>
                <a:sym typeface="Calibri"/>
              </a:rPr>
              <a:t>G</a:t>
            </a:r>
            <a:r>
              <a:rPr lang="en-US" sz="3200" b="0" i="1" u="none" strike="noStrike" cap="none">
                <a:solidFill>
                  <a:srgbClr val="CC0000"/>
                </a:solidFill>
                <a:latin typeface="Calibri"/>
                <a:ea typeface="Calibri"/>
                <a:cs typeface="Calibri"/>
                <a:sym typeface="Calibri"/>
              </a:rPr>
              <a:t>oal:</a:t>
            </a:r>
            <a:r>
              <a:rPr lang="en-US" sz="3200" b="0" i="0" u="none" strike="noStrike" cap="none">
                <a:solidFill>
                  <a:srgbClr val="000000"/>
                </a:solidFill>
                <a:latin typeface="Calibri"/>
                <a:ea typeface="Calibri"/>
                <a:cs typeface="Calibri"/>
                <a:sym typeface="Calibri"/>
              </a:rPr>
              <a:t> learn how to build client/server applications that communicate using sockets</a:t>
            </a:r>
            <a:endParaRPr sz="3200" b="0" i="1" u="none" strike="noStrike" cap="none">
              <a:solidFill>
                <a:srgbClr val="CC0000"/>
              </a:solidFill>
              <a:latin typeface="Calibri"/>
              <a:ea typeface="Calibri"/>
              <a:cs typeface="Calibri"/>
              <a:sym typeface="Calibri"/>
            </a:endParaRPr>
          </a:p>
          <a:p>
            <a:pPr marL="342900" marR="0" lvl="0" indent="-342900" algn="l" rtl="0">
              <a:lnSpc>
                <a:spcPct val="85000"/>
              </a:lnSpc>
              <a:spcBef>
                <a:spcPts val="640"/>
              </a:spcBef>
              <a:spcAft>
                <a:spcPts val="0"/>
              </a:spcAft>
              <a:buClr>
                <a:srgbClr val="000099"/>
              </a:buClr>
              <a:buSzPts val="3200"/>
              <a:buFont typeface="Noto Sans Symbols"/>
              <a:buNone/>
            </a:pPr>
            <a:r>
              <a:rPr lang="en-US" sz="3200" i="1">
                <a:solidFill>
                  <a:srgbClr val="CC0000"/>
                </a:solidFill>
                <a:latin typeface="Calibri"/>
                <a:ea typeface="Calibri"/>
                <a:cs typeface="Calibri"/>
                <a:sym typeface="Calibri"/>
              </a:rPr>
              <a:t>S</a:t>
            </a:r>
            <a:r>
              <a:rPr lang="en-US" sz="3200" b="0" i="1" u="none" strike="noStrike" cap="none">
                <a:solidFill>
                  <a:srgbClr val="CC0000"/>
                </a:solidFill>
                <a:latin typeface="Calibri"/>
                <a:ea typeface="Calibri"/>
                <a:cs typeface="Calibri"/>
                <a:sym typeface="Calibri"/>
              </a:rPr>
              <a:t>ocket:</a:t>
            </a:r>
            <a:r>
              <a:rPr lang="en-US" sz="3200" b="0" i="0" u="none" strike="noStrike" cap="none">
                <a:solidFill>
                  <a:srgbClr val="000000"/>
                </a:solidFill>
                <a:latin typeface="Calibri"/>
                <a:ea typeface="Calibri"/>
                <a:cs typeface="Calibri"/>
                <a:sym typeface="Calibri"/>
              </a:rPr>
              <a:t> door between application process and end-end-transport protocol </a:t>
            </a:r>
            <a:endParaRPr/>
          </a:p>
        </p:txBody>
      </p:sp>
      <p:sp>
        <p:nvSpPr>
          <p:cNvPr id="582" name="Google Shape;582;p12"/>
          <p:cNvSpPr/>
          <p:nvPr/>
        </p:nvSpPr>
        <p:spPr>
          <a:xfrm>
            <a:off x="8379242" y="3598233"/>
            <a:ext cx="736600" cy="1998662"/>
          </a:xfrm>
          <a:custGeom>
            <a:avLst/>
            <a:gdLst/>
            <a:ahLst/>
            <a:cxnLst/>
            <a:rect l="l" t="t" r="r" b="b"/>
            <a:pathLst>
              <a:path w="464" h="1259" extrusionOk="0">
                <a:moveTo>
                  <a:pt x="464" y="1060"/>
                </a:moveTo>
                <a:lnTo>
                  <a:pt x="0" y="0"/>
                </a:lnTo>
                <a:lnTo>
                  <a:pt x="6" y="1258"/>
                </a:lnTo>
                <a:lnTo>
                  <a:pt x="382" y="1259"/>
                </a:lnTo>
                <a:lnTo>
                  <a:pt x="464" y="1060"/>
                </a:lnTo>
                <a:close/>
              </a:path>
            </a:pathLst>
          </a:custGeom>
          <a:gradFill>
            <a:gsLst>
              <a:gs pos="0">
                <a:srgbClr val="FFFFFF"/>
              </a:gs>
              <a:gs pos="100000">
                <a:srgbClr val="0F4861"/>
              </a:gs>
            </a:gsLst>
            <a:lin ang="10800000" scaled="0"/>
          </a:gra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583" name="Google Shape;583;p12"/>
          <p:cNvSpPr/>
          <p:nvPr/>
        </p:nvSpPr>
        <p:spPr>
          <a:xfrm>
            <a:off x="5064542" y="4895220"/>
            <a:ext cx="1808162" cy="1031875"/>
          </a:xfrm>
          <a:custGeom>
            <a:avLst/>
            <a:gdLst/>
            <a:ahLst/>
            <a:cxnLst/>
            <a:rect l="l" t="t" r="r" b="b"/>
            <a:pathLst>
              <a:path w="2135" h="1662" extrusionOk="0">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584" name="Google Shape;584;p12"/>
          <p:cNvSpPr txBox="1"/>
          <p:nvPr/>
        </p:nvSpPr>
        <p:spPr>
          <a:xfrm>
            <a:off x="5502692" y="5026983"/>
            <a:ext cx="874712" cy="33655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Internet</a:t>
            </a:r>
            <a:endParaRPr/>
          </a:p>
        </p:txBody>
      </p:sp>
      <p:cxnSp>
        <p:nvCxnSpPr>
          <p:cNvPr id="585" name="Google Shape;585;p12"/>
          <p:cNvCxnSpPr/>
          <p:nvPr/>
        </p:nvCxnSpPr>
        <p:spPr>
          <a:xfrm>
            <a:off x="4823242" y="5438145"/>
            <a:ext cx="2211387" cy="0"/>
          </a:xfrm>
          <a:prstGeom prst="straightConnector1">
            <a:avLst/>
          </a:prstGeom>
          <a:noFill/>
          <a:ln w="9525" cap="flat" cmpd="sng">
            <a:solidFill>
              <a:srgbClr val="000000"/>
            </a:solidFill>
            <a:prstDash val="solid"/>
            <a:round/>
            <a:headEnd type="triangle" w="med" len="med"/>
            <a:tailEnd type="triangle" w="med" len="med"/>
          </a:ln>
        </p:spPr>
      </p:cxnSp>
      <p:sp>
        <p:nvSpPr>
          <p:cNvPr id="586" name="Google Shape;586;p12"/>
          <p:cNvSpPr txBox="1"/>
          <p:nvPr/>
        </p:nvSpPr>
        <p:spPr>
          <a:xfrm>
            <a:off x="8844379" y="4663445"/>
            <a:ext cx="1063625" cy="825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CC0000"/>
              </a:buClr>
              <a:buSzPts val="1600"/>
              <a:buFont typeface="Arial"/>
              <a:buNone/>
            </a:pPr>
            <a:r>
              <a:rPr lang="en-US" sz="1600" b="0" i="0" u="none" strike="noStrike" cap="none">
                <a:solidFill>
                  <a:srgbClr val="CC0000"/>
                </a:solidFill>
                <a:latin typeface="Arial"/>
                <a:ea typeface="Arial"/>
                <a:cs typeface="Arial"/>
                <a:sym typeface="Arial"/>
              </a:rPr>
              <a:t>controlled</a:t>
            </a:r>
            <a:endParaRPr/>
          </a:p>
          <a:p>
            <a:pPr marL="0" marR="0" lvl="0" indent="0" algn="l" rtl="0">
              <a:lnSpc>
                <a:spcPct val="100000"/>
              </a:lnSpc>
              <a:spcBef>
                <a:spcPts val="0"/>
              </a:spcBef>
              <a:spcAft>
                <a:spcPts val="0"/>
              </a:spcAft>
              <a:buClr>
                <a:srgbClr val="CC0000"/>
              </a:buClr>
              <a:buSzPts val="1600"/>
              <a:buFont typeface="Arial"/>
              <a:buNone/>
            </a:pPr>
            <a:r>
              <a:rPr lang="en-US" sz="1600" b="0" i="0" u="none" strike="noStrike" cap="none">
                <a:solidFill>
                  <a:srgbClr val="CC0000"/>
                </a:solidFill>
                <a:latin typeface="Arial"/>
                <a:ea typeface="Arial"/>
                <a:cs typeface="Arial"/>
                <a:sym typeface="Arial"/>
              </a:rPr>
              <a:t>by OS</a:t>
            </a:r>
            <a:endParaRPr/>
          </a:p>
          <a:p>
            <a:pPr marL="0" marR="0" lvl="0" indent="0" algn="l" rtl="0">
              <a:lnSpc>
                <a:spcPct val="100000"/>
              </a:lnSpc>
              <a:spcBef>
                <a:spcPts val="0"/>
              </a:spcBef>
              <a:spcAft>
                <a:spcPts val="0"/>
              </a:spcAft>
              <a:buClr>
                <a:schemeClr val="dk1"/>
              </a:buClr>
              <a:buSzPts val="1600"/>
              <a:buFont typeface="Arial"/>
              <a:buNone/>
            </a:pPr>
            <a:endParaRPr sz="1600" b="0" i="0" u="none" strike="noStrike" cap="none">
              <a:solidFill>
                <a:srgbClr val="CC0000"/>
              </a:solidFill>
              <a:latin typeface="Times New Roman"/>
              <a:ea typeface="Times New Roman"/>
              <a:cs typeface="Times New Roman"/>
              <a:sym typeface="Times New Roman"/>
            </a:endParaRPr>
          </a:p>
        </p:txBody>
      </p:sp>
      <p:sp>
        <p:nvSpPr>
          <p:cNvPr id="587" name="Google Shape;587;p12"/>
          <p:cNvSpPr txBox="1"/>
          <p:nvPr/>
        </p:nvSpPr>
        <p:spPr>
          <a:xfrm>
            <a:off x="8822154" y="3763333"/>
            <a:ext cx="1470025" cy="533400"/>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CC0000"/>
              </a:buClr>
              <a:buSzPts val="1600"/>
              <a:buFont typeface="Arial"/>
              <a:buNone/>
            </a:pPr>
            <a:r>
              <a:rPr lang="en-US" sz="1600" b="0" i="0" u="none" strike="noStrike" cap="none">
                <a:solidFill>
                  <a:srgbClr val="CC0000"/>
                </a:solidFill>
                <a:latin typeface="Arial"/>
                <a:ea typeface="Arial"/>
                <a:cs typeface="Arial"/>
                <a:sym typeface="Arial"/>
              </a:rPr>
              <a:t>controlled by</a:t>
            </a:r>
            <a:endParaRPr/>
          </a:p>
          <a:p>
            <a:pPr marL="0" marR="0" lvl="0" indent="0" algn="l" rtl="0">
              <a:lnSpc>
                <a:spcPct val="90000"/>
              </a:lnSpc>
              <a:spcBef>
                <a:spcPts val="0"/>
              </a:spcBef>
              <a:spcAft>
                <a:spcPts val="0"/>
              </a:spcAft>
              <a:buClr>
                <a:srgbClr val="CC0000"/>
              </a:buClr>
              <a:buSzPts val="1600"/>
              <a:buFont typeface="Arial"/>
              <a:buNone/>
            </a:pPr>
            <a:r>
              <a:rPr lang="en-US" sz="1600" b="0" i="0" u="none" strike="noStrike" cap="none">
                <a:solidFill>
                  <a:srgbClr val="CC0000"/>
                </a:solidFill>
                <a:latin typeface="Arial"/>
                <a:ea typeface="Arial"/>
                <a:cs typeface="Arial"/>
                <a:sym typeface="Arial"/>
              </a:rPr>
              <a:t>app developer</a:t>
            </a:r>
            <a:endParaRPr/>
          </a:p>
        </p:txBody>
      </p:sp>
      <p:sp>
        <p:nvSpPr>
          <p:cNvPr id="588" name="Google Shape;588;p12"/>
          <p:cNvSpPr/>
          <p:nvPr/>
        </p:nvSpPr>
        <p:spPr>
          <a:xfrm>
            <a:off x="2638842" y="3661733"/>
            <a:ext cx="758825" cy="1997075"/>
          </a:xfrm>
          <a:custGeom>
            <a:avLst/>
            <a:gdLst/>
            <a:ahLst/>
            <a:cxnLst/>
            <a:rect l="l" t="t" r="r" b="b"/>
            <a:pathLst>
              <a:path w="478" h="1258" extrusionOk="0">
                <a:moveTo>
                  <a:pt x="0" y="1040"/>
                </a:moveTo>
                <a:lnTo>
                  <a:pt x="478" y="0"/>
                </a:lnTo>
                <a:lnTo>
                  <a:pt x="472" y="1258"/>
                </a:lnTo>
                <a:lnTo>
                  <a:pt x="41" y="1246"/>
                </a:lnTo>
                <a:lnTo>
                  <a:pt x="0" y="1040"/>
                </a:lnTo>
                <a:close/>
              </a:path>
            </a:pathLst>
          </a:custGeom>
          <a:gradFill>
            <a:gsLst>
              <a:gs pos="0">
                <a:srgbClr val="FFFFFF"/>
              </a:gs>
              <a:gs pos="100000">
                <a:srgbClr val="0F4861"/>
              </a:gs>
            </a:gsLst>
            <a:lin ang="0" scaled="0"/>
          </a:gradFill>
          <a:ln w="9525" cap="flat" cmpd="sng">
            <a:solidFill>
              <a:srgbClr val="DDDDD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589" name="Google Shape;589;p12"/>
          <p:cNvSpPr/>
          <p:nvPr/>
        </p:nvSpPr>
        <p:spPr>
          <a:xfrm>
            <a:off x="3442117" y="3617283"/>
            <a:ext cx="1296987" cy="1981200"/>
          </a:xfrm>
          <a:prstGeom prst="rect">
            <a:avLst/>
          </a:prstGeom>
          <a:solidFill>
            <a:srgbClr val="00009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590" name="Google Shape;590;p12"/>
          <p:cNvSpPr/>
          <p:nvPr/>
        </p:nvSpPr>
        <p:spPr>
          <a:xfrm>
            <a:off x="3404017" y="3671258"/>
            <a:ext cx="1273175" cy="1979612"/>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591" name="Google Shape;591;p12"/>
          <p:cNvCxnSpPr/>
          <p:nvPr/>
        </p:nvCxnSpPr>
        <p:spPr>
          <a:xfrm>
            <a:off x="3413542" y="4431670"/>
            <a:ext cx="1263650" cy="3175"/>
          </a:xfrm>
          <a:prstGeom prst="straightConnector1">
            <a:avLst/>
          </a:prstGeom>
          <a:noFill/>
          <a:ln w="28575" cap="flat" cmpd="sng">
            <a:solidFill>
              <a:srgbClr val="000000"/>
            </a:solidFill>
            <a:prstDash val="solid"/>
            <a:round/>
            <a:headEnd type="none" w="med" len="med"/>
            <a:tailEnd type="none" w="med" len="med"/>
          </a:ln>
        </p:spPr>
      </p:cxnSp>
      <p:sp>
        <p:nvSpPr>
          <p:cNvPr id="592" name="Google Shape;592;p12"/>
          <p:cNvSpPr txBox="1"/>
          <p:nvPr/>
        </p:nvSpPr>
        <p:spPr>
          <a:xfrm>
            <a:off x="3370679" y="4414208"/>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transport</a:t>
            </a:r>
            <a:endParaRPr/>
          </a:p>
        </p:txBody>
      </p:sp>
      <p:cxnSp>
        <p:nvCxnSpPr>
          <p:cNvPr id="593" name="Google Shape;593;p12"/>
          <p:cNvCxnSpPr/>
          <p:nvPr/>
        </p:nvCxnSpPr>
        <p:spPr>
          <a:xfrm>
            <a:off x="3421479" y="4752345"/>
            <a:ext cx="1263650" cy="3175"/>
          </a:xfrm>
          <a:prstGeom prst="straightConnector1">
            <a:avLst/>
          </a:prstGeom>
          <a:noFill/>
          <a:ln w="28575" cap="flat" cmpd="sng">
            <a:solidFill>
              <a:srgbClr val="000000"/>
            </a:solidFill>
            <a:prstDash val="solid"/>
            <a:round/>
            <a:headEnd type="none" w="med" len="med"/>
            <a:tailEnd type="none" w="med" len="med"/>
          </a:ln>
        </p:spPr>
      </p:cxnSp>
      <p:cxnSp>
        <p:nvCxnSpPr>
          <p:cNvPr id="594" name="Google Shape;594;p12"/>
          <p:cNvCxnSpPr/>
          <p:nvPr/>
        </p:nvCxnSpPr>
        <p:spPr>
          <a:xfrm>
            <a:off x="3407192" y="5061908"/>
            <a:ext cx="1263650" cy="3175"/>
          </a:xfrm>
          <a:prstGeom prst="straightConnector1">
            <a:avLst/>
          </a:prstGeom>
          <a:noFill/>
          <a:ln w="28575" cap="flat" cmpd="sng">
            <a:solidFill>
              <a:srgbClr val="000000"/>
            </a:solidFill>
            <a:prstDash val="solid"/>
            <a:round/>
            <a:headEnd type="none" w="med" len="med"/>
            <a:tailEnd type="none" w="med" len="med"/>
          </a:ln>
        </p:spPr>
      </p:cxnSp>
      <p:cxnSp>
        <p:nvCxnSpPr>
          <p:cNvPr id="595" name="Google Shape;595;p12"/>
          <p:cNvCxnSpPr/>
          <p:nvPr/>
        </p:nvCxnSpPr>
        <p:spPr>
          <a:xfrm>
            <a:off x="3407192" y="5347658"/>
            <a:ext cx="1263650" cy="3175"/>
          </a:xfrm>
          <a:prstGeom prst="straightConnector1">
            <a:avLst/>
          </a:prstGeom>
          <a:noFill/>
          <a:ln w="28575" cap="flat" cmpd="sng">
            <a:solidFill>
              <a:srgbClr val="000000"/>
            </a:solidFill>
            <a:prstDash val="solid"/>
            <a:round/>
            <a:headEnd type="none" w="med" len="med"/>
            <a:tailEnd type="none" w="med" len="med"/>
          </a:ln>
        </p:spPr>
      </p:cxnSp>
      <p:sp>
        <p:nvSpPr>
          <p:cNvPr id="596" name="Google Shape;596;p12"/>
          <p:cNvSpPr txBox="1"/>
          <p:nvPr/>
        </p:nvSpPr>
        <p:spPr>
          <a:xfrm>
            <a:off x="3405604" y="3661733"/>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000000"/>
              </a:buClr>
              <a:buSzPts val="1400"/>
              <a:buFont typeface="Tahoma"/>
              <a:buNone/>
            </a:pPr>
            <a:r>
              <a:rPr lang="en-US" sz="1400" b="0" i="0" u="none" strike="noStrike" cap="none">
                <a:solidFill>
                  <a:srgbClr val="000000"/>
                </a:solidFill>
                <a:latin typeface="Tahoma"/>
                <a:ea typeface="Tahoma"/>
                <a:cs typeface="Tahoma"/>
                <a:sym typeface="Tahoma"/>
              </a:rPr>
              <a:t>application</a:t>
            </a:r>
            <a:endParaRPr/>
          </a:p>
        </p:txBody>
      </p:sp>
      <p:sp>
        <p:nvSpPr>
          <p:cNvPr id="597" name="Google Shape;597;p12"/>
          <p:cNvSpPr txBox="1"/>
          <p:nvPr/>
        </p:nvSpPr>
        <p:spPr>
          <a:xfrm>
            <a:off x="3361154" y="5319083"/>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physical</a:t>
            </a:r>
            <a:endParaRPr/>
          </a:p>
        </p:txBody>
      </p:sp>
      <p:sp>
        <p:nvSpPr>
          <p:cNvPr id="598" name="Google Shape;598;p12"/>
          <p:cNvSpPr txBox="1"/>
          <p:nvPr/>
        </p:nvSpPr>
        <p:spPr>
          <a:xfrm>
            <a:off x="3380204" y="5033333"/>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link</a:t>
            </a:r>
            <a:endParaRPr/>
          </a:p>
        </p:txBody>
      </p:sp>
      <p:sp>
        <p:nvSpPr>
          <p:cNvPr id="599" name="Google Shape;599;p12"/>
          <p:cNvSpPr txBox="1"/>
          <p:nvPr/>
        </p:nvSpPr>
        <p:spPr>
          <a:xfrm>
            <a:off x="3370679" y="4738058"/>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network</a:t>
            </a:r>
            <a:endParaRPr/>
          </a:p>
        </p:txBody>
      </p:sp>
      <p:sp>
        <p:nvSpPr>
          <p:cNvPr id="600" name="Google Shape;600;p12"/>
          <p:cNvSpPr/>
          <p:nvPr/>
        </p:nvSpPr>
        <p:spPr>
          <a:xfrm>
            <a:off x="3538954" y="3936370"/>
            <a:ext cx="990600" cy="304800"/>
          </a:xfrm>
          <a:prstGeom prst="ellipse">
            <a:avLst/>
          </a:prstGeom>
          <a:solidFill>
            <a:srgbClr val="CC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process</a:t>
            </a:r>
            <a:endParaRPr/>
          </a:p>
        </p:txBody>
      </p:sp>
      <p:sp>
        <p:nvSpPr>
          <p:cNvPr id="601" name="Google Shape;601;p12"/>
          <p:cNvSpPr/>
          <p:nvPr/>
        </p:nvSpPr>
        <p:spPr>
          <a:xfrm>
            <a:off x="7104479" y="3588708"/>
            <a:ext cx="1296988" cy="1981200"/>
          </a:xfrm>
          <a:prstGeom prst="rect">
            <a:avLst/>
          </a:prstGeom>
          <a:solidFill>
            <a:srgbClr val="000099"/>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sp>
        <p:nvSpPr>
          <p:cNvPr id="602" name="Google Shape;602;p12"/>
          <p:cNvSpPr/>
          <p:nvPr/>
        </p:nvSpPr>
        <p:spPr>
          <a:xfrm>
            <a:off x="7066379" y="3642683"/>
            <a:ext cx="1273175" cy="1979612"/>
          </a:xfrm>
          <a:prstGeom prst="rect">
            <a:avLst/>
          </a:prstGeom>
          <a:solidFill>
            <a:srgbClr val="FFFFFF"/>
          </a:solidFill>
          <a:ln w="2857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2400"/>
              <a:buFont typeface="Arial"/>
              <a:buNone/>
            </a:pPr>
            <a:endParaRPr sz="2400" b="0" i="0" u="none" strike="noStrike" cap="none">
              <a:solidFill>
                <a:srgbClr val="000000"/>
              </a:solidFill>
              <a:latin typeface="Times New Roman"/>
              <a:ea typeface="Times New Roman"/>
              <a:cs typeface="Times New Roman"/>
              <a:sym typeface="Times New Roman"/>
            </a:endParaRPr>
          </a:p>
        </p:txBody>
      </p:sp>
      <p:cxnSp>
        <p:nvCxnSpPr>
          <p:cNvPr id="603" name="Google Shape;603;p12"/>
          <p:cNvCxnSpPr/>
          <p:nvPr/>
        </p:nvCxnSpPr>
        <p:spPr>
          <a:xfrm>
            <a:off x="7075904" y="4403095"/>
            <a:ext cx="1263650" cy="3175"/>
          </a:xfrm>
          <a:prstGeom prst="straightConnector1">
            <a:avLst/>
          </a:prstGeom>
          <a:noFill/>
          <a:ln w="28575" cap="flat" cmpd="sng">
            <a:solidFill>
              <a:srgbClr val="000000"/>
            </a:solidFill>
            <a:prstDash val="solid"/>
            <a:round/>
            <a:headEnd type="none" w="med" len="med"/>
            <a:tailEnd type="none" w="med" len="med"/>
          </a:ln>
        </p:spPr>
      </p:cxnSp>
      <p:sp>
        <p:nvSpPr>
          <p:cNvPr id="604" name="Google Shape;604;p12"/>
          <p:cNvSpPr txBox="1"/>
          <p:nvPr/>
        </p:nvSpPr>
        <p:spPr>
          <a:xfrm>
            <a:off x="7033042" y="4385633"/>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transport</a:t>
            </a:r>
            <a:endParaRPr/>
          </a:p>
        </p:txBody>
      </p:sp>
      <p:cxnSp>
        <p:nvCxnSpPr>
          <p:cNvPr id="605" name="Google Shape;605;p12"/>
          <p:cNvCxnSpPr/>
          <p:nvPr/>
        </p:nvCxnSpPr>
        <p:spPr>
          <a:xfrm>
            <a:off x="7083842" y="4723770"/>
            <a:ext cx="1263650" cy="3175"/>
          </a:xfrm>
          <a:prstGeom prst="straightConnector1">
            <a:avLst/>
          </a:prstGeom>
          <a:noFill/>
          <a:ln w="28575" cap="flat" cmpd="sng">
            <a:solidFill>
              <a:srgbClr val="000000"/>
            </a:solidFill>
            <a:prstDash val="solid"/>
            <a:round/>
            <a:headEnd type="none" w="med" len="med"/>
            <a:tailEnd type="none" w="med" len="med"/>
          </a:ln>
        </p:spPr>
      </p:cxnSp>
      <p:cxnSp>
        <p:nvCxnSpPr>
          <p:cNvPr id="606" name="Google Shape;606;p12"/>
          <p:cNvCxnSpPr/>
          <p:nvPr/>
        </p:nvCxnSpPr>
        <p:spPr>
          <a:xfrm>
            <a:off x="7069554" y="5033333"/>
            <a:ext cx="1263650" cy="3175"/>
          </a:xfrm>
          <a:prstGeom prst="straightConnector1">
            <a:avLst/>
          </a:prstGeom>
          <a:noFill/>
          <a:ln w="28575" cap="flat" cmpd="sng">
            <a:solidFill>
              <a:srgbClr val="000000"/>
            </a:solidFill>
            <a:prstDash val="solid"/>
            <a:round/>
            <a:headEnd type="none" w="med" len="med"/>
            <a:tailEnd type="none" w="med" len="med"/>
          </a:ln>
        </p:spPr>
      </p:cxnSp>
      <p:cxnSp>
        <p:nvCxnSpPr>
          <p:cNvPr id="607" name="Google Shape;607;p12"/>
          <p:cNvCxnSpPr/>
          <p:nvPr/>
        </p:nvCxnSpPr>
        <p:spPr>
          <a:xfrm>
            <a:off x="7069554" y="5319083"/>
            <a:ext cx="1263650" cy="3175"/>
          </a:xfrm>
          <a:prstGeom prst="straightConnector1">
            <a:avLst/>
          </a:prstGeom>
          <a:noFill/>
          <a:ln w="28575" cap="flat" cmpd="sng">
            <a:solidFill>
              <a:srgbClr val="000000"/>
            </a:solidFill>
            <a:prstDash val="solid"/>
            <a:round/>
            <a:headEnd type="none" w="med" len="med"/>
            <a:tailEnd type="none" w="med" len="med"/>
          </a:ln>
        </p:spPr>
      </p:cxnSp>
      <p:sp>
        <p:nvSpPr>
          <p:cNvPr id="608" name="Google Shape;608;p12"/>
          <p:cNvSpPr txBox="1"/>
          <p:nvPr/>
        </p:nvSpPr>
        <p:spPr>
          <a:xfrm>
            <a:off x="7067967" y="3633158"/>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000000"/>
              </a:buClr>
              <a:buSzPts val="1400"/>
              <a:buFont typeface="Tahoma"/>
              <a:buNone/>
            </a:pPr>
            <a:r>
              <a:rPr lang="en-US" sz="1400" b="0" i="0" u="none" strike="noStrike" cap="none">
                <a:solidFill>
                  <a:srgbClr val="000000"/>
                </a:solidFill>
                <a:latin typeface="Tahoma"/>
                <a:ea typeface="Tahoma"/>
                <a:cs typeface="Tahoma"/>
                <a:sym typeface="Tahoma"/>
              </a:rPr>
              <a:t>application</a:t>
            </a:r>
            <a:endParaRPr/>
          </a:p>
        </p:txBody>
      </p:sp>
      <p:sp>
        <p:nvSpPr>
          <p:cNvPr id="609" name="Google Shape;609;p12"/>
          <p:cNvSpPr txBox="1"/>
          <p:nvPr/>
        </p:nvSpPr>
        <p:spPr>
          <a:xfrm>
            <a:off x="7023517" y="5290508"/>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physical</a:t>
            </a:r>
            <a:endParaRPr/>
          </a:p>
        </p:txBody>
      </p:sp>
      <p:sp>
        <p:nvSpPr>
          <p:cNvPr id="610" name="Google Shape;610;p12"/>
          <p:cNvSpPr txBox="1"/>
          <p:nvPr/>
        </p:nvSpPr>
        <p:spPr>
          <a:xfrm>
            <a:off x="7042567" y="5004758"/>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link</a:t>
            </a:r>
            <a:endParaRPr/>
          </a:p>
        </p:txBody>
      </p:sp>
      <p:sp>
        <p:nvSpPr>
          <p:cNvPr id="611" name="Google Shape;611;p12"/>
          <p:cNvSpPr txBox="1"/>
          <p:nvPr/>
        </p:nvSpPr>
        <p:spPr>
          <a:xfrm>
            <a:off x="7033042" y="4709483"/>
            <a:ext cx="1317625" cy="325437"/>
          </a:xfrm>
          <a:prstGeom prst="rect">
            <a:avLst/>
          </a:prstGeom>
          <a:noFill/>
          <a:ln>
            <a:noFill/>
          </a:ln>
        </p:spPr>
        <p:txBody>
          <a:bodyPr spcFirstLastPara="1" wrap="square" lIns="91425" tIns="45700" rIns="91425" bIns="45700" anchor="t" anchorCtr="0">
            <a:spAutoFit/>
          </a:bodyPr>
          <a:lstStyle/>
          <a:p>
            <a:pPr marL="0" marR="0" lvl="0" indent="0" algn="ctr" rtl="0">
              <a:lnSpc>
                <a:spcPct val="110000"/>
              </a:lnSpc>
              <a:spcBef>
                <a:spcPts val="0"/>
              </a:spcBef>
              <a:spcAft>
                <a:spcPts val="0"/>
              </a:spcAft>
              <a:buClr>
                <a:srgbClr val="969696"/>
              </a:buClr>
              <a:buSzPts val="1400"/>
              <a:buFont typeface="Tahoma"/>
              <a:buNone/>
            </a:pPr>
            <a:r>
              <a:rPr lang="en-US" sz="1400" b="0" i="0" u="none" strike="noStrike" cap="none">
                <a:solidFill>
                  <a:srgbClr val="969696"/>
                </a:solidFill>
                <a:latin typeface="Tahoma"/>
                <a:ea typeface="Tahoma"/>
                <a:cs typeface="Tahoma"/>
                <a:sym typeface="Tahoma"/>
              </a:rPr>
              <a:t>network</a:t>
            </a:r>
            <a:endParaRPr/>
          </a:p>
        </p:txBody>
      </p:sp>
      <p:sp>
        <p:nvSpPr>
          <p:cNvPr id="612" name="Google Shape;612;p12"/>
          <p:cNvSpPr/>
          <p:nvPr/>
        </p:nvSpPr>
        <p:spPr>
          <a:xfrm>
            <a:off x="7201317" y="3907795"/>
            <a:ext cx="990600" cy="304800"/>
          </a:xfrm>
          <a:prstGeom prst="ellipse">
            <a:avLst/>
          </a:prstGeom>
          <a:solidFill>
            <a:srgbClr val="CC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process</a:t>
            </a:r>
            <a:endParaRPr/>
          </a:p>
        </p:txBody>
      </p:sp>
      <p:cxnSp>
        <p:nvCxnSpPr>
          <p:cNvPr id="613" name="Google Shape;613;p12"/>
          <p:cNvCxnSpPr/>
          <p:nvPr/>
        </p:nvCxnSpPr>
        <p:spPr>
          <a:xfrm rot="10800000">
            <a:off x="8258592" y="4039558"/>
            <a:ext cx="609600" cy="0"/>
          </a:xfrm>
          <a:prstGeom prst="straightConnector1">
            <a:avLst/>
          </a:prstGeom>
          <a:noFill/>
          <a:ln w="19050" cap="flat" cmpd="sng">
            <a:solidFill>
              <a:srgbClr val="CC0000"/>
            </a:solidFill>
            <a:prstDash val="solid"/>
            <a:round/>
            <a:headEnd type="none" w="med" len="med"/>
            <a:tailEnd type="none" w="med" len="med"/>
          </a:ln>
        </p:spPr>
      </p:cxnSp>
      <p:cxnSp>
        <p:nvCxnSpPr>
          <p:cNvPr id="614" name="Google Shape;614;p12"/>
          <p:cNvCxnSpPr/>
          <p:nvPr/>
        </p:nvCxnSpPr>
        <p:spPr>
          <a:xfrm>
            <a:off x="8484017" y="4465008"/>
            <a:ext cx="0" cy="1022350"/>
          </a:xfrm>
          <a:prstGeom prst="straightConnector1">
            <a:avLst/>
          </a:prstGeom>
          <a:noFill/>
          <a:ln w="19050" cap="flat" cmpd="sng">
            <a:solidFill>
              <a:srgbClr val="CC0000"/>
            </a:solidFill>
            <a:prstDash val="solid"/>
            <a:round/>
            <a:headEnd type="none" w="med" len="med"/>
            <a:tailEnd type="none" w="med" len="med"/>
          </a:ln>
        </p:spPr>
      </p:cxnSp>
      <p:cxnSp>
        <p:nvCxnSpPr>
          <p:cNvPr id="615" name="Google Shape;615;p12"/>
          <p:cNvCxnSpPr/>
          <p:nvPr/>
        </p:nvCxnSpPr>
        <p:spPr>
          <a:xfrm rot="10800000">
            <a:off x="8507829" y="4965070"/>
            <a:ext cx="609600" cy="0"/>
          </a:xfrm>
          <a:prstGeom prst="straightConnector1">
            <a:avLst/>
          </a:prstGeom>
          <a:noFill/>
          <a:ln w="19050" cap="flat" cmpd="sng">
            <a:solidFill>
              <a:srgbClr val="CC0000"/>
            </a:solidFill>
            <a:prstDash val="solid"/>
            <a:round/>
            <a:headEnd type="none" w="med" len="med"/>
            <a:tailEnd type="none" w="med" len="med"/>
          </a:ln>
        </p:spPr>
      </p:cxnSp>
      <p:grpSp>
        <p:nvGrpSpPr>
          <p:cNvPr id="616" name="Google Shape;616;p12"/>
          <p:cNvGrpSpPr/>
          <p:nvPr/>
        </p:nvGrpSpPr>
        <p:grpSpPr>
          <a:xfrm>
            <a:off x="3786604" y="3720470"/>
            <a:ext cx="4208463" cy="801688"/>
            <a:chOff x="3786604" y="3720470"/>
            <a:chExt cx="4208463" cy="801688"/>
          </a:xfrm>
        </p:grpSpPr>
        <p:grpSp>
          <p:nvGrpSpPr>
            <p:cNvPr id="617" name="Google Shape;617;p12"/>
            <p:cNvGrpSpPr/>
            <p:nvPr/>
          </p:nvGrpSpPr>
          <p:grpSpPr>
            <a:xfrm>
              <a:off x="3786604" y="4296733"/>
              <a:ext cx="546100" cy="225425"/>
              <a:chOff x="1287" y="2524"/>
              <a:chExt cx="260" cy="100"/>
            </a:xfrm>
          </p:grpSpPr>
          <p:sp>
            <p:nvSpPr>
              <p:cNvPr id="618" name="Google Shape;618;p12"/>
              <p:cNvSpPr/>
              <p:nvPr/>
            </p:nvSpPr>
            <p:spPr>
              <a:xfrm>
                <a:off x="1287" y="2524"/>
                <a:ext cx="260" cy="100"/>
              </a:xfrm>
              <a:prstGeom prst="rect">
                <a:avLst/>
              </a:prstGeom>
              <a:solidFill>
                <a:srgbClr val="C96B72"/>
              </a:solidFill>
              <a:ln w="9525" cap="flat" cmpd="sng">
                <a:solidFill>
                  <a:srgbClr val="00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19" name="Google Shape;619;p12"/>
              <p:cNvSpPr/>
              <p:nvPr/>
            </p:nvSpPr>
            <p:spPr>
              <a:xfrm>
                <a:off x="1338" y="2537"/>
                <a:ext cx="156" cy="76"/>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20" name="Google Shape;620;p12"/>
              <p:cNvSpPr/>
              <p:nvPr/>
            </p:nvSpPr>
            <p:spPr>
              <a:xfrm>
                <a:off x="1503" y="2582"/>
                <a:ext cx="27" cy="2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21" name="Google Shape;621;p12"/>
              <p:cNvSpPr/>
              <p:nvPr/>
            </p:nvSpPr>
            <p:spPr>
              <a:xfrm>
                <a:off x="1298" y="2583"/>
                <a:ext cx="26" cy="2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622" name="Google Shape;622;p12"/>
            <p:cNvGrpSpPr/>
            <p:nvPr/>
          </p:nvGrpSpPr>
          <p:grpSpPr>
            <a:xfrm>
              <a:off x="7448967" y="4268158"/>
              <a:ext cx="546100" cy="225425"/>
              <a:chOff x="1287" y="2524"/>
              <a:chExt cx="260" cy="100"/>
            </a:xfrm>
          </p:grpSpPr>
          <p:sp>
            <p:nvSpPr>
              <p:cNvPr id="623" name="Google Shape;623;p12"/>
              <p:cNvSpPr/>
              <p:nvPr/>
            </p:nvSpPr>
            <p:spPr>
              <a:xfrm>
                <a:off x="1287" y="2524"/>
                <a:ext cx="260" cy="100"/>
              </a:xfrm>
              <a:prstGeom prst="rect">
                <a:avLst/>
              </a:prstGeom>
              <a:solidFill>
                <a:srgbClr val="C96B7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24" name="Google Shape;624;p12"/>
              <p:cNvSpPr/>
              <p:nvPr/>
            </p:nvSpPr>
            <p:spPr>
              <a:xfrm>
                <a:off x="1338" y="2537"/>
                <a:ext cx="156" cy="76"/>
              </a:xfrm>
              <a:prstGeom prst="rect">
                <a:avLst/>
              </a:pr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25" name="Google Shape;625;p12"/>
              <p:cNvSpPr/>
              <p:nvPr/>
            </p:nvSpPr>
            <p:spPr>
              <a:xfrm>
                <a:off x="1503" y="2582"/>
                <a:ext cx="27" cy="2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sp>
            <p:nvSpPr>
              <p:cNvPr id="626" name="Google Shape;626;p12"/>
              <p:cNvSpPr/>
              <p:nvPr/>
            </p:nvSpPr>
            <p:spPr>
              <a:xfrm>
                <a:off x="1298" y="2583"/>
                <a:ext cx="26" cy="27"/>
              </a:xfrm>
              <a:prstGeom prst="rect">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
          <p:nvSpPr>
            <p:cNvPr id="627" name="Google Shape;627;p12"/>
            <p:cNvSpPr txBox="1"/>
            <p:nvPr/>
          </p:nvSpPr>
          <p:spPr>
            <a:xfrm>
              <a:off x="5421729" y="3720470"/>
              <a:ext cx="917575" cy="366713"/>
            </a:xfrm>
            <a:prstGeom prst="rect">
              <a:avLst/>
            </a:prstGeom>
            <a:noFill/>
            <a:ln>
              <a:noFill/>
            </a:ln>
          </p:spPr>
          <p:txBody>
            <a:bodyPr spcFirstLastPara="1" wrap="square" lIns="91425" tIns="45700" rIns="91425" bIns="45700" anchor="t" anchorCtr="0">
              <a:spAutoFit/>
            </a:bodyPr>
            <a:lstStyle/>
            <a:p>
              <a:pPr marL="0" marR="0" lvl="0" indent="0" algn="l" rtl="0">
                <a:lnSpc>
                  <a:spcPct val="90000"/>
                </a:lnSpc>
                <a:spcBef>
                  <a:spcPts val="0"/>
                </a:spcBef>
                <a:spcAft>
                  <a:spcPts val="0"/>
                </a:spcAft>
                <a:buClr>
                  <a:srgbClr val="CC0000"/>
                </a:buClr>
                <a:buSzPts val="2000"/>
                <a:buFont typeface="Arial"/>
                <a:buNone/>
              </a:pPr>
              <a:r>
                <a:rPr lang="en-US" sz="2000" b="0" i="1" u="none" strike="noStrike" cap="none">
                  <a:solidFill>
                    <a:srgbClr val="CC0000"/>
                  </a:solidFill>
                  <a:latin typeface="Arial"/>
                  <a:ea typeface="Arial"/>
                  <a:cs typeface="Arial"/>
                  <a:sym typeface="Arial"/>
                </a:rPr>
                <a:t>socket</a:t>
              </a:r>
              <a:endParaRPr/>
            </a:p>
          </p:txBody>
        </p:sp>
        <p:cxnSp>
          <p:nvCxnSpPr>
            <p:cNvPr id="628" name="Google Shape;628;p12"/>
            <p:cNvCxnSpPr/>
            <p:nvPr/>
          </p:nvCxnSpPr>
          <p:spPr>
            <a:xfrm rot="10800000" flipH="1">
              <a:off x="4424779" y="3920495"/>
              <a:ext cx="968375" cy="434975"/>
            </a:xfrm>
            <a:prstGeom prst="straightConnector1">
              <a:avLst/>
            </a:prstGeom>
            <a:noFill/>
            <a:ln w="19050" cap="flat" cmpd="sng">
              <a:solidFill>
                <a:srgbClr val="CC0000"/>
              </a:solidFill>
              <a:prstDash val="solid"/>
              <a:round/>
              <a:headEnd type="none" w="med" len="med"/>
              <a:tailEnd type="none" w="med" len="med"/>
            </a:ln>
          </p:spPr>
        </p:cxnSp>
        <p:cxnSp>
          <p:nvCxnSpPr>
            <p:cNvPr id="629" name="Google Shape;629;p12"/>
            <p:cNvCxnSpPr/>
            <p:nvPr/>
          </p:nvCxnSpPr>
          <p:spPr>
            <a:xfrm rot="10800000">
              <a:off x="6359942" y="3909383"/>
              <a:ext cx="968375" cy="434975"/>
            </a:xfrm>
            <a:prstGeom prst="straightConnector1">
              <a:avLst/>
            </a:prstGeom>
            <a:noFill/>
            <a:ln w="19050" cap="flat" cmpd="sng">
              <a:solidFill>
                <a:srgbClr val="CC0000"/>
              </a:solidFill>
              <a:prstDash val="solid"/>
              <a:round/>
              <a:headEnd type="none" w="med" len="med"/>
              <a:tailEnd type="none" w="med" len="med"/>
            </a:ln>
          </p:spPr>
        </p:cxnSp>
      </p:grpSp>
      <p:grpSp>
        <p:nvGrpSpPr>
          <p:cNvPr id="630" name="Google Shape;630;p12"/>
          <p:cNvGrpSpPr/>
          <p:nvPr/>
        </p:nvGrpSpPr>
        <p:grpSpPr>
          <a:xfrm>
            <a:off x="2214979" y="4974595"/>
            <a:ext cx="719138" cy="773113"/>
            <a:chOff x="-44" y="1473"/>
            <a:chExt cx="981" cy="1105"/>
          </a:xfrm>
        </p:grpSpPr>
        <p:pic>
          <p:nvPicPr>
            <p:cNvPr id="631" name="Google Shape;631;p12"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632" name="Google Shape;632;p12"/>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grpSp>
        <p:nvGrpSpPr>
          <p:cNvPr id="633" name="Google Shape;633;p12"/>
          <p:cNvGrpSpPr/>
          <p:nvPr/>
        </p:nvGrpSpPr>
        <p:grpSpPr>
          <a:xfrm flipH="1">
            <a:off x="8911054" y="5169858"/>
            <a:ext cx="719138" cy="773112"/>
            <a:chOff x="-44" y="1473"/>
            <a:chExt cx="981" cy="1105"/>
          </a:xfrm>
        </p:grpSpPr>
        <p:pic>
          <p:nvPicPr>
            <p:cNvPr id="634" name="Google Shape;634;p12" descr="desktop_computer_stylized_medium"/>
            <p:cNvPicPr preferRelativeResize="0"/>
            <p:nvPr/>
          </p:nvPicPr>
          <p:blipFill rotWithShape="1">
            <a:blip r:embed="rId3">
              <a:alphaModFix/>
            </a:blip>
            <a:srcRect/>
            <a:stretch/>
          </p:blipFill>
          <p:spPr>
            <a:xfrm flipH="1">
              <a:off x="-44" y="1473"/>
              <a:ext cx="981" cy="1105"/>
            </a:xfrm>
            <a:prstGeom prst="rect">
              <a:avLst/>
            </a:prstGeom>
            <a:noFill/>
            <a:ln>
              <a:noFill/>
            </a:ln>
          </p:spPr>
        </p:pic>
        <p:sp>
          <p:nvSpPr>
            <p:cNvPr id="635" name="Google Shape;635;p12"/>
            <p:cNvSpPr/>
            <p:nvPr/>
          </p:nvSpPr>
          <p:spPr>
            <a:xfrm flipH="1">
              <a:off x="374" y="1579"/>
              <a:ext cx="477" cy="506"/>
            </a:xfrm>
            <a:custGeom>
              <a:avLst/>
              <a:gdLst/>
              <a:ahLst/>
              <a:cxnLst/>
              <a:rect l="l" t="t" r="r" b="b"/>
              <a:pathLst>
                <a:path w="356" h="368" extrusionOk="0">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3333CC"/>
                </a:buClr>
                <a:buSzPts val="1700"/>
                <a:buFont typeface="Arial"/>
                <a:buNone/>
              </a:pPr>
              <a:endParaRPr sz="20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6"/>
                                        </p:tgtEl>
                                        <p:attrNameLst>
                                          <p:attrName>style.visibility</p:attrName>
                                        </p:attrNameLst>
                                      </p:cBhvr>
                                      <p:to>
                                        <p:strVal val="visible"/>
                                      </p:to>
                                    </p:set>
                                    <p:animEffect transition="in" filter="fade">
                                      <p:cBhvr>
                                        <p:cTn id="7" dur="500"/>
                                        <p:tgtEl>
                                          <p:spTgt spid="6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Socket Programming: </a:t>
            </a:r>
            <a:r>
              <a:rPr lang="en-US" sz="3600">
                <a:solidFill>
                  <a:srgbClr val="FF0000"/>
                </a:solidFill>
              </a:rPr>
              <a:t>Basics</a:t>
            </a:r>
            <a:endParaRPr/>
          </a:p>
        </p:txBody>
      </p:sp>
      <p:sp>
        <p:nvSpPr>
          <p:cNvPr id="641" name="Google Shape;64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The server application must be running before the client can send anything.</a:t>
            </a:r>
            <a:endParaRPr/>
          </a:p>
          <a:p>
            <a:pPr marL="228600" lvl="0" indent="-228600" algn="l" rtl="0">
              <a:lnSpc>
                <a:spcPct val="90000"/>
              </a:lnSpc>
              <a:spcBef>
                <a:spcPts val="1000"/>
              </a:spcBef>
              <a:spcAft>
                <a:spcPts val="0"/>
              </a:spcAft>
              <a:buClr>
                <a:schemeClr val="dk1"/>
              </a:buClr>
              <a:buSzPts val="2400"/>
              <a:buChar char="•"/>
            </a:pPr>
            <a:r>
              <a:rPr lang="en-US" sz="2400"/>
              <a:t>The server must have a socket through which it sends and receives messages. The client also need a socket.</a:t>
            </a:r>
            <a:endParaRPr/>
          </a:p>
          <a:p>
            <a:pPr marL="228600" lvl="0" indent="-228600" algn="l" rtl="0">
              <a:lnSpc>
                <a:spcPct val="90000"/>
              </a:lnSpc>
              <a:spcBef>
                <a:spcPts val="1000"/>
              </a:spcBef>
              <a:spcAft>
                <a:spcPts val="0"/>
              </a:spcAft>
              <a:buClr>
                <a:schemeClr val="dk1"/>
              </a:buClr>
              <a:buSzPts val="2400"/>
              <a:buChar char="•"/>
            </a:pPr>
            <a:r>
              <a:rPr lang="en-US" sz="2400"/>
              <a:t>Locally, a socket is identified by a port number.</a:t>
            </a:r>
            <a:endParaRPr/>
          </a:p>
          <a:p>
            <a:pPr marL="228600" lvl="0" indent="-228600" algn="l" rtl="0">
              <a:lnSpc>
                <a:spcPct val="90000"/>
              </a:lnSpc>
              <a:spcBef>
                <a:spcPts val="1000"/>
              </a:spcBef>
              <a:spcAft>
                <a:spcPts val="0"/>
              </a:spcAft>
              <a:buClr>
                <a:schemeClr val="dk1"/>
              </a:buClr>
              <a:buSzPts val="2400"/>
              <a:buChar char="•"/>
            </a:pPr>
            <a:r>
              <a:rPr lang="en-US" sz="2400"/>
              <a:t>In order to send messages to the server, the client needs to know the IP address and the port number of the server.</a:t>
            </a:r>
            <a:endParaRPr/>
          </a:p>
          <a:p>
            <a:pPr marL="228600" lvl="0" indent="-76200" algn="l" rtl="0">
              <a:lnSpc>
                <a:spcPct val="90000"/>
              </a:lnSpc>
              <a:spcBef>
                <a:spcPts val="1000"/>
              </a:spcBef>
              <a:spcAft>
                <a:spcPts val="0"/>
              </a:spcAft>
              <a:buClr>
                <a:schemeClr val="dk1"/>
              </a:buClr>
              <a:buSzPts val="2400"/>
              <a:buNone/>
            </a:pPr>
            <a:endParaRPr sz="2400"/>
          </a:p>
          <a:p>
            <a:pPr marL="228600" lvl="0" indent="-76200" algn="l" rtl="0">
              <a:lnSpc>
                <a:spcPct val="90000"/>
              </a:lnSpc>
              <a:spcBef>
                <a:spcPts val="1000"/>
              </a:spcBef>
              <a:spcAft>
                <a:spcPts val="0"/>
              </a:spcAft>
              <a:buClr>
                <a:schemeClr val="dk1"/>
              </a:buClr>
              <a:buSzPts val="2400"/>
              <a:buNone/>
            </a:pPr>
            <a:endParaRPr sz="2400"/>
          </a:p>
        </p:txBody>
      </p:sp>
      <p:sp>
        <p:nvSpPr>
          <p:cNvPr id="642" name="Google Shape;642;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13</a:t>
            </a:fld>
            <a:endParaRPr sz="1200">
              <a:solidFill>
                <a:schemeClr val="dk1"/>
              </a:solidFill>
              <a:latin typeface="Comic Sans MS"/>
              <a:ea typeface="Comic Sans MS"/>
              <a:cs typeface="Comic Sans MS"/>
              <a:sym typeface="Comic Sans MS"/>
            </a:endParaRPr>
          </a:p>
        </p:txBody>
      </p:sp>
      <p:sp>
        <p:nvSpPr>
          <p:cNvPr id="643" name="Google Shape;643;p13"/>
          <p:cNvSpPr txBox="1"/>
          <p:nvPr/>
        </p:nvSpPr>
        <p:spPr>
          <a:xfrm>
            <a:off x="838200" y="4408732"/>
            <a:ext cx="7886700" cy="10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FF0000"/>
              </a:buClr>
              <a:buSzPts val="2000"/>
              <a:buFont typeface="Arial"/>
              <a:buNone/>
            </a:pPr>
            <a:r>
              <a:rPr lang="en-US" sz="2000">
                <a:solidFill>
                  <a:srgbClr val="FF0000"/>
                </a:solidFill>
                <a:latin typeface="Arial"/>
                <a:ea typeface="Arial"/>
                <a:cs typeface="Arial"/>
                <a:sym typeface="Arial"/>
              </a:rPr>
              <a:t>Port number is analogous to an apartment number. All doors (sockets) lead into the building, but the client only has access to one of them, located at the provided number.</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4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4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4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4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48"/>
        <p:cNvGrpSpPr/>
        <p:nvPr/>
      </p:nvGrpSpPr>
      <p:grpSpPr>
        <a:xfrm>
          <a:off x="0" y="0"/>
          <a:ext cx="0" cy="0"/>
          <a:chOff x="0" y="0"/>
          <a:chExt cx="0" cy="0"/>
        </a:xfrm>
      </p:grpSpPr>
      <p:sp>
        <p:nvSpPr>
          <p:cNvPr id="649" name="Google Shape;649;p1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0" name="Google Shape;650;p14"/>
          <p:cNvSpPr txBox="1">
            <a:spLocks noGrp="1"/>
          </p:cNvSpPr>
          <p:nvPr>
            <p:ph type="title"/>
          </p:nvPr>
        </p:nvSpPr>
        <p:spPr>
          <a:xfrm>
            <a:off x="793662" y="386930"/>
            <a:ext cx="10066122" cy="1298448"/>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800"/>
              <a:buFont typeface="Play"/>
              <a:buNone/>
            </a:pPr>
            <a:r>
              <a:rPr lang="en-US" sz="4800"/>
              <a:t>Socket Programming: Analogy</a:t>
            </a:r>
            <a:endParaRPr/>
          </a:p>
        </p:txBody>
      </p:sp>
      <p:sp>
        <p:nvSpPr>
          <p:cNvPr id="651" name="Google Shape;651;p14"/>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2" name="Google Shape;652;p14"/>
          <p:cNvSpPr/>
          <p:nvPr/>
        </p:nvSpPr>
        <p:spPr>
          <a:xfrm>
            <a:off x="0" y="2203079"/>
            <a:ext cx="11383362" cy="4267991"/>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3" name="Google Shape;653;p14"/>
          <p:cNvSpPr txBox="1">
            <a:spLocks noGrp="1"/>
          </p:cNvSpPr>
          <p:nvPr>
            <p:ph type="body" idx="1"/>
          </p:nvPr>
        </p:nvSpPr>
        <p:spPr>
          <a:xfrm>
            <a:off x="793661" y="2599509"/>
            <a:ext cx="4530898" cy="363945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2000"/>
              <a:buNone/>
            </a:pPr>
            <a:r>
              <a:rPr lang="en-US" sz="2000">
                <a:solidFill>
                  <a:srgbClr val="FF0000"/>
                </a:solidFill>
              </a:rPr>
              <a:t>Socket:</a:t>
            </a:r>
            <a:endParaRPr/>
          </a:p>
          <a:p>
            <a:pPr marL="228600" lvl="0" indent="-228600" algn="l" rtl="0">
              <a:lnSpc>
                <a:spcPct val="90000"/>
              </a:lnSpc>
              <a:spcBef>
                <a:spcPts val="1000"/>
              </a:spcBef>
              <a:spcAft>
                <a:spcPts val="0"/>
              </a:spcAft>
              <a:buClr>
                <a:schemeClr val="dk1"/>
              </a:buClr>
              <a:buSzPts val="2000"/>
              <a:buChar char="•"/>
            </a:pPr>
            <a:r>
              <a:rPr lang="en-US" sz="2000"/>
              <a:t>Interface between the application layer and the transport layer within a host </a:t>
            </a:r>
            <a:endParaRPr/>
          </a:p>
          <a:p>
            <a:pPr marL="228600" lvl="0" indent="-228600" algn="l" rtl="0">
              <a:lnSpc>
                <a:spcPct val="90000"/>
              </a:lnSpc>
              <a:spcBef>
                <a:spcPts val="1000"/>
              </a:spcBef>
              <a:spcAft>
                <a:spcPts val="0"/>
              </a:spcAft>
              <a:buClr>
                <a:schemeClr val="dk1"/>
              </a:buClr>
              <a:buSzPts val="2000"/>
              <a:buChar char="•"/>
            </a:pPr>
            <a:r>
              <a:rPr lang="en-US" sz="2000"/>
              <a:t>Analogous to a door:</a:t>
            </a:r>
            <a:endParaRPr/>
          </a:p>
          <a:p>
            <a:pPr marL="742950" lvl="1" indent="-285750" algn="l" rtl="0">
              <a:lnSpc>
                <a:spcPct val="90000"/>
              </a:lnSpc>
              <a:spcBef>
                <a:spcPts val="320"/>
              </a:spcBef>
              <a:spcAft>
                <a:spcPts val="0"/>
              </a:spcAft>
              <a:buClr>
                <a:srgbClr val="000099"/>
              </a:buClr>
              <a:buSzPts val="1600"/>
              <a:buChar char="–"/>
            </a:pPr>
            <a:r>
              <a:rPr lang="en-US" sz="1600">
                <a:solidFill>
                  <a:srgbClr val="000099"/>
                </a:solidFill>
              </a:rPr>
              <a:t>The sending process which is created in an application, shoves the messages out of the “door” </a:t>
            </a:r>
            <a:endParaRPr/>
          </a:p>
        </p:txBody>
      </p:sp>
      <p:pic>
        <p:nvPicPr>
          <p:cNvPr id="654" name="Google Shape;654;p14" descr="A computer screen with a red arrow pointing to a blue object&#10;&#10;Description automatically generated with medium confidence"/>
          <p:cNvPicPr preferRelativeResize="0"/>
          <p:nvPr/>
        </p:nvPicPr>
        <p:blipFill rotWithShape="1">
          <a:blip r:embed="rId3">
            <a:alphaModFix/>
          </a:blip>
          <a:srcRect/>
          <a:stretch/>
        </p:blipFill>
        <p:spPr>
          <a:xfrm>
            <a:off x="5911532" y="3375700"/>
            <a:ext cx="5150277" cy="1931353"/>
          </a:xfrm>
          <a:prstGeom prst="rect">
            <a:avLst/>
          </a:prstGeom>
          <a:noFill/>
          <a:ln>
            <a:noFill/>
          </a:ln>
        </p:spPr>
      </p:pic>
      <p:sp>
        <p:nvSpPr>
          <p:cNvPr id="655" name="Google Shape;655;p14"/>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656" name="Google Shape;656;p14"/>
          <p:cNvSpPr txBox="1">
            <a:spLocks noGrp="1"/>
          </p:cNvSpPr>
          <p:nvPr>
            <p:ph type="sldNum" idx="12"/>
          </p:nvPr>
        </p:nvSpPr>
        <p:spPr>
          <a:xfrm>
            <a:off x="8610600" y="6492240"/>
            <a:ext cx="2743200" cy="365125"/>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0"/>
              </a:spcBef>
              <a:spcAft>
                <a:spcPts val="0"/>
              </a:spcAft>
              <a:buClr>
                <a:schemeClr val="dk1"/>
              </a:buClr>
              <a:buSzPts val="1800"/>
              <a:buFont typeface="Comic Sans MS"/>
              <a:buNone/>
            </a:pPr>
            <a:fld id="{00000000-1234-1234-1234-123412341234}" type="slidenum">
              <a:rPr lang="en-US" sz="1800">
                <a:solidFill>
                  <a:schemeClr val="dk1"/>
                </a:solidFill>
                <a:latin typeface="Comic Sans MS"/>
                <a:ea typeface="Comic Sans MS"/>
                <a:cs typeface="Comic Sans MS"/>
                <a:sym typeface="Comic Sans MS"/>
              </a:rPr>
              <a:t>14</a:t>
            </a:fld>
            <a:endParaRPr sz="1800">
              <a:solidFill>
                <a:schemeClr val="dk1"/>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Client+server: connectionless</a:t>
            </a:r>
            <a:endParaRPr/>
          </a:p>
        </p:txBody>
      </p:sp>
      <p:sp>
        <p:nvSpPr>
          <p:cNvPr id="662" name="Google Shape;662;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pic>
        <p:nvPicPr>
          <p:cNvPr id="663" name="Google Shape;663;p15"/>
          <p:cNvPicPr preferRelativeResize="0"/>
          <p:nvPr/>
        </p:nvPicPr>
        <p:blipFill rotWithShape="1">
          <a:blip r:embed="rId3">
            <a:alphaModFix/>
          </a:blip>
          <a:srcRect/>
          <a:stretch/>
        </p:blipFill>
        <p:spPr>
          <a:xfrm>
            <a:off x="2894014" y="1295400"/>
            <a:ext cx="6097587" cy="4724400"/>
          </a:xfrm>
          <a:prstGeom prst="rect">
            <a:avLst/>
          </a:prstGeom>
          <a:noFill/>
          <a:ln>
            <a:noFill/>
          </a:ln>
        </p:spPr>
      </p:pic>
      <p:grpSp>
        <p:nvGrpSpPr>
          <p:cNvPr id="664" name="Google Shape;664;p15"/>
          <p:cNvGrpSpPr/>
          <p:nvPr/>
        </p:nvGrpSpPr>
        <p:grpSpPr>
          <a:xfrm>
            <a:off x="4648200" y="1909764"/>
            <a:ext cx="2590800" cy="604837"/>
            <a:chOff x="1968" y="1203"/>
            <a:chExt cx="1632" cy="381"/>
          </a:xfrm>
        </p:grpSpPr>
        <p:sp>
          <p:nvSpPr>
            <p:cNvPr id="665" name="Google Shape;665;p15"/>
            <p:cNvSpPr txBox="1"/>
            <p:nvPr/>
          </p:nvSpPr>
          <p:spPr>
            <a:xfrm>
              <a:off x="2552" y="1203"/>
              <a:ext cx="634" cy="234"/>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CREATE</a:t>
              </a:r>
              <a:endParaRPr sz="1800" b="1">
                <a:solidFill>
                  <a:srgbClr val="FF0000"/>
                </a:solidFill>
                <a:latin typeface="Arial"/>
                <a:ea typeface="Arial"/>
                <a:cs typeface="Arial"/>
                <a:sym typeface="Arial"/>
              </a:endParaRPr>
            </a:p>
          </p:txBody>
        </p:sp>
        <p:cxnSp>
          <p:nvCxnSpPr>
            <p:cNvPr id="666" name="Google Shape;666;p15"/>
            <p:cNvCxnSpPr/>
            <p:nvPr/>
          </p:nvCxnSpPr>
          <p:spPr>
            <a:xfrm flipH="1">
              <a:off x="1968" y="1392"/>
              <a:ext cx="576" cy="192"/>
            </a:xfrm>
            <a:prstGeom prst="straightConnector1">
              <a:avLst/>
            </a:prstGeom>
            <a:noFill/>
            <a:ln w="9525" cap="flat" cmpd="sng">
              <a:solidFill>
                <a:srgbClr val="FF0000"/>
              </a:solidFill>
              <a:prstDash val="solid"/>
              <a:round/>
              <a:headEnd type="none" w="med" len="med"/>
              <a:tailEnd type="none" w="med" len="med"/>
            </a:ln>
          </p:spPr>
        </p:cxnSp>
        <p:cxnSp>
          <p:nvCxnSpPr>
            <p:cNvPr id="667" name="Google Shape;667;p15"/>
            <p:cNvCxnSpPr/>
            <p:nvPr/>
          </p:nvCxnSpPr>
          <p:spPr>
            <a:xfrm rot="10800000">
              <a:off x="3264" y="1344"/>
              <a:ext cx="336" cy="48"/>
            </a:xfrm>
            <a:prstGeom prst="straightConnector1">
              <a:avLst/>
            </a:prstGeom>
            <a:noFill/>
            <a:ln w="9525" cap="flat" cmpd="sng">
              <a:solidFill>
                <a:srgbClr val="FF0000"/>
              </a:solidFill>
              <a:prstDash val="solid"/>
              <a:round/>
              <a:headEnd type="none" w="med" len="med"/>
              <a:tailEnd type="none" w="med" len="med"/>
            </a:ln>
          </p:spPr>
        </p:cxnSp>
      </p:grpSp>
      <p:grpSp>
        <p:nvGrpSpPr>
          <p:cNvPr id="668" name="Google Shape;668;p15"/>
          <p:cNvGrpSpPr/>
          <p:nvPr/>
        </p:nvGrpSpPr>
        <p:grpSpPr>
          <a:xfrm>
            <a:off x="8686800" y="2290764"/>
            <a:ext cx="1295400" cy="376237"/>
            <a:chOff x="4512" y="1443"/>
            <a:chExt cx="816" cy="237"/>
          </a:xfrm>
        </p:grpSpPr>
        <p:sp>
          <p:nvSpPr>
            <p:cNvPr id="669" name="Google Shape;669;p15"/>
            <p:cNvSpPr txBox="1"/>
            <p:nvPr/>
          </p:nvSpPr>
          <p:spPr>
            <a:xfrm>
              <a:off x="4856" y="1443"/>
              <a:ext cx="472" cy="237"/>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BIND</a:t>
              </a:r>
              <a:endParaRPr sz="1800" b="1">
                <a:solidFill>
                  <a:srgbClr val="FF0000"/>
                </a:solidFill>
                <a:latin typeface="Arial"/>
                <a:ea typeface="Arial"/>
                <a:cs typeface="Arial"/>
                <a:sym typeface="Arial"/>
              </a:endParaRPr>
            </a:p>
          </p:txBody>
        </p:sp>
        <p:cxnSp>
          <p:nvCxnSpPr>
            <p:cNvPr id="670" name="Google Shape;670;p15"/>
            <p:cNvCxnSpPr/>
            <p:nvPr/>
          </p:nvCxnSpPr>
          <p:spPr>
            <a:xfrm flipH="1">
              <a:off x="4512" y="1584"/>
              <a:ext cx="336" cy="96"/>
            </a:xfrm>
            <a:prstGeom prst="straightConnector1">
              <a:avLst/>
            </a:prstGeom>
            <a:noFill/>
            <a:ln w="9525" cap="flat" cmpd="sng">
              <a:solidFill>
                <a:srgbClr val="FF0000"/>
              </a:solidFill>
              <a:prstDash val="solid"/>
              <a:round/>
              <a:headEnd type="none" w="med" len="med"/>
              <a:tailEnd type="none" w="med" len="med"/>
            </a:ln>
          </p:spPr>
        </p:cxnSp>
      </p:grpSp>
      <p:grpSp>
        <p:nvGrpSpPr>
          <p:cNvPr id="671" name="Google Shape;671;p15"/>
          <p:cNvGrpSpPr/>
          <p:nvPr/>
        </p:nvGrpSpPr>
        <p:grpSpPr>
          <a:xfrm>
            <a:off x="1905000" y="3352800"/>
            <a:ext cx="1371600" cy="376238"/>
            <a:chOff x="240" y="2112"/>
            <a:chExt cx="864" cy="237"/>
          </a:xfrm>
        </p:grpSpPr>
        <p:sp>
          <p:nvSpPr>
            <p:cNvPr id="672" name="Google Shape;672;p15"/>
            <p:cNvSpPr txBox="1"/>
            <p:nvPr/>
          </p:nvSpPr>
          <p:spPr>
            <a:xfrm>
              <a:off x="240" y="2112"/>
              <a:ext cx="520" cy="237"/>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SEND</a:t>
              </a:r>
              <a:endParaRPr sz="1800" b="1">
                <a:solidFill>
                  <a:srgbClr val="FF0000"/>
                </a:solidFill>
                <a:latin typeface="Arial"/>
                <a:ea typeface="Arial"/>
                <a:cs typeface="Arial"/>
                <a:sym typeface="Arial"/>
              </a:endParaRPr>
            </a:p>
          </p:txBody>
        </p:sp>
        <p:cxnSp>
          <p:nvCxnSpPr>
            <p:cNvPr id="673" name="Google Shape;673;p15"/>
            <p:cNvCxnSpPr/>
            <p:nvPr/>
          </p:nvCxnSpPr>
          <p:spPr>
            <a:xfrm rot="10800000">
              <a:off x="768" y="2256"/>
              <a:ext cx="336" cy="48"/>
            </a:xfrm>
            <a:prstGeom prst="straightConnector1">
              <a:avLst/>
            </a:prstGeom>
            <a:noFill/>
            <a:ln w="9525" cap="flat" cmpd="sng">
              <a:solidFill>
                <a:srgbClr val="FF0000"/>
              </a:solidFill>
              <a:prstDash val="solid"/>
              <a:round/>
              <a:headEnd type="none" w="med" len="med"/>
              <a:tailEnd type="none" w="med" len="med"/>
            </a:ln>
          </p:spPr>
        </p:cxnSp>
      </p:grpSp>
      <p:grpSp>
        <p:nvGrpSpPr>
          <p:cNvPr id="674" name="Google Shape;674;p15"/>
          <p:cNvGrpSpPr/>
          <p:nvPr/>
        </p:nvGrpSpPr>
        <p:grpSpPr>
          <a:xfrm>
            <a:off x="8686800" y="4648200"/>
            <a:ext cx="1524000" cy="376238"/>
            <a:chOff x="4512" y="2928"/>
            <a:chExt cx="960" cy="237"/>
          </a:xfrm>
        </p:grpSpPr>
        <p:cxnSp>
          <p:nvCxnSpPr>
            <p:cNvPr id="675" name="Google Shape;675;p15"/>
            <p:cNvCxnSpPr/>
            <p:nvPr/>
          </p:nvCxnSpPr>
          <p:spPr>
            <a:xfrm flipH="1">
              <a:off x="4512" y="3024"/>
              <a:ext cx="432" cy="48"/>
            </a:xfrm>
            <a:prstGeom prst="straightConnector1">
              <a:avLst/>
            </a:prstGeom>
            <a:noFill/>
            <a:ln w="9525" cap="flat" cmpd="sng">
              <a:solidFill>
                <a:srgbClr val="FF0000"/>
              </a:solidFill>
              <a:prstDash val="solid"/>
              <a:round/>
              <a:headEnd type="none" w="med" len="med"/>
              <a:tailEnd type="none" w="med" len="med"/>
            </a:ln>
          </p:spPr>
        </p:cxnSp>
        <p:sp>
          <p:nvSpPr>
            <p:cNvPr id="676" name="Google Shape;676;p15"/>
            <p:cNvSpPr txBox="1"/>
            <p:nvPr/>
          </p:nvSpPr>
          <p:spPr>
            <a:xfrm>
              <a:off x="4952" y="2928"/>
              <a:ext cx="520" cy="237"/>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SEND</a:t>
              </a:r>
              <a:endParaRPr sz="1800" b="1">
                <a:solidFill>
                  <a:srgbClr val="FF0000"/>
                </a:solidFill>
                <a:latin typeface="Arial"/>
                <a:ea typeface="Arial"/>
                <a:cs typeface="Arial"/>
                <a:sym typeface="Arial"/>
              </a:endParaRPr>
            </a:p>
          </p:txBody>
        </p:sp>
      </p:grpSp>
      <p:grpSp>
        <p:nvGrpSpPr>
          <p:cNvPr id="677" name="Google Shape;677;p15"/>
          <p:cNvGrpSpPr/>
          <p:nvPr/>
        </p:nvGrpSpPr>
        <p:grpSpPr>
          <a:xfrm>
            <a:off x="4724400" y="5334000"/>
            <a:ext cx="1981200" cy="376238"/>
            <a:chOff x="2016" y="3360"/>
            <a:chExt cx="1248" cy="237"/>
          </a:xfrm>
        </p:grpSpPr>
        <p:sp>
          <p:nvSpPr>
            <p:cNvPr id="678" name="Google Shape;678;p15"/>
            <p:cNvSpPr txBox="1"/>
            <p:nvPr/>
          </p:nvSpPr>
          <p:spPr>
            <a:xfrm>
              <a:off x="2600" y="3360"/>
              <a:ext cx="664" cy="237"/>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CLOSE</a:t>
              </a:r>
              <a:endParaRPr sz="1800" b="1">
                <a:solidFill>
                  <a:srgbClr val="FF0000"/>
                </a:solidFill>
                <a:latin typeface="Arial"/>
                <a:ea typeface="Arial"/>
                <a:cs typeface="Arial"/>
                <a:sym typeface="Arial"/>
              </a:endParaRPr>
            </a:p>
          </p:txBody>
        </p:sp>
        <p:cxnSp>
          <p:nvCxnSpPr>
            <p:cNvPr id="679" name="Google Shape;679;p15"/>
            <p:cNvCxnSpPr/>
            <p:nvPr/>
          </p:nvCxnSpPr>
          <p:spPr>
            <a:xfrm flipH="1">
              <a:off x="2016" y="3456"/>
              <a:ext cx="576" cy="48"/>
            </a:xfrm>
            <a:prstGeom prst="straightConnector1">
              <a:avLst/>
            </a:prstGeom>
            <a:noFill/>
            <a:ln w="9525" cap="flat" cmpd="sng">
              <a:solidFill>
                <a:srgbClr val="FF0000"/>
              </a:solidFill>
              <a:prstDash val="solid"/>
              <a:round/>
              <a:headEnd type="none" w="med" len="med"/>
              <a:tailEnd type="none" w="med" len="med"/>
            </a:ln>
          </p:spPr>
        </p:cxnSp>
      </p:grpSp>
      <p:grpSp>
        <p:nvGrpSpPr>
          <p:cNvPr id="680" name="Google Shape;680;p15"/>
          <p:cNvGrpSpPr/>
          <p:nvPr/>
        </p:nvGrpSpPr>
        <p:grpSpPr>
          <a:xfrm>
            <a:off x="4800600" y="3962400"/>
            <a:ext cx="2438400" cy="685800"/>
            <a:chOff x="2064" y="2496"/>
            <a:chExt cx="1536" cy="432"/>
          </a:xfrm>
        </p:grpSpPr>
        <p:sp>
          <p:nvSpPr>
            <p:cNvPr id="681" name="Google Shape;681;p15"/>
            <p:cNvSpPr txBox="1"/>
            <p:nvPr/>
          </p:nvSpPr>
          <p:spPr>
            <a:xfrm>
              <a:off x="2544" y="2592"/>
              <a:ext cx="760" cy="237"/>
            </a:xfrm>
            <a:prstGeom prst="rect">
              <a:avLst/>
            </a:prstGeom>
            <a:noFill/>
            <a:ln w="9525" cap="flat" cmpd="sng">
              <a:solidFill>
                <a:srgbClr val="FF0000"/>
              </a:solidFill>
              <a:prstDash val="solid"/>
              <a:miter lim="800000"/>
              <a:headEnd type="none" w="sm" len="sm"/>
              <a:tailEnd type="none" w="sm" len="sm"/>
            </a:ln>
          </p:spPr>
          <p:txBody>
            <a:bodyPr spcFirstLastPara="1" wrap="square" lIns="90000" tIns="46800" rIns="90000" bIns="46800" anchor="t" anchorCtr="0">
              <a:spAutoFit/>
            </a:bodyPr>
            <a:lstStyle/>
            <a:p>
              <a:pPr marL="0" marR="0" lvl="0" indent="0" algn="l" rtl="0">
                <a:spcBef>
                  <a:spcPts val="0"/>
                </a:spcBef>
                <a:spcAft>
                  <a:spcPts val="0"/>
                </a:spcAft>
                <a:buNone/>
              </a:pPr>
              <a:r>
                <a:rPr lang="en-US" sz="1800" b="1">
                  <a:solidFill>
                    <a:srgbClr val="FF0000"/>
                  </a:solidFill>
                  <a:latin typeface="Arial"/>
                  <a:ea typeface="Arial"/>
                  <a:cs typeface="Arial"/>
                  <a:sym typeface="Arial"/>
                </a:rPr>
                <a:t>RECEIVE</a:t>
              </a:r>
              <a:endParaRPr sz="1800" b="1">
                <a:solidFill>
                  <a:srgbClr val="FF0000"/>
                </a:solidFill>
                <a:latin typeface="Arial"/>
                <a:ea typeface="Arial"/>
                <a:cs typeface="Arial"/>
                <a:sym typeface="Arial"/>
              </a:endParaRPr>
            </a:p>
          </p:txBody>
        </p:sp>
        <p:cxnSp>
          <p:nvCxnSpPr>
            <p:cNvPr id="682" name="Google Shape;682;p15"/>
            <p:cNvCxnSpPr/>
            <p:nvPr/>
          </p:nvCxnSpPr>
          <p:spPr>
            <a:xfrm flipH="1">
              <a:off x="3312" y="2496"/>
              <a:ext cx="288" cy="192"/>
            </a:xfrm>
            <a:prstGeom prst="straightConnector1">
              <a:avLst/>
            </a:prstGeom>
            <a:noFill/>
            <a:ln w="9525" cap="flat" cmpd="sng">
              <a:solidFill>
                <a:srgbClr val="FF0000"/>
              </a:solidFill>
              <a:prstDash val="solid"/>
              <a:round/>
              <a:headEnd type="none" w="med" len="med"/>
              <a:tailEnd type="none" w="med" len="med"/>
            </a:ln>
          </p:spPr>
        </p:cxnSp>
        <p:cxnSp>
          <p:nvCxnSpPr>
            <p:cNvPr id="683" name="Google Shape;683;p15"/>
            <p:cNvCxnSpPr/>
            <p:nvPr/>
          </p:nvCxnSpPr>
          <p:spPr>
            <a:xfrm flipH="1">
              <a:off x="2064" y="2736"/>
              <a:ext cx="480" cy="192"/>
            </a:xfrm>
            <a:prstGeom prst="straightConnector1">
              <a:avLst/>
            </a:prstGeom>
            <a:noFill/>
            <a:ln w="9525" cap="flat" cmpd="sng">
              <a:solidFill>
                <a:srgbClr val="FF0000"/>
              </a:solidFill>
              <a:prstDash val="solid"/>
              <a:round/>
              <a:headEnd type="none" w="med" len="med"/>
              <a:tailEnd type="non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6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7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7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8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sp>
        <p:nvSpPr>
          <p:cNvPr id="689" name="Google Shape;689;p16"/>
          <p:cNvSpPr txBox="1">
            <a:spLocks noGrp="1"/>
          </p:cNvSpPr>
          <p:nvPr>
            <p:ph type="title"/>
          </p:nvPr>
        </p:nvSpPr>
        <p:spPr>
          <a:xfrm>
            <a:off x="0" y="14286"/>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Socket: conceptual view</a:t>
            </a:r>
            <a:endParaRPr/>
          </a:p>
        </p:txBody>
      </p:sp>
      <p:sp>
        <p:nvSpPr>
          <p:cNvPr id="690" name="Google Shape;690;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16</a:t>
            </a:fld>
            <a:endParaRPr sz="1200">
              <a:solidFill>
                <a:schemeClr val="dk1"/>
              </a:solidFill>
              <a:latin typeface="Comic Sans MS"/>
              <a:ea typeface="Comic Sans MS"/>
              <a:cs typeface="Comic Sans MS"/>
              <a:sym typeface="Comic Sans MS"/>
            </a:endParaRPr>
          </a:p>
        </p:txBody>
      </p:sp>
      <p:sp>
        <p:nvSpPr>
          <p:cNvPr id="691" name="Google Shape;691;p16"/>
          <p:cNvSpPr txBox="1">
            <a:spLocks noGrp="1"/>
          </p:cNvSpPr>
          <p:nvPr>
            <p:ph type="body" idx="4294967295"/>
          </p:nvPr>
        </p:nvSpPr>
        <p:spPr>
          <a:xfrm>
            <a:off x="0" y="1825625"/>
            <a:ext cx="10515600" cy="435133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endParaRPr sz="1600"/>
          </a:p>
        </p:txBody>
      </p:sp>
      <p:pic>
        <p:nvPicPr>
          <p:cNvPr id="692" name="Google Shape;692;p16" descr="socket"/>
          <p:cNvPicPr preferRelativeResize="0"/>
          <p:nvPr/>
        </p:nvPicPr>
        <p:blipFill rotWithShape="1">
          <a:blip r:embed="rId3">
            <a:alphaModFix/>
          </a:blip>
          <a:srcRect/>
          <a:stretch/>
        </p:blipFill>
        <p:spPr>
          <a:xfrm>
            <a:off x="4473681" y="1918622"/>
            <a:ext cx="6848475" cy="4130675"/>
          </a:xfrm>
          <a:prstGeom prst="rect">
            <a:avLst/>
          </a:prstGeom>
          <a:noFill/>
          <a:ln>
            <a:noFill/>
          </a:ln>
        </p:spPr>
      </p:pic>
      <p:sp>
        <p:nvSpPr>
          <p:cNvPr id="693" name="Google Shape;693;p16"/>
          <p:cNvSpPr txBox="1"/>
          <p:nvPr/>
        </p:nvSpPr>
        <p:spPr>
          <a:xfrm>
            <a:off x="6591405" y="1761459"/>
            <a:ext cx="946150" cy="3667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Times New Roman"/>
              <a:buNone/>
            </a:pPr>
            <a:r>
              <a:rPr lang="en-US" sz="1800" b="1">
                <a:solidFill>
                  <a:schemeClr val="dk1"/>
                </a:solidFill>
                <a:latin typeface="Times New Roman"/>
                <a:ea typeface="Times New Roman"/>
                <a:cs typeface="Times New Roman"/>
                <a:sym typeface="Times New Roman"/>
              </a:rPr>
              <a:t>socket()</a:t>
            </a:r>
            <a:endParaRPr/>
          </a:p>
        </p:txBody>
      </p:sp>
      <p:sp>
        <p:nvSpPr>
          <p:cNvPr id="694" name="Google Shape;694;p16"/>
          <p:cNvSpPr/>
          <p:nvPr/>
        </p:nvSpPr>
        <p:spPr>
          <a:xfrm>
            <a:off x="4419600" y="1371600"/>
            <a:ext cx="762000" cy="228600"/>
          </a:xfrm>
          <a:prstGeom prst="rect">
            <a:avLst/>
          </a:pr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2400"/>
              <a:buFont typeface="Comic Sans MS"/>
              <a:buNone/>
            </a:pPr>
            <a:endParaRPr sz="2400">
              <a:solidFill>
                <a:schemeClr val="dk1"/>
              </a:solidFill>
              <a:latin typeface="Times New Roman"/>
              <a:ea typeface="Times New Roman"/>
              <a:cs typeface="Times New Roman"/>
              <a:sym typeface="Times New Roman"/>
            </a:endParaRPr>
          </a:p>
        </p:txBody>
      </p:sp>
      <p:cxnSp>
        <p:nvCxnSpPr>
          <p:cNvPr id="695" name="Google Shape;695;p16"/>
          <p:cNvCxnSpPr/>
          <p:nvPr/>
        </p:nvCxnSpPr>
        <p:spPr>
          <a:xfrm>
            <a:off x="7064480" y="2086896"/>
            <a:ext cx="76200" cy="762000"/>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700" name="Google Shape;70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Socket programming</a:t>
            </a:r>
            <a:endParaRPr/>
          </a:p>
        </p:txBody>
      </p:sp>
      <p:sp>
        <p:nvSpPr>
          <p:cNvPr id="701" name="Google Shape;701;p17"/>
          <p:cNvSpPr txBox="1"/>
          <p:nvPr/>
        </p:nvSpPr>
        <p:spPr>
          <a:xfrm>
            <a:off x="878760" y="3291529"/>
            <a:ext cx="10798277" cy="3481388"/>
          </a:xfrm>
          <a:prstGeom prst="rect">
            <a:avLst/>
          </a:prstGeom>
          <a:noFill/>
          <a:ln>
            <a:noFill/>
          </a:ln>
        </p:spPr>
        <p:txBody>
          <a:bodyPr spcFirstLastPara="1" wrap="square" lIns="91425" tIns="45700" rIns="91425" bIns="45700" anchor="t" anchorCtr="0">
            <a:noAutofit/>
          </a:bodyPr>
          <a:lstStyle/>
          <a:p>
            <a:pPr marL="342900" marR="0" lvl="1" indent="-342900" algn="l" rtl="0">
              <a:lnSpc>
                <a:spcPct val="85000"/>
              </a:lnSpc>
              <a:spcBef>
                <a:spcPts val="0"/>
              </a:spcBef>
              <a:spcAft>
                <a:spcPts val="0"/>
              </a:spcAft>
              <a:buClr>
                <a:srgbClr val="000099"/>
              </a:buClr>
              <a:buSzPts val="2080"/>
              <a:buFont typeface="Noto Sans Symbols"/>
              <a:buNone/>
            </a:pPr>
            <a:r>
              <a:rPr lang="en-US" sz="3200" b="0" i="0" u="none" strike="noStrike" cap="none">
                <a:solidFill>
                  <a:srgbClr val="0000A3"/>
                </a:solidFill>
                <a:latin typeface="Calibri"/>
                <a:ea typeface="Calibri"/>
                <a:cs typeface="Calibri"/>
                <a:sym typeface="Calibri"/>
              </a:rPr>
              <a:t>Application Example:</a:t>
            </a:r>
            <a:endParaRPr/>
          </a:p>
          <a:p>
            <a:pPr marL="514350" marR="0" lvl="0" indent="-287338" algn="l" rtl="0">
              <a:lnSpc>
                <a:spcPct val="100000"/>
              </a:lnSpc>
              <a:spcBef>
                <a:spcPts val="0"/>
              </a:spcBef>
              <a:spcAft>
                <a:spcPts val="0"/>
              </a:spcAft>
              <a:buClr>
                <a:srgbClr val="000099"/>
              </a:buClr>
              <a:buSzPts val="1820"/>
              <a:buFont typeface="Play"/>
              <a:buAutoNum type="arabicPeriod"/>
            </a:pPr>
            <a:r>
              <a:rPr lang="en-US" sz="2800" b="0" i="0" u="none" strike="noStrike" cap="none">
                <a:solidFill>
                  <a:srgbClr val="000000"/>
                </a:solidFill>
                <a:latin typeface="Calibri"/>
                <a:ea typeface="Calibri"/>
                <a:cs typeface="Calibri"/>
                <a:sym typeface="Calibri"/>
              </a:rPr>
              <a:t>client reads a line of characters (data) from its keyboard and sends data to server</a:t>
            </a:r>
            <a:endParaRPr/>
          </a:p>
          <a:p>
            <a:pPr marL="514350" marR="0" lvl="0" indent="-287338" algn="l" rtl="0">
              <a:lnSpc>
                <a:spcPct val="100000"/>
              </a:lnSpc>
              <a:spcBef>
                <a:spcPts val="0"/>
              </a:spcBef>
              <a:spcAft>
                <a:spcPts val="0"/>
              </a:spcAft>
              <a:buClr>
                <a:srgbClr val="000099"/>
              </a:buClr>
              <a:buSzPts val="1820"/>
              <a:buFont typeface="Play"/>
              <a:buAutoNum type="arabicPeriod"/>
            </a:pPr>
            <a:r>
              <a:rPr lang="en-US" sz="2800" b="0" i="0" u="none" strike="noStrike" cap="none">
                <a:solidFill>
                  <a:srgbClr val="000000"/>
                </a:solidFill>
                <a:latin typeface="Calibri"/>
                <a:ea typeface="Calibri"/>
                <a:cs typeface="Calibri"/>
                <a:sym typeface="Calibri"/>
              </a:rPr>
              <a:t>server receives the data and converts characters to uppercase</a:t>
            </a:r>
            <a:endParaRPr/>
          </a:p>
          <a:p>
            <a:pPr marL="514350" marR="0" lvl="0" indent="-287338" algn="l" rtl="0">
              <a:lnSpc>
                <a:spcPct val="100000"/>
              </a:lnSpc>
              <a:spcBef>
                <a:spcPts val="0"/>
              </a:spcBef>
              <a:spcAft>
                <a:spcPts val="0"/>
              </a:spcAft>
              <a:buClr>
                <a:srgbClr val="000099"/>
              </a:buClr>
              <a:buSzPts val="1820"/>
              <a:buFont typeface="Play"/>
              <a:buAutoNum type="arabicPeriod"/>
            </a:pPr>
            <a:r>
              <a:rPr lang="en-US" sz="2800" b="0" i="0" u="none" strike="noStrike" cap="none">
                <a:solidFill>
                  <a:srgbClr val="000000"/>
                </a:solidFill>
                <a:latin typeface="Calibri"/>
                <a:ea typeface="Calibri"/>
                <a:cs typeface="Calibri"/>
                <a:sym typeface="Calibri"/>
              </a:rPr>
              <a:t>server sends modified data to client</a:t>
            </a:r>
            <a:endParaRPr/>
          </a:p>
          <a:p>
            <a:pPr marL="514350" marR="0" lvl="0" indent="-287338" algn="l" rtl="0">
              <a:lnSpc>
                <a:spcPct val="100000"/>
              </a:lnSpc>
              <a:spcBef>
                <a:spcPts val="0"/>
              </a:spcBef>
              <a:spcAft>
                <a:spcPts val="0"/>
              </a:spcAft>
              <a:buClr>
                <a:srgbClr val="000099"/>
              </a:buClr>
              <a:buSzPts val="1820"/>
              <a:buFont typeface="Play"/>
              <a:buAutoNum type="arabicPeriod"/>
            </a:pPr>
            <a:r>
              <a:rPr lang="en-US" sz="2800" b="0" i="0" u="none" strike="noStrike" cap="none">
                <a:solidFill>
                  <a:srgbClr val="000000"/>
                </a:solidFill>
                <a:latin typeface="Calibri"/>
                <a:ea typeface="Calibri"/>
                <a:cs typeface="Calibri"/>
                <a:sym typeface="Calibri"/>
              </a:rPr>
              <a:t>client receives modified data and displays line on its screen</a:t>
            </a:r>
            <a:endParaRPr/>
          </a:p>
        </p:txBody>
      </p:sp>
      <p:grpSp>
        <p:nvGrpSpPr>
          <p:cNvPr id="702" name="Google Shape;702;p17"/>
          <p:cNvGrpSpPr/>
          <p:nvPr/>
        </p:nvGrpSpPr>
        <p:grpSpPr>
          <a:xfrm>
            <a:off x="838199" y="1545009"/>
            <a:ext cx="10798277" cy="1679805"/>
            <a:chOff x="0" y="31418"/>
            <a:chExt cx="10798277" cy="1679805"/>
          </a:xfrm>
        </p:grpSpPr>
        <p:sp>
          <p:nvSpPr>
            <p:cNvPr id="703" name="Google Shape;703;p17"/>
            <p:cNvSpPr/>
            <p:nvPr/>
          </p:nvSpPr>
          <p:spPr>
            <a:xfrm>
              <a:off x="0" y="370898"/>
              <a:ext cx="10798277" cy="1340325"/>
            </a:xfrm>
            <a:prstGeom prst="rect">
              <a:avLst/>
            </a:prstGeom>
            <a:solidFill>
              <a:schemeClr val="lt1">
                <a:alpha val="89803"/>
              </a:schemeClr>
            </a:solidFill>
            <a:ln w="19050" cap="flat" cmpd="sng">
              <a:solidFill>
                <a:srgbClr val="126082"/>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7"/>
            <p:cNvSpPr txBox="1"/>
            <p:nvPr/>
          </p:nvSpPr>
          <p:spPr>
            <a:xfrm>
              <a:off x="0" y="370898"/>
              <a:ext cx="10798277" cy="1340325"/>
            </a:xfrm>
            <a:prstGeom prst="rect">
              <a:avLst/>
            </a:prstGeom>
            <a:noFill/>
            <a:ln>
              <a:noFill/>
            </a:ln>
          </p:spPr>
          <p:txBody>
            <a:bodyPr spcFirstLastPara="1" wrap="square" lIns="838050" tIns="479025" rIns="838050" bIns="163575" anchor="t" anchorCtr="0">
              <a:noAutofit/>
            </a:bodyPr>
            <a:lstStyle/>
            <a:p>
              <a:pPr marL="228600" marR="0" lvl="1" indent="-228600" algn="l" rtl="0">
                <a:lnSpc>
                  <a:spcPct val="90000"/>
                </a:lnSpc>
                <a:spcBef>
                  <a:spcPts val="0"/>
                </a:spcBef>
                <a:spcAft>
                  <a:spcPts val="0"/>
                </a:spcAft>
                <a:buClr>
                  <a:srgbClr val="FF0000"/>
                </a:buClr>
                <a:buSzPts val="2300"/>
                <a:buFont typeface="Arial"/>
                <a:buChar char="•"/>
              </a:pPr>
              <a:r>
                <a:rPr lang="en-US" sz="2300" b="0" i="1" u="none" strike="noStrike" cap="none">
                  <a:solidFill>
                    <a:srgbClr val="FF0000"/>
                  </a:solidFill>
                  <a:latin typeface="Arial"/>
                  <a:ea typeface="Arial"/>
                  <a:cs typeface="Arial"/>
                  <a:sym typeface="Arial"/>
                </a:rPr>
                <a:t>UDP:</a:t>
              </a:r>
              <a:r>
                <a:rPr lang="en-US" sz="2300" b="0" i="0" u="none" strike="noStrike" cap="none">
                  <a:solidFill>
                    <a:srgbClr val="FF0000"/>
                  </a:solidFill>
                  <a:latin typeface="Arial"/>
                  <a:ea typeface="Arial"/>
                  <a:cs typeface="Arial"/>
                  <a:sym typeface="Arial"/>
                </a:rPr>
                <a:t> </a:t>
              </a:r>
              <a:r>
                <a:rPr lang="en-US" sz="2300" b="0" i="0" u="none" strike="noStrike" cap="none">
                  <a:solidFill>
                    <a:schemeClr val="dk1"/>
                  </a:solidFill>
                  <a:latin typeface="Arial"/>
                  <a:ea typeface="Arial"/>
                  <a:cs typeface="Arial"/>
                  <a:sym typeface="Arial"/>
                </a:rPr>
                <a:t>unreliable datagram </a:t>
              </a:r>
              <a:endParaRPr/>
            </a:p>
            <a:p>
              <a:pPr marL="228600" marR="0" lvl="1" indent="-228600" algn="l" rtl="0">
                <a:lnSpc>
                  <a:spcPct val="90000"/>
                </a:lnSpc>
                <a:spcBef>
                  <a:spcPts val="345"/>
                </a:spcBef>
                <a:spcAft>
                  <a:spcPts val="0"/>
                </a:spcAft>
                <a:buClr>
                  <a:srgbClr val="FF0000"/>
                </a:buClr>
                <a:buSzPts val="2300"/>
                <a:buFont typeface="Arial"/>
                <a:buChar char="•"/>
              </a:pPr>
              <a:r>
                <a:rPr lang="en-US" sz="2300" b="0" i="1" u="none" strike="noStrike" cap="none">
                  <a:solidFill>
                    <a:srgbClr val="FF0000"/>
                  </a:solidFill>
                  <a:latin typeface="Arial"/>
                  <a:ea typeface="Arial"/>
                  <a:cs typeface="Arial"/>
                  <a:sym typeface="Arial"/>
                </a:rPr>
                <a:t>TCP:</a:t>
              </a:r>
              <a:r>
                <a:rPr lang="en-US" sz="2300" b="0" i="0" u="none" strike="noStrike" cap="none">
                  <a:solidFill>
                    <a:srgbClr val="FF0000"/>
                  </a:solidFill>
                  <a:latin typeface="Arial"/>
                  <a:ea typeface="Arial"/>
                  <a:cs typeface="Arial"/>
                  <a:sym typeface="Arial"/>
                </a:rPr>
                <a:t> </a:t>
              </a:r>
              <a:r>
                <a:rPr lang="en-US" sz="2300" b="0" i="0" u="none" strike="noStrike" cap="none">
                  <a:solidFill>
                    <a:schemeClr val="dk1"/>
                  </a:solidFill>
                  <a:latin typeface="Arial"/>
                  <a:ea typeface="Arial"/>
                  <a:cs typeface="Arial"/>
                  <a:sym typeface="Arial"/>
                </a:rPr>
                <a:t>reliable, byte stream-oriented</a:t>
              </a:r>
              <a:endParaRPr/>
            </a:p>
          </p:txBody>
        </p:sp>
        <p:sp>
          <p:nvSpPr>
            <p:cNvPr id="705" name="Google Shape;705;p17"/>
            <p:cNvSpPr/>
            <p:nvPr/>
          </p:nvSpPr>
          <p:spPr>
            <a:xfrm>
              <a:off x="539913" y="31418"/>
              <a:ext cx="7558793" cy="678960"/>
            </a:xfrm>
            <a:prstGeom prst="roundRect">
              <a:avLst>
                <a:gd name="adj" fmla="val 16667"/>
              </a:avLst>
            </a:prstGeom>
            <a:solidFill>
              <a:srgbClr val="126082"/>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7"/>
            <p:cNvSpPr txBox="1"/>
            <p:nvPr/>
          </p:nvSpPr>
          <p:spPr>
            <a:xfrm>
              <a:off x="573057" y="64562"/>
              <a:ext cx="7492505" cy="612672"/>
            </a:xfrm>
            <a:prstGeom prst="rect">
              <a:avLst/>
            </a:prstGeom>
            <a:noFill/>
            <a:ln>
              <a:noFill/>
            </a:ln>
          </p:spPr>
          <p:txBody>
            <a:bodyPr spcFirstLastPara="1" wrap="square" lIns="285700" tIns="0" rIns="285700" bIns="0" anchor="ctr" anchorCtr="0">
              <a:noAutofit/>
            </a:bodyPr>
            <a:lstStyle/>
            <a:p>
              <a:pPr marL="0" marR="0" lvl="0" indent="0" algn="l" rtl="0">
                <a:lnSpc>
                  <a:spcPct val="90000"/>
                </a:lnSpc>
                <a:spcBef>
                  <a:spcPts val="0"/>
                </a:spcBef>
                <a:spcAft>
                  <a:spcPts val="0"/>
                </a:spcAft>
                <a:buClr>
                  <a:schemeClr val="lt1"/>
                </a:buClr>
                <a:buSzPts val="2300"/>
                <a:buFont typeface="Arial"/>
                <a:buNone/>
              </a:pPr>
              <a:r>
                <a:rPr lang="en-US" sz="2300">
                  <a:solidFill>
                    <a:schemeClr val="lt1"/>
                  </a:solidFill>
                  <a:latin typeface="Arial"/>
                  <a:ea typeface="Arial"/>
                  <a:cs typeface="Arial"/>
                  <a:sym typeface="Arial"/>
                </a:rPr>
                <a:t>Two socket types for two transport services:</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1"/>
                                        </p:tgtEl>
                                        <p:attrNameLst>
                                          <p:attrName>style.visibility</p:attrName>
                                        </p:attrNameLst>
                                      </p:cBhvr>
                                      <p:to>
                                        <p:strVal val="visible"/>
                                      </p:to>
                                    </p:set>
                                    <p:animEffect transition="in" filter="fade">
                                      <p:cBhvr>
                                        <p:cTn id="7" dur="500"/>
                                        <p:tgtEl>
                                          <p:spTgt spid="7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18"/>
          <p:cNvSpPr txBox="1">
            <a:spLocks noGrp="1"/>
          </p:cNvSpPr>
          <p:nvPr>
            <p:ph type="title"/>
          </p:nvPr>
        </p:nvSpPr>
        <p:spPr>
          <a:xfrm>
            <a:off x="914400" y="609600"/>
            <a:ext cx="103632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a:t>BSD Socket Programming (connectionless)</a:t>
            </a:r>
            <a:endParaRPr/>
          </a:p>
        </p:txBody>
      </p:sp>
      <p:pic>
        <p:nvPicPr>
          <p:cNvPr id="713" name="Google Shape;713;p18" descr="connectionless"/>
          <p:cNvPicPr preferRelativeResize="0"/>
          <p:nvPr/>
        </p:nvPicPr>
        <p:blipFill rotWithShape="1">
          <a:blip r:embed="rId3">
            <a:alphaModFix/>
          </a:blip>
          <a:srcRect/>
          <a:stretch/>
        </p:blipFill>
        <p:spPr>
          <a:xfrm>
            <a:off x="3970898" y="1981200"/>
            <a:ext cx="4250204" cy="4114800"/>
          </a:xfrm>
          <a:prstGeom prst="rect">
            <a:avLst/>
          </a:prstGeom>
          <a:solidFill>
            <a:srgbClr val="FFFFFF"/>
          </a:solid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19"/>
          <p:cNvSpPr txBox="1">
            <a:spLocks noGrp="1"/>
          </p:cNvSpPr>
          <p:nvPr>
            <p:ph type="title"/>
          </p:nvPr>
        </p:nvSpPr>
        <p:spPr>
          <a:xfrm>
            <a:off x="267929" y="12741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Socket programming </a:t>
            </a:r>
            <a:r>
              <a:rPr lang="en-US" i="1">
                <a:solidFill>
                  <a:srgbClr val="FF0000"/>
                </a:solidFill>
              </a:rPr>
              <a:t>with UDP</a:t>
            </a:r>
            <a:endParaRPr/>
          </a:p>
        </p:txBody>
      </p:sp>
      <p:sp>
        <p:nvSpPr>
          <p:cNvPr id="719" name="Google Shape;719;p19"/>
          <p:cNvSpPr txBox="1"/>
          <p:nvPr/>
        </p:nvSpPr>
        <p:spPr>
          <a:xfrm>
            <a:off x="680936" y="4553087"/>
            <a:ext cx="10352496" cy="2177498"/>
          </a:xfrm>
          <a:prstGeom prst="rect">
            <a:avLst/>
          </a:prstGeom>
          <a:noFill/>
          <a:ln>
            <a:noFill/>
          </a:ln>
        </p:spPr>
        <p:txBody>
          <a:bodyPr spcFirstLastPara="1" wrap="square" lIns="91425" tIns="45700" rIns="91425" bIns="45700" anchor="t" anchorCtr="0">
            <a:normAutofit/>
          </a:bodyPr>
          <a:lstStyle/>
          <a:p>
            <a:pPr marL="352425" marR="0" lvl="0" indent="-222250" algn="l" rtl="0">
              <a:lnSpc>
                <a:spcPct val="90000"/>
              </a:lnSpc>
              <a:spcBef>
                <a:spcPts val="0"/>
              </a:spcBef>
              <a:spcAft>
                <a:spcPts val="0"/>
              </a:spcAft>
              <a:buClr>
                <a:srgbClr val="0000A3"/>
              </a:buClr>
              <a:buSzPts val="3200"/>
              <a:buFont typeface="Noto Sans Symbols"/>
              <a:buNone/>
            </a:pPr>
            <a:r>
              <a:rPr lang="en-US" sz="3200" b="0" i="0" u="none" strike="noStrike" cap="none">
                <a:solidFill>
                  <a:srgbClr val="CC0000"/>
                </a:solidFill>
                <a:latin typeface="Calibri"/>
                <a:ea typeface="Calibri"/>
                <a:cs typeface="Calibri"/>
                <a:sym typeface="Calibri"/>
              </a:rPr>
              <a:t>UDP: </a:t>
            </a:r>
            <a:r>
              <a:rPr lang="en-US" sz="3200" b="0" i="0" u="none" strike="noStrike" cap="none">
                <a:solidFill>
                  <a:srgbClr val="0000A3"/>
                </a:solidFill>
                <a:latin typeface="Calibri"/>
                <a:ea typeface="Calibri"/>
                <a:cs typeface="Calibri"/>
                <a:sym typeface="Calibri"/>
              </a:rPr>
              <a:t>transmitted data may be lost or received out-of-order</a:t>
            </a:r>
            <a:endParaRPr/>
          </a:p>
          <a:p>
            <a:pPr marL="352425" marR="0" lvl="0" indent="-222250" algn="l" rtl="0">
              <a:lnSpc>
                <a:spcPct val="90000"/>
              </a:lnSpc>
              <a:spcBef>
                <a:spcPts val="1600"/>
              </a:spcBef>
              <a:spcAft>
                <a:spcPts val="0"/>
              </a:spcAft>
              <a:buClr>
                <a:srgbClr val="0000A3"/>
              </a:buClr>
              <a:buSzPts val="3200"/>
              <a:buFont typeface="Noto Sans Symbols"/>
              <a:buNone/>
            </a:pPr>
            <a:r>
              <a:rPr lang="en-US" sz="3200" b="0" i="0" u="none" strike="noStrike" cap="none">
                <a:solidFill>
                  <a:srgbClr val="CC0000"/>
                </a:solidFill>
                <a:latin typeface="Calibri"/>
                <a:ea typeface="Calibri"/>
                <a:cs typeface="Calibri"/>
                <a:sym typeface="Calibri"/>
              </a:rPr>
              <a:t>Application viewpoint:</a:t>
            </a:r>
            <a:endParaRPr/>
          </a:p>
          <a:p>
            <a:pPr marL="466725" marR="0" lvl="0" indent="-292100" algn="l" rtl="0">
              <a:lnSpc>
                <a:spcPct val="100000"/>
              </a:lnSpc>
              <a:spcBef>
                <a:spcPts val="0"/>
              </a:spcBef>
              <a:spcAft>
                <a:spcPts val="0"/>
              </a:spcAft>
              <a:buClr>
                <a:srgbClr val="010086"/>
              </a:buClr>
              <a:buSzPts val="2800"/>
              <a:buFont typeface="Noto Sans Symbols"/>
              <a:buChar char="▪"/>
            </a:pPr>
            <a:r>
              <a:rPr lang="en-US" sz="2800" b="0" i="0" u="none" strike="noStrike" cap="none">
                <a:solidFill>
                  <a:srgbClr val="000000"/>
                </a:solidFill>
                <a:latin typeface="Calibri"/>
                <a:ea typeface="Calibri"/>
                <a:cs typeface="Calibri"/>
                <a:sym typeface="Calibri"/>
              </a:rPr>
              <a:t>UDP provides </a:t>
            </a:r>
            <a:r>
              <a:rPr lang="en-US" sz="2800" b="0" i="1" u="none" strike="noStrike" cap="none">
                <a:solidFill>
                  <a:srgbClr val="000000"/>
                </a:solidFill>
                <a:latin typeface="Calibri"/>
                <a:ea typeface="Calibri"/>
                <a:cs typeface="Calibri"/>
                <a:sym typeface="Calibri"/>
              </a:rPr>
              <a:t>unreliable</a:t>
            </a:r>
            <a:r>
              <a:rPr lang="en-US" sz="2800" b="0" i="0" u="none" strike="noStrike" cap="none">
                <a:solidFill>
                  <a:srgbClr val="000000"/>
                </a:solidFill>
                <a:latin typeface="Calibri"/>
                <a:ea typeface="Calibri"/>
                <a:cs typeface="Calibri"/>
                <a:sym typeface="Calibri"/>
              </a:rPr>
              <a:t> transfer  of groups of bytes (“datagrams”)  between client and server processes</a:t>
            </a:r>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a:p>
            <a:pPr marL="352425" marR="0" lvl="0" indent="-222250" algn="l" rtl="0">
              <a:lnSpc>
                <a:spcPct val="90000"/>
              </a:lnSpc>
              <a:spcBef>
                <a:spcPts val="1400"/>
              </a:spcBef>
              <a:spcAft>
                <a:spcPts val="0"/>
              </a:spcAft>
              <a:buClr>
                <a:srgbClr val="0000A3"/>
              </a:buClr>
              <a:buSzPts val="2800"/>
              <a:buFont typeface="Noto Sans Symbols"/>
              <a:buNone/>
            </a:pPr>
            <a:endParaRPr sz="2800" b="0" i="0" u="none" strike="noStrike" cap="none">
              <a:solidFill>
                <a:srgbClr val="CC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9">
                                            <p:txEl>
                                              <p:pRg st="0" end="0"/>
                                            </p:txEl>
                                          </p:spTgt>
                                        </p:tgtEl>
                                        <p:attrNameLst>
                                          <p:attrName>style.visibility</p:attrName>
                                        </p:attrNameLst>
                                      </p:cBhvr>
                                      <p:to>
                                        <p:strVal val="visible"/>
                                      </p:to>
                                    </p:set>
                                    <p:animEffect transition="in" filter="fade">
                                      <p:cBhvr>
                                        <p:cTn id="7" dur="500"/>
                                        <p:tgtEl>
                                          <p:spTgt spid="7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9">
                                            <p:txEl>
                                              <p:pRg st="1" end="1"/>
                                            </p:txEl>
                                          </p:spTgt>
                                        </p:tgtEl>
                                        <p:attrNameLst>
                                          <p:attrName>style.visibility</p:attrName>
                                        </p:attrNameLst>
                                      </p:cBhvr>
                                      <p:to>
                                        <p:strVal val="visible"/>
                                      </p:to>
                                    </p:set>
                                    <p:animEffect transition="in" filter="fade">
                                      <p:cBhvr>
                                        <p:cTn id="12" dur="500"/>
                                        <p:tgtEl>
                                          <p:spTgt spid="7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19">
                                            <p:txEl>
                                              <p:pRg st="2" end="2"/>
                                            </p:txEl>
                                          </p:spTgt>
                                        </p:tgtEl>
                                        <p:attrNameLst>
                                          <p:attrName>style.visibility</p:attrName>
                                        </p:attrNameLst>
                                      </p:cBhvr>
                                      <p:to>
                                        <p:strVal val="visible"/>
                                      </p:to>
                                    </p:set>
                                    <p:animEffect transition="in" filter="fade">
                                      <p:cBhvr>
                                        <p:cTn id="17" dur="500"/>
                                        <p:tgtEl>
                                          <p:spTgt spid="7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19">
                                            <p:txEl>
                                              <p:pRg st="3" end="3"/>
                                            </p:txEl>
                                          </p:spTgt>
                                        </p:tgtEl>
                                        <p:attrNameLst>
                                          <p:attrName>style.visibility</p:attrName>
                                        </p:attrNameLst>
                                      </p:cBhvr>
                                      <p:to>
                                        <p:strVal val="visible"/>
                                      </p:to>
                                    </p:set>
                                    <p:animEffect transition="in" filter="fade">
                                      <p:cBhvr>
                                        <p:cTn id="22" dur="500"/>
                                        <p:tgtEl>
                                          <p:spTgt spid="7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9">
                                            <p:txEl>
                                              <p:pRg st="4" end="4"/>
                                            </p:txEl>
                                          </p:spTgt>
                                        </p:tgtEl>
                                        <p:attrNameLst>
                                          <p:attrName>style.visibility</p:attrName>
                                        </p:attrNameLst>
                                      </p:cBhvr>
                                      <p:to>
                                        <p:strVal val="visible"/>
                                      </p:to>
                                    </p:set>
                                    <p:animEffect transition="in" filter="fade">
                                      <p:cBhvr>
                                        <p:cTn id="27" dur="500"/>
                                        <p:tgtEl>
                                          <p:spTgt spid="7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719">
                                            <p:txEl>
                                              <p:pRg st="5" end="5"/>
                                            </p:txEl>
                                          </p:spTgt>
                                        </p:tgtEl>
                                        <p:attrNameLst>
                                          <p:attrName>style.visibility</p:attrName>
                                        </p:attrNameLst>
                                      </p:cBhvr>
                                      <p:to>
                                        <p:strVal val="visible"/>
                                      </p:to>
                                    </p:set>
                                    <p:animEffect transition="in" filter="fade">
                                      <p:cBhvr>
                                        <p:cTn id="32" dur="500"/>
                                        <p:tgtEl>
                                          <p:spTgt spid="71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719">
                                            <p:txEl>
                                              <p:pRg st="6" end="6"/>
                                            </p:txEl>
                                          </p:spTgt>
                                        </p:tgtEl>
                                        <p:attrNameLst>
                                          <p:attrName>style.visibility</p:attrName>
                                        </p:attrNameLst>
                                      </p:cBhvr>
                                      <p:to>
                                        <p:strVal val="visible"/>
                                      </p:to>
                                    </p:set>
                                    <p:animEffect transition="in" filter="fade">
                                      <p:cBhvr>
                                        <p:cTn id="37" dur="500"/>
                                        <p:tgtEl>
                                          <p:spTgt spid="71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719">
                                            <p:txEl>
                                              <p:pRg st="7" end="7"/>
                                            </p:txEl>
                                          </p:spTgt>
                                        </p:tgtEl>
                                        <p:attrNameLst>
                                          <p:attrName>style.visibility</p:attrName>
                                        </p:attrNameLst>
                                      </p:cBhvr>
                                      <p:to>
                                        <p:strVal val="visible"/>
                                      </p:to>
                                    </p:set>
                                    <p:animEffect transition="in" filter="fade">
                                      <p:cBhvr>
                                        <p:cTn id="42" dur="500"/>
                                        <p:tgtEl>
                                          <p:spTgt spid="71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719">
                                            <p:txEl>
                                              <p:pRg st="8" end="8"/>
                                            </p:txEl>
                                          </p:spTgt>
                                        </p:tgtEl>
                                        <p:attrNameLst>
                                          <p:attrName>style.visibility</p:attrName>
                                        </p:attrNameLst>
                                      </p:cBhvr>
                                      <p:to>
                                        <p:strVal val="visible"/>
                                      </p:to>
                                    </p:set>
                                    <p:animEffect transition="in" filter="fade">
                                      <p:cBhvr>
                                        <p:cTn id="47" dur="500"/>
                                        <p:tgtEl>
                                          <p:spTgt spid="719">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719">
                                            <p:txEl>
                                              <p:pRg st="9" end="9"/>
                                            </p:txEl>
                                          </p:spTgt>
                                        </p:tgtEl>
                                        <p:attrNameLst>
                                          <p:attrName>style.visibility</p:attrName>
                                        </p:attrNameLst>
                                      </p:cBhvr>
                                      <p:to>
                                        <p:strVal val="visible"/>
                                      </p:to>
                                    </p:set>
                                    <p:animEffect transition="in" filter="fade">
                                      <p:cBhvr>
                                        <p:cTn id="52" dur="500"/>
                                        <p:tgtEl>
                                          <p:spTgt spid="719">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719">
                                            <p:txEl>
                                              <p:pRg st="10" end="10"/>
                                            </p:txEl>
                                          </p:spTgt>
                                        </p:tgtEl>
                                        <p:attrNameLst>
                                          <p:attrName>style.visibility</p:attrName>
                                        </p:attrNameLst>
                                      </p:cBhvr>
                                      <p:to>
                                        <p:strVal val="visible"/>
                                      </p:to>
                                    </p:set>
                                    <p:animEffect transition="in" filter="fade">
                                      <p:cBhvr>
                                        <p:cTn id="57" dur="500"/>
                                        <p:tgtEl>
                                          <p:spTgt spid="719">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719">
                                            <p:txEl>
                                              <p:pRg st="11" end="11"/>
                                            </p:txEl>
                                          </p:spTgt>
                                        </p:tgtEl>
                                        <p:attrNameLst>
                                          <p:attrName>style.visibility</p:attrName>
                                        </p:attrNameLst>
                                      </p:cBhvr>
                                      <p:to>
                                        <p:strVal val="visible"/>
                                      </p:to>
                                    </p:set>
                                    <p:animEffect transition="in" filter="fade">
                                      <p:cBhvr>
                                        <p:cTn id="62" dur="500"/>
                                        <p:tgtEl>
                                          <p:spTgt spid="719">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719">
                                            <p:txEl>
                                              <p:pRg st="12" end="12"/>
                                            </p:txEl>
                                          </p:spTgt>
                                        </p:tgtEl>
                                        <p:attrNameLst>
                                          <p:attrName>style.visibility</p:attrName>
                                        </p:attrNameLst>
                                      </p:cBhvr>
                                      <p:to>
                                        <p:strVal val="visible"/>
                                      </p:to>
                                    </p:set>
                                    <p:animEffect transition="in" filter="fade">
                                      <p:cBhvr>
                                        <p:cTn id="67" dur="500"/>
                                        <p:tgtEl>
                                          <p:spTgt spid="719">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719">
                                            <p:txEl>
                                              <p:pRg st="13" end="13"/>
                                            </p:txEl>
                                          </p:spTgt>
                                        </p:tgtEl>
                                        <p:attrNameLst>
                                          <p:attrName>style.visibility</p:attrName>
                                        </p:attrNameLst>
                                      </p:cBhvr>
                                      <p:to>
                                        <p:strVal val="visible"/>
                                      </p:to>
                                    </p:set>
                                    <p:animEffect transition="in" filter="fade">
                                      <p:cBhvr>
                                        <p:cTn id="72" dur="500"/>
                                        <p:tgtEl>
                                          <p:spTgt spid="719">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719">
                                            <p:txEl>
                                              <p:pRg st="14" end="14"/>
                                            </p:txEl>
                                          </p:spTgt>
                                        </p:tgtEl>
                                        <p:attrNameLst>
                                          <p:attrName>style.visibility</p:attrName>
                                        </p:attrNameLst>
                                      </p:cBhvr>
                                      <p:to>
                                        <p:strVal val="visible"/>
                                      </p:to>
                                    </p:set>
                                    <p:animEffect transition="in" filter="fade">
                                      <p:cBhvr>
                                        <p:cTn id="77" dur="500"/>
                                        <p:tgtEl>
                                          <p:spTgt spid="719">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nodeType="clickEffect">
                                  <p:stCondLst>
                                    <p:cond delay="0"/>
                                  </p:stCondLst>
                                  <p:childTnLst>
                                    <p:set>
                                      <p:cBhvr>
                                        <p:cTn id="81" dur="1" fill="hold">
                                          <p:stCondLst>
                                            <p:cond delay="0"/>
                                          </p:stCondLst>
                                        </p:cTn>
                                        <p:tgtEl>
                                          <p:spTgt spid="719">
                                            <p:txEl>
                                              <p:pRg st="15" end="15"/>
                                            </p:txEl>
                                          </p:spTgt>
                                        </p:tgtEl>
                                        <p:attrNameLst>
                                          <p:attrName>style.visibility</p:attrName>
                                        </p:attrNameLst>
                                      </p:cBhvr>
                                      <p:to>
                                        <p:strVal val="visible"/>
                                      </p:to>
                                    </p:set>
                                    <p:animEffect transition="in" filter="fade">
                                      <p:cBhvr>
                                        <p:cTn id="82" dur="500"/>
                                        <p:tgtEl>
                                          <p:spTgt spid="719">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719">
                                            <p:txEl>
                                              <p:pRg st="16" end="16"/>
                                            </p:txEl>
                                          </p:spTgt>
                                        </p:tgtEl>
                                        <p:attrNameLst>
                                          <p:attrName>style.visibility</p:attrName>
                                        </p:attrNameLst>
                                      </p:cBhvr>
                                      <p:to>
                                        <p:strVal val="visible"/>
                                      </p:to>
                                    </p:set>
                                    <p:animEffect transition="in" filter="fade">
                                      <p:cBhvr>
                                        <p:cTn id="87" dur="500"/>
                                        <p:tgtEl>
                                          <p:spTgt spid="719">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719">
                                            <p:txEl>
                                              <p:pRg st="17" end="17"/>
                                            </p:txEl>
                                          </p:spTgt>
                                        </p:tgtEl>
                                        <p:attrNameLst>
                                          <p:attrName>style.visibility</p:attrName>
                                        </p:attrNameLst>
                                      </p:cBhvr>
                                      <p:to>
                                        <p:strVal val="visible"/>
                                      </p:to>
                                    </p:set>
                                    <p:animEffect transition="in" filter="fade">
                                      <p:cBhvr>
                                        <p:cTn id="92" dur="500"/>
                                        <p:tgtEl>
                                          <p:spTgt spid="719">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719">
                                            <p:txEl>
                                              <p:pRg st="18" end="18"/>
                                            </p:txEl>
                                          </p:spTgt>
                                        </p:tgtEl>
                                        <p:attrNameLst>
                                          <p:attrName>style.visibility</p:attrName>
                                        </p:attrNameLst>
                                      </p:cBhvr>
                                      <p:to>
                                        <p:strVal val="visible"/>
                                      </p:to>
                                    </p:set>
                                    <p:animEffect transition="in" filter="fade">
                                      <p:cBhvr>
                                        <p:cTn id="97" dur="500"/>
                                        <p:tgtEl>
                                          <p:spTgt spid="719">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719">
                                            <p:txEl>
                                              <p:pRg st="19" end="19"/>
                                            </p:txEl>
                                          </p:spTgt>
                                        </p:tgtEl>
                                        <p:attrNameLst>
                                          <p:attrName>style.visibility</p:attrName>
                                        </p:attrNameLst>
                                      </p:cBhvr>
                                      <p:to>
                                        <p:strVal val="visible"/>
                                      </p:to>
                                    </p:set>
                                    <p:animEffect transition="in" filter="fade">
                                      <p:cBhvr>
                                        <p:cTn id="102" dur="500"/>
                                        <p:tgtEl>
                                          <p:spTgt spid="719">
                                            <p:txEl>
                                              <p:pRg st="19" end="1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nodeType="clickEffect">
                                  <p:stCondLst>
                                    <p:cond delay="0"/>
                                  </p:stCondLst>
                                  <p:childTnLst>
                                    <p:set>
                                      <p:cBhvr>
                                        <p:cTn id="106" dur="1" fill="hold">
                                          <p:stCondLst>
                                            <p:cond delay="0"/>
                                          </p:stCondLst>
                                        </p:cTn>
                                        <p:tgtEl>
                                          <p:spTgt spid="719">
                                            <p:txEl>
                                              <p:pRg st="20" end="20"/>
                                            </p:txEl>
                                          </p:spTgt>
                                        </p:tgtEl>
                                        <p:attrNameLst>
                                          <p:attrName>style.visibility</p:attrName>
                                        </p:attrNameLst>
                                      </p:cBhvr>
                                      <p:to>
                                        <p:strVal val="visible"/>
                                      </p:to>
                                    </p:set>
                                    <p:animEffect transition="in" filter="fade">
                                      <p:cBhvr>
                                        <p:cTn id="107" dur="500"/>
                                        <p:tgtEl>
                                          <p:spTgt spid="719">
                                            <p:txEl>
                                              <p:pRg st="20" end="2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nodeType="clickEffect">
                                  <p:stCondLst>
                                    <p:cond delay="0"/>
                                  </p:stCondLst>
                                  <p:childTnLst>
                                    <p:set>
                                      <p:cBhvr>
                                        <p:cTn id="111" dur="1" fill="hold">
                                          <p:stCondLst>
                                            <p:cond delay="0"/>
                                          </p:stCondLst>
                                        </p:cTn>
                                        <p:tgtEl>
                                          <p:spTgt spid="719">
                                            <p:txEl>
                                              <p:pRg st="21" end="21"/>
                                            </p:txEl>
                                          </p:spTgt>
                                        </p:tgtEl>
                                        <p:attrNameLst>
                                          <p:attrName>style.visibility</p:attrName>
                                        </p:attrNameLst>
                                      </p:cBhvr>
                                      <p:to>
                                        <p:strVal val="visible"/>
                                      </p:to>
                                    </p:set>
                                    <p:animEffect transition="in" filter="fade">
                                      <p:cBhvr>
                                        <p:cTn id="112" dur="500"/>
                                        <p:tgtEl>
                                          <p:spTgt spid="719">
                                            <p:txEl>
                                              <p:pRg st="21" end="2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719">
                                            <p:txEl>
                                              <p:pRg st="22" end="22"/>
                                            </p:txEl>
                                          </p:spTgt>
                                        </p:tgtEl>
                                        <p:attrNameLst>
                                          <p:attrName>style.visibility</p:attrName>
                                        </p:attrNameLst>
                                      </p:cBhvr>
                                      <p:to>
                                        <p:strVal val="visible"/>
                                      </p:to>
                                    </p:set>
                                    <p:animEffect transition="in" filter="fade">
                                      <p:cBhvr>
                                        <p:cTn id="117" dur="500"/>
                                        <p:tgtEl>
                                          <p:spTgt spid="719">
                                            <p:txEl>
                                              <p:pRg st="22" end="22"/>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10" presetClass="entr" presetSubtype="0" fill="hold" nodeType="clickEffect">
                                  <p:stCondLst>
                                    <p:cond delay="0"/>
                                  </p:stCondLst>
                                  <p:childTnLst>
                                    <p:set>
                                      <p:cBhvr>
                                        <p:cTn id="121" dur="1" fill="hold">
                                          <p:stCondLst>
                                            <p:cond delay="0"/>
                                          </p:stCondLst>
                                        </p:cTn>
                                        <p:tgtEl>
                                          <p:spTgt spid="719">
                                            <p:txEl>
                                              <p:pRg st="23" end="23"/>
                                            </p:txEl>
                                          </p:spTgt>
                                        </p:tgtEl>
                                        <p:attrNameLst>
                                          <p:attrName>style.visibility</p:attrName>
                                        </p:attrNameLst>
                                      </p:cBhvr>
                                      <p:to>
                                        <p:strVal val="visible"/>
                                      </p:to>
                                    </p:set>
                                    <p:animEffect transition="in" filter="fade">
                                      <p:cBhvr>
                                        <p:cTn id="122" dur="500"/>
                                        <p:tgtEl>
                                          <p:spTgt spid="719">
                                            <p:txEl>
                                              <p:pRg st="23" end="23"/>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10" presetClass="entr" presetSubtype="0" fill="hold" nodeType="clickEffect">
                                  <p:stCondLst>
                                    <p:cond delay="0"/>
                                  </p:stCondLst>
                                  <p:childTnLst>
                                    <p:set>
                                      <p:cBhvr>
                                        <p:cTn id="126" dur="1" fill="hold">
                                          <p:stCondLst>
                                            <p:cond delay="0"/>
                                          </p:stCondLst>
                                        </p:cTn>
                                        <p:tgtEl>
                                          <p:spTgt spid="719">
                                            <p:txEl>
                                              <p:pRg st="24" end="24"/>
                                            </p:txEl>
                                          </p:spTgt>
                                        </p:tgtEl>
                                        <p:attrNameLst>
                                          <p:attrName>style.visibility</p:attrName>
                                        </p:attrNameLst>
                                      </p:cBhvr>
                                      <p:to>
                                        <p:strVal val="visible"/>
                                      </p:to>
                                    </p:set>
                                    <p:animEffect transition="in" filter="fade">
                                      <p:cBhvr>
                                        <p:cTn id="127" dur="500"/>
                                        <p:tgtEl>
                                          <p:spTgt spid="719">
                                            <p:txEl>
                                              <p:pRg st="24" end="2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20"/>
          <p:cNvSpPr txBox="1">
            <a:spLocks noGrp="1"/>
          </p:cNvSpPr>
          <p:nvPr>
            <p:ph type="title"/>
          </p:nvPr>
        </p:nvSpPr>
        <p:spPr>
          <a:xfrm>
            <a:off x="1828801" y="0"/>
            <a:ext cx="8582025"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Client/server socket interaction: UDP</a:t>
            </a:r>
            <a:endParaRPr/>
          </a:p>
        </p:txBody>
      </p:sp>
      <p:grpSp>
        <p:nvGrpSpPr>
          <p:cNvPr id="725" name="Google Shape;725;p20"/>
          <p:cNvGrpSpPr/>
          <p:nvPr/>
        </p:nvGrpSpPr>
        <p:grpSpPr>
          <a:xfrm>
            <a:off x="7034214" y="4081464"/>
            <a:ext cx="2211387" cy="2111375"/>
            <a:chOff x="3485" y="2550"/>
            <a:chExt cx="1393" cy="1330"/>
          </a:xfrm>
        </p:grpSpPr>
        <p:grpSp>
          <p:nvGrpSpPr>
            <p:cNvPr id="726" name="Google Shape;726;p20"/>
            <p:cNvGrpSpPr/>
            <p:nvPr/>
          </p:nvGrpSpPr>
          <p:grpSpPr>
            <a:xfrm>
              <a:off x="3485" y="2964"/>
              <a:ext cx="1393" cy="916"/>
              <a:chOff x="3485" y="2964"/>
              <a:chExt cx="1393" cy="916"/>
            </a:xfrm>
          </p:grpSpPr>
          <p:sp>
            <p:nvSpPr>
              <p:cNvPr id="727" name="Google Shape;727;p20"/>
              <p:cNvSpPr txBox="1"/>
              <p:nvPr/>
            </p:nvSpPr>
            <p:spPr>
              <a:xfrm>
                <a:off x="3509" y="3473"/>
                <a:ext cx="900" cy="40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close</a:t>
                </a:r>
                <a:endParaRPr/>
              </a:p>
              <a:p>
                <a:pPr marL="0" marR="0" lvl="0" indent="0" algn="l" rtl="0">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a:t>
                </a:r>
                <a:r>
                  <a:rPr lang="en-US" sz="1800">
                    <a:solidFill>
                      <a:srgbClr val="FF0000"/>
                    </a:solidFill>
                    <a:latin typeface="Arial"/>
                    <a:ea typeface="Arial"/>
                    <a:cs typeface="Arial"/>
                    <a:sym typeface="Arial"/>
                  </a:rPr>
                  <a:t>t</a:t>
                </a:r>
                <a:endParaRPr sz="1800">
                  <a:solidFill>
                    <a:srgbClr val="000000"/>
                  </a:solidFill>
                  <a:latin typeface="Times New Roman"/>
                  <a:ea typeface="Times New Roman"/>
                  <a:cs typeface="Times New Roman"/>
                  <a:sym typeface="Times New Roman"/>
                </a:endParaRPr>
              </a:p>
            </p:txBody>
          </p:sp>
          <p:cxnSp>
            <p:nvCxnSpPr>
              <p:cNvPr id="728" name="Google Shape;728;p20"/>
              <p:cNvCxnSpPr/>
              <p:nvPr/>
            </p:nvCxnSpPr>
            <p:spPr>
              <a:xfrm>
                <a:off x="3936" y="3318"/>
                <a:ext cx="0" cy="204"/>
              </a:xfrm>
              <a:prstGeom prst="straightConnector1">
                <a:avLst/>
              </a:prstGeom>
              <a:noFill/>
              <a:ln w="28575" cap="flat" cmpd="sng">
                <a:solidFill>
                  <a:srgbClr val="000099"/>
                </a:solidFill>
                <a:prstDash val="solid"/>
                <a:round/>
                <a:headEnd type="none" w="med" len="med"/>
                <a:tailEnd type="triangle" w="med" len="med"/>
              </a:ln>
            </p:spPr>
          </p:cxnSp>
          <p:sp>
            <p:nvSpPr>
              <p:cNvPr id="729" name="Google Shape;729;p20"/>
              <p:cNvSpPr txBox="1"/>
              <p:nvPr/>
            </p:nvSpPr>
            <p:spPr>
              <a:xfrm>
                <a:off x="3485" y="2964"/>
                <a:ext cx="1393" cy="40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read datagram from</a:t>
                </a:r>
                <a:endParaRPr/>
              </a:p>
              <a:p>
                <a:pPr marL="0" marR="0" lvl="0" indent="0" algn="l" rtl="0">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clientSocket</a:t>
                </a:r>
                <a:endParaRPr sz="1800">
                  <a:solidFill>
                    <a:srgbClr val="CC0000"/>
                  </a:solidFill>
                  <a:latin typeface="Times New Roman"/>
                  <a:ea typeface="Times New Roman"/>
                  <a:cs typeface="Times New Roman"/>
                  <a:sym typeface="Times New Roman"/>
                </a:endParaRPr>
              </a:p>
            </p:txBody>
          </p:sp>
        </p:grpSp>
        <p:cxnSp>
          <p:nvCxnSpPr>
            <p:cNvPr id="730" name="Google Shape;730;p20"/>
            <p:cNvCxnSpPr/>
            <p:nvPr/>
          </p:nvCxnSpPr>
          <p:spPr>
            <a:xfrm>
              <a:off x="3864" y="2550"/>
              <a:ext cx="0" cy="522"/>
            </a:xfrm>
            <a:prstGeom prst="straightConnector1">
              <a:avLst/>
            </a:prstGeom>
            <a:noFill/>
            <a:ln w="28575" cap="flat" cmpd="sng">
              <a:solidFill>
                <a:srgbClr val="000099"/>
              </a:solidFill>
              <a:prstDash val="solid"/>
              <a:round/>
              <a:headEnd type="none" w="med" len="med"/>
              <a:tailEnd type="triangle" w="med" len="med"/>
            </a:ln>
          </p:spPr>
        </p:cxnSp>
      </p:grpSp>
      <p:grpSp>
        <p:nvGrpSpPr>
          <p:cNvPr id="731" name="Google Shape;731;p20"/>
          <p:cNvGrpSpPr/>
          <p:nvPr/>
        </p:nvGrpSpPr>
        <p:grpSpPr>
          <a:xfrm>
            <a:off x="4524375" y="1333501"/>
            <a:ext cx="6203950" cy="2690813"/>
            <a:chOff x="1890" y="840"/>
            <a:chExt cx="3908" cy="1695"/>
          </a:xfrm>
        </p:grpSpPr>
        <p:grpSp>
          <p:nvGrpSpPr>
            <p:cNvPr id="732" name="Google Shape;732;p20"/>
            <p:cNvGrpSpPr/>
            <p:nvPr/>
          </p:nvGrpSpPr>
          <p:grpSpPr>
            <a:xfrm>
              <a:off x="3397" y="1240"/>
              <a:ext cx="2289" cy="593"/>
              <a:chOff x="3241" y="1750"/>
              <a:chExt cx="2289" cy="593"/>
            </a:xfrm>
          </p:grpSpPr>
          <p:sp>
            <p:nvSpPr>
              <p:cNvPr id="733" name="Google Shape;733;p20"/>
              <p:cNvSpPr txBox="1"/>
              <p:nvPr/>
            </p:nvSpPr>
            <p:spPr>
              <a:xfrm>
                <a:off x="3241" y="1750"/>
                <a:ext cx="1021" cy="46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socket:</a:t>
                </a:r>
                <a:endParaRPr/>
              </a:p>
              <a:p>
                <a:pPr marL="0" marR="0" lvl="0" indent="0" algn="l" rtl="0">
                  <a:spcBef>
                    <a:spcPts val="0"/>
                  </a:spcBef>
                  <a:spcAft>
                    <a:spcPts val="0"/>
                  </a:spcAft>
                  <a:buClr>
                    <a:schemeClr val="dk1"/>
                  </a:buClr>
                  <a:buSzPts val="2400"/>
                  <a:buFont typeface="Comic Sans MS"/>
                  <a:buNone/>
                </a:pPr>
                <a:endParaRPr sz="2400">
                  <a:solidFill>
                    <a:srgbClr val="000000"/>
                  </a:solidFill>
                  <a:latin typeface="Times New Roman"/>
                  <a:ea typeface="Times New Roman"/>
                  <a:cs typeface="Times New Roman"/>
                  <a:sym typeface="Times New Roman"/>
                </a:endParaRPr>
              </a:p>
            </p:txBody>
          </p:sp>
          <p:sp>
            <p:nvSpPr>
              <p:cNvPr id="734" name="Google Shape;734;p20"/>
              <p:cNvSpPr txBox="1"/>
              <p:nvPr/>
            </p:nvSpPr>
            <p:spPr>
              <a:xfrm>
                <a:off x="3241" y="1962"/>
                <a:ext cx="2289" cy="381"/>
              </a:xfrm>
              <a:prstGeom prst="rect">
                <a:avLst/>
              </a:prstGeom>
              <a:noFill/>
              <a:ln>
                <a:noFill/>
              </a:ln>
            </p:spPr>
            <p:txBody>
              <a:bodyPr spcFirstLastPara="1" wrap="square" lIns="91425" tIns="45700" rIns="91425" bIns="45700" anchor="ctr" anchorCtr="0">
                <a:spAutoFit/>
              </a:bodyPr>
              <a:lstStyle/>
              <a:p>
                <a:pPr marL="0" marR="0" lvl="0" indent="0" algn="l" rtl="0">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clientSocket =</a:t>
                </a:r>
                <a:endParaRPr/>
              </a:p>
              <a:p>
                <a:pPr marL="0" marR="0" lvl="0" indent="0" algn="l" rtl="0">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socket(AF_INET,SOCK_DGRAM)</a:t>
                </a:r>
                <a:endParaRPr sz="1800">
                  <a:solidFill>
                    <a:srgbClr val="CC0000"/>
                  </a:solidFill>
                  <a:latin typeface="Times New Roman"/>
                  <a:ea typeface="Times New Roman"/>
                  <a:cs typeface="Times New Roman"/>
                  <a:sym typeface="Times New Roman"/>
                </a:endParaRPr>
              </a:p>
            </p:txBody>
          </p:sp>
        </p:grpSp>
        <p:sp>
          <p:nvSpPr>
            <p:cNvPr id="735" name="Google Shape;735;p20"/>
            <p:cNvSpPr txBox="1"/>
            <p:nvPr/>
          </p:nvSpPr>
          <p:spPr>
            <a:xfrm>
              <a:off x="3570" y="840"/>
              <a:ext cx="116" cy="2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2400"/>
                <a:buFont typeface="Comic Sans MS"/>
                <a:buNone/>
              </a:pPr>
              <a:endParaRPr sz="2400">
                <a:solidFill>
                  <a:srgbClr val="000000"/>
                </a:solidFill>
                <a:latin typeface="Times New Roman"/>
                <a:ea typeface="Times New Roman"/>
                <a:cs typeface="Times New Roman"/>
                <a:sym typeface="Times New Roman"/>
              </a:endParaRPr>
            </a:p>
          </p:txBody>
        </p:sp>
        <p:sp>
          <p:nvSpPr>
            <p:cNvPr id="736" name="Google Shape;736;p20"/>
            <p:cNvSpPr txBox="1"/>
            <p:nvPr/>
          </p:nvSpPr>
          <p:spPr>
            <a:xfrm>
              <a:off x="3389" y="1953"/>
              <a:ext cx="2409" cy="58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datagram with server IP and</a:t>
              </a:r>
              <a:endParaRPr/>
            </a:p>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port=x; send datagram via</a:t>
              </a:r>
              <a:br>
                <a:rPr lang="en-US" sz="1800">
                  <a:solidFill>
                    <a:srgbClr val="CC0000"/>
                  </a:solidFill>
                  <a:latin typeface="Arial"/>
                  <a:ea typeface="Arial"/>
                  <a:cs typeface="Arial"/>
                  <a:sym typeface="Arial"/>
                </a:rPr>
              </a:br>
              <a:r>
                <a:rPr lang="en-US" sz="1800">
                  <a:solidFill>
                    <a:srgbClr val="CC0000"/>
                  </a:solidFill>
                  <a:latin typeface="Arial"/>
                  <a:ea typeface="Arial"/>
                  <a:cs typeface="Arial"/>
                  <a:sym typeface="Arial"/>
                </a:rPr>
                <a:t>clientSocket</a:t>
              </a:r>
              <a:endParaRPr sz="1800">
                <a:solidFill>
                  <a:srgbClr val="CC0000"/>
                </a:solidFill>
                <a:latin typeface="Times New Roman"/>
                <a:ea typeface="Times New Roman"/>
                <a:cs typeface="Times New Roman"/>
                <a:sym typeface="Times New Roman"/>
              </a:endParaRPr>
            </a:p>
          </p:txBody>
        </p:sp>
        <p:cxnSp>
          <p:nvCxnSpPr>
            <p:cNvPr id="737" name="Google Shape;737;p20"/>
            <p:cNvCxnSpPr/>
            <p:nvPr/>
          </p:nvCxnSpPr>
          <p:spPr>
            <a:xfrm>
              <a:off x="3828" y="1830"/>
              <a:ext cx="0" cy="204"/>
            </a:xfrm>
            <a:prstGeom prst="straightConnector1">
              <a:avLst/>
            </a:prstGeom>
            <a:noFill/>
            <a:ln w="28575" cap="flat" cmpd="sng">
              <a:solidFill>
                <a:srgbClr val="000099"/>
              </a:solidFill>
              <a:prstDash val="solid"/>
              <a:round/>
              <a:headEnd type="none" w="med" len="med"/>
              <a:tailEnd type="triangle" w="med" len="med"/>
            </a:ln>
          </p:spPr>
        </p:cxnSp>
        <p:cxnSp>
          <p:nvCxnSpPr>
            <p:cNvPr id="738" name="Google Shape;738;p20"/>
            <p:cNvCxnSpPr/>
            <p:nvPr/>
          </p:nvCxnSpPr>
          <p:spPr>
            <a:xfrm flipH="1">
              <a:off x="1890" y="2208"/>
              <a:ext cx="1518" cy="252"/>
            </a:xfrm>
            <a:prstGeom prst="straightConnector1">
              <a:avLst/>
            </a:prstGeom>
            <a:noFill/>
            <a:ln w="28575" cap="flat" cmpd="sng">
              <a:solidFill>
                <a:srgbClr val="CC0000"/>
              </a:solidFill>
              <a:prstDash val="solid"/>
              <a:round/>
              <a:headEnd type="none" w="med" len="med"/>
              <a:tailEnd type="triangle" w="med" len="med"/>
            </a:ln>
          </p:spPr>
        </p:cxnSp>
      </p:grpSp>
      <p:sp>
        <p:nvSpPr>
          <p:cNvPr id="739" name="Google Shape;739;p20"/>
          <p:cNvSpPr txBox="1"/>
          <p:nvPr/>
        </p:nvSpPr>
        <p:spPr>
          <a:xfrm>
            <a:off x="2344738" y="2187575"/>
            <a:ext cx="2462212" cy="369888"/>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socket, port= x:</a:t>
            </a:r>
            <a:endParaRPr sz="1800">
              <a:solidFill>
                <a:srgbClr val="000000"/>
              </a:solidFill>
              <a:latin typeface="Times New Roman"/>
              <a:ea typeface="Times New Roman"/>
              <a:cs typeface="Times New Roman"/>
              <a:sym typeface="Times New Roman"/>
            </a:endParaRPr>
          </a:p>
        </p:txBody>
      </p:sp>
      <p:sp>
        <p:nvSpPr>
          <p:cNvPr id="740" name="Google Shape;740;p20"/>
          <p:cNvSpPr txBox="1"/>
          <p:nvPr/>
        </p:nvSpPr>
        <p:spPr>
          <a:xfrm>
            <a:off x="2357439" y="2511990"/>
            <a:ext cx="3634393" cy="605294"/>
          </a:xfrm>
          <a:prstGeom prst="rect">
            <a:avLst/>
          </a:prstGeom>
          <a:noFill/>
          <a:ln>
            <a:noFill/>
          </a:ln>
        </p:spPr>
        <p:txBody>
          <a:bodyPr spcFirstLastPara="1" wrap="square" lIns="91425" tIns="45700" rIns="91425" bIns="45700" anchor="ctr" anchorCtr="0">
            <a:spAutoFit/>
          </a:bodyPr>
          <a:lstStyle/>
          <a:p>
            <a:pPr marL="0" marR="0" lvl="0" indent="0" algn="l" rtl="0">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serverSocket =</a:t>
            </a:r>
            <a:endParaRPr/>
          </a:p>
          <a:p>
            <a:pPr marL="0" marR="0" lvl="0" indent="0" algn="l" rtl="0">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socket(AF_INET,SOCK_DGRAM)</a:t>
            </a:r>
            <a:endParaRPr sz="1800">
              <a:solidFill>
                <a:srgbClr val="CC0000"/>
              </a:solidFill>
              <a:latin typeface="Times New Roman"/>
              <a:ea typeface="Times New Roman"/>
              <a:cs typeface="Times New Roman"/>
              <a:sym typeface="Times New Roman"/>
            </a:endParaRPr>
          </a:p>
        </p:txBody>
      </p:sp>
      <p:grpSp>
        <p:nvGrpSpPr>
          <p:cNvPr id="741" name="Google Shape;741;p20"/>
          <p:cNvGrpSpPr/>
          <p:nvPr/>
        </p:nvGrpSpPr>
        <p:grpSpPr>
          <a:xfrm>
            <a:off x="2840039" y="3146426"/>
            <a:ext cx="2211387" cy="1122363"/>
            <a:chOff x="885" y="1982"/>
            <a:chExt cx="1393" cy="707"/>
          </a:xfrm>
        </p:grpSpPr>
        <p:cxnSp>
          <p:nvCxnSpPr>
            <p:cNvPr id="742" name="Google Shape;742;p20"/>
            <p:cNvCxnSpPr/>
            <p:nvPr/>
          </p:nvCxnSpPr>
          <p:spPr>
            <a:xfrm>
              <a:off x="1276" y="1982"/>
              <a:ext cx="0" cy="366"/>
            </a:xfrm>
            <a:prstGeom prst="straightConnector1">
              <a:avLst/>
            </a:prstGeom>
            <a:noFill/>
            <a:ln w="28575" cap="flat" cmpd="sng">
              <a:solidFill>
                <a:srgbClr val="000099"/>
              </a:solidFill>
              <a:prstDash val="solid"/>
              <a:round/>
              <a:headEnd type="none" w="med" len="med"/>
              <a:tailEnd type="triangle" w="med" len="med"/>
            </a:ln>
          </p:spPr>
        </p:cxnSp>
        <p:sp>
          <p:nvSpPr>
            <p:cNvPr id="743" name="Google Shape;743;p20"/>
            <p:cNvSpPr txBox="1"/>
            <p:nvPr/>
          </p:nvSpPr>
          <p:spPr>
            <a:xfrm>
              <a:off x="885" y="2282"/>
              <a:ext cx="1393" cy="40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read datagram from</a:t>
              </a:r>
              <a:endParaRPr/>
            </a:p>
            <a:p>
              <a:pPr marL="0" marR="0" lvl="0" indent="0" algn="l" rtl="0">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a:t>
              </a:r>
              <a:r>
                <a:rPr lang="en-US" sz="1800">
                  <a:solidFill>
                    <a:srgbClr val="FF0000"/>
                  </a:solidFill>
                  <a:latin typeface="Arial"/>
                  <a:ea typeface="Arial"/>
                  <a:cs typeface="Arial"/>
                  <a:sym typeface="Arial"/>
                </a:rPr>
                <a:t>t</a:t>
              </a:r>
              <a:endParaRPr sz="1800">
                <a:solidFill>
                  <a:srgbClr val="000000"/>
                </a:solidFill>
                <a:latin typeface="Times New Roman"/>
                <a:ea typeface="Times New Roman"/>
                <a:cs typeface="Times New Roman"/>
                <a:sym typeface="Times New Roman"/>
              </a:endParaRPr>
            </a:p>
          </p:txBody>
        </p:sp>
      </p:grpSp>
      <p:grpSp>
        <p:nvGrpSpPr>
          <p:cNvPr id="744" name="Google Shape;744;p20"/>
          <p:cNvGrpSpPr/>
          <p:nvPr/>
        </p:nvGrpSpPr>
        <p:grpSpPr>
          <a:xfrm>
            <a:off x="2862263" y="4295776"/>
            <a:ext cx="3973512" cy="1660525"/>
            <a:chOff x="899" y="2720"/>
            <a:chExt cx="2503" cy="1046"/>
          </a:xfrm>
        </p:grpSpPr>
        <p:sp>
          <p:nvSpPr>
            <p:cNvPr id="745" name="Google Shape;745;p20"/>
            <p:cNvSpPr txBox="1"/>
            <p:nvPr/>
          </p:nvSpPr>
          <p:spPr>
            <a:xfrm>
              <a:off x="899" y="2835"/>
              <a:ext cx="1062" cy="931"/>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write reply to</a:t>
              </a:r>
              <a:endParaRPr/>
            </a:p>
            <a:p>
              <a:pPr marL="0" marR="0" lvl="0" indent="0" algn="l" rtl="0">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serverSocket</a:t>
              </a:r>
              <a:endParaRPr/>
            </a:p>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specifying </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client address,</a:t>
              </a:r>
              <a:endParaRPr/>
            </a:p>
            <a:p>
              <a:pPr marL="0" marR="0" lvl="0" indent="0" algn="l" rtl="0">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port number</a:t>
              </a:r>
              <a:endParaRPr sz="1800">
                <a:solidFill>
                  <a:srgbClr val="000000"/>
                </a:solidFill>
                <a:latin typeface="Times New Roman"/>
                <a:ea typeface="Times New Roman"/>
                <a:cs typeface="Times New Roman"/>
                <a:sym typeface="Times New Roman"/>
              </a:endParaRPr>
            </a:p>
          </p:txBody>
        </p:sp>
        <p:cxnSp>
          <p:nvCxnSpPr>
            <p:cNvPr id="746" name="Google Shape;746;p20"/>
            <p:cNvCxnSpPr/>
            <p:nvPr/>
          </p:nvCxnSpPr>
          <p:spPr>
            <a:xfrm>
              <a:off x="1302" y="2720"/>
              <a:ext cx="0" cy="198"/>
            </a:xfrm>
            <a:prstGeom prst="straightConnector1">
              <a:avLst/>
            </a:prstGeom>
            <a:noFill/>
            <a:ln w="28575" cap="flat" cmpd="sng">
              <a:solidFill>
                <a:srgbClr val="000099"/>
              </a:solidFill>
              <a:prstDash val="solid"/>
              <a:round/>
              <a:headEnd type="none" w="med" len="med"/>
              <a:tailEnd type="triangle" w="med" len="med"/>
            </a:ln>
          </p:spPr>
        </p:cxnSp>
        <p:cxnSp>
          <p:nvCxnSpPr>
            <p:cNvPr id="747" name="Google Shape;747;p20"/>
            <p:cNvCxnSpPr/>
            <p:nvPr/>
          </p:nvCxnSpPr>
          <p:spPr>
            <a:xfrm>
              <a:off x="1866" y="2970"/>
              <a:ext cx="1536" cy="180"/>
            </a:xfrm>
            <a:prstGeom prst="straightConnector1">
              <a:avLst/>
            </a:prstGeom>
            <a:noFill/>
            <a:ln w="28575" cap="flat" cmpd="sng">
              <a:solidFill>
                <a:srgbClr val="CC0000"/>
              </a:solidFill>
              <a:prstDash val="solid"/>
              <a:round/>
              <a:headEnd type="none" w="med" len="med"/>
              <a:tailEnd type="triangle" w="med" len="med"/>
            </a:ln>
          </p:spPr>
        </p:cxnSp>
      </p:grpSp>
      <p:sp>
        <p:nvSpPr>
          <p:cNvPr id="748" name="Google Shape;748;p20"/>
          <p:cNvSpPr txBox="1"/>
          <p:nvPr/>
        </p:nvSpPr>
        <p:spPr>
          <a:xfrm>
            <a:off x="2171701" y="1304925"/>
            <a:ext cx="3686175" cy="52228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server</a:t>
            </a:r>
            <a:r>
              <a:rPr lang="en-US" sz="2400">
                <a:solidFill>
                  <a:srgbClr val="000000"/>
                </a:solidFill>
                <a:latin typeface="Gill Sans"/>
                <a:ea typeface="Gill Sans"/>
                <a:cs typeface="Gill Sans"/>
                <a:sym typeface="Gill Sans"/>
              </a:rPr>
              <a:t> (running</a:t>
            </a:r>
            <a:r>
              <a:rPr lang="en-US" sz="2000">
                <a:solidFill>
                  <a:srgbClr val="000000"/>
                </a:solidFill>
                <a:latin typeface="Gill Sans"/>
                <a:ea typeface="Gill Sans"/>
                <a:cs typeface="Gill Sans"/>
                <a:sym typeface="Gill Sans"/>
              </a:rPr>
              <a:t> on</a:t>
            </a:r>
            <a:r>
              <a:rPr lang="en-US" sz="1800">
                <a:solidFill>
                  <a:srgbClr val="000000"/>
                </a:solidFill>
                <a:latin typeface="Comic Sans MS"/>
                <a:ea typeface="Comic Sans MS"/>
                <a:cs typeface="Comic Sans MS"/>
                <a:sym typeface="Comic Sans MS"/>
              </a:rPr>
              <a:t> serverIP</a:t>
            </a:r>
            <a:r>
              <a:rPr lang="en-US" sz="2400">
                <a:solidFill>
                  <a:srgbClr val="000000"/>
                </a:solidFill>
                <a:latin typeface="Gill Sans"/>
                <a:ea typeface="Gill Sans"/>
                <a:cs typeface="Gill Sans"/>
                <a:sym typeface="Gill Sans"/>
              </a:rPr>
              <a:t>)</a:t>
            </a:r>
            <a:endParaRPr/>
          </a:p>
        </p:txBody>
      </p:sp>
      <p:sp>
        <p:nvSpPr>
          <p:cNvPr id="749" name="Google Shape;749;p20"/>
          <p:cNvSpPr txBox="1"/>
          <p:nvPr/>
        </p:nvSpPr>
        <p:spPr>
          <a:xfrm>
            <a:off x="6935789" y="1301751"/>
            <a:ext cx="962025" cy="519113"/>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client</a:t>
            </a:r>
            <a:endParaRPr/>
          </a:p>
        </p:txBody>
      </p:sp>
      <p:cxnSp>
        <p:nvCxnSpPr>
          <p:cNvPr id="750" name="Google Shape;750;p20"/>
          <p:cNvCxnSpPr/>
          <p:nvPr/>
        </p:nvCxnSpPr>
        <p:spPr>
          <a:xfrm>
            <a:off x="2328864" y="1755775"/>
            <a:ext cx="3341687" cy="0"/>
          </a:xfrm>
          <a:prstGeom prst="straightConnector1">
            <a:avLst/>
          </a:prstGeom>
          <a:noFill/>
          <a:ln w="19050" cap="flat" cmpd="sng">
            <a:solidFill>
              <a:srgbClr val="CC0000"/>
            </a:solidFill>
            <a:prstDash val="solid"/>
            <a:round/>
            <a:headEnd type="none" w="med" len="med"/>
            <a:tailEnd type="none" w="med" len="med"/>
          </a:ln>
        </p:spPr>
      </p:cxnSp>
      <p:cxnSp>
        <p:nvCxnSpPr>
          <p:cNvPr id="751" name="Google Shape;751;p20"/>
          <p:cNvCxnSpPr/>
          <p:nvPr/>
        </p:nvCxnSpPr>
        <p:spPr>
          <a:xfrm>
            <a:off x="7069139" y="1766888"/>
            <a:ext cx="676275" cy="0"/>
          </a:xfrm>
          <a:prstGeom prst="straightConnector1">
            <a:avLst/>
          </a:prstGeom>
          <a:noFill/>
          <a:ln w="19050" cap="flat" cmpd="sng">
            <a:solidFill>
              <a:srgbClr val="CC0000"/>
            </a:solidFill>
            <a:prstDash val="solid"/>
            <a:round/>
            <a:headEnd type="none" w="med" len="med"/>
            <a:tailEnd type="none" w="med" len="med"/>
          </a:ln>
        </p:spPr>
      </p:cxnSp>
      <p:sp>
        <p:nvSpPr>
          <p:cNvPr id="752" name="Google Shape;752;p20"/>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20</a:t>
            </a:fld>
            <a:endParaRPr sz="1200">
              <a:solidFill>
                <a:schemeClr val="dk1"/>
              </a:solidFill>
              <a:latin typeface="Comic Sans MS"/>
              <a:ea typeface="Comic Sans MS"/>
              <a:cs typeface="Comic Sans MS"/>
              <a:sym typeface="Comic Sans MS"/>
            </a:endParaRPr>
          </a:p>
        </p:txBody>
      </p:sp>
      <p:sp>
        <p:nvSpPr>
          <p:cNvPr id="753" name="Google Shape;753;p20"/>
          <p:cNvSpPr txBox="1">
            <a:spLocks noGrp="1"/>
          </p:cNvSpPr>
          <p:nvPr>
            <p:ph type="ftr" idx="11"/>
          </p:nvPr>
        </p:nvSpPr>
        <p:spPr>
          <a:xfrm>
            <a:off x="4572000" y="6248400"/>
            <a:ext cx="350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757575"/>
                </a:solidFill>
                <a:latin typeface="Arial"/>
                <a:ea typeface="Arial"/>
                <a:cs typeface="Arial"/>
                <a:sym typeface="Arial"/>
              </a:rPr>
              <a:t>CSci4211:                    Socket Programming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1"/>
                                        </p:tgtEl>
                                        <p:attrNameLst>
                                          <p:attrName>style.visibility</p:attrName>
                                        </p:attrNameLst>
                                      </p:cBhvr>
                                      <p:to>
                                        <p:strVal val="visible"/>
                                      </p:to>
                                    </p:set>
                                    <p:animEffect transition="in" filter="fade">
                                      <p:cBhvr>
                                        <p:cTn id="7" dur="500"/>
                                        <p:tgtEl>
                                          <p:spTgt spid="7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41"/>
                                        </p:tgtEl>
                                        <p:attrNameLst>
                                          <p:attrName>style.visibility</p:attrName>
                                        </p:attrNameLst>
                                      </p:cBhvr>
                                      <p:to>
                                        <p:strVal val="visible"/>
                                      </p:to>
                                    </p:set>
                                    <p:animEffect transition="in" filter="fade">
                                      <p:cBhvr>
                                        <p:cTn id="12" dur="500"/>
                                        <p:tgtEl>
                                          <p:spTgt spid="74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44"/>
                                        </p:tgtEl>
                                        <p:attrNameLst>
                                          <p:attrName>style.visibility</p:attrName>
                                        </p:attrNameLst>
                                      </p:cBhvr>
                                      <p:to>
                                        <p:strVal val="visible"/>
                                      </p:to>
                                    </p:set>
                                    <p:animEffect transition="in" filter="fade">
                                      <p:cBhvr>
                                        <p:cTn id="17" dur="500"/>
                                        <p:tgtEl>
                                          <p:spTgt spid="74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25"/>
                                        </p:tgtEl>
                                        <p:attrNameLst>
                                          <p:attrName>style.visibility</p:attrName>
                                        </p:attrNameLst>
                                      </p:cBhvr>
                                      <p:to>
                                        <p:strVal val="visible"/>
                                      </p:to>
                                    </p:set>
                                    <p:animEffect transition="in" filter="fade">
                                      <p:cBhvr>
                                        <p:cTn id="22" dur="500"/>
                                        <p:tgtEl>
                                          <p:spTgt spid="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21"/>
          <p:cNvSpPr/>
          <p:nvPr/>
        </p:nvSpPr>
        <p:spPr>
          <a:xfrm>
            <a:off x="1946275" y="88900"/>
            <a:ext cx="7772400" cy="947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UDP server</a:t>
            </a:r>
            <a:endParaRPr sz="4400">
              <a:solidFill>
                <a:srgbClr val="000099"/>
              </a:solidFill>
              <a:latin typeface="Comic Sans MS"/>
              <a:ea typeface="Comic Sans MS"/>
              <a:cs typeface="Comic Sans MS"/>
              <a:sym typeface="Comic Sans MS"/>
            </a:endParaRPr>
          </a:p>
        </p:txBody>
      </p:sp>
      <p:sp>
        <p:nvSpPr>
          <p:cNvPr id="759" name="Google Shape;759;p21"/>
          <p:cNvSpPr txBox="1"/>
          <p:nvPr/>
        </p:nvSpPr>
        <p:spPr>
          <a:xfrm>
            <a:off x="4241801" y="1651000"/>
            <a:ext cx="6128601" cy="3453510"/>
          </a:xfrm>
          <a:prstGeom prst="rect">
            <a:avLst/>
          </a:prstGeom>
          <a:noFill/>
          <a:ln>
            <a:noFill/>
          </a:ln>
        </p:spPr>
        <p:txBody>
          <a:bodyPr spcFirstLastPara="1" wrap="square" lIns="91425" tIns="45700" rIns="91425" bIns="45700" anchor="t" anchorCtr="0">
            <a:spAutoFit/>
          </a:bodyPr>
          <a:lstStyle/>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 = socket(AF_INET, SOCK_DGRAM)</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serverSocket.bind(('', serverPort))</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 (“</a:t>
            </a:r>
            <a:r>
              <a:rPr lang="en-US" sz="2000" i="1">
                <a:solidFill>
                  <a:schemeClr val="dk1"/>
                </a:solidFill>
                <a:latin typeface="Arial"/>
                <a:ea typeface="Arial"/>
                <a:cs typeface="Arial"/>
                <a:sym typeface="Arial"/>
              </a:rPr>
              <a:t>The server is ready to receive</a:t>
            </a:r>
            <a:r>
              <a:rPr lang="en-US" sz="2000">
                <a:solidFill>
                  <a:schemeClr val="dk1"/>
                </a:solidFill>
                <a:latin typeface="Arial"/>
                <a:ea typeface="Arial"/>
                <a:cs typeface="Arial"/>
                <a:sym typeface="Arial"/>
              </a:rPr>
              <a:t>”)</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while True:</a:t>
            </a:r>
            <a:endParaRPr/>
          </a:p>
          <a:p>
            <a:pPr marL="0" marR="0" lvl="0" indent="0" algn="l" rtl="0">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message, clientAddress = serverSocket.recvfrom(2048)</a:t>
            </a:r>
            <a:endParaRPr/>
          </a:p>
          <a:p>
            <a:pPr marL="0" marR="0" lvl="0" indent="0" algn="l" rtl="0">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modifiedMessage = message.decode().upper()</a:t>
            </a:r>
            <a:endParaRPr/>
          </a:p>
          <a:p>
            <a:pPr marL="0" marR="0" lvl="0" indent="0" algn="l" rtl="0">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serverSocket.sendto(modifiedMessage.encode(),</a:t>
            </a:r>
            <a:endParaRPr/>
          </a:p>
          <a:p>
            <a:pPr marL="0" marR="0" lvl="0" indent="0" algn="l" rtl="0">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clientAddress)</a:t>
            </a:r>
            <a:endParaRPr/>
          </a:p>
        </p:txBody>
      </p:sp>
      <p:sp>
        <p:nvSpPr>
          <p:cNvPr id="760" name="Google Shape;760;p21"/>
          <p:cNvSpPr txBox="1"/>
          <p:nvPr/>
        </p:nvSpPr>
        <p:spPr>
          <a:xfrm>
            <a:off x="4241801" y="1168401"/>
            <a:ext cx="2860675"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Arial"/>
              <a:buNone/>
            </a:pPr>
            <a:r>
              <a:rPr lang="en-US" sz="2400" i="1">
                <a:solidFill>
                  <a:srgbClr val="CC0000"/>
                </a:solidFill>
                <a:latin typeface="Arial"/>
                <a:ea typeface="Arial"/>
                <a:cs typeface="Arial"/>
                <a:sym typeface="Arial"/>
              </a:rPr>
              <a:t>Python UDPServer</a:t>
            </a:r>
            <a:endParaRPr/>
          </a:p>
        </p:txBody>
      </p:sp>
      <p:grpSp>
        <p:nvGrpSpPr>
          <p:cNvPr id="761" name="Google Shape;761;p21"/>
          <p:cNvGrpSpPr/>
          <p:nvPr/>
        </p:nvGrpSpPr>
        <p:grpSpPr>
          <a:xfrm>
            <a:off x="1689101" y="2362201"/>
            <a:ext cx="2587625" cy="307975"/>
            <a:chOff x="164314" y="2554972"/>
            <a:chExt cx="2587958" cy="307777"/>
          </a:xfrm>
        </p:grpSpPr>
        <p:sp>
          <p:nvSpPr>
            <p:cNvPr id="762" name="Google Shape;762;p21"/>
            <p:cNvSpPr txBox="1"/>
            <p:nvPr/>
          </p:nvSpPr>
          <p:spPr>
            <a:xfrm>
              <a:off x="164314" y="2554972"/>
              <a:ext cx="2559082"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UDP socket</a:t>
              </a:r>
              <a:endParaRPr/>
            </a:p>
          </p:txBody>
        </p:sp>
        <p:cxnSp>
          <p:nvCxnSpPr>
            <p:cNvPr id="763" name="Google Shape;763;p21"/>
            <p:cNvCxnSpPr/>
            <p:nvPr/>
          </p:nvCxnSpPr>
          <p:spPr>
            <a:xfrm>
              <a:off x="1822045" y="2748411"/>
              <a:ext cx="930227" cy="1139"/>
            </a:xfrm>
            <a:prstGeom prst="straightConnector1">
              <a:avLst/>
            </a:prstGeom>
            <a:noFill/>
            <a:ln w="12700" cap="flat" cmpd="sng">
              <a:solidFill>
                <a:srgbClr val="CC0000"/>
              </a:solidFill>
              <a:prstDash val="solid"/>
              <a:round/>
              <a:headEnd type="none" w="med" len="med"/>
              <a:tailEnd type="triangle" w="med" len="med"/>
            </a:ln>
          </p:spPr>
        </p:cxnSp>
      </p:grpSp>
      <p:grpSp>
        <p:nvGrpSpPr>
          <p:cNvPr id="764" name="Google Shape;764;p21"/>
          <p:cNvGrpSpPr/>
          <p:nvPr/>
        </p:nvGrpSpPr>
        <p:grpSpPr>
          <a:xfrm>
            <a:off x="1693863" y="2692401"/>
            <a:ext cx="2540000" cy="523875"/>
            <a:chOff x="169076" y="2884812"/>
            <a:chExt cx="2541127" cy="523220"/>
          </a:xfrm>
        </p:grpSpPr>
        <p:sp>
          <p:nvSpPr>
            <p:cNvPr id="765" name="Google Shape;765;p21"/>
            <p:cNvSpPr txBox="1"/>
            <p:nvPr/>
          </p:nvSpPr>
          <p:spPr>
            <a:xfrm>
              <a:off x="169076" y="2884812"/>
              <a:ext cx="22718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bind socket to local port number 12000</a:t>
              </a:r>
              <a:endParaRPr/>
            </a:p>
          </p:txBody>
        </p:sp>
        <p:cxnSp>
          <p:nvCxnSpPr>
            <p:cNvPr id="766" name="Google Shape;766;p21"/>
            <p:cNvCxnSpPr/>
            <p:nvPr/>
          </p:nvCxnSpPr>
          <p:spPr>
            <a:xfrm>
              <a:off x="1982674" y="3169104"/>
              <a:ext cx="727529" cy="2721"/>
            </a:xfrm>
            <a:prstGeom prst="straightConnector1">
              <a:avLst/>
            </a:prstGeom>
            <a:noFill/>
            <a:ln w="12700" cap="flat" cmpd="sng">
              <a:solidFill>
                <a:srgbClr val="CC0000"/>
              </a:solidFill>
              <a:prstDash val="solid"/>
              <a:round/>
              <a:headEnd type="none" w="med" len="med"/>
              <a:tailEnd type="triangle" w="med" len="med"/>
            </a:ln>
          </p:spPr>
        </p:cxnSp>
      </p:grpSp>
      <p:grpSp>
        <p:nvGrpSpPr>
          <p:cNvPr id="767" name="Google Shape;767;p21"/>
          <p:cNvGrpSpPr/>
          <p:nvPr/>
        </p:nvGrpSpPr>
        <p:grpSpPr>
          <a:xfrm>
            <a:off x="1700213" y="3733801"/>
            <a:ext cx="2743200" cy="708025"/>
            <a:chOff x="176621" y="4151971"/>
            <a:chExt cx="2743174" cy="707869"/>
          </a:xfrm>
        </p:grpSpPr>
        <p:sp>
          <p:nvSpPr>
            <p:cNvPr id="768" name="Google Shape;768;p21"/>
            <p:cNvSpPr txBox="1"/>
            <p:nvPr/>
          </p:nvSpPr>
          <p:spPr>
            <a:xfrm>
              <a:off x="176621" y="4151971"/>
              <a:ext cx="2349500" cy="707869"/>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from UDP socket into message, getting client’s address (client IP and port)</a:t>
              </a:r>
              <a:endParaRPr/>
            </a:p>
          </p:txBody>
        </p:sp>
        <p:cxnSp>
          <p:nvCxnSpPr>
            <p:cNvPr id="769" name="Google Shape;769;p21"/>
            <p:cNvCxnSpPr/>
            <p:nvPr/>
          </p:nvCxnSpPr>
          <p:spPr>
            <a:xfrm rot="10800000" flipH="1">
              <a:off x="1981317" y="4399595"/>
              <a:ext cx="938478" cy="1261"/>
            </a:xfrm>
            <a:prstGeom prst="straightConnector1">
              <a:avLst/>
            </a:prstGeom>
            <a:noFill/>
            <a:ln w="12700" cap="flat" cmpd="sng">
              <a:solidFill>
                <a:srgbClr val="CC0000"/>
              </a:solidFill>
              <a:prstDash val="solid"/>
              <a:round/>
              <a:headEnd type="none" w="med" len="med"/>
              <a:tailEnd type="triangle" w="med" len="med"/>
            </a:ln>
          </p:spPr>
        </p:cxnSp>
      </p:grpSp>
      <p:grpSp>
        <p:nvGrpSpPr>
          <p:cNvPr id="770" name="Google Shape;770;p21"/>
          <p:cNvGrpSpPr/>
          <p:nvPr/>
        </p:nvGrpSpPr>
        <p:grpSpPr>
          <a:xfrm>
            <a:off x="1836739" y="4495801"/>
            <a:ext cx="2695575" cy="523875"/>
            <a:chOff x="212916" y="4997129"/>
            <a:chExt cx="2696483" cy="523220"/>
          </a:xfrm>
        </p:grpSpPr>
        <p:sp>
          <p:nvSpPr>
            <p:cNvPr id="771" name="Google Shape;771;p21"/>
            <p:cNvSpPr txBox="1"/>
            <p:nvPr/>
          </p:nvSpPr>
          <p:spPr>
            <a:xfrm>
              <a:off x="212916" y="4997129"/>
              <a:ext cx="23495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send upper case string back to this client</a:t>
              </a:r>
              <a:endParaRPr/>
            </a:p>
          </p:txBody>
        </p:sp>
        <p:cxnSp>
          <p:nvCxnSpPr>
            <p:cNvPr id="772" name="Google Shape;772;p21"/>
            <p:cNvCxnSpPr/>
            <p:nvPr/>
          </p:nvCxnSpPr>
          <p:spPr>
            <a:xfrm>
              <a:off x="2147293" y="5106673"/>
              <a:ext cx="762106" cy="1209"/>
            </a:xfrm>
            <a:prstGeom prst="straightConnector1">
              <a:avLst/>
            </a:prstGeom>
            <a:noFill/>
            <a:ln w="12700" cap="flat" cmpd="sng">
              <a:solidFill>
                <a:srgbClr val="CC0000"/>
              </a:solidFill>
              <a:prstDash val="solid"/>
              <a:round/>
              <a:headEnd type="none" w="med" len="med"/>
              <a:tailEnd type="triangle" w="med" len="med"/>
            </a:ln>
          </p:spPr>
        </p:cxnSp>
      </p:grpSp>
      <p:sp>
        <p:nvSpPr>
          <p:cNvPr id="773" name="Google Shape;773;p21"/>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21</a:t>
            </a:fld>
            <a:endParaRPr sz="1200">
              <a:solidFill>
                <a:schemeClr val="dk1"/>
              </a:solidFill>
              <a:latin typeface="Comic Sans MS"/>
              <a:ea typeface="Comic Sans MS"/>
              <a:cs typeface="Comic Sans MS"/>
              <a:sym typeface="Comic Sans MS"/>
            </a:endParaRPr>
          </a:p>
        </p:txBody>
      </p:sp>
      <p:grpSp>
        <p:nvGrpSpPr>
          <p:cNvPr id="774" name="Google Shape;774;p21"/>
          <p:cNvGrpSpPr/>
          <p:nvPr/>
        </p:nvGrpSpPr>
        <p:grpSpPr>
          <a:xfrm>
            <a:off x="1752600" y="1606549"/>
            <a:ext cx="2451100" cy="502702"/>
            <a:chOff x="228727" y="1605758"/>
            <a:chExt cx="2450973" cy="503991"/>
          </a:xfrm>
        </p:grpSpPr>
        <p:sp>
          <p:nvSpPr>
            <p:cNvPr id="775" name="Google Shape;775;p21"/>
            <p:cNvSpPr txBox="1"/>
            <p:nvPr/>
          </p:nvSpPr>
          <p:spPr>
            <a:xfrm>
              <a:off x="228727" y="1605758"/>
              <a:ext cx="2103287" cy="503991"/>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include Python’s socket </a:t>
              </a:r>
              <a:endParaRPr/>
            </a:p>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library</a:t>
              </a:r>
              <a:endParaRPr/>
            </a:p>
          </p:txBody>
        </p:sp>
        <p:cxnSp>
          <p:nvCxnSpPr>
            <p:cNvPr id="776" name="Google Shape;776;p21"/>
            <p:cNvCxnSpPr/>
            <p:nvPr/>
          </p:nvCxnSpPr>
          <p:spPr>
            <a:xfrm rot="10800000" flipH="1">
              <a:off x="952522" y="1930400"/>
              <a:ext cx="1727178" cy="8139"/>
            </a:xfrm>
            <a:prstGeom prst="straightConnector1">
              <a:avLst/>
            </a:prstGeom>
            <a:noFill/>
            <a:ln w="12700" cap="flat" cmpd="sng">
              <a:solidFill>
                <a:srgbClr val="CC0000"/>
              </a:solidFill>
              <a:prstDash val="solid"/>
              <a:round/>
              <a:headEnd type="none" w="med" len="med"/>
              <a:tailEnd type="triangle" w="med" len="med"/>
            </a:ln>
          </p:spPr>
        </p:cxnSp>
      </p:grpSp>
      <p:grpSp>
        <p:nvGrpSpPr>
          <p:cNvPr id="777" name="Google Shape;777;p21"/>
          <p:cNvGrpSpPr/>
          <p:nvPr/>
        </p:nvGrpSpPr>
        <p:grpSpPr>
          <a:xfrm>
            <a:off x="8915401" y="2976563"/>
            <a:ext cx="1027113" cy="793616"/>
            <a:chOff x="228727" y="1605758"/>
            <a:chExt cx="2055583" cy="795680"/>
          </a:xfrm>
        </p:grpSpPr>
        <p:sp>
          <p:nvSpPr>
            <p:cNvPr id="778" name="Google Shape;778;p21"/>
            <p:cNvSpPr txBox="1"/>
            <p:nvPr/>
          </p:nvSpPr>
          <p:spPr>
            <a:xfrm>
              <a:off x="228727" y="1605758"/>
              <a:ext cx="2055583" cy="298280"/>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FF0000"/>
                </a:buClr>
                <a:buSzPts val="1400"/>
                <a:buFont typeface="Arial"/>
                <a:buNone/>
              </a:pPr>
              <a:r>
                <a:rPr lang="en-US" sz="1400">
                  <a:solidFill>
                    <a:srgbClr val="FF0000"/>
                  </a:solidFill>
                  <a:latin typeface="Arial"/>
                  <a:ea typeface="Arial"/>
                  <a:cs typeface="Arial"/>
                  <a:sym typeface="Arial"/>
                </a:rPr>
                <a:t>Buffer size</a:t>
              </a:r>
              <a:endParaRPr/>
            </a:p>
          </p:txBody>
        </p:sp>
        <p:cxnSp>
          <p:nvCxnSpPr>
            <p:cNvPr id="779" name="Google Shape;779;p21"/>
            <p:cNvCxnSpPr>
              <a:stCxn id="778" idx="2"/>
            </p:cNvCxnSpPr>
            <p:nvPr/>
          </p:nvCxnSpPr>
          <p:spPr>
            <a:xfrm>
              <a:off x="1256518" y="1904038"/>
              <a:ext cx="896100" cy="497400"/>
            </a:xfrm>
            <a:prstGeom prst="straightConnector1">
              <a:avLst/>
            </a:prstGeom>
            <a:noFill/>
            <a:ln w="12700" cap="flat" cmpd="sng">
              <a:solidFill>
                <a:srgbClr val="CC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4"/>
                                        </p:tgtEl>
                                        <p:attrNameLst>
                                          <p:attrName>style.visibility</p:attrName>
                                        </p:attrNameLst>
                                      </p:cBhvr>
                                      <p:to>
                                        <p:strVal val="visible"/>
                                      </p:to>
                                    </p:set>
                                    <p:animEffect transition="in" filter="fade">
                                      <p:cBhvr>
                                        <p:cTn id="7" dur="500"/>
                                        <p:tgtEl>
                                          <p:spTgt spid="7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774"/>
                                        </p:tgtEl>
                                      </p:cBhvr>
                                    </p:animEffect>
                                    <p:set>
                                      <p:cBhvr>
                                        <p:cTn id="12" dur="1" fill="hold">
                                          <p:stCondLst>
                                            <p:cond delay="500"/>
                                          </p:stCondLst>
                                        </p:cTn>
                                        <p:tgtEl>
                                          <p:spTgt spid="77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61"/>
                                        </p:tgtEl>
                                        <p:attrNameLst>
                                          <p:attrName>style.visibility</p:attrName>
                                        </p:attrNameLst>
                                      </p:cBhvr>
                                      <p:to>
                                        <p:strVal val="visible"/>
                                      </p:to>
                                    </p:set>
                                    <p:animEffect transition="in" filter="fade">
                                      <p:cBhvr>
                                        <p:cTn id="17" dur="500"/>
                                        <p:tgtEl>
                                          <p:spTgt spid="76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nodeType="clickEffect">
                                  <p:stCondLst>
                                    <p:cond delay="0"/>
                                  </p:stCondLst>
                                  <p:childTnLst>
                                    <p:animEffect transition="out" filter="fade">
                                      <p:cBhvr>
                                        <p:cTn id="21" dur="500"/>
                                        <p:tgtEl>
                                          <p:spTgt spid="761"/>
                                        </p:tgtEl>
                                      </p:cBhvr>
                                    </p:animEffect>
                                    <p:set>
                                      <p:cBhvr>
                                        <p:cTn id="22" dur="1" fill="hold">
                                          <p:stCondLst>
                                            <p:cond delay="500"/>
                                          </p:stCondLst>
                                        </p:cTn>
                                        <p:tgtEl>
                                          <p:spTgt spid="761"/>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764"/>
                                        </p:tgtEl>
                                        <p:attrNameLst>
                                          <p:attrName>style.visibility</p:attrName>
                                        </p:attrNameLst>
                                      </p:cBhvr>
                                      <p:to>
                                        <p:strVal val="visible"/>
                                      </p:to>
                                    </p:set>
                                    <p:animEffect transition="in" filter="fade">
                                      <p:cBhvr>
                                        <p:cTn id="25" dur="500"/>
                                        <p:tgtEl>
                                          <p:spTgt spid="76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xit" presetSubtype="0" fill="hold" nodeType="clickEffect">
                                  <p:stCondLst>
                                    <p:cond delay="0"/>
                                  </p:stCondLst>
                                  <p:childTnLst>
                                    <p:animEffect transition="out" filter="fade">
                                      <p:cBhvr>
                                        <p:cTn id="29" dur="500"/>
                                        <p:tgtEl>
                                          <p:spTgt spid="764"/>
                                        </p:tgtEl>
                                      </p:cBhvr>
                                    </p:animEffect>
                                    <p:set>
                                      <p:cBhvr>
                                        <p:cTn id="30" dur="1" fill="hold">
                                          <p:stCondLst>
                                            <p:cond delay="500"/>
                                          </p:stCondLst>
                                        </p:cTn>
                                        <p:tgtEl>
                                          <p:spTgt spid="764"/>
                                        </p:tgtEl>
                                        <p:attrNameLst>
                                          <p:attrName>style.visibility</p:attrName>
                                        </p:attrNameLst>
                                      </p:cBhvr>
                                      <p:to>
                                        <p:strVal val="hidden"/>
                                      </p:to>
                                    </p:set>
                                  </p:childTnLst>
                                </p:cTn>
                              </p:par>
                              <p:par>
                                <p:cTn id="31" presetID="10" presetClass="entr" presetSubtype="0" fill="hold" nodeType="withEffect">
                                  <p:stCondLst>
                                    <p:cond delay="0"/>
                                  </p:stCondLst>
                                  <p:childTnLst>
                                    <p:set>
                                      <p:cBhvr>
                                        <p:cTn id="32" dur="1" fill="hold">
                                          <p:stCondLst>
                                            <p:cond delay="0"/>
                                          </p:stCondLst>
                                        </p:cTn>
                                        <p:tgtEl>
                                          <p:spTgt spid="767"/>
                                        </p:tgtEl>
                                        <p:attrNameLst>
                                          <p:attrName>style.visibility</p:attrName>
                                        </p:attrNameLst>
                                      </p:cBhvr>
                                      <p:to>
                                        <p:strVal val="visible"/>
                                      </p:to>
                                    </p:set>
                                    <p:animEffect transition="in" filter="fade">
                                      <p:cBhvr>
                                        <p:cTn id="33" dur="500"/>
                                        <p:tgtEl>
                                          <p:spTgt spid="767"/>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xit" presetSubtype="0" fill="hold" nodeType="clickEffect">
                                  <p:stCondLst>
                                    <p:cond delay="0"/>
                                  </p:stCondLst>
                                  <p:childTnLst>
                                    <p:animEffect transition="out" filter="fade">
                                      <p:cBhvr>
                                        <p:cTn id="37" dur="500"/>
                                        <p:tgtEl>
                                          <p:spTgt spid="767"/>
                                        </p:tgtEl>
                                      </p:cBhvr>
                                    </p:animEffect>
                                    <p:set>
                                      <p:cBhvr>
                                        <p:cTn id="38" dur="1" fill="hold">
                                          <p:stCondLst>
                                            <p:cond delay="500"/>
                                          </p:stCondLst>
                                        </p:cTn>
                                        <p:tgtEl>
                                          <p:spTgt spid="767"/>
                                        </p:tgtEl>
                                        <p:attrNameLst>
                                          <p:attrName>style.visibility</p:attrName>
                                        </p:attrNameLst>
                                      </p:cBhvr>
                                      <p:to>
                                        <p:strVal val="hidden"/>
                                      </p:to>
                                    </p:set>
                                  </p:childTnLst>
                                </p:cTn>
                              </p:par>
                              <p:par>
                                <p:cTn id="39" presetID="10" presetClass="entr" presetSubtype="0" fill="hold" nodeType="withEffect">
                                  <p:stCondLst>
                                    <p:cond delay="0"/>
                                  </p:stCondLst>
                                  <p:childTnLst>
                                    <p:set>
                                      <p:cBhvr>
                                        <p:cTn id="40" dur="1" fill="hold">
                                          <p:stCondLst>
                                            <p:cond delay="0"/>
                                          </p:stCondLst>
                                        </p:cTn>
                                        <p:tgtEl>
                                          <p:spTgt spid="770"/>
                                        </p:tgtEl>
                                        <p:attrNameLst>
                                          <p:attrName>style.visibility</p:attrName>
                                        </p:attrNameLst>
                                      </p:cBhvr>
                                      <p:to>
                                        <p:strVal val="visible"/>
                                      </p:to>
                                    </p:set>
                                    <p:animEffect transition="in" filter="fade">
                                      <p:cBhvr>
                                        <p:cTn id="41" dur="500"/>
                                        <p:tgtEl>
                                          <p:spTgt spid="770"/>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777"/>
                                        </p:tgtEl>
                                        <p:attrNameLst>
                                          <p:attrName>style.visibility</p:attrName>
                                        </p:attrNameLst>
                                      </p:cBhvr>
                                      <p:to>
                                        <p:strVal val="visible"/>
                                      </p:to>
                                    </p:set>
                                    <p:animEffect transition="in" filter="fade">
                                      <p:cBhvr>
                                        <p:cTn id="46" dur="500"/>
                                        <p:tgtEl>
                                          <p:spTgt spid="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83"/>
        <p:cNvGrpSpPr/>
        <p:nvPr/>
      </p:nvGrpSpPr>
      <p:grpSpPr>
        <a:xfrm>
          <a:off x="0" y="0"/>
          <a:ext cx="0" cy="0"/>
          <a:chOff x="0" y="0"/>
          <a:chExt cx="0" cy="0"/>
        </a:xfrm>
      </p:grpSpPr>
      <p:sp>
        <p:nvSpPr>
          <p:cNvPr id="784" name="Google Shape;784;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host</a:t>
            </a:r>
            <a:endParaRPr/>
          </a:p>
        </p:txBody>
      </p:sp>
      <p:sp>
        <p:nvSpPr>
          <p:cNvPr id="785" name="Google Shape;785;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host can be a hostname, IP address, or empty string. </a:t>
            </a:r>
            <a:endParaRPr/>
          </a:p>
          <a:p>
            <a:pPr marL="228600" lvl="0" indent="-228600" algn="l" rtl="0">
              <a:lnSpc>
                <a:spcPct val="90000"/>
              </a:lnSpc>
              <a:spcBef>
                <a:spcPts val="1000"/>
              </a:spcBef>
              <a:spcAft>
                <a:spcPts val="0"/>
              </a:spcAft>
              <a:buClr>
                <a:schemeClr val="dk1"/>
              </a:buClr>
              <a:buSzPts val="2800"/>
              <a:buChar char="•"/>
            </a:pPr>
            <a:r>
              <a:rPr lang="en-US"/>
              <a:t>If an IP address is used, host should be an IPv4-formatted address string. </a:t>
            </a:r>
            <a:endParaRPr/>
          </a:p>
          <a:p>
            <a:pPr marL="228600" lvl="0" indent="-228600" algn="l" rtl="0">
              <a:lnSpc>
                <a:spcPct val="90000"/>
              </a:lnSpc>
              <a:spcBef>
                <a:spcPts val="1000"/>
              </a:spcBef>
              <a:spcAft>
                <a:spcPts val="0"/>
              </a:spcAft>
              <a:buClr>
                <a:schemeClr val="dk1"/>
              </a:buClr>
              <a:buSzPts val="2800"/>
              <a:buChar char="•"/>
            </a:pPr>
            <a:r>
              <a:rPr lang="en-US"/>
              <a:t>The IP address 127.0.0.1 is the standard IPv4 address for the loopback interface, so only processes on the host will be able to connect to the server. </a:t>
            </a:r>
            <a:endParaRPr/>
          </a:p>
          <a:p>
            <a:pPr marL="228600" lvl="0" indent="-228600" algn="l" rtl="0">
              <a:lnSpc>
                <a:spcPct val="90000"/>
              </a:lnSpc>
              <a:spcBef>
                <a:spcPts val="1000"/>
              </a:spcBef>
              <a:spcAft>
                <a:spcPts val="0"/>
              </a:spcAft>
              <a:buClr>
                <a:schemeClr val="dk1"/>
              </a:buClr>
              <a:buSzPts val="2800"/>
              <a:buChar char="•"/>
            </a:pPr>
            <a:r>
              <a:rPr lang="en-US"/>
              <a:t>If you pass an empty string, the server will accept connections on all available IPv4 interfaces.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serverSocket.bind((’’, serverPort)) </a:t>
            </a:r>
            <a:endParaRPr/>
          </a:p>
        </p:txBody>
      </p:sp>
      <p:sp>
        <p:nvSpPr>
          <p:cNvPr id="791" name="Google Shape;79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above line binds (that is, assigns) the port number 12000 to the server’s socket.</a:t>
            </a:r>
            <a:endParaRPr/>
          </a:p>
          <a:p>
            <a:pPr marL="228600" lvl="0" indent="-228600" algn="l" rtl="0">
              <a:lnSpc>
                <a:spcPct val="90000"/>
              </a:lnSpc>
              <a:spcBef>
                <a:spcPts val="1000"/>
              </a:spcBef>
              <a:spcAft>
                <a:spcPts val="0"/>
              </a:spcAft>
              <a:buClr>
                <a:schemeClr val="dk1"/>
              </a:buClr>
              <a:buSzPts val="2800"/>
              <a:buChar char="•"/>
            </a:pPr>
            <a:r>
              <a:rPr lang="en-US"/>
              <a:t>In UDPServer, the code (written by the application developer) is explicitly assigning a port number to the socket.</a:t>
            </a:r>
            <a:endParaRPr/>
          </a:p>
          <a:p>
            <a:pPr marL="228600" lvl="0" indent="-228600" algn="l" rtl="0">
              <a:lnSpc>
                <a:spcPct val="90000"/>
              </a:lnSpc>
              <a:spcBef>
                <a:spcPts val="1000"/>
              </a:spcBef>
              <a:spcAft>
                <a:spcPts val="0"/>
              </a:spcAft>
              <a:buClr>
                <a:schemeClr val="dk1"/>
              </a:buClr>
              <a:buSzPts val="2800"/>
              <a:buChar char="•"/>
            </a:pPr>
            <a:r>
              <a:rPr lang="en-US"/>
              <a:t>When anyone sends a packet to port 12000 at the IP address of the server, that packet will be directed to this socket.</a:t>
            </a:r>
            <a:endParaRPr/>
          </a:p>
          <a:p>
            <a:pPr marL="228600" lvl="0" indent="-228600" algn="l" rtl="0">
              <a:lnSpc>
                <a:spcPct val="90000"/>
              </a:lnSpc>
              <a:spcBef>
                <a:spcPts val="1000"/>
              </a:spcBef>
              <a:spcAft>
                <a:spcPts val="0"/>
              </a:spcAft>
              <a:buClr>
                <a:schemeClr val="dk1"/>
              </a:buClr>
              <a:buSzPts val="2800"/>
              <a:buChar char="•"/>
            </a:pPr>
            <a:r>
              <a:rPr lang="en-US"/>
              <a:t>UDPServer then enters a while loop; the while loop will allow UDPServer to receive and process packets from clients indefinitely.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message, clientAddress = serverSocket.recvfrom(2048) </a:t>
            </a:r>
            <a:endParaRPr/>
          </a:p>
        </p:txBody>
      </p:sp>
      <p:sp>
        <p:nvSpPr>
          <p:cNvPr id="797" name="Google Shape;797;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line of code is similar to what we saw in UDPClient. When a packet arrives at the server’s socket, the packet’s data is put into the variable message and the packet’s source address is put into the variable </a:t>
            </a:r>
            <a:r>
              <a:rPr lang="en-US" i="1"/>
              <a:t>clientAddress</a:t>
            </a:r>
            <a:r>
              <a:rPr lang="en-US"/>
              <a:t>. </a:t>
            </a:r>
            <a:endParaRPr/>
          </a:p>
          <a:p>
            <a:pPr marL="228600" lvl="0" indent="-228600" algn="l" rtl="0">
              <a:lnSpc>
                <a:spcPct val="90000"/>
              </a:lnSpc>
              <a:spcBef>
                <a:spcPts val="1000"/>
              </a:spcBef>
              <a:spcAft>
                <a:spcPts val="0"/>
              </a:spcAft>
              <a:buClr>
                <a:schemeClr val="dk1"/>
              </a:buClr>
              <a:buSzPts val="2800"/>
              <a:buChar char="•"/>
            </a:pPr>
            <a:r>
              <a:rPr lang="en-US"/>
              <a:t>The variable clientAddress contains both the client’s IP address and the client’s port number.</a:t>
            </a:r>
            <a:endParaRPr/>
          </a:p>
          <a:p>
            <a:pPr marL="228600" lvl="0" indent="-228600" algn="l" rtl="0">
              <a:lnSpc>
                <a:spcPct val="90000"/>
              </a:lnSpc>
              <a:spcBef>
                <a:spcPts val="1000"/>
              </a:spcBef>
              <a:spcAft>
                <a:spcPts val="0"/>
              </a:spcAft>
              <a:buClr>
                <a:schemeClr val="dk1"/>
              </a:buClr>
              <a:buSzPts val="2800"/>
              <a:buChar char="•"/>
            </a:pPr>
            <a:r>
              <a:rPr lang="en-US"/>
              <a:t>Here, UDPServer </a:t>
            </a:r>
            <a:r>
              <a:rPr lang="en-US" i="1"/>
              <a:t>will</a:t>
            </a:r>
            <a:r>
              <a:rPr lang="en-US"/>
              <a:t> make use of this address information, as it provides a return address, similar to the return address with ordinary postal mail. With this source address information, the server now knows to where it should direct its reply.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modifiedMessage = message.decode().upper() </a:t>
            </a:r>
            <a:endParaRPr/>
          </a:p>
        </p:txBody>
      </p:sp>
      <p:sp>
        <p:nvSpPr>
          <p:cNvPr id="803" name="Google Shape;80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line is the heart of our simple application. It takes the line sent by the client and, after converting the message to a string, uses the method </a:t>
            </a:r>
            <a:r>
              <a:rPr lang="en-US" i="1"/>
              <a:t>upper() </a:t>
            </a:r>
            <a:r>
              <a:rPr lang="en-US"/>
              <a:t>to capitalize 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serverSocket.sendto(modifiedMessage.encode(), clientAddress) </a:t>
            </a:r>
            <a:endParaRPr/>
          </a:p>
        </p:txBody>
      </p:sp>
      <p:sp>
        <p:nvSpPr>
          <p:cNvPr id="809" name="Google Shape;809;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last line attaches the client’s address (IP address and port number) to the capitalized message (after converting the string to bytes), and sends the resulting packet into the server’s socket.</a:t>
            </a:r>
            <a:endParaRPr/>
          </a:p>
          <a:p>
            <a:pPr marL="228600" lvl="0" indent="-228600" algn="l" rtl="0">
              <a:lnSpc>
                <a:spcPct val="90000"/>
              </a:lnSpc>
              <a:spcBef>
                <a:spcPts val="1000"/>
              </a:spcBef>
              <a:spcAft>
                <a:spcPts val="0"/>
              </a:spcAft>
              <a:buClr>
                <a:schemeClr val="dk1"/>
              </a:buClr>
              <a:buSzPts val="2800"/>
              <a:buChar char="•"/>
            </a:pPr>
            <a:r>
              <a:rPr lang="en-US"/>
              <a:t>The server address is also attached to the packet, although this is done automatically rather than explicitly by the code</a:t>
            </a:r>
            <a:endParaRPr/>
          </a:p>
          <a:p>
            <a:pPr marL="228600" lvl="0" indent="-228600" algn="l" rtl="0">
              <a:lnSpc>
                <a:spcPct val="90000"/>
              </a:lnSpc>
              <a:spcBef>
                <a:spcPts val="1000"/>
              </a:spcBef>
              <a:spcAft>
                <a:spcPts val="0"/>
              </a:spcAft>
              <a:buClr>
                <a:schemeClr val="dk1"/>
              </a:buClr>
              <a:buSzPts val="2800"/>
              <a:buChar char="•"/>
            </a:pPr>
            <a:r>
              <a:rPr lang="en-US"/>
              <a:t>The Internet will then deliver the packet to this client address. </a:t>
            </a:r>
            <a:endParaRPr/>
          </a:p>
          <a:p>
            <a:pPr marL="228600" lvl="0" indent="-228600" algn="l" rtl="0">
              <a:lnSpc>
                <a:spcPct val="90000"/>
              </a:lnSpc>
              <a:spcBef>
                <a:spcPts val="1000"/>
              </a:spcBef>
              <a:spcAft>
                <a:spcPts val="0"/>
              </a:spcAft>
              <a:buClr>
                <a:schemeClr val="dk1"/>
              </a:buClr>
              <a:buSzPts val="2800"/>
              <a:buChar char="•"/>
            </a:pPr>
            <a:r>
              <a:rPr lang="en-US"/>
              <a:t>After the server sends the packet, it remains in the while loop, waiting for another UDP packet to arrive (from any client running on any host).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27"/>
          <p:cNvSpPr/>
          <p:nvPr/>
        </p:nvSpPr>
        <p:spPr>
          <a:xfrm>
            <a:off x="1946275" y="88900"/>
            <a:ext cx="7772400" cy="947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UDP client</a:t>
            </a:r>
            <a:endParaRPr sz="4400">
              <a:solidFill>
                <a:srgbClr val="000099"/>
              </a:solidFill>
              <a:latin typeface="Comic Sans MS"/>
              <a:ea typeface="Comic Sans MS"/>
              <a:cs typeface="Comic Sans MS"/>
              <a:sym typeface="Comic Sans MS"/>
            </a:endParaRPr>
          </a:p>
        </p:txBody>
      </p:sp>
      <p:sp>
        <p:nvSpPr>
          <p:cNvPr id="815" name="Google Shape;815;p27"/>
          <p:cNvSpPr txBox="1"/>
          <p:nvPr/>
        </p:nvSpPr>
        <p:spPr>
          <a:xfrm>
            <a:off x="4241801" y="1168401"/>
            <a:ext cx="2741613"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Arial"/>
              <a:buNone/>
            </a:pPr>
            <a:r>
              <a:rPr lang="en-US" sz="2400" i="1">
                <a:solidFill>
                  <a:srgbClr val="CC0000"/>
                </a:solidFill>
                <a:latin typeface="Arial"/>
                <a:ea typeface="Arial"/>
                <a:cs typeface="Arial"/>
                <a:sym typeface="Arial"/>
              </a:rPr>
              <a:t>Python UDPClient</a:t>
            </a:r>
            <a:endParaRPr/>
          </a:p>
        </p:txBody>
      </p:sp>
      <p:grpSp>
        <p:nvGrpSpPr>
          <p:cNvPr id="816" name="Google Shape;816;p27"/>
          <p:cNvGrpSpPr/>
          <p:nvPr/>
        </p:nvGrpSpPr>
        <p:grpSpPr>
          <a:xfrm>
            <a:off x="1752600" y="1606549"/>
            <a:ext cx="2451100" cy="502702"/>
            <a:chOff x="228727" y="1605758"/>
            <a:chExt cx="2450973" cy="503991"/>
          </a:xfrm>
        </p:grpSpPr>
        <p:sp>
          <p:nvSpPr>
            <p:cNvPr id="817" name="Google Shape;817;p27"/>
            <p:cNvSpPr txBox="1"/>
            <p:nvPr/>
          </p:nvSpPr>
          <p:spPr>
            <a:xfrm>
              <a:off x="228727" y="1605758"/>
              <a:ext cx="2103287" cy="503991"/>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include Python’s socket </a:t>
              </a:r>
              <a:endParaRPr/>
            </a:p>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library</a:t>
              </a:r>
              <a:endParaRPr/>
            </a:p>
          </p:txBody>
        </p:sp>
        <p:cxnSp>
          <p:nvCxnSpPr>
            <p:cNvPr id="818" name="Google Shape;818;p27"/>
            <p:cNvCxnSpPr/>
            <p:nvPr/>
          </p:nvCxnSpPr>
          <p:spPr>
            <a:xfrm rot="10800000" flipH="1">
              <a:off x="952522" y="1930400"/>
              <a:ext cx="1727178" cy="8139"/>
            </a:xfrm>
            <a:prstGeom prst="straightConnector1">
              <a:avLst/>
            </a:prstGeom>
            <a:noFill/>
            <a:ln w="12700" cap="flat" cmpd="sng">
              <a:solidFill>
                <a:srgbClr val="CC0000"/>
              </a:solidFill>
              <a:prstDash val="solid"/>
              <a:round/>
              <a:headEnd type="none" w="med" len="med"/>
              <a:tailEnd type="triangle" w="med" len="med"/>
            </a:ln>
          </p:spPr>
        </p:cxnSp>
      </p:grpSp>
      <p:grpSp>
        <p:nvGrpSpPr>
          <p:cNvPr id="819" name="Google Shape;819;p27"/>
          <p:cNvGrpSpPr/>
          <p:nvPr/>
        </p:nvGrpSpPr>
        <p:grpSpPr>
          <a:xfrm>
            <a:off x="1714501" y="2667001"/>
            <a:ext cx="2587625" cy="523875"/>
            <a:chOff x="189714" y="2753256"/>
            <a:chExt cx="2587958" cy="523220"/>
          </a:xfrm>
        </p:grpSpPr>
        <p:sp>
          <p:nvSpPr>
            <p:cNvPr id="820" name="Google Shape;820;p27"/>
            <p:cNvSpPr txBox="1"/>
            <p:nvPr/>
          </p:nvSpPr>
          <p:spPr>
            <a:xfrm>
              <a:off x="189714" y="2753256"/>
              <a:ext cx="22718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UDP socket for server</a:t>
              </a:r>
              <a:endParaRPr/>
            </a:p>
          </p:txBody>
        </p:sp>
        <p:cxnSp>
          <p:nvCxnSpPr>
            <p:cNvPr id="821" name="Google Shape;821;p27"/>
            <p:cNvCxnSpPr/>
            <p:nvPr/>
          </p:nvCxnSpPr>
          <p:spPr>
            <a:xfrm>
              <a:off x="2050143" y="3001035"/>
              <a:ext cx="727529" cy="2721"/>
            </a:xfrm>
            <a:prstGeom prst="straightConnector1">
              <a:avLst/>
            </a:prstGeom>
            <a:noFill/>
            <a:ln w="12700" cap="flat" cmpd="sng">
              <a:solidFill>
                <a:srgbClr val="CC0000"/>
              </a:solidFill>
              <a:prstDash val="solid"/>
              <a:round/>
              <a:headEnd type="none" w="med" len="med"/>
              <a:tailEnd type="triangle" w="med" len="med"/>
            </a:ln>
          </p:spPr>
        </p:cxnSp>
      </p:grpSp>
      <p:grpSp>
        <p:nvGrpSpPr>
          <p:cNvPr id="822" name="Google Shape;822;p27"/>
          <p:cNvGrpSpPr/>
          <p:nvPr/>
        </p:nvGrpSpPr>
        <p:grpSpPr>
          <a:xfrm>
            <a:off x="1706563" y="3276603"/>
            <a:ext cx="2538412" cy="502702"/>
            <a:chOff x="182644" y="3597252"/>
            <a:chExt cx="2538785" cy="502529"/>
          </a:xfrm>
        </p:grpSpPr>
        <p:sp>
          <p:nvSpPr>
            <p:cNvPr id="823" name="Google Shape;823;p27"/>
            <p:cNvSpPr txBox="1"/>
            <p:nvPr/>
          </p:nvSpPr>
          <p:spPr>
            <a:xfrm>
              <a:off x="182644" y="3597252"/>
              <a:ext cx="1616385" cy="502529"/>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get user keyboard</a:t>
              </a:r>
              <a:endParaRPr/>
            </a:p>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input </a:t>
              </a:r>
              <a:endParaRPr/>
            </a:p>
          </p:txBody>
        </p:sp>
        <p:cxnSp>
          <p:nvCxnSpPr>
            <p:cNvPr id="824" name="Google Shape;824;p27"/>
            <p:cNvCxnSpPr/>
            <p:nvPr/>
          </p:nvCxnSpPr>
          <p:spPr>
            <a:xfrm rot="10800000" flipH="1">
              <a:off x="762000" y="3968752"/>
              <a:ext cx="1959429" cy="4534"/>
            </a:xfrm>
            <a:prstGeom prst="straightConnector1">
              <a:avLst/>
            </a:prstGeom>
            <a:noFill/>
            <a:ln w="12700" cap="flat" cmpd="sng">
              <a:solidFill>
                <a:srgbClr val="CC0000"/>
              </a:solidFill>
              <a:prstDash val="solid"/>
              <a:round/>
              <a:headEnd type="none" w="med" len="med"/>
              <a:tailEnd type="triangle" w="med" len="med"/>
            </a:ln>
          </p:spPr>
        </p:cxnSp>
      </p:grpSp>
      <p:grpSp>
        <p:nvGrpSpPr>
          <p:cNvPr id="825" name="Google Shape;825;p27"/>
          <p:cNvGrpSpPr/>
          <p:nvPr/>
        </p:nvGrpSpPr>
        <p:grpSpPr>
          <a:xfrm>
            <a:off x="1690689" y="3743326"/>
            <a:ext cx="2568575" cy="523875"/>
            <a:chOff x="166472" y="4064002"/>
            <a:chExt cx="2568858" cy="522566"/>
          </a:xfrm>
        </p:grpSpPr>
        <p:sp>
          <p:nvSpPr>
            <p:cNvPr id="826" name="Google Shape;826;p27"/>
            <p:cNvSpPr txBox="1"/>
            <p:nvPr/>
          </p:nvSpPr>
          <p:spPr>
            <a:xfrm>
              <a:off x="166472" y="4064002"/>
              <a:ext cx="2349500" cy="5225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Attach server name, port to message; send into socket</a:t>
              </a:r>
              <a:endParaRPr/>
            </a:p>
          </p:txBody>
        </p:sp>
        <p:cxnSp>
          <p:nvCxnSpPr>
            <p:cNvPr id="827" name="Google Shape;827;p27"/>
            <p:cNvCxnSpPr/>
            <p:nvPr/>
          </p:nvCxnSpPr>
          <p:spPr>
            <a:xfrm rot="10800000" flipH="1">
              <a:off x="2373914" y="4336506"/>
              <a:ext cx="361416" cy="557"/>
            </a:xfrm>
            <a:prstGeom prst="straightConnector1">
              <a:avLst/>
            </a:prstGeom>
            <a:noFill/>
            <a:ln w="12700" cap="flat" cmpd="sng">
              <a:solidFill>
                <a:srgbClr val="CC0000"/>
              </a:solidFill>
              <a:prstDash val="solid"/>
              <a:round/>
              <a:headEnd type="none" w="med" len="med"/>
              <a:tailEnd type="triangle" w="med" len="med"/>
            </a:ln>
          </p:spPr>
        </p:cxnSp>
      </p:grpSp>
      <p:grpSp>
        <p:nvGrpSpPr>
          <p:cNvPr id="828" name="Google Shape;828;p27"/>
          <p:cNvGrpSpPr/>
          <p:nvPr/>
        </p:nvGrpSpPr>
        <p:grpSpPr>
          <a:xfrm>
            <a:off x="1738314" y="5181601"/>
            <a:ext cx="2511425" cy="523875"/>
            <a:chOff x="214386" y="5472277"/>
            <a:chExt cx="2511708" cy="523220"/>
          </a:xfrm>
        </p:grpSpPr>
        <p:sp>
          <p:nvSpPr>
            <p:cNvPr id="829" name="Google Shape;829;p27"/>
            <p:cNvSpPr txBox="1"/>
            <p:nvPr/>
          </p:nvSpPr>
          <p:spPr>
            <a:xfrm>
              <a:off x="214386" y="5472277"/>
              <a:ext cx="2349500"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print out received string and close socket</a:t>
              </a:r>
              <a:endParaRPr/>
            </a:p>
          </p:txBody>
        </p:sp>
        <p:cxnSp>
          <p:nvCxnSpPr>
            <p:cNvPr id="830" name="Google Shape;830;p27"/>
            <p:cNvCxnSpPr/>
            <p:nvPr/>
          </p:nvCxnSpPr>
          <p:spPr>
            <a:xfrm>
              <a:off x="2230329" y="5657589"/>
              <a:ext cx="495765" cy="242"/>
            </a:xfrm>
            <a:prstGeom prst="straightConnector1">
              <a:avLst/>
            </a:prstGeom>
            <a:noFill/>
            <a:ln w="12700" cap="flat" cmpd="sng">
              <a:solidFill>
                <a:srgbClr val="CC0000"/>
              </a:solidFill>
              <a:prstDash val="solid"/>
              <a:round/>
              <a:headEnd type="none" w="med" len="med"/>
              <a:tailEnd type="triangle" w="med" len="med"/>
            </a:ln>
          </p:spPr>
        </p:cxnSp>
      </p:grpSp>
      <p:grpSp>
        <p:nvGrpSpPr>
          <p:cNvPr id="831" name="Google Shape;831;p27"/>
          <p:cNvGrpSpPr/>
          <p:nvPr/>
        </p:nvGrpSpPr>
        <p:grpSpPr>
          <a:xfrm>
            <a:off x="1366838" y="4343404"/>
            <a:ext cx="2900363" cy="635153"/>
            <a:chOff x="-157119" y="4530536"/>
            <a:chExt cx="2900123" cy="635578"/>
          </a:xfrm>
        </p:grpSpPr>
        <p:sp>
          <p:nvSpPr>
            <p:cNvPr id="832" name="Google Shape;832;p27"/>
            <p:cNvSpPr txBox="1"/>
            <p:nvPr/>
          </p:nvSpPr>
          <p:spPr>
            <a:xfrm>
              <a:off x="192835" y="4642544"/>
              <a:ext cx="2349500" cy="52357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reply characters from</a:t>
              </a:r>
              <a:endParaRPr/>
            </a:p>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socket into string</a:t>
              </a:r>
              <a:endParaRPr/>
            </a:p>
          </p:txBody>
        </p:sp>
        <p:cxnSp>
          <p:nvCxnSpPr>
            <p:cNvPr id="833" name="Google Shape;833;p27"/>
            <p:cNvCxnSpPr/>
            <p:nvPr/>
          </p:nvCxnSpPr>
          <p:spPr>
            <a:xfrm rot="10800000" flipH="1">
              <a:off x="2415586" y="4830837"/>
              <a:ext cx="327418" cy="416"/>
            </a:xfrm>
            <a:prstGeom prst="straightConnector1">
              <a:avLst/>
            </a:prstGeom>
            <a:noFill/>
            <a:ln w="12700" cap="flat" cmpd="sng">
              <a:solidFill>
                <a:srgbClr val="CC0000"/>
              </a:solidFill>
              <a:prstDash val="solid"/>
              <a:round/>
              <a:headEnd type="none" w="med" len="med"/>
              <a:tailEnd type="triangle" w="med" len="med"/>
            </a:ln>
          </p:spPr>
        </p:cxnSp>
        <p:sp>
          <p:nvSpPr>
            <p:cNvPr id="834" name="Google Shape;834;p27"/>
            <p:cNvSpPr txBox="1"/>
            <p:nvPr/>
          </p:nvSpPr>
          <p:spPr>
            <a:xfrm>
              <a:off x="-157119" y="4530536"/>
              <a:ext cx="184666" cy="40011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Comic Sans MS"/>
                <a:buNone/>
              </a:pPr>
              <a:endParaRPr sz="2000">
                <a:solidFill>
                  <a:schemeClr val="dk1"/>
                </a:solidFill>
                <a:latin typeface="Arial"/>
                <a:ea typeface="Arial"/>
                <a:cs typeface="Arial"/>
                <a:sym typeface="Arial"/>
              </a:endParaRPr>
            </a:p>
          </p:txBody>
        </p:sp>
      </p:grpSp>
      <p:sp>
        <p:nvSpPr>
          <p:cNvPr id="835" name="Google Shape;835;p27"/>
          <p:cNvSpPr txBox="1"/>
          <p:nvPr/>
        </p:nvSpPr>
        <p:spPr>
          <a:xfrm>
            <a:off x="4229101" y="1651000"/>
            <a:ext cx="5889625" cy="4267200"/>
          </a:xfrm>
          <a:prstGeom prst="rect">
            <a:avLst/>
          </a:prstGeom>
          <a:noFill/>
          <a:ln>
            <a:noFill/>
          </a:ln>
        </p:spPr>
        <p:txBody>
          <a:bodyPr spcFirstLastPara="1" wrap="square" lIns="91425" tIns="45700" rIns="91425" bIns="45700" anchor="t" anchorCtr="0">
            <a:spAutoFit/>
          </a:bodyPr>
          <a:lstStyle/>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marL="0" marR="0" lvl="0" indent="0" algn="l" rtl="0">
              <a:lnSpc>
                <a:spcPct val="140000"/>
              </a:lnSpc>
              <a:spcBef>
                <a:spcPts val="0"/>
              </a:spcBef>
              <a:spcAft>
                <a:spcPts val="0"/>
              </a:spcAft>
              <a:buClr>
                <a:schemeClr val="dk1"/>
              </a:buClr>
              <a:buSzPts val="2000"/>
              <a:buFont typeface="Arial"/>
              <a:buNone/>
            </a:pPr>
            <a:r>
              <a:rPr lang="en-US" sz="2000" i="1">
                <a:solidFill>
                  <a:schemeClr val="dk1"/>
                </a:solidFill>
                <a:latin typeface="Arial"/>
                <a:ea typeface="Arial"/>
                <a:cs typeface="Arial"/>
                <a:sym typeface="Arial"/>
              </a:rPr>
              <a:t>serverHost</a:t>
            </a:r>
            <a:r>
              <a:rPr lang="en-US" sz="2000">
                <a:solidFill>
                  <a:schemeClr val="dk1"/>
                </a:solidFill>
                <a:latin typeface="Arial"/>
                <a:ea typeface="Arial"/>
                <a:cs typeface="Arial"/>
                <a:sym typeface="Arial"/>
              </a:rPr>
              <a:t> = ‘127.0.0.1’</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marL="0" marR="0" lvl="0" indent="0" algn="l" rtl="0">
              <a:lnSpc>
                <a:spcPct val="12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 = socket(AF_INET, </a:t>
            </a:r>
            <a:endParaRPr/>
          </a:p>
          <a:p>
            <a:pPr marL="0" marR="0" lvl="0" indent="0" algn="l" rtl="0">
              <a:lnSpc>
                <a:spcPct val="12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SOCK_DGRAM)</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message = input(’Input lowercase sentence:’)</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clientSocket.sendto</a:t>
            </a:r>
            <a:r>
              <a:rPr lang="en-US" sz="1800">
                <a:solidFill>
                  <a:schemeClr val="dk1"/>
                </a:solidFill>
                <a:latin typeface="Arial"/>
                <a:ea typeface="Arial"/>
                <a:cs typeface="Arial"/>
                <a:sym typeface="Arial"/>
              </a:rPr>
              <a:t>(message.encode(),</a:t>
            </a:r>
            <a:endParaRPr/>
          </a:p>
          <a:p>
            <a:pPr marL="0" marR="0" lvl="0" indent="0" algn="l" rtl="0">
              <a:lnSpc>
                <a:spcPct val="155555"/>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a:t>
            </a:r>
            <a:r>
              <a:rPr lang="en-US" sz="1800" i="1">
                <a:solidFill>
                  <a:schemeClr val="dk1"/>
                </a:solidFill>
                <a:latin typeface="Arial"/>
                <a:ea typeface="Arial"/>
                <a:cs typeface="Arial"/>
                <a:sym typeface="Arial"/>
              </a:rPr>
              <a:t>serverHost</a:t>
            </a:r>
            <a:r>
              <a:rPr lang="en-US" sz="1800">
                <a:solidFill>
                  <a:schemeClr val="dk1"/>
                </a:solidFill>
                <a:latin typeface="Arial"/>
                <a:ea typeface="Arial"/>
                <a:cs typeface="Arial"/>
                <a:sym typeface="Arial"/>
              </a:rPr>
              <a:t>, serverPort))</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modifiedMessage, serverAddress = </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clientSocket.recvfrom(2048)</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print(modifiedMessage.decode())</a:t>
            </a:r>
            <a:endParaRPr sz="2000">
              <a:solidFill>
                <a:schemeClr val="dk1"/>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clientSocket.close()</a:t>
            </a:r>
            <a:endParaRPr/>
          </a:p>
        </p:txBody>
      </p:sp>
      <p:sp>
        <p:nvSpPr>
          <p:cNvPr id="836" name="Google Shape;836;p27"/>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27</a:t>
            </a:fld>
            <a:endParaRPr sz="1200">
              <a:solidFill>
                <a:schemeClr val="dk1"/>
              </a:solidFill>
              <a:latin typeface="Comic Sans MS"/>
              <a:ea typeface="Comic Sans MS"/>
              <a:cs typeface="Comic Sans MS"/>
              <a:sym typeface="Comic Sans MS"/>
            </a:endParaRPr>
          </a:p>
        </p:txBody>
      </p:sp>
      <p:grpSp>
        <p:nvGrpSpPr>
          <p:cNvPr id="837" name="Google Shape;837;p27"/>
          <p:cNvGrpSpPr/>
          <p:nvPr/>
        </p:nvGrpSpPr>
        <p:grpSpPr>
          <a:xfrm>
            <a:off x="9509125" y="4094163"/>
            <a:ext cx="1028700" cy="722312"/>
            <a:chOff x="228727" y="1605758"/>
            <a:chExt cx="2055583" cy="723637"/>
          </a:xfrm>
        </p:grpSpPr>
        <p:sp>
          <p:nvSpPr>
            <p:cNvPr id="838" name="Google Shape;838;p27"/>
            <p:cNvSpPr txBox="1"/>
            <p:nvPr/>
          </p:nvSpPr>
          <p:spPr>
            <a:xfrm>
              <a:off x="228727" y="1605758"/>
              <a:ext cx="2055583" cy="298280"/>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FF0000"/>
                </a:buClr>
                <a:buSzPts val="1400"/>
                <a:buFont typeface="Arial"/>
                <a:buNone/>
              </a:pPr>
              <a:r>
                <a:rPr lang="en-US" sz="1400">
                  <a:solidFill>
                    <a:srgbClr val="FF0000"/>
                  </a:solidFill>
                  <a:latin typeface="Arial"/>
                  <a:ea typeface="Arial"/>
                  <a:cs typeface="Arial"/>
                  <a:sym typeface="Arial"/>
                </a:rPr>
                <a:t>Buffer size</a:t>
              </a:r>
              <a:endParaRPr/>
            </a:p>
          </p:txBody>
        </p:sp>
        <p:cxnSp>
          <p:nvCxnSpPr>
            <p:cNvPr id="839" name="Google Shape;839;p27"/>
            <p:cNvCxnSpPr/>
            <p:nvPr/>
          </p:nvCxnSpPr>
          <p:spPr>
            <a:xfrm flipH="1">
              <a:off x="494559" y="1904038"/>
              <a:ext cx="761960" cy="425357"/>
            </a:xfrm>
            <a:prstGeom prst="straightConnector1">
              <a:avLst/>
            </a:prstGeom>
            <a:noFill/>
            <a:ln w="12700" cap="flat" cmpd="sng">
              <a:solidFill>
                <a:srgbClr val="CC0000"/>
              </a:solidFill>
              <a:prstDash val="solid"/>
              <a:round/>
              <a:headEnd type="none" w="med" len="med"/>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6"/>
                                        </p:tgtEl>
                                        <p:attrNameLst>
                                          <p:attrName>style.visibility</p:attrName>
                                        </p:attrNameLst>
                                      </p:cBhvr>
                                      <p:to>
                                        <p:strVal val="visible"/>
                                      </p:to>
                                    </p:set>
                                    <p:animEffect transition="in" filter="fade">
                                      <p:cBhvr>
                                        <p:cTn id="7" dur="500"/>
                                        <p:tgtEl>
                                          <p:spTgt spid="8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816"/>
                                        </p:tgtEl>
                                      </p:cBhvr>
                                    </p:animEffect>
                                    <p:set>
                                      <p:cBhvr>
                                        <p:cTn id="12" dur="1" fill="hold">
                                          <p:stCondLst>
                                            <p:cond delay="500"/>
                                          </p:stCondLst>
                                        </p:cTn>
                                        <p:tgtEl>
                                          <p:spTgt spid="816"/>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819"/>
                                        </p:tgtEl>
                                        <p:attrNameLst>
                                          <p:attrName>style.visibility</p:attrName>
                                        </p:attrNameLst>
                                      </p:cBhvr>
                                      <p:to>
                                        <p:strVal val="visible"/>
                                      </p:to>
                                    </p:set>
                                    <p:animEffect transition="in" filter="fade">
                                      <p:cBhvr>
                                        <p:cTn id="15" dur="500"/>
                                        <p:tgtEl>
                                          <p:spTgt spid="81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819"/>
                                        </p:tgtEl>
                                      </p:cBhvr>
                                    </p:animEffect>
                                    <p:set>
                                      <p:cBhvr>
                                        <p:cTn id="20" dur="1" fill="hold">
                                          <p:stCondLst>
                                            <p:cond delay="500"/>
                                          </p:stCondLst>
                                        </p:cTn>
                                        <p:tgtEl>
                                          <p:spTgt spid="819"/>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822"/>
                                        </p:tgtEl>
                                        <p:attrNameLst>
                                          <p:attrName>style.visibility</p:attrName>
                                        </p:attrNameLst>
                                      </p:cBhvr>
                                      <p:to>
                                        <p:strVal val="visible"/>
                                      </p:to>
                                    </p:set>
                                    <p:animEffect transition="in" filter="fade">
                                      <p:cBhvr>
                                        <p:cTn id="23" dur="500"/>
                                        <p:tgtEl>
                                          <p:spTgt spid="82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822"/>
                                        </p:tgtEl>
                                      </p:cBhvr>
                                    </p:animEffect>
                                    <p:set>
                                      <p:cBhvr>
                                        <p:cTn id="28" dur="1" fill="hold">
                                          <p:stCondLst>
                                            <p:cond delay="500"/>
                                          </p:stCondLst>
                                        </p:cTn>
                                        <p:tgtEl>
                                          <p:spTgt spid="822"/>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825"/>
                                        </p:tgtEl>
                                        <p:attrNameLst>
                                          <p:attrName>style.visibility</p:attrName>
                                        </p:attrNameLst>
                                      </p:cBhvr>
                                      <p:to>
                                        <p:strVal val="visible"/>
                                      </p:to>
                                    </p:set>
                                    <p:animEffect transition="in" filter="fade">
                                      <p:cBhvr>
                                        <p:cTn id="31" dur="500"/>
                                        <p:tgtEl>
                                          <p:spTgt spid="825"/>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825"/>
                                        </p:tgtEl>
                                      </p:cBhvr>
                                    </p:animEffect>
                                    <p:set>
                                      <p:cBhvr>
                                        <p:cTn id="36" dur="1" fill="hold">
                                          <p:stCondLst>
                                            <p:cond delay="500"/>
                                          </p:stCondLst>
                                        </p:cTn>
                                        <p:tgtEl>
                                          <p:spTgt spid="825"/>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831"/>
                                        </p:tgtEl>
                                        <p:attrNameLst>
                                          <p:attrName>style.visibility</p:attrName>
                                        </p:attrNameLst>
                                      </p:cBhvr>
                                      <p:to>
                                        <p:strVal val="visible"/>
                                      </p:to>
                                    </p:set>
                                    <p:animEffect transition="in" filter="fade">
                                      <p:cBhvr>
                                        <p:cTn id="39" dur="500"/>
                                        <p:tgtEl>
                                          <p:spTgt spid="831"/>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xit" presetSubtype="0" fill="hold" nodeType="clickEffect">
                                  <p:stCondLst>
                                    <p:cond delay="0"/>
                                  </p:stCondLst>
                                  <p:childTnLst>
                                    <p:animEffect transition="out" filter="fade">
                                      <p:cBhvr>
                                        <p:cTn id="43" dur="500"/>
                                        <p:tgtEl>
                                          <p:spTgt spid="831"/>
                                        </p:tgtEl>
                                      </p:cBhvr>
                                    </p:animEffect>
                                    <p:set>
                                      <p:cBhvr>
                                        <p:cTn id="44" dur="1" fill="hold">
                                          <p:stCondLst>
                                            <p:cond delay="500"/>
                                          </p:stCondLst>
                                        </p:cTn>
                                        <p:tgtEl>
                                          <p:spTgt spid="831"/>
                                        </p:tgtEl>
                                        <p:attrNameLst>
                                          <p:attrName>style.visibility</p:attrName>
                                        </p:attrNameLst>
                                      </p:cBhvr>
                                      <p:to>
                                        <p:strVal val="hidden"/>
                                      </p:to>
                                    </p:set>
                                  </p:childTnLst>
                                </p:cTn>
                              </p:par>
                              <p:par>
                                <p:cTn id="45" presetID="10" presetClass="entr" presetSubtype="0" fill="hold" nodeType="withEffect">
                                  <p:stCondLst>
                                    <p:cond delay="0"/>
                                  </p:stCondLst>
                                  <p:childTnLst>
                                    <p:set>
                                      <p:cBhvr>
                                        <p:cTn id="46" dur="1" fill="hold">
                                          <p:stCondLst>
                                            <p:cond delay="0"/>
                                          </p:stCondLst>
                                        </p:cTn>
                                        <p:tgtEl>
                                          <p:spTgt spid="828"/>
                                        </p:tgtEl>
                                        <p:attrNameLst>
                                          <p:attrName>style.visibility</p:attrName>
                                        </p:attrNameLst>
                                      </p:cBhvr>
                                      <p:to>
                                        <p:strVal val="visible"/>
                                      </p:to>
                                    </p:set>
                                    <p:animEffect transition="in" filter="fade">
                                      <p:cBhvr>
                                        <p:cTn id="47" dur="500"/>
                                        <p:tgtEl>
                                          <p:spTgt spid="828"/>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837"/>
                                        </p:tgtEl>
                                        <p:attrNameLst>
                                          <p:attrName>style.visibility</p:attrName>
                                        </p:attrNameLst>
                                      </p:cBhvr>
                                      <p:to>
                                        <p:strVal val="visible"/>
                                      </p:to>
                                    </p:set>
                                    <p:animEffect transition="in" filter="fade">
                                      <p:cBhvr>
                                        <p:cTn id="52" dur="500"/>
                                        <p:tgtEl>
                                          <p:spTgt spid="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i="1"/>
              <a:t>from socket import *</a:t>
            </a:r>
            <a:endParaRPr/>
          </a:p>
        </p:txBody>
      </p:sp>
      <p:sp>
        <p:nvSpPr>
          <p:cNvPr id="845" name="Google Shape;845;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socket module forms the basis of all network communications in Python. </a:t>
            </a:r>
            <a:endParaRPr/>
          </a:p>
          <a:p>
            <a:pPr marL="228600" lvl="0" indent="-228600" algn="l" rtl="0">
              <a:lnSpc>
                <a:spcPct val="90000"/>
              </a:lnSpc>
              <a:spcBef>
                <a:spcPts val="1000"/>
              </a:spcBef>
              <a:spcAft>
                <a:spcPts val="0"/>
              </a:spcAft>
              <a:buClr>
                <a:schemeClr val="dk1"/>
              </a:buClr>
              <a:buSzPts val="2800"/>
              <a:buChar char="•"/>
            </a:pPr>
            <a:r>
              <a:rPr lang="en-US"/>
              <a:t>By including this line, we will be able to create sockets within our program.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Play"/>
              <a:buNone/>
            </a:pPr>
            <a:r>
              <a:rPr lang="en-US" sz="4000" i="1"/>
              <a:t>clientSocket = socket(AF_INET, SOCK_DGRAM)</a:t>
            </a:r>
            <a:endParaRPr/>
          </a:p>
        </p:txBody>
      </p:sp>
      <p:sp>
        <p:nvSpPr>
          <p:cNvPr id="851" name="Google Shape;851;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This line creates the client’s socket, called </a:t>
            </a:r>
            <a:r>
              <a:rPr lang="en-US" i="1"/>
              <a:t>clientSocket</a:t>
            </a:r>
            <a:r>
              <a:rPr lang="en-US"/>
              <a:t>. </a:t>
            </a:r>
            <a:endParaRPr/>
          </a:p>
          <a:p>
            <a:pPr marL="228600" lvl="0" indent="-228600" algn="l" rtl="0">
              <a:lnSpc>
                <a:spcPct val="90000"/>
              </a:lnSpc>
              <a:spcBef>
                <a:spcPts val="1000"/>
              </a:spcBef>
              <a:spcAft>
                <a:spcPts val="0"/>
              </a:spcAft>
              <a:buClr>
                <a:schemeClr val="dk1"/>
              </a:buClr>
              <a:buSzPct val="100000"/>
              <a:buChar char="•"/>
            </a:pPr>
            <a:r>
              <a:rPr lang="en-US"/>
              <a:t>The first parameter indicates the address family; in particular, </a:t>
            </a:r>
            <a:r>
              <a:rPr lang="en-US" i="1"/>
              <a:t>AF_INET </a:t>
            </a:r>
            <a:r>
              <a:rPr lang="en-US"/>
              <a:t>indicates that the underlying network is using IPv4. </a:t>
            </a:r>
            <a:endParaRPr/>
          </a:p>
          <a:p>
            <a:pPr marL="228600" lvl="0" indent="-228600" algn="l" rtl="0">
              <a:lnSpc>
                <a:spcPct val="90000"/>
              </a:lnSpc>
              <a:spcBef>
                <a:spcPts val="1000"/>
              </a:spcBef>
              <a:spcAft>
                <a:spcPts val="0"/>
              </a:spcAft>
              <a:buClr>
                <a:schemeClr val="dk1"/>
              </a:buClr>
              <a:buSzPct val="100000"/>
              <a:buChar char="•"/>
            </a:pPr>
            <a:r>
              <a:rPr lang="en-US"/>
              <a:t>The second parameter indicates that the socket is of type </a:t>
            </a:r>
            <a:r>
              <a:rPr lang="en-US" i="1"/>
              <a:t>SOCK_DGRAM</a:t>
            </a:r>
            <a:r>
              <a:rPr lang="en-US"/>
              <a:t>, which means it is a UDP socket (rather than a TCP socket).</a:t>
            </a:r>
            <a:endParaRPr/>
          </a:p>
          <a:p>
            <a:pPr marL="228600" lvl="0" indent="-228600" algn="l" rtl="0">
              <a:lnSpc>
                <a:spcPct val="90000"/>
              </a:lnSpc>
              <a:spcBef>
                <a:spcPts val="1000"/>
              </a:spcBef>
              <a:spcAft>
                <a:spcPts val="0"/>
              </a:spcAft>
              <a:buClr>
                <a:schemeClr val="dk1"/>
              </a:buClr>
              <a:buSzPct val="100000"/>
              <a:buChar char="•"/>
            </a:pPr>
            <a:r>
              <a:rPr lang="en-US"/>
              <a:t>Note that we are not specifying the port number of the client socket when we create it; we are instead letting the operating system do this for us.</a:t>
            </a:r>
            <a:endParaRPr/>
          </a:p>
          <a:p>
            <a:pPr marL="228600" lvl="0" indent="-228600" algn="l" rtl="0">
              <a:lnSpc>
                <a:spcPct val="90000"/>
              </a:lnSpc>
              <a:spcBef>
                <a:spcPts val="1000"/>
              </a:spcBef>
              <a:spcAft>
                <a:spcPts val="0"/>
              </a:spcAft>
              <a:buClr>
                <a:schemeClr val="dk1"/>
              </a:buClr>
              <a:buSzPct val="100000"/>
              <a:buChar char="•"/>
            </a:pPr>
            <a:r>
              <a:rPr lang="en-US"/>
              <a:t>Now that the client process’s door has been created, we will want to create a message to send through the door.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i="1"/>
              <a:t>message = input(’Input lowercase sentence:’) </a:t>
            </a:r>
            <a:endParaRPr/>
          </a:p>
        </p:txBody>
      </p:sp>
      <p:sp>
        <p:nvSpPr>
          <p:cNvPr id="857" name="Google Shape;857;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input() is a built-in function in Python. When this command is executed, the user at the client is prompted with the words “Input lowercase sentence:” </a:t>
            </a:r>
            <a:endParaRPr/>
          </a:p>
          <a:p>
            <a:pPr marL="228600" lvl="0" indent="-228600" algn="l" rtl="0">
              <a:lnSpc>
                <a:spcPct val="90000"/>
              </a:lnSpc>
              <a:spcBef>
                <a:spcPts val="1000"/>
              </a:spcBef>
              <a:spcAft>
                <a:spcPts val="0"/>
              </a:spcAft>
              <a:buClr>
                <a:schemeClr val="dk1"/>
              </a:buClr>
              <a:buSzPts val="2800"/>
              <a:buChar char="•"/>
            </a:pPr>
            <a:r>
              <a:rPr lang="en-US"/>
              <a:t>The user then uses her keyboard to input a line, which is put into the variable message. </a:t>
            </a:r>
            <a:endParaRPr/>
          </a:p>
          <a:p>
            <a:pPr marL="228600" lvl="0" indent="-228600" algn="l" rtl="0">
              <a:lnSpc>
                <a:spcPct val="90000"/>
              </a:lnSpc>
              <a:spcBef>
                <a:spcPts val="1000"/>
              </a:spcBef>
              <a:spcAft>
                <a:spcPts val="0"/>
              </a:spcAft>
              <a:buClr>
                <a:schemeClr val="dk1"/>
              </a:buClr>
              <a:buSzPts val="2800"/>
              <a:buChar char="•"/>
            </a:pPr>
            <a:r>
              <a:rPr lang="en-US"/>
              <a:t>Now that we have a socket and a message, we will want to send the message through the socket to the destination host.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61"/>
        <p:cNvGrpSpPr/>
        <p:nvPr/>
      </p:nvGrpSpPr>
      <p:grpSpPr>
        <a:xfrm>
          <a:off x="0" y="0"/>
          <a:ext cx="0" cy="0"/>
          <a:chOff x="0" y="0"/>
          <a:chExt cx="0" cy="0"/>
        </a:xfrm>
      </p:grpSpPr>
      <p:sp>
        <p:nvSpPr>
          <p:cNvPr id="862" name="Google Shape;862;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87500"/>
              </a:lnSpc>
              <a:spcBef>
                <a:spcPts val="0"/>
              </a:spcBef>
              <a:spcAft>
                <a:spcPts val="0"/>
              </a:spcAft>
              <a:buClr>
                <a:schemeClr val="dk1"/>
              </a:buClr>
              <a:buSzPts val="2000"/>
              <a:buFont typeface="Arial"/>
              <a:buNone/>
            </a:pPr>
            <a:r>
              <a:rPr lang="en-US" sz="2000" i="1">
                <a:latin typeface="Arial"/>
                <a:ea typeface="Arial"/>
                <a:cs typeface="Arial"/>
                <a:sym typeface="Arial"/>
              </a:rPr>
              <a:t>clientSocket.sendto(message.encode(), (serverHost, serverPort))</a:t>
            </a:r>
            <a:br>
              <a:rPr lang="en-US" sz="3200" i="1">
                <a:latin typeface="Arial"/>
                <a:ea typeface="Arial"/>
                <a:cs typeface="Arial"/>
                <a:sym typeface="Arial"/>
              </a:rPr>
            </a:br>
            <a:endParaRPr sz="3200" i="1"/>
          </a:p>
        </p:txBody>
      </p:sp>
      <p:sp>
        <p:nvSpPr>
          <p:cNvPr id="863" name="Google Shape;863;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 the above line, we first convert the message from string type to byte type, as we need to send bytes into a socket; this is done with the </a:t>
            </a:r>
            <a:r>
              <a:rPr lang="en-US" i="1"/>
              <a:t>encode() </a:t>
            </a:r>
            <a:r>
              <a:rPr lang="en-US"/>
              <a:t>method. </a:t>
            </a:r>
            <a:endParaRPr/>
          </a:p>
          <a:p>
            <a:pPr marL="228600" lvl="0" indent="-228600" algn="l" rtl="0">
              <a:lnSpc>
                <a:spcPct val="90000"/>
              </a:lnSpc>
              <a:spcBef>
                <a:spcPts val="1000"/>
              </a:spcBef>
              <a:spcAft>
                <a:spcPts val="0"/>
              </a:spcAft>
              <a:buClr>
                <a:schemeClr val="dk1"/>
              </a:buClr>
              <a:buSzPts val="2800"/>
              <a:buChar char="•"/>
            </a:pPr>
            <a:r>
              <a:rPr lang="en-US"/>
              <a:t>The method </a:t>
            </a:r>
            <a:r>
              <a:rPr lang="en-US" i="1"/>
              <a:t>sendto() </a:t>
            </a:r>
            <a:r>
              <a:rPr lang="en-US"/>
              <a:t>attaches the destination address </a:t>
            </a:r>
            <a:r>
              <a:rPr lang="en-US" i="1"/>
              <a:t>(</a:t>
            </a:r>
            <a:r>
              <a:rPr lang="en-US" sz="2800" i="1">
                <a:latin typeface="Arial"/>
                <a:ea typeface="Arial"/>
                <a:cs typeface="Arial"/>
                <a:sym typeface="Arial"/>
              </a:rPr>
              <a:t>serverHost</a:t>
            </a:r>
            <a:r>
              <a:rPr lang="en-US" i="1"/>
              <a:t>, serverPort) </a:t>
            </a:r>
            <a:r>
              <a:rPr lang="en-US"/>
              <a:t>to the message and sends the resulting packet into the process’s socket, </a:t>
            </a:r>
            <a:r>
              <a:rPr lang="en-US" i="1"/>
              <a:t>clientSocket</a:t>
            </a:r>
            <a:r>
              <a:rPr lang="en-US"/>
              <a:t>. </a:t>
            </a:r>
            <a:endParaRPr/>
          </a:p>
          <a:p>
            <a:pPr marL="228600" lvl="0" indent="-228600" algn="l" rtl="0">
              <a:lnSpc>
                <a:spcPct val="90000"/>
              </a:lnSpc>
              <a:spcBef>
                <a:spcPts val="1000"/>
              </a:spcBef>
              <a:spcAft>
                <a:spcPts val="0"/>
              </a:spcAft>
              <a:buClr>
                <a:schemeClr val="dk1"/>
              </a:buClr>
              <a:buSzPts val="2800"/>
              <a:buChar char="•"/>
            </a:pPr>
            <a:r>
              <a:rPr lang="en-US"/>
              <a:t>The source address is also attached to the packet, although this is done automatically rather than explicitly by the code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i="1"/>
              <a:t>modifiedMessage, serverAddress = clientSocket.recvfrom(2048) </a:t>
            </a:r>
            <a:endParaRPr/>
          </a:p>
        </p:txBody>
      </p:sp>
      <p:sp>
        <p:nvSpPr>
          <p:cNvPr id="869" name="Google Shape;869;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when a packet arrives from the Internet at the client’s socket, the packet’s data is put into the variable </a:t>
            </a:r>
            <a:r>
              <a:rPr lang="en-US" i="1"/>
              <a:t>modifiedMessage</a:t>
            </a:r>
            <a:r>
              <a:rPr lang="en-US"/>
              <a:t> and the packet’s source address is put into the variable </a:t>
            </a:r>
            <a:r>
              <a:rPr lang="en-US" i="1"/>
              <a:t>serverAddress</a:t>
            </a:r>
            <a:r>
              <a:rPr lang="en-US"/>
              <a:t>.</a:t>
            </a:r>
            <a:endParaRPr/>
          </a:p>
          <a:p>
            <a:pPr marL="228600" lvl="0" indent="-228600" algn="l" rtl="0">
              <a:lnSpc>
                <a:spcPct val="90000"/>
              </a:lnSpc>
              <a:spcBef>
                <a:spcPts val="1000"/>
              </a:spcBef>
              <a:spcAft>
                <a:spcPts val="0"/>
              </a:spcAft>
              <a:buClr>
                <a:schemeClr val="dk1"/>
              </a:buClr>
              <a:buSzPts val="2800"/>
              <a:buChar char="•"/>
            </a:pPr>
            <a:r>
              <a:rPr lang="en-US"/>
              <a:t>The variable </a:t>
            </a:r>
            <a:r>
              <a:rPr lang="en-US" i="1"/>
              <a:t>serverAddress</a:t>
            </a:r>
            <a:r>
              <a:rPr lang="en-US"/>
              <a:t> contains both the server’s IP address and the server’s port number.</a:t>
            </a:r>
            <a:endParaRPr/>
          </a:p>
          <a:p>
            <a:pPr marL="228600" lvl="0" indent="-228600" algn="l" rtl="0">
              <a:lnSpc>
                <a:spcPct val="90000"/>
              </a:lnSpc>
              <a:spcBef>
                <a:spcPts val="1000"/>
              </a:spcBef>
              <a:spcAft>
                <a:spcPts val="0"/>
              </a:spcAft>
              <a:buClr>
                <a:schemeClr val="dk1"/>
              </a:buClr>
              <a:buSzPts val="2800"/>
              <a:buChar char="•"/>
            </a:pPr>
            <a:r>
              <a:rPr lang="en-US"/>
              <a:t>The program UDPClient doesn’t actually need this server address information, since it already knows the server address from the outset; but this line of Python provides the server address nevertheless. </a:t>
            </a:r>
            <a:endParaRPr/>
          </a:p>
          <a:p>
            <a:pPr marL="228600" lvl="0" indent="-228600" algn="l" rtl="0">
              <a:lnSpc>
                <a:spcPct val="90000"/>
              </a:lnSpc>
              <a:spcBef>
                <a:spcPts val="1000"/>
              </a:spcBef>
              <a:spcAft>
                <a:spcPts val="0"/>
              </a:spcAft>
              <a:buClr>
                <a:schemeClr val="dk1"/>
              </a:buClr>
              <a:buSzPts val="2800"/>
              <a:buChar char="•"/>
            </a:pPr>
            <a:r>
              <a:rPr lang="en-US"/>
              <a:t>The method </a:t>
            </a:r>
            <a:r>
              <a:rPr lang="en-US" i="1"/>
              <a:t>recvfrom</a:t>
            </a:r>
            <a:r>
              <a:rPr lang="en-US"/>
              <a:t> also takes the buffer size 2048 as input. (This buffer size works for most purposes.)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73"/>
        <p:cNvGrpSpPr/>
        <p:nvPr/>
      </p:nvGrpSpPr>
      <p:grpSpPr>
        <a:xfrm>
          <a:off x="0" y="0"/>
          <a:ext cx="0" cy="0"/>
          <a:chOff x="0" y="0"/>
          <a:chExt cx="0" cy="0"/>
        </a:xfrm>
      </p:grpSpPr>
      <p:sp>
        <p:nvSpPr>
          <p:cNvPr id="874" name="Google Shape;874;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print(modifiedMessage.decode())</a:t>
            </a:r>
            <a:endParaRPr/>
          </a:p>
        </p:txBody>
      </p:sp>
      <p:sp>
        <p:nvSpPr>
          <p:cNvPr id="875" name="Google Shape;875;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line prints out </a:t>
            </a:r>
            <a:r>
              <a:rPr lang="en-US" i="1"/>
              <a:t>modifiedMessage</a:t>
            </a:r>
            <a:r>
              <a:rPr lang="en-US"/>
              <a:t> on the user’s display, after converting the mes sage from bytes to string. It should be the original line that the user typed, but now capitalized.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clientSocket.close()</a:t>
            </a:r>
            <a:endParaRPr/>
          </a:p>
        </p:txBody>
      </p:sp>
      <p:sp>
        <p:nvSpPr>
          <p:cNvPr id="881" name="Google Shape;881;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line closes the socket. The process then terminates.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p35"/>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35</a:t>
            </a:fld>
            <a:endParaRPr sz="1200">
              <a:solidFill>
                <a:schemeClr val="dk1"/>
              </a:solidFill>
              <a:latin typeface="Comic Sans MS"/>
              <a:ea typeface="Comic Sans MS"/>
              <a:cs typeface="Comic Sans MS"/>
              <a:sym typeface="Comic Sans MS"/>
            </a:endParaRPr>
          </a:p>
        </p:txBody>
      </p:sp>
      <p:sp>
        <p:nvSpPr>
          <p:cNvPr id="888" name="Google Shape;888;p35"/>
          <p:cNvSpPr txBox="1">
            <a:spLocks noGrp="1"/>
          </p:cNvSpPr>
          <p:nvPr>
            <p:ph type="title"/>
          </p:nvPr>
        </p:nvSpPr>
        <p:spPr>
          <a:xfrm>
            <a:off x="2209800" y="228600"/>
            <a:ext cx="7772400" cy="838200"/>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Play"/>
              <a:buNone/>
            </a:pPr>
            <a:r>
              <a:rPr lang="en-US"/>
              <a:t>BSD Socket Programming Flows (connection-oriented)</a:t>
            </a:r>
            <a:endParaRPr/>
          </a:p>
        </p:txBody>
      </p:sp>
      <p:pic>
        <p:nvPicPr>
          <p:cNvPr id="889" name="Google Shape;889;p35" descr="connectionoriented"/>
          <p:cNvPicPr preferRelativeResize="0"/>
          <p:nvPr/>
        </p:nvPicPr>
        <p:blipFill rotWithShape="1">
          <a:blip r:embed="rId3">
            <a:alphaModFix/>
          </a:blip>
          <a:srcRect/>
          <a:stretch/>
        </p:blipFill>
        <p:spPr>
          <a:xfrm>
            <a:off x="3405189" y="1447800"/>
            <a:ext cx="5381625" cy="45100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36"/>
          <p:cNvSpPr txBox="1">
            <a:spLocks noGrp="1"/>
          </p:cNvSpPr>
          <p:nvPr>
            <p:ph type="title"/>
          </p:nvPr>
        </p:nvSpPr>
        <p:spPr>
          <a:xfrm>
            <a:off x="1947863" y="196850"/>
            <a:ext cx="7772400" cy="903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Socket programming </a:t>
            </a:r>
            <a:r>
              <a:rPr lang="en-US" sz="3600" i="1">
                <a:solidFill>
                  <a:srgbClr val="CC0000"/>
                </a:solidFill>
              </a:rPr>
              <a:t>with TCP</a:t>
            </a:r>
            <a:endParaRPr sz="3600">
              <a:solidFill>
                <a:srgbClr val="CC0000"/>
              </a:solidFill>
            </a:endParaRPr>
          </a:p>
        </p:txBody>
      </p:sp>
      <p:sp>
        <p:nvSpPr>
          <p:cNvPr id="895" name="Google Shape;895;p36"/>
          <p:cNvSpPr txBox="1">
            <a:spLocks noGrp="1"/>
          </p:cNvSpPr>
          <p:nvPr>
            <p:ph type="body" idx="1"/>
          </p:nvPr>
        </p:nvSpPr>
        <p:spPr>
          <a:xfrm>
            <a:off x="6172200" y="1350963"/>
            <a:ext cx="4210050" cy="46482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CC0000"/>
              </a:buClr>
              <a:buSzPts val="2400"/>
              <a:buFont typeface="Noto Sans Symbols"/>
              <a:buNone/>
            </a:pPr>
            <a:r>
              <a:rPr lang="en-US" sz="2400">
                <a:solidFill>
                  <a:srgbClr val="CC0000"/>
                </a:solidFill>
              </a:rPr>
              <a:t>client must contact server</a:t>
            </a:r>
            <a:endParaRPr/>
          </a:p>
          <a:p>
            <a:pPr marL="228600" lvl="0" indent="-228600" algn="l" rtl="0">
              <a:lnSpc>
                <a:spcPct val="90000"/>
              </a:lnSpc>
              <a:spcBef>
                <a:spcPts val="1000"/>
              </a:spcBef>
              <a:spcAft>
                <a:spcPts val="0"/>
              </a:spcAft>
              <a:buClr>
                <a:schemeClr val="dk1"/>
              </a:buClr>
              <a:buSzPts val="2000"/>
              <a:buChar char="•"/>
            </a:pPr>
            <a:r>
              <a:rPr lang="en-US" sz="2000"/>
              <a:t>server process must first be running</a:t>
            </a:r>
            <a:endParaRPr/>
          </a:p>
          <a:p>
            <a:pPr marL="228600" lvl="0" indent="-228600" algn="l" rtl="0">
              <a:lnSpc>
                <a:spcPct val="90000"/>
              </a:lnSpc>
              <a:spcBef>
                <a:spcPts val="1000"/>
              </a:spcBef>
              <a:spcAft>
                <a:spcPts val="0"/>
              </a:spcAft>
              <a:buClr>
                <a:schemeClr val="dk1"/>
              </a:buClr>
              <a:buSzPts val="2000"/>
              <a:buChar char="•"/>
            </a:pPr>
            <a:r>
              <a:rPr lang="en-US" sz="2000"/>
              <a:t>server must have created socket (door) that welcomes client’s contact</a:t>
            </a:r>
            <a:endParaRPr/>
          </a:p>
          <a:p>
            <a:pPr marL="228600" lvl="0" indent="-228600" algn="l" rtl="0">
              <a:lnSpc>
                <a:spcPct val="90000"/>
              </a:lnSpc>
              <a:spcBef>
                <a:spcPts val="1200"/>
              </a:spcBef>
              <a:spcAft>
                <a:spcPts val="0"/>
              </a:spcAft>
              <a:buClr>
                <a:srgbClr val="CC0000"/>
              </a:buClr>
              <a:buSzPts val="2400"/>
              <a:buFont typeface="Noto Sans Symbols"/>
              <a:buNone/>
            </a:pPr>
            <a:r>
              <a:rPr lang="en-US" sz="2400">
                <a:solidFill>
                  <a:srgbClr val="CC0000"/>
                </a:solidFill>
              </a:rPr>
              <a:t>client contacts server by:</a:t>
            </a:r>
            <a:endParaRPr/>
          </a:p>
          <a:p>
            <a:pPr marL="228600" lvl="0" indent="-228600" algn="l" rtl="0">
              <a:lnSpc>
                <a:spcPct val="90000"/>
              </a:lnSpc>
              <a:spcBef>
                <a:spcPts val="1000"/>
              </a:spcBef>
              <a:spcAft>
                <a:spcPts val="0"/>
              </a:spcAft>
              <a:buClr>
                <a:schemeClr val="dk1"/>
              </a:buClr>
              <a:buSzPts val="2000"/>
              <a:buChar char="•"/>
            </a:pPr>
            <a:r>
              <a:rPr lang="en-US" sz="2000"/>
              <a:t>Creating TCP socket, specifying IP address, port number of server process</a:t>
            </a:r>
            <a:endParaRPr/>
          </a:p>
          <a:p>
            <a:pPr marL="228600" lvl="0" indent="-228600" algn="l" rtl="0">
              <a:lnSpc>
                <a:spcPct val="90000"/>
              </a:lnSpc>
              <a:spcBef>
                <a:spcPts val="1000"/>
              </a:spcBef>
              <a:spcAft>
                <a:spcPts val="0"/>
              </a:spcAft>
              <a:buClr>
                <a:srgbClr val="CC0000"/>
              </a:buClr>
              <a:buSzPts val="2000"/>
              <a:buChar char="•"/>
            </a:pPr>
            <a:r>
              <a:rPr lang="en-US" sz="2000" i="1">
                <a:solidFill>
                  <a:srgbClr val="CC0000"/>
                </a:solidFill>
              </a:rPr>
              <a:t>when client creates socket:</a:t>
            </a:r>
            <a:r>
              <a:rPr lang="en-US" sz="2000"/>
              <a:t> client TCP establishes connection to server TCP</a:t>
            </a:r>
            <a:endParaRPr/>
          </a:p>
          <a:p>
            <a:pPr marL="228600" lvl="0" indent="-101600" algn="l" rtl="0">
              <a:lnSpc>
                <a:spcPct val="90000"/>
              </a:lnSpc>
              <a:spcBef>
                <a:spcPts val="1000"/>
              </a:spcBef>
              <a:spcAft>
                <a:spcPts val="0"/>
              </a:spcAft>
              <a:buClr>
                <a:schemeClr val="dk1"/>
              </a:buClr>
              <a:buSzPts val="2000"/>
              <a:buNone/>
            </a:pPr>
            <a:endParaRPr sz="2000"/>
          </a:p>
        </p:txBody>
      </p:sp>
      <p:sp>
        <p:nvSpPr>
          <p:cNvPr id="896" name="Google Shape;896;p36"/>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36</a:t>
            </a:fld>
            <a:endParaRPr sz="1200">
              <a:solidFill>
                <a:schemeClr val="dk1"/>
              </a:solidFill>
              <a:latin typeface="Comic Sans MS"/>
              <a:ea typeface="Comic Sans MS"/>
              <a:cs typeface="Comic Sans MS"/>
              <a:sym typeface="Comic Sans MS"/>
            </a:endParaRPr>
          </a:p>
        </p:txBody>
      </p:sp>
      <p:pic>
        <p:nvPicPr>
          <p:cNvPr id="897" name="Google Shape;897;p36"/>
          <p:cNvPicPr preferRelativeResize="0"/>
          <p:nvPr/>
        </p:nvPicPr>
        <p:blipFill rotWithShape="1">
          <a:blip r:embed="rId3">
            <a:alphaModFix/>
          </a:blip>
          <a:srcRect l="34167" t="12666" r="20833" b="20666"/>
          <a:stretch/>
        </p:blipFill>
        <p:spPr>
          <a:xfrm>
            <a:off x="1828800" y="1770063"/>
            <a:ext cx="3659188" cy="38100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9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37"/>
          <p:cNvSpPr txBox="1">
            <a:spLocks noGrp="1"/>
          </p:cNvSpPr>
          <p:nvPr>
            <p:ph type="title"/>
          </p:nvPr>
        </p:nvSpPr>
        <p:spPr>
          <a:xfrm>
            <a:off x="1947863" y="196850"/>
            <a:ext cx="7772400" cy="90328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Socket programming </a:t>
            </a:r>
            <a:r>
              <a:rPr lang="en-US" sz="3600" i="1">
                <a:solidFill>
                  <a:srgbClr val="CC0000"/>
                </a:solidFill>
              </a:rPr>
              <a:t>with TCP</a:t>
            </a:r>
            <a:endParaRPr sz="3600">
              <a:solidFill>
                <a:srgbClr val="CC0000"/>
              </a:solidFill>
            </a:endParaRPr>
          </a:p>
        </p:txBody>
      </p:sp>
      <p:sp>
        <p:nvSpPr>
          <p:cNvPr id="903" name="Google Shape;903;p37"/>
          <p:cNvSpPr txBox="1">
            <a:spLocks noGrp="1"/>
          </p:cNvSpPr>
          <p:nvPr>
            <p:ph type="body" idx="2"/>
          </p:nvPr>
        </p:nvSpPr>
        <p:spPr>
          <a:xfrm>
            <a:off x="6019800" y="1419226"/>
            <a:ext cx="4114800" cy="300037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000"/>
              <a:buChar char="•"/>
            </a:pPr>
            <a:r>
              <a:rPr lang="en-US" sz="2000"/>
              <a:t>when contacted by client, </a:t>
            </a:r>
            <a:r>
              <a:rPr lang="en-US" sz="2000" i="1">
                <a:solidFill>
                  <a:srgbClr val="CC0000"/>
                </a:solidFill>
              </a:rPr>
              <a:t>server TCP creates new socket</a:t>
            </a:r>
            <a:r>
              <a:rPr lang="en-US" sz="2000"/>
              <a:t> for server process to communicate with that particular client</a:t>
            </a:r>
            <a:endParaRPr/>
          </a:p>
          <a:p>
            <a:pPr marL="685800" lvl="1" indent="-228600" algn="l" rtl="0">
              <a:lnSpc>
                <a:spcPct val="90000"/>
              </a:lnSpc>
              <a:spcBef>
                <a:spcPts val="500"/>
              </a:spcBef>
              <a:spcAft>
                <a:spcPts val="0"/>
              </a:spcAft>
              <a:buClr>
                <a:schemeClr val="dk1"/>
              </a:buClr>
              <a:buSzPts val="2000"/>
              <a:buChar char="•"/>
            </a:pPr>
            <a:r>
              <a:rPr lang="en-US" sz="2000"/>
              <a:t>allows server to talk with multiple clients</a:t>
            </a:r>
            <a:endParaRPr/>
          </a:p>
          <a:p>
            <a:pPr marL="685800" lvl="1" indent="-228600" algn="l" rtl="0">
              <a:lnSpc>
                <a:spcPct val="90000"/>
              </a:lnSpc>
              <a:spcBef>
                <a:spcPts val="500"/>
              </a:spcBef>
              <a:spcAft>
                <a:spcPts val="0"/>
              </a:spcAft>
              <a:buClr>
                <a:schemeClr val="dk1"/>
              </a:buClr>
              <a:buSzPts val="2000"/>
              <a:buChar char="•"/>
            </a:pPr>
            <a:r>
              <a:rPr lang="en-US" sz="2000"/>
              <a:t>source port numbers used to distinguish</a:t>
            </a:r>
            <a:endParaRPr sz="2000" i="1"/>
          </a:p>
        </p:txBody>
      </p:sp>
      <p:sp>
        <p:nvSpPr>
          <p:cNvPr id="904" name="Google Shape;904;p37"/>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37</a:t>
            </a:fld>
            <a:endParaRPr sz="1200">
              <a:solidFill>
                <a:schemeClr val="dk1"/>
              </a:solidFill>
              <a:latin typeface="Comic Sans MS"/>
              <a:ea typeface="Comic Sans MS"/>
              <a:cs typeface="Comic Sans MS"/>
              <a:sym typeface="Comic Sans MS"/>
            </a:endParaRPr>
          </a:p>
        </p:txBody>
      </p:sp>
      <p:pic>
        <p:nvPicPr>
          <p:cNvPr id="905" name="Google Shape;905;p37"/>
          <p:cNvPicPr preferRelativeResize="0"/>
          <p:nvPr/>
        </p:nvPicPr>
        <p:blipFill rotWithShape="1">
          <a:blip r:embed="rId3">
            <a:alphaModFix/>
          </a:blip>
          <a:srcRect l="34167" t="12666" r="20833" b="20666"/>
          <a:stretch/>
        </p:blipFill>
        <p:spPr>
          <a:xfrm>
            <a:off x="1984375" y="1281113"/>
            <a:ext cx="3659188" cy="3810000"/>
          </a:xfrm>
          <a:prstGeom prst="rect">
            <a:avLst/>
          </a:prstGeom>
          <a:noFill/>
          <a:ln>
            <a:noFill/>
          </a:ln>
        </p:spPr>
      </p:pic>
      <p:grpSp>
        <p:nvGrpSpPr>
          <p:cNvPr id="906" name="Google Shape;906;p37"/>
          <p:cNvGrpSpPr/>
          <p:nvPr/>
        </p:nvGrpSpPr>
        <p:grpSpPr>
          <a:xfrm>
            <a:off x="2020889" y="4799018"/>
            <a:ext cx="3602037" cy="1230308"/>
            <a:chOff x="4772025" y="4522806"/>
            <a:chExt cx="2635448" cy="1229718"/>
          </a:xfrm>
        </p:grpSpPr>
        <p:sp>
          <p:nvSpPr>
            <p:cNvPr id="907" name="Google Shape;907;p37"/>
            <p:cNvSpPr txBox="1"/>
            <p:nvPr/>
          </p:nvSpPr>
          <p:spPr>
            <a:xfrm>
              <a:off x="5064724" y="5032144"/>
              <a:ext cx="2342749" cy="720380"/>
            </a:xfrm>
            <a:prstGeom prst="rect">
              <a:avLst/>
            </a:prstGeom>
            <a:noFill/>
            <a:ln>
              <a:noFill/>
            </a:ln>
          </p:spPr>
          <p:txBody>
            <a:bodyPr spcFirstLastPara="1" wrap="square" lIns="91425" tIns="45700" rIns="91425" bIns="45700" anchor="ctr" anchorCtr="0">
              <a:spAutoFit/>
            </a:bodyPr>
            <a:lstStyle/>
            <a:p>
              <a:pPr marL="0" marR="0" lvl="0" indent="0" algn="l" rtl="0">
                <a:lnSpc>
                  <a:spcPct val="85000"/>
                </a:lnSpc>
                <a:spcBef>
                  <a:spcPts val="0"/>
                </a:spcBef>
                <a:spcAft>
                  <a:spcPts val="0"/>
                </a:spcAft>
                <a:buNone/>
              </a:pPr>
              <a:r>
                <a:rPr lang="en-US" sz="1600">
                  <a:solidFill>
                    <a:srgbClr val="000099"/>
                  </a:solidFill>
                  <a:latin typeface="Arial"/>
                  <a:ea typeface="Arial"/>
                  <a:cs typeface="Arial"/>
                  <a:sym typeface="Arial"/>
                </a:rPr>
                <a:t>TCP provides reliable, in-order</a:t>
              </a:r>
              <a:endParaRPr/>
            </a:p>
            <a:p>
              <a:pPr marL="0" marR="0" lvl="0" indent="0" algn="l" rtl="0">
                <a:lnSpc>
                  <a:spcPct val="85000"/>
                </a:lnSpc>
                <a:spcBef>
                  <a:spcPts val="0"/>
                </a:spcBef>
                <a:spcAft>
                  <a:spcPts val="0"/>
                </a:spcAft>
                <a:buNone/>
              </a:pPr>
              <a:r>
                <a:rPr lang="en-US" sz="1600">
                  <a:solidFill>
                    <a:srgbClr val="000099"/>
                  </a:solidFill>
                  <a:latin typeface="Arial"/>
                  <a:ea typeface="Arial"/>
                  <a:cs typeface="Arial"/>
                  <a:sym typeface="Arial"/>
                </a:rPr>
                <a:t>byte-stream transfer (“pipe”) </a:t>
              </a:r>
              <a:endParaRPr/>
            </a:p>
            <a:p>
              <a:pPr marL="0" marR="0" lvl="0" indent="0" algn="l" rtl="0">
                <a:lnSpc>
                  <a:spcPct val="85000"/>
                </a:lnSpc>
                <a:spcBef>
                  <a:spcPts val="0"/>
                </a:spcBef>
                <a:spcAft>
                  <a:spcPts val="0"/>
                </a:spcAft>
                <a:buNone/>
              </a:pPr>
              <a:r>
                <a:rPr lang="en-US" sz="1600">
                  <a:solidFill>
                    <a:srgbClr val="000099"/>
                  </a:solidFill>
                  <a:latin typeface="Arial"/>
                  <a:ea typeface="Arial"/>
                  <a:cs typeface="Arial"/>
                  <a:sym typeface="Arial"/>
                </a:rPr>
                <a:t>between client and server</a:t>
              </a:r>
              <a:endParaRPr/>
            </a:p>
          </p:txBody>
        </p:sp>
        <p:grpSp>
          <p:nvGrpSpPr>
            <p:cNvPr id="908" name="Google Shape;908;p37"/>
            <p:cNvGrpSpPr/>
            <p:nvPr/>
          </p:nvGrpSpPr>
          <p:grpSpPr>
            <a:xfrm>
              <a:off x="4772025" y="4522806"/>
              <a:ext cx="2530475" cy="536576"/>
              <a:chOff x="96" y="3824"/>
              <a:chExt cx="1594" cy="338"/>
            </a:xfrm>
          </p:grpSpPr>
          <p:sp>
            <p:nvSpPr>
              <p:cNvPr id="909" name="Google Shape;909;p37"/>
              <p:cNvSpPr/>
              <p:nvPr/>
            </p:nvSpPr>
            <p:spPr>
              <a:xfrm>
                <a:off x="96" y="3824"/>
                <a:ext cx="85" cy="291"/>
              </a:xfrm>
              <a:prstGeom prst="rect">
                <a:avLst/>
              </a:prstGeom>
              <a:solidFill>
                <a:schemeClr val="lt1"/>
              </a:solid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3333CC"/>
                  </a:buClr>
                  <a:buSzPts val="2400"/>
                  <a:buFont typeface="Comic Sans MS"/>
                  <a:buNone/>
                </a:pPr>
                <a:endParaRPr sz="2400">
                  <a:solidFill>
                    <a:srgbClr val="000000"/>
                  </a:solidFill>
                  <a:latin typeface="Comic Sans MS"/>
                  <a:ea typeface="Comic Sans MS"/>
                  <a:cs typeface="Comic Sans MS"/>
                  <a:sym typeface="Comic Sans MS"/>
                </a:endParaRPr>
              </a:p>
            </p:txBody>
          </p:sp>
          <p:sp>
            <p:nvSpPr>
              <p:cNvPr id="910" name="Google Shape;910;p37"/>
              <p:cNvSpPr txBox="1"/>
              <p:nvPr/>
            </p:nvSpPr>
            <p:spPr>
              <a:xfrm>
                <a:off x="196" y="3949"/>
                <a:ext cx="1494" cy="213"/>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rgbClr val="CC0000"/>
                    </a:solidFill>
                    <a:latin typeface="Arial"/>
                    <a:ea typeface="Arial"/>
                    <a:cs typeface="Arial"/>
                    <a:sym typeface="Arial"/>
                  </a:rPr>
                  <a:t>application viewpoint:</a:t>
                </a:r>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14"/>
        <p:cNvGrpSpPr/>
        <p:nvPr/>
      </p:nvGrpSpPr>
      <p:grpSpPr>
        <a:xfrm>
          <a:off x="0" y="0"/>
          <a:ext cx="0" cy="0"/>
          <a:chOff x="0" y="0"/>
          <a:chExt cx="0" cy="0"/>
        </a:xfrm>
      </p:grpSpPr>
      <p:sp>
        <p:nvSpPr>
          <p:cNvPr id="915" name="Google Shape;915;p38"/>
          <p:cNvSpPr txBox="1">
            <a:spLocks noGrp="1"/>
          </p:cNvSpPr>
          <p:nvPr>
            <p:ph type="title"/>
          </p:nvPr>
        </p:nvSpPr>
        <p:spPr>
          <a:xfrm>
            <a:off x="1946276" y="88900"/>
            <a:ext cx="8416925" cy="94773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Client/server socket interaction: TCP</a:t>
            </a:r>
            <a:endParaRPr/>
          </a:p>
        </p:txBody>
      </p:sp>
      <p:grpSp>
        <p:nvGrpSpPr>
          <p:cNvPr id="916" name="Google Shape;916;p38"/>
          <p:cNvGrpSpPr/>
          <p:nvPr/>
        </p:nvGrpSpPr>
        <p:grpSpPr>
          <a:xfrm>
            <a:off x="2881314" y="3013075"/>
            <a:ext cx="1931987" cy="933450"/>
            <a:chOff x="827" y="2025"/>
            <a:chExt cx="1217" cy="588"/>
          </a:xfrm>
        </p:grpSpPr>
        <p:sp>
          <p:nvSpPr>
            <p:cNvPr id="917" name="Google Shape;917;p38"/>
            <p:cNvSpPr txBox="1"/>
            <p:nvPr/>
          </p:nvSpPr>
          <p:spPr>
            <a:xfrm>
              <a:off x="827" y="2025"/>
              <a:ext cx="1069"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wait for incoming</a:t>
              </a:r>
              <a:endParaRPr/>
            </a:p>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connection request</a:t>
              </a:r>
              <a:endParaRPr sz="2400">
                <a:solidFill>
                  <a:srgbClr val="000000"/>
                </a:solidFill>
                <a:latin typeface="Times New Roman"/>
                <a:ea typeface="Times New Roman"/>
                <a:cs typeface="Times New Roman"/>
                <a:sym typeface="Times New Roman"/>
              </a:endParaRPr>
            </a:p>
          </p:txBody>
        </p:sp>
        <p:sp>
          <p:nvSpPr>
            <p:cNvPr id="918" name="Google Shape;918;p38"/>
            <p:cNvSpPr txBox="1"/>
            <p:nvPr/>
          </p:nvSpPr>
          <p:spPr>
            <a:xfrm>
              <a:off x="828" y="2283"/>
              <a:ext cx="1216"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 =</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serverSocket.accept()</a:t>
              </a:r>
              <a:endParaRPr sz="2400">
                <a:solidFill>
                  <a:srgbClr val="CC0000"/>
                </a:solidFill>
                <a:latin typeface="Times New Roman"/>
                <a:ea typeface="Times New Roman"/>
                <a:cs typeface="Times New Roman"/>
                <a:sym typeface="Times New Roman"/>
              </a:endParaRPr>
            </a:p>
          </p:txBody>
        </p:sp>
      </p:grpSp>
      <p:grpSp>
        <p:nvGrpSpPr>
          <p:cNvPr id="919" name="Google Shape;919;p38"/>
          <p:cNvGrpSpPr/>
          <p:nvPr/>
        </p:nvGrpSpPr>
        <p:grpSpPr>
          <a:xfrm>
            <a:off x="2862264" y="1776414"/>
            <a:ext cx="2357437" cy="1317625"/>
            <a:chOff x="821" y="1246"/>
            <a:chExt cx="1485" cy="830"/>
          </a:xfrm>
        </p:grpSpPr>
        <p:grpSp>
          <p:nvGrpSpPr>
            <p:cNvPr id="920" name="Google Shape;920;p38"/>
            <p:cNvGrpSpPr/>
            <p:nvPr/>
          </p:nvGrpSpPr>
          <p:grpSpPr>
            <a:xfrm>
              <a:off x="821" y="1246"/>
              <a:ext cx="1485" cy="586"/>
              <a:chOff x="329" y="1270"/>
              <a:chExt cx="1485" cy="586"/>
            </a:xfrm>
          </p:grpSpPr>
          <p:sp>
            <p:nvSpPr>
              <p:cNvPr id="921" name="Google Shape;921;p38"/>
              <p:cNvSpPr txBox="1"/>
              <p:nvPr/>
            </p:nvSpPr>
            <p:spPr>
              <a:xfrm>
                <a:off x="329" y="1270"/>
                <a:ext cx="1213" cy="46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port=</a:t>
                </a:r>
                <a:r>
                  <a:rPr lang="en-US" sz="1400" b="1">
                    <a:solidFill>
                      <a:srgbClr val="000000"/>
                    </a:solidFill>
                    <a:latin typeface="Courier New"/>
                    <a:ea typeface="Courier New"/>
                    <a:cs typeface="Courier New"/>
                    <a:sym typeface="Courier New"/>
                  </a:rPr>
                  <a:t>x</a:t>
                </a:r>
                <a:r>
                  <a:rPr lang="en-US" sz="1400">
                    <a:solidFill>
                      <a:srgbClr val="000000"/>
                    </a:solidFill>
                    <a:latin typeface="Arial"/>
                    <a:ea typeface="Arial"/>
                    <a:cs typeface="Arial"/>
                    <a:sym typeface="Arial"/>
                  </a:rPr>
                  <a:t>, for incoming request:</a:t>
                </a:r>
                <a:endParaRPr sz="2400">
                  <a:solidFill>
                    <a:srgbClr val="000000"/>
                  </a:solidFill>
                  <a:latin typeface="Times New Roman"/>
                  <a:ea typeface="Times New Roman"/>
                  <a:cs typeface="Times New Roman"/>
                  <a:sym typeface="Times New Roman"/>
                </a:endParaRPr>
              </a:p>
            </p:txBody>
          </p:sp>
          <p:sp>
            <p:nvSpPr>
              <p:cNvPr id="922" name="Google Shape;922;p38"/>
              <p:cNvSpPr txBox="1"/>
              <p:nvPr/>
            </p:nvSpPr>
            <p:spPr>
              <a:xfrm>
                <a:off x="333" y="1662"/>
                <a:ext cx="1481" cy="19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serverSocket = socket()</a:t>
                </a:r>
                <a:endParaRPr sz="2400">
                  <a:solidFill>
                    <a:srgbClr val="CC0000"/>
                  </a:solidFill>
                  <a:latin typeface="Times New Roman"/>
                  <a:ea typeface="Times New Roman"/>
                  <a:cs typeface="Times New Roman"/>
                  <a:sym typeface="Times New Roman"/>
                </a:endParaRPr>
              </a:p>
            </p:txBody>
          </p:sp>
        </p:grpSp>
        <p:cxnSp>
          <p:nvCxnSpPr>
            <p:cNvPr id="923" name="Google Shape;923;p38"/>
            <p:cNvCxnSpPr/>
            <p:nvPr/>
          </p:nvCxnSpPr>
          <p:spPr>
            <a:xfrm>
              <a:off x="1284" y="1872"/>
              <a:ext cx="0" cy="204"/>
            </a:xfrm>
            <a:prstGeom prst="straightConnector1">
              <a:avLst/>
            </a:prstGeom>
            <a:noFill/>
            <a:ln w="28575" cap="flat" cmpd="sng">
              <a:solidFill>
                <a:srgbClr val="000099"/>
              </a:solidFill>
              <a:prstDash val="solid"/>
              <a:round/>
              <a:headEnd type="none" w="med" len="med"/>
              <a:tailEnd type="triangle" w="med" len="med"/>
            </a:ln>
          </p:spPr>
        </p:cxnSp>
      </p:grpSp>
      <p:grpSp>
        <p:nvGrpSpPr>
          <p:cNvPr id="924" name="Google Shape;924;p38"/>
          <p:cNvGrpSpPr/>
          <p:nvPr/>
        </p:nvGrpSpPr>
        <p:grpSpPr>
          <a:xfrm>
            <a:off x="6659564" y="3021014"/>
            <a:ext cx="2357437" cy="731837"/>
            <a:chOff x="3333" y="1202"/>
            <a:chExt cx="1485" cy="461"/>
          </a:xfrm>
        </p:grpSpPr>
        <p:sp>
          <p:nvSpPr>
            <p:cNvPr id="925" name="Google Shape;925;p38"/>
            <p:cNvSpPr txBox="1"/>
            <p:nvPr/>
          </p:nvSpPr>
          <p:spPr>
            <a:xfrm>
              <a:off x="3335" y="1202"/>
              <a:ext cx="1468"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 to </a:t>
              </a:r>
              <a:r>
                <a:rPr lang="en-US" sz="1400" b="1">
                  <a:solidFill>
                    <a:srgbClr val="000000"/>
                  </a:solidFill>
                  <a:latin typeface="Courier New"/>
                  <a:ea typeface="Courier New"/>
                  <a:cs typeface="Courier New"/>
                  <a:sym typeface="Courier New"/>
                </a:rPr>
                <a:t>hostid</a:t>
              </a:r>
              <a:r>
                <a:rPr lang="en-US" sz="1400">
                  <a:solidFill>
                    <a:srgbClr val="000000"/>
                  </a:solidFill>
                  <a:latin typeface="Arial"/>
                  <a:ea typeface="Arial"/>
                  <a:cs typeface="Arial"/>
                  <a:sym typeface="Arial"/>
                </a:rPr>
                <a:t>, port=</a:t>
              </a:r>
              <a:r>
                <a:rPr lang="en-US" sz="1400" b="1">
                  <a:solidFill>
                    <a:srgbClr val="000000"/>
                  </a:solidFill>
                  <a:latin typeface="Courier New"/>
                  <a:ea typeface="Courier New"/>
                  <a:cs typeface="Courier New"/>
                  <a:sym typeface="Courier New"/>
                </a:rPr>
                <a:t>x</a:t>
              </a:r>
              <a:endParaRPr sz="2400">
                <a:solidFill>
                  <a:srgbClr val="000000"/>
                </a:solidFill>
                <a:latin typeface="Times New Roman"/>
                <a:ea typeface="Times New Roman"/>
                <a:cs typeface="Times New Roman"/>
                <a:sym typeface="Times New Roman"/>
              </a:endParaRPr>
            </a:p>
          </p:txBody>
        </p:sp>
        <p:sp>
          <p:nvSpPr>
            <p:cNvPr id="926" name="Google Shape;926;p38"/>
            <p:cNvSpPr txBox="1"/>
            <p:nvPr/>
          </p:nvSpPr>
          <p:spPr>
            <a:xfrm>
              <a:off x="3333" y="1469"/>
              <a:ext cx="1485" cy="19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 = socket()</a:t>
              </a:r>
              <a:endParaRPr sz="2400">
                <a:solidFill>
                  <a:srgbClr val="CC0000"/>
                </a:solidFill>
                <a:latin typeface="Times New Roman"/>
                <a:ea typeface="Times New Roman"/>
                <a:cs typeface="Times New Roman"/>
                <a:sym typeface="Times New Roman"/>
              </a:endParaRPr>
            </a:p>
          </p:txBody>
        </p:sp>
      </p:grpSp>
      <p:sp>
        <p:nvSpPr>
          <p:cNvPr id="927" name="Google Shape;927;p38"/>
          <p:cNvSpPr txBox="1"/>
          <p:nvPr/>
        </p:nvSpPr>
        <p:spPr>
          <a:xfrm>
            <a:off x="2227263" y="1138239"/>
            <a:ext cx="3575050" cy="52228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server</a:t>
            </a:r>
            <a:r>
              <a:rPr lang="en-US" sz="2400">
                <a:solidFill>
                  <a:srgbClr val="000000"/>
                </a:solidFill>
                <a:latin typeface="Gill Sans"/>
                <a:ea typeface="Gill Sans"/>
                <a:cs typeface="Gill Sans"/>
                <a:sym typeface="Gill Sans"/>
              </a:rPr>
              <a:t> (running</a:t>
            </a:r>
            <a:r>
              <a:rPr lang="en-US" sz="2000">
                <a:solidFill>
                  <a:srgbClr val="000000"/>
                </a:solidFill>
                <a:latin typeface="Gill Sans"/>
                <a:ea typeface="Gill Sans"/>
                <a:cs typeface="Gill Sans"/>
                <a:sym typeface="Gill Sans"/>
              </a:rPr>
              <a:t> on</a:t>
            </a:r>
            <a:r>
              <a:rPr lang="en-US" sz="1800">
                <a:solidFill>
                  <a:srgbClr val="000000"/>
                </a:solidFill>
                <a:latin typeface="Comic Sans MS"/>
                <a:ea typeface="Comic Sans MS"/>
                <a:cs typeface="Comic Sans MS"/>
                <a:sym typeface="Comic Sans MS"/>
              </a:rPr>
              <a:t> </a:t>
            </a:r>
            <a:r>
              <a:rPr lang="en-US" sz="1800" b="1">
                <a:solidFill>
                  <a:srgbClr val="000000"/>
                </a:solidFill>
                <a:latin typeface="Courier New"/>
                <a:ea typeface="Courier New"/>
                <a:cs typeface="Courier New"/>
                <a:sym typeface="Courier New"/>
              </a:rPr>
              <a:t>hostid</a:t>
            </a:r>
            <a:r>
              <a:rPr lang="en-US" sz="2400">
                <a:solidFill>
                  <a:srgbClr val="000000"/>
                </a:solidFill>
                <a:latin typeface="Gill Sans"/>
                <a:ea typeface="Gill Sans"/>
                <a:cs typeface="Gill Sans"/>
                <a:sym typeface="Gill Sans"/>
              </a:rPr>
              <a:t>)</a:t>
            </a:r>
            <a:endParaRPr/>
          </a:p>
        </p:txBody>
      </p:sp>
      <p:sp>
        <p:nvSpPr>
          <p:cNvPr id="928" name="Google Shape;928;p38"/>
          <p:cNvSpPr txBox="1"/>
          <p:nvPr/>
        </p:nvSpPr>
        <p:spPr>
          <a:xfrm>
            <a:off x="6935789" y="1135063"/>
            <a:ext cx="962025" cy="51911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client</a:t>
            </a:r>
            <a:endParaRPr/>
          </a:p>
        </p:txBody>
      </p:sp>
      <p:grpSp>
        <p:nvGrpSpPr>
          <p:cNvPr id="929" name="Google Shape;929;p38"/>
          <p:cNvGrpSpPr/>
          <p:nvPr/>
        </p:nvGrpSpPr>
        <p:grpSpPr>
          <a:xfrm>
            <a:off x="4502151" y="3808413"/>
            <a:ext cx="4062413" cy="1371600"/>
            <a:chOff x="1848" y="2526"/>
            <a:chExt cx="2559" cy="864"/>
          </a:xfrm>
        </p:grpSpPr>
        <p:cxnSp>
          <p:nvCxnSpPr>
            <p:cNvPr id="930" name="Google Shape;930;p38"/>
            <p:cNvCxnSpPr/>
            <p:nvPr/>
          </p:nvCxnSpPr>
          <p:spPr>
            <a:xfrm flipH="1">
              <a:off x="3792" y="2964"/>
              <a:ext cx="6" cy="426"/>
            </a:xfrm>
            <a:prstGeom prst="straightConnector1">
              <a:avLst/>
            </a:prstGeom>
            <a:noFill/>
            <a:ln w="28575" cap="flat" cmpd="sng">
              <a:solidFill>
                <a:srgbClr val="000099"/>
              </a:solidFill>
              <a:prstDash val="solid"/>
              <a:round/>
              <a:headEnd type="none" w="med" len="med"/>
              <a:tailEnd type="triangle" w="med" len="med"/>
            </a:ln>
          </p:spPr>
        </p:cxnSp>
        <p:grpSp>
          <p:nvGrpSpPr>
            <p:cNvPr id="931" name="Google Shape;931;p38"/>
            <p:cNvGrpSpPr/>
            <p:nvPr/>
          </p:nvGrpSpPr>
          <p:grpSpPr>
            <a:xfrm>
              <a:off x="1848" y="2526"/>
              <a:ext cx="2559" cy="516"/>
              <a:chOff x="1848" y="2526"/>
              <a:chExt cx="2559" cy="516"/>
            </a:xfrm>
          </p:grpSpPr>
          <p:sp>
            <p:nvSpPr>
              <p:cNvPr id="932" name="Google Shape;932;p38"/>
              <p:cNvSpPr txBox="1"/>
              <p:nvPr/>
            </p:nvSpPr>
            <p:spPr>
              <a:xfrm>
                <a:off x="3335" y="2673"/>
                <a:ext cx="1072"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send request using</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933" name="Google Shape;933;p38"/>
              <p:cNvCxnSpPr/>
              <p:nvPr/>
            </p:nvCxnSpPr>
            <p:spPr>
              <a:xfrm>
                <a:off x="3792" y="2526"/>
                <a:ext cx="0" cy="204"/>
              </a:xfrm>
              <a:prstGeom prst="straightConnector1">
                <a:avLst/>
              </a:prstGeom>
              <a:noFill/>
              <a:ln w="28575" cap="flat" cmpd="sng">
                <a:solidFill>
                  <a:srgbClr val="000099"/>
                </a:solidFill>
                <a:prstDash val="solid"/>
                <a:round/>
                <a:headEnd type="none" w="med" len="med"/>
                <a:tailEnd type="triangle" w="med" len="med"/>
              </a:ln>
            </p:spPr>
          </p:cxnSp>
          <p:cxnSp>
            <p:nvCxnSpPr>
              <p:cNvPr id="934" name="Google Shape;934;p38"/>
              <p:cNvCxnSpPr/>
              <p:nvPr/>
            </p:nvCxnSpPr>
            <p:spPr>
              <a:xfrm flipH="1">
                <a:off x="1848" y="2790"/>
                <a:ext cx="1518" cy="252"/>
              </a:xfrm>
              <a:prstGeom prst="straightConnector1">
                <a:avLst/>
              </a:prstGeom>
              <a:noFill/>
              <a:ln w="28575" cap="flat" cmpd="sng">
                <a:solidFill>
                  <a:srgbClr val="CC0000"/>
                </a:solidFill>
                <a:prstDash val="solid"/>
                <a:round/>
                <a:headEnd type="none" w="med" len="med"/>
                <a:tailEnd type="triangle" w="med" len="med"/>
              </a:ln>
            </p:spPr>
          </p:cxnSp>
        </p:grpSp>
      </p:grpSp>
      <p:grpSp>
        <p:nvGrpSpPr>
          <p:cNvPr id="935" name="Google Shape;935;p38"/>
          <p:cNvGrpSpPr/>
          <p:nvPr/>
        </p:nvGrpSpPr>
        <p:grpSpPr>
          <a:xfrm>
            <a:off x="2871789" y="3903663"/>
            <a:ext cx="4097337" cy="1490662"/>
            <a:chOff x="821" y="2586"/>
            <a:chExt cx="2581" cy="939"/>
          </a:xfrm>
        </p:grpSpPr>
        <p:sp>
          <p:nvSpPr>
            <p:cNvPr id="936" name="Google Shape;936;p38"/>
            <p:cNvSpPr txBox="1"/>
            <p:nvPr/>
          </p:nvSpPr>
          <p:spPr>
            <a:xfrm>
              <a:off x="821" y="2787"/>
              <a:ext cx="1013"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request from</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a:t>
              </a:r>
              <a:r>
                <a:rPr lang="en-US" sz="1400">
                  <a:solidFill>
                    <a:srgbClr val="FF0000"/>
                  </a:solidFill>
                  <a:latin typeface="Arial"/>
                  <a:ea typeface="Arial"/>
                  <a:cs typeface="Arial"/>
                  <a:sym typeface="Arial"/>
                </a:rPr>
                <a:t>t</a:t>
              </a:r>
              <a:endParaRPr sz="2400">
                <a:solidFill>
                  <a:srgbClr val="000000"/>
                </a:solidFill>
                <a:latin typeface="Times New Roman"/>
                <a:ea typeface="Times New Roman"/>
                <a:cs typeface="Times New Roman"/>
                <a:sym typeface="Times New Roman"/>
              </a:endParaRPr>
            </a:p>
          </p:txBody>
        </p:sp>
        <p:sp>
          <p:nvSpPr>
            <p:cNvPr id="937" name="Google Shape;937;p38"/>
            <p:cNvSpPr txBox="1"/>
            <p:nvPr/>
          </p:nvSpPr>
          <p:spPr>
            <a:xfrm>
              <a:off x="851" y="3195"/>
              <a:ext cx="1013"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write reply to</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938" name="Google Shape;938;p38"/>
            <p:cNvCxnSpPr/>
            <p:nvPr/>
          </p:nvCxnSpPr>
          <p:spPr>
            <a:xfrm>
              <a:off x="1278" y="2586"/>
              <a:ext cx="0" cy="240"/>
            </a:xfrm>
            <a:prstGeom prst="straightConnector1">
              <a:avLst/>
            </a:prstGeom>
            <a:noFill/>
            <a:ln w="28575" cap="flat" cmpd="sng">
              <a:solidFill>
                <a:srgbClr val="000099"/>
              </a:solidFill>
              <a:prstDash val="solid"/>
              <a:round/>
              <a:headEnd type="none" w="med" len="med"/>
              <a:tailEnd type="triangle" w="med" len="med"/>
            </a:ln>
          </p:spPr>
        </p:cxnSp>
        <p:cxnSp>
          <p:nvCxnSpPr>
            <p:cNvPr id="939" name="Google Shape;939;p38"/>
            <p:cNvCxnSpPr/>
            <p:nvPr/>
          </p:nvCxnSpPr>
          <p:spPr>
            <a:xfrm flipH="1">
              <a:off x="1284" y="3090"/>
              <a:ext cx="6" cy="156"/>
            </a:xfrm>
            <a:prstGeom prst="straightConnector1">
              <a:avLst/>
            </a:prstGeom>
            <a:noFill/>
            <a:ln w="28575" cap="flat" cmpd="sng">
              <a:solidFill>
                <a:srgbClr val="000099"/>
              </a:solidFill>
              <a:prstDash val="solid"/>
              <a:round/>
              <a:headEnd type="none" w="med" len="med"/>
              <a:tailEnd type="triangle" w="med" len="med"/>
            </a:ln>
          </p:spPr>
        </p:cxnSp>
        <p:cxnSp>
          <p:nvCxnSpPr>
            <p:cNvPr id="940" name="Google Shape;940;p38"/>
            <p:cNvCxnSpPr/>
            <p:nvPr/>
          </p:nvCxnSpPr>
          <p:spPr>
            <a:xfrm>
              <a:off x="1866" y="3306"/>
              <a:ext cx="1536" cy="180"/>
            </a:xfrm>
            <a:prstGeom prst="straightConnector1">
              <a:avLst/>
            </a:prstGeom>
            <a:noFill/>
            <a:ln w="28575" cap="flat" cmpd="sng">
              <a:solidFill>
                <a:srgbClr val="CC0000"/>
              </a:solidFill>
              <a:prstDash val="solid"/>
              <a:round/>
              <a:headEnd type="none" w="med" len="med"/>
              <a:tailEnd type="triangle" w="med" len="med"/>
            </a:ln>
          </p:spPr>
        </p:cxnSp>
      </p:grpSp>
      <p:cxnSp>
        <p:nvCxnSpPr>
          <p:cNvPr id="941" name="Google Shape;941;p38"/>
          <p:cNvCxnSpPr/>
          <p:nvPr/>
        </p:nvCxnSpPr>
        <p:spPr>
          <a:xfrm>
            <a:off x="2328864" y="1589088"/>
            <a:ext cx="3341687" cy="0"/>
          </a:xfrm>
          <a:prstGeom prst="straightConnector1">
            <a:avLst/>
          </a:prstGeom>
          <a:noFill/>
          <a:ln w="19050" cap="flat" cmpd="sng">
            <a:solidFill>
              <a:srgbClr val="CC0000"/>
            </a:solidFill>
            <a:prstDash val="solid"/>
            <a:round/>
            <a:headEnd type="none" w="med" len="med"/>
            <a:tailEnd type="none" w="med" len="med"/>
          </a:ln>
        </p:spPr>
      </p:cxnSp>
      <p:grpSp>
        <p:nvGrpSpPr>
          <p:cNvPr id="942" name="Google Shape;942;p38"/>
          <p:cNvGrpSpPr/>
          <p:nvPr/>
        </p:nvGrpSpPr>
        <p:grpSpPr>
          <a:xfrm>
            <a:off x="4491039" y="3103564"/>
            <a:ext cx="2200275" cy="587375"/>
            <a:chOff x="3043" y="1189"/>
            <a:chExt cx="1386" cy="370"/>
          </a:xfrm>
        </p:grpSpPr>
        <p:cxnSp>
          <p:nvCxnSpPr>
            <p:cNvPr id="943" name="Google Shape;943;p38"/>
            <p:cNvCxnSpPr/>
            <p:nvPr/>
          </p:nvCxnSpPr>
          <p:spPr>
            <a:xfrm>
              <a:off x="3043" y="1372"/>
              <a:ext cx="1386" cy="0"/>
            </a:xfrm>
            <a:prstGeom prst="straightConnector1">
              <a:avLst/>
            </a:prstGeom>
            <a:noFill/>
            <a:ln w="38100" cap="flat" cmpd="sng">
              <a:solidFill>
                <a:srgbClr val="CC0000"/>
              </a:solidFill>
              <a:prstDash val="dash"/>
              <a:round/>
              <a:headEnd type="triangle" w="med" len="med"/>
              <a:tailEnd type="triangle" w="med" len="med"/>
            </a:ln>
          </p:spPr>
        </p:cxnSp>
        <p:sp>
          <p:nvSpPr>
            <p:cNvPr id="944" name="Google Shape;944;p38"/>
            <p:cNvSpPr txBox="1"/>
            <p:nvPr/>
          </p:nvSpPr>
          <p:spPr>
            <a:xfrm>
              <a:off x="3106" y="1189"/>
              <a:ext cx="1204" cy="370"/>
            </a:xfrm>
            <a:prstGeom prst="rect">
              <a:avLst/>
            </a:prstGeom>
            <a:noFill/>
            <a:ln>
              <a:noFill/>
            </a:ln>
          </p:spPr>
          <p:txBody>
            <a:bodyPr spcFirstLastPara="1" wrap="square" lIns="91425" tIns="45700" rIns="91425" bIns="45700" anchor="ctr" anchorCtr="0">
              <a:spAutoFit/>
            </a:bodyPr>
            <a:lstStyle/>
            <a:p>
              <a:pPr marL="0" marR="0" lvl="0" indent="0" algn="ctr" rtl="0">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TCP </a:t>
              </a:r>
              <a:endParaRPr/>
            </a:p>
            <a:p>
              <a:pPr marL="0" marR="0" lvl="0" indent="0" algn="ctr" rtl="0">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connection setup</a:t>
              </a:r>
              <a:endParaRPr sz="2400">
                <a:solidFill>
                  <a:srgbClr val="CC0000"/>
                </a:solidFill>
                <a:latin typeface="Arial"/>
                <a:ea typeface="Arial"/>
                <a:cs typeface="Arial"/>
                <a:sym typeface="Arial"/>
              </a:endParaRPr>
            </a:p>
          </p:txBody>
        </p:sp>
      </p:grpSp>
      <p:cxnSp>
        <p:nvCxnSpPr>
          <p:cNvPr id="945" name="Google Shape;945;p38"/>
          <p:cNvCxnSpPr/>
          <p:nvPr/>
        </p:nvCxnSpPr>
        <p:spPr>
          <a:xfrm>
            <a:off x="7069139" y="1600200"/>
            <a:ext cx="676275" cy="0"/>
          </a:xfrm>
          <a:prstGeom prst="straightConnector1">
            <a:avLst/>
          </a:prstGeom>
          <a:noFill/>
          <a:ln w="19050" cap="flat" cmpd="sng">
            <a:solidFill>
              <a:srgbClr val="CC0000"/>
            </a:solidFill>
            <a:prstDash val="solid"/>
            <a:round/>
            <a:headEnd type="none" w="med" len="med"/>
            <a:tailEnd type="none" w="med" len="med"/>
          </a:ln>
        </p:spPr>
      </p:cxnSp>
      <p:grpSp>
        <p:nvGrpSpPr>
          <p:cNvPr id="946" name="Google Shape;946;p38"/>
          <p:cNvGrpSpPr/>
          <p:nvPr/>
        </p:nvGrpSpPr>
        <p:grpSpPr>
          <a:xfrm>
            <a:off x="2822576" y="4310062"/>
            <a:ext cx="5457825" cy="1895475"/>
            <a:chOff x="832" y="2750"/>
            <a:chExt cx="3438" cy="1194"/>
          </a:xfrm>
        </p:grpSpPr>
        <p:sp>
          <p:nvSpPr>
            <p:cNvPr id="947" name="Google Shape;947;p38"/>
            <p:cNvSpPr txBox="1"/>
            <p:nvPr/>
          </p:nvSpPr>
          <p:spPr>
            <a:xfrm>
              <a:off x="867" y="3512"/>
              <a:ext cx="1013"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948" name="Google Shape;948;p38"/>
            <p:cNvCxnSpPr/>
            <p:nvPr/>
          </p:nvCxnSpPr>
          <p:spPr>
            <a:xfrm>
              <a:off x="1318" y="3437"/>
              <a:ext cx="0" cy="204"/>
            </a:xfrm>
            <a:prstGeom prst="straightConnector1">
              <a:avLst/>
            </a:prstGeom>
            <a:noFill/>
            <a:ln w="28575" cap="flat" cmpd="sng">
              <a:solidFill>
                <a:srgbClr val="000099"/>
              </a:solidFill>
              <a:prstDash val="solid"/>
              <a:round/>
              <a:headEnd type="none" w="med" len="med"/>
              <a:tailEnd type="triangle" w="med" len="med"/>
            </a:ln>
          </p:spPr>
        </p:cxnSp>
        <p:sp>
          <p:nvSpPr>
            <p:cNvPr id="949" name="Google Shape;949;p38"/>
            <p:cNvSpPr/>
            <p:nvPr/>
          </p:nvSpPr>
          <p:spPr>
            <a:xfrm>
              <a:off x="832" y="2750"/>
              <a:ext cx="492" cy="233"/>
            </a:xfrm>
            <a:custGeom>
              <a:avLst/>
              <a:gdLst/>
              <a:ahLst/>
              <a:cxnLst/>
              <a:rect l="l" t="t" r="r" b="b"/>
              <a:pathLst>
                <a:path w="492" h="2112" extrusionOk="0">
                  <a:moveTo>
                    <a:pt x="492" y="1968"/>
                  </a:moveTo>
                  <a:lnTo>
                    <a:pt x="492" y="2112"/>
                  </a:lnTo>
                  <a:lnTo>
                    <a:pt x="0" y="2112"/>
                  </a:lnTo>
                  <a:lnTo>
                    <a:pt x="0" y="0"/>
                  </a:lnTo>
                  <a:lnTo>
                    <a:pt x="402" y="0"/>
                  </a:lnTo>
                </a:path>
              </a:pathLst>
            </a:custGeom>
            <a:noFill/>
            <a:ln w="28575" cap="flat" cmpd="sng">
              <a:solidFill>
                <a:srgbClr val="000099"/>
              </a:solidFill>
              <a:prstDash val="solid"/>
              <a:round/>
              <a:headEnd type="none" w="med" len="med"/>
              <a:tailEnd type="triangle" w="med" len="med"/>
            </a:ln>
          </p:spPr>
          <p:txBody>
            <a:bodyPr spcFirstLastPara="1" wrap="square" lIns="91425" tIns="45700" rIns="91425" bIns="45700" anchor="ctr"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grpSp>
          <p:nvGrpSpPr>
            <p:cNvPr id="950" name="Google Shape;950;p38"/>
            <p:cNvGrpSpPr/>
            <p:nvPr/>
          </p:nvGrpSpPr>
          <p:grpSpPr>
            <a:xfrm>
              <a:off x="3393" y="3248"/>
              <a:ext cx="877" cy="696"/>
              <a:chOff x="3365" y="3375"/>
              <a:chExt cx="877" cy="696"/>
            </a:xfrm>
          </p:grpSpPr>
          <p:sp>
            <p:nvSpPr>
              <p:cNvPr id="951" name="Google Shape;951;p38"/>
              <p:cNvSpPr txBox="1"/>
              <p:nvPr/>
            </p:nvSpPr>
            <p:spPr>
              <a:xfrm>
                <a:off x="3365" y="3375"/>
                <a:ext cx="877"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reply from</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sp>
            <p:nvSpPr>
              <p:cNvPr id="952" name="Google Shape;952;p38"/>
              <p:cNvSpPr txBox="1"/>
              <p:nvPr/>
            </p:nvSpPr>
            <p:spPr>
              <a:xfrm>
                <a:off x="3389" y="3741"/>
                <a:ext cx="730" cy="33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marL="0" marR="0" lvl="0" indent="0" algn="l" rtl="0">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953" name="Google Shape;953;p38"/>
              <p:cNvCxnSpPr/>
              <p:nvPr/>
            </p:nvCxnSpPr>
            <p:spPr>
              <a:xfrm>
                <a:off x="3816" y="3690"/>
                <a:ext cx="0" cy="204"/>
              </a:xfrm>
              <a:prstGeom prst="straightConnector1">
                <a:avLst/>
              </a:prstGeom>
              <a:noFill/>
              <a:ln w="28575" cap="flat" cmpd="sng">
                <a:solidFill>
                  <a:srgbClr val="000099"/>
                </a:solidFill>
                <a:prstDash val="solid"/>
                <a:round/>
                <a:headEnd type="none" w="med" len="med"/>
                <a:tailEnd type="triangle" w="med" len="med"/>
              </a:ln>
            </p:spPr>
          </p:cxnSp>
        </p:grpSp>
      </p:grpSp>
      <p:sp>
        <p:nvSpPr>
          <p:cNvPr id="954" name="Google Shape;954;p38"/>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38</a:t>
            </a:fld>
            <a:endParaRPr sz="1200">
              <a:solidFill>
                <a:schemeClr val="dk1"/>
              </a:solidFill>
              <a:latin typeface="Comic Sans MS"/>
              <a:ea typeface="Comic Sans MS"/>
              <a:cs typeface="Comic Sans MS"/>
              <a:sym typeface="Comic Sans MS"/>
            </a:endParaRPr>
          </a:p>
        </p:txBody>
      </p:sp>
      <p:sp>
        <p:nvSpPr>
          <p:cNvPr id="955" name="Google Shape;955;p38"/>
          <p:cNvSpPr txBox="1">
            <a:spLocks noGrp="1"/>
          </p:cNvSpPr>
          <p:nvPr>
            <p:ph type="ftr" idx="11"/>
          </p:nvPr>
        </p:nvSpPr>
        <p:spPr>
          <a:xfrm>
            <a:off x="4572000" y="6248400"/>
            <a:ext cx="3505200" cy="457200"/>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200">
                <a:solidFill>
                  <a:srgbClr val="757575"/>
                </a:solidFill>
                <a:latin typeface="Arial"/>
                <a:ea typeface="Arial"/>
                <a:cs typeface="Arial"/>
                <a:sym typeface="Arial"/>
              </a:rPr>
              <a:t>CSci4211:                    Socket Programming</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19"/>
                                        </p:tgtEl>
                                        <p:attrNameLst>
                                          <p:attrName>style.visibility</p:attrName>
                                        </p:attrNameLst>
                                      </p:cBhvr>
                                      <p:to>
                                        <p:strVal val="visible"/>
                                      </p:to>
                                    </p:set>
                                    <p:animEffect transition="in" filter="fade">
                                      <p:cBhvr>
                                        <p:cTn id="7" dur="500"/>
                                        <p:tgtEl>
                                          <p:spTgt spid="9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16"/>
                                        </p:tgtEl>
                                        <p:attrNameLst>
                                          <p:attrName>style.visibility</p:attrName>
                                        </p:attrNameLst>
                                      </p:cBhvr>
                                      <p:to>
                                        <p:strVal val="visible"/>
                                      </p:to>
                                    </p:set>
                                    <p:animEffect transition="in" filter="fade">
                                      <p:cBhvr>
                                        <p:cTn id="12" dur="500"/>
                                        <p:tgtEl>
                                          <p:spTgt spid="9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24"/>
                                        </p:tgtEl>
                                        <p:attrNameLst>
                                          <p:attrName>style.visibility</p:attrName>
                                        </p:attrNameLst>
                                      </p:cBhvr>
                                      <p:to>
                                        <p:strVal val="visible"/>
                                      </p:to>
                                    </p:set>
                                    <p:animEffect transition="in" filter="fade">
                                      <p:cBhvr>
                                        <p:cTn id="17" dur="500"/>
                                        <p:tgtEl>
                                          <p:spTgt spid="9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42"/>
                                        </p:tgtEl>
                                        <p:attrNameLst>
                                          <p:attrName>style.visibility</p:attrName>
                                        </p:attrNameLst>
                                      </p:cBhvr>
                                      <p:to>
                                        <p:strVal val="visible"/>
                                      </p:to>
                                    </p:set>
                                    <p:animEffect transition="in" filter="fade">
                                      <p:cBhvr>
                                        <p:cTn id="22" dur="500"/>
                                        <p:tgtEl>
                                          <p:spTgt spid="9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942"/>
                                        </p:tgtEl>
                                      </p:cBhvr>
                                    </p:animEffect>
                                    <p:set>
                                      <p:cBhvr>
                                        <p:cTn id="27" dur="1" fill="hold">
                                          <p:stCondLst>
                                            <p:cond delay="500"/>
                                          </p:stCondLst>
                                        </p:cTn>
                                        <p:tgtEl>
                                          <p:spTgt spid="942"/>
                                        </p:tgtEl>
                                        <p:attrNameLst>
                                          <p:attrName>style.visibility</p:attrName>
                                        </p:attrNameLst>
                                      </p:cBhvr>
                                      <p:to>
                                        <p:strVal val="hidden"/>
                                      </p:to>
                                    </p:set>
                                  </p:childTnLst>
                                </p:cTn>
                              </p:par>
                              <p:par>
                                <p:cTn id="28" presetID="10" presetClass="entr" presetSubtype="0" fill="hold" nodeType="withEffect">
                                  <p:stCondLst>
                                    <p:cond delay="0"/>
                                  </p:stCondLst>
                                  <p:childTnLst>
                                    <p:set>
                                      <p:cBhvr>
                                        <p:cTn id="29" dur="1" fill="hold">
                                          <p:stCondLst>
                                            <p:cond delay="0"/>
                                          </p:stCondLst>
                                        </p:cTn>
                                        <p:tgtEl>
                                          <p:spTgt spid="929"/>
                                        </p:tgtEl>
                                        <p:attrNameLst>
                                          <p:attrName>style.visibility</p:attrName>
                                        </p:attrNameLst>
                                      </p:cBhvr>
                                      <p:to>
                                        <p:strVal val="visible"/>
                                      </p:to>
                                    </p:set>
                                    <p:animEffect transition="in" filter="fade">
                                      <p:cBhvr>
                                        <p:cTn id="30" dur="500"/>
                                        <p:tgtEl>
                                          <p:spTgt spid="9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35"/>
                                        </p:tgtEl>
                                        <p:attrNameLst>
                                          <p:attrName>style.visibility</p:attrName>
                                        </p:attrNameLst>
                                      </p:cBhvr>
                                      <p:to>
                                        <p:strVal val="visible"/>
                                      </p:to>
                                    </p:set>
                                    <p:animEffect transition="in" filter="fade">
                                      <p:cBhvr>
                                        <p:cTn id="35" dur="500"/>
                                        <p:tgtEl>
                                          <p:spTgt spid="93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46"/>
                                        </p:tgtEl>
                                        <p:attrNameLst>
                                          <p:attrName>style.visibility</p:attrName>
                                        </p:attrNameLst>
                                      </p:cBhvr>
                                      <p:to>
                                        <p:strVal val="visible"/>
                                      </p:to>
                                    </p:set>
                                    <p:animEffect transition="in" filter="fade">
                                      <p:cBhvr>
                                        <p:cTn id="40" dur="500"/>
                                        <p:tgtEl>
                                          <p:spTgt spid="9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59"/>
        <p:cNvGrpSpPr/>
        <p:nvPr/>
      </p:nvGrpSpPr>
      <p:grpSpPr>
        <a:xfrm>
          <a:off x="0" y="0"/>
          <a:ext cx="0" cy="0"/>
          <a:chOff x="0" y="0"/>
          <a:chExt cx="0" cy="0"/>
        </a:xfrm>
      </p:grpSpPr>
      <p:pic>
        <p:nvPicPr>
          <p:cNvPr id="960" name="Google Shape;960;p39" descr="TCP socket flow"/>
          <p:cNvPicPr preferRelativeResize="0">
            <a:picLocks noGrp="1"/>
          </p:cNvPicPr>
          <p:nvPr>
            <p:ph type="body" idx="1"/>
          </p:nvPr>
        </p:nvPicPr>
        <p:blipFill rotWithShape="1">
          <a:blip r:embed="rId3">
            <a:alphaModFix/>
          </a:blip>
          <a:srcRect/>
          <a:stretch/>
        </p:blipFill>
        <p:spPr>
          <a:xfrm>
            <a:off x="3623839" y="643466"/>
            <a:ext cx="4944321" cy="557106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40"/>
          <p:cNvSpPr/>
          <p:nvPr/>
        </p:nvSpPr>
        <p:spPr>
          <a:xfrm>
            <a:off x="1946275" y="88900"/>
            <a:ext cx="7772400" cy="947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TCP server</a:t>
            </a:r>
            <a:endParaRPr sz="4400">
              <a:solidFill>
                <a:srgbClr val="000099"/>
              </a:solidFill>
              <a:latin typeface="Comic Sans MS"/>
              <a:ea typeface="Comic Sans MS"/>
              <a:cs typeface="Comic Sans MS"/>
              <a:sym typeface="Comic Sans MS"/>
            </a:endParaRPr>
          </a:p>
        </p:txBody>
      </p:sp>
      <p:sp>
        <p:nvSpPr>
          <p:cNvPr id="966" name="Google Shape;966;p40"/>
          <p:cNvSpPr txBox="1"/>
          <p:nvPr/>
        </p:nvSpPr>
        <p:spPr>
          <a:xfrm>
            <a:off x="4241800" y="957263"/>
            <a:ext cx="2827338" cy="4619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Arial"/>
              <a:buNone/>
            </a:pPr>
            <a:r>
              <a:rPr lang="en-US" sz="2400" i="1">
                <a:solidFill>
                  <a:srgbClr val="CC0000"/>
                </a:solidFill>
                <a:latin typeface="Arial"/>
                <a:ea typeface="Arial"/>
                <a:cs typeface="Arial"/>
                <a:sym typeface="Arial"/>
              </a:rPr>
              <a:t>Python TCPServer</a:t>
            </a:r>
            <a:endParaRPr/>
          </a:p>
        </p:txBody>
      </p:sp>
      <p:grpSp>
        <p:nvGrpSpPr>
          <p:cNvPr id="967" name="Google Shape;967;p40"/>
          <p:cNvGrpSpPr/>
          <p:nvPr/>
        </p:nvGrpSpPr>
        <p:grpSpPr>
          <a:xfrm>
            <a:off x="1676400" y="1871662"/>
            <a:ext cx="2559050" cy="523220"/>
            <a:chOff x="151614" y="2173972"/>
            <a:chExt cx="2559082" cy="522825"/>
          </a:xfrm>
        </p:grpSpPr>
        <p:sp>
          <p:nvSpPr>
            <p:cNvPr id="968" name="Google Shape;968;p40"/>
            <p:cNvSpPr txBox="1"/>
            <p:nvPr/>
          </p:nvSpPr>
          <p:spPr>
            <a:xfrm>
              <a:off x="151614" y="2173972"/>
              <a:ext cx="2559082" cy="52282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TCP welcoming</a:t>
              </a:r>
              <a:endParaRPr/>
            </a:p>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socket</a:t>
              </a:r>
              <a:endParaRPr/>
            </a:p>
          </p:txBody>
        </p:sp>
        <p:cxnSp>
          <p:nvCxnSpPr>
            <p:cNvPr id="969" name="Google Shape;969;p40"/>
            <p:cNvCxnSpPr/>
            <p:nvPr/>
          </p:nvCxnSpPr>
          <p:spPr>
            <a:xfrm>
              <a:off x="1695045" y="2596011"/>
              <a:ext cx="930227" cy="1139"/>
            </a:xfrm>
            <a:prstGeom prst="straightConnector1">
              <a:avLst/>
            </a:prstGeom>
            <a:noFill/>
            <a:ln w="12700" cap="flat" cmpd="sng">
              <a:solidFill>
                <a:srgbClr val="CC0000"/>
              </a:solidFill>
              <a:prstDash val="solid"/>
              <a:round/>
              <a:headEnd type="none" w="med" len="med"/>
              <a:tailEnd type="triangle" w="med" len="med"/>
            </a:ln>
          </p:spPr>
        </p:cxnSp>
      </p:grpSp>
      <p:grpSp>
        <p:nvGrpSpPr>
          <p:cNvPr id="970" name="Google Shape;970;p40"/>
          <p:cNvGrpSpPr/>
          <p:nvPr/>
        </p:nvGrpSpPr>
        <p:grpSpPr>
          <a:xfrm>
            <a:off x="1655763" y="2600326"/>
            <a:ext cx="2540000" cy="523875"/>
            <a:chOff x="169076" y="2884812"/>
            <a:chExt cx="2541127" cy="523220"/>
          </a:xfrm>
        </p:grpSpPr>
        <p:sp>
          <p:nvSpPr>
            <p:cNvPr id="971" name="Google Shape;971;p40"/>
            <p:cNvSpPr txBox="1"/>
            <p:nvPr/>
          </p:nvSpPr>
          <p:spPr>
            <a:xfrm>
              <a:off x="169076" y="2884812"/>
              <a:ext cx="22718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server begins listening for  incoming TCP requests</a:t>
              </a:r>
              <a:endParaRPr/>
            </a:p>
          </p:txBody>
        </p:sp>
        <p:cxnSp>
          <p:nvCxnSpPr>
            <p:cNvPr id="972" name="Google Shape;972;p40"/>
            <p:cNvCxnSpPr/>
            <p:nvPr/>
          </p:nvCxnSpPr>
          <p:spPr>
            <a:xfrm>
              <a:off x="1982674" y="3169104"/>
              <a:ext cx="727529" cy="2721"/>
            </a:xfrm>
            <a:prstGeom prst="straightConnector1">
              <a:avLst/>
            </a:prstGeom>
            <a:noFill/>
            <a:ln w="12700" cap="flat" cmpd="sng">
              <a:solidFill>
                <a:srgbClr val="CC0000"/>
              </a:solidFill>
              <a:prstDash val="solid"/>
              <a:round/>
              <a:headEnd type="none" w="med" len="med"/>
              <a:tailEnd type="triangle" w="med" len="med"/>
            </a:ln>
          </p:spPr>
        </p:cxnSp>
      </p:grpSp>
      <p:grpSp>
        <p:nvGrpSpPr>
          <p:cNvPr id="973" name="Google Shape;973;p40"/>
          <p:cNvGrpSpPr/>
          <p:nvPr/>
        </p:nvGrpSpPr>
        <p:grpSpPr>
          <a:xfrm>
            <a:off x="1722438" y="3505198"/>
            <a:ext cx="2813050" cy="707886"/>
            <a:chOff x="380319" y="3965998"/>
            <a:chExt cx="2392469" cy="708084"/>
          </a:xfrm>
        </p:grpSpPr>
        <p:sp>
          <p:nvSpPr>
            <p:cNvPr id="974" name="Google Shape;974;p40"/>
            <p:cNvSpPr txBox="1"/>
            <p:nvPr/>
          </p:nvSpPr>
          <p:spPr>
            <a:xfrm>
              <a:off x="380319" y="3965998"/>
              <a:ext cx="2184910" cy="708084"/>
            </a:xfrm>
            <a:prstGeom prst="rect">
              <a:avLst/>
            </a:prstGeom>
            <a:noFill/>
            <a:ln>
              <a:noFill/>
            </a:ln>
          </p:spPr>
          <p:txBody>
            <a:bodyPr spcFirstLastPara="1" wrap="square" lIns="91425" tIns="45700" rIns="91425" bIns="45700" anchor="t" anchorCtr="0">
              <a:spAutoFit/>
            </a:bodyPr>
            <a:lstStyle/>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server waits on accept()</a:t>
              </a:r>
              <a:endParaRPr/>
            </a:p>
            <a:p>
              <a:pPr marL="0" marR="0" lvl="0" indent="0" algn="l" rtl="0">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for incoming requests, new socket created on return</a:t>
              </a:r>
              <a:endParaRPr/>
            </a:p>
          </p:txBody>
        </p:sp>
        <p:cxnSp>
          <p:nvCxnSpPr>
            <p:cNvPr id="975" name="Google Shape;975;p40"/>
            <p:cNvCxnSpPr/>
            <p:nvPr/>
          </p:nvCxnSpPr>
          <p:spPr>
            <a:xfrm rot="10800000" flipH="1">
              <a:off x="2231565" y="4229808"/>
              <a:ext cx="541223" cy="5869"/>
            </a:xfrm>
            <a:prstGeom prst="straightConnector1">
              <a:avLst/>
            </a:prstGeom>
            <a:noFill/>
            <a:ln w="12700" cap="flat" cmpd="sng">
              <a:solidFill>
                <a:srgbClr val="CC0000"/>
              </a:solidFill>
              <a:prstDash val="solid"/>
              <a:round/>
              <a:headEnd type="none" w="med" len="med"/>
              <a:tailEnd type="triangle" w="med" len="med"/>
            </a:ln>
          </p:spPr>
        </p:cxnSp>
      </p:grpSp>
      <p:grpSp>
        <p:nvGrpSpPr>
          <p:cNvPr id="976" name="Google Shape;976;p40"/>
          <p:cNvGrpSpPr/>
          <p:nvPr/>
        </p:nvGrpSpPr>
        <p:grpSpPr>
          <a:xfrm>
            <a:off x="1782764" y="4343401"/>
            <a:ext cx="2860675" cy="307975"/>
            <a:chOff x="316741" y="4661874"/>
            <a:chExt cx="2859521" cy="307940"/>
          </a:xfrm>
        </p:grpSpPr>
        <p:sp>
          <p:nvSpPr>
            <p:cNvPr id="977" name="Google Shape;977;p40"/>
            <p:cNvSpPr txBox="1"/>
            <p:nvPr/>
          </p:nvSpPr>
          <p:spPr>
            <a:xfrm>
              <a:off x="316741" y="4661874"/>
              <a:ext cx="2349500" cy="3079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bytes from socket </a:t>
              </a:r>
              <a:endParaRPr/>
            </a:p>
          </p:txBody>
        </p:sp>
        <p:cxnSp>
          <p:nvCxnSpPr>
            <p:cNvPr id="978" name="Google Shape;978;p40"/>
            <p:cNvCxnSpPr/>
            <p:nvPr/>
          </p:nvCxnSpPr>
          <p:spPr>
            <a:xfrm>
              <a:off x="1875609" y="4682209"/>
              <a:ext cx="1300653" cy="499"/>
            </a:xfrm>
            <a:prstGeom prst="straightConnector1">
              <a:avLst/>
            </a:prstGeom>
            <a:noFill/>
            <a:ln w="12700" cap="flat" cmpd="sng">
              <a:solidFill>
                <a:srgbClr val="CC0000"/>
              </a:solidFill>
              <a:prstDash val="solid"/>
              <a:round/>
              <a:headEnd type="none" w="med" len="med"/>
              <a:tailEnd type="triangle" w="med" len="med"/>
            </a:ln>
          </p:spPr>
        </p:cxnSp>
      </p:grpSp>
      <p:grpSp>
        <p:nvGrpSpPr>
          <p:cNvPr id="979" name="Google Shape;979;p40"/>
          <p:cNvGrpSpPr/>
          <p:nvPr/>
        </p:nvGrpSpPr>
        <p:grpSpPr>
          <a:xfrm>
            <a:off x="1651000" y="5434014"/>
            <a:ext cx="2878138" cy="738187"/>
            <a:chOff x="162014" y="5220379"/>
            <a:chExt cx="2878315" cy="738664"/>
          </a:xfrm>
        </p:grpSpPr>
        <p:sp>
          <p:nvSpPr>
            <p:cNvPr id="980" name="Google Shape;980;p40"/>
            <p:cNvSpPr txBox="1"/>
            <p:nvPr/>
          </p:nvSpPr>
          <p:spPr>
            <a:xfrm>
              <a:off x="162014" y="5220379"/>
              <a:ext cx="2349500" cy="7386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close connection to this client (but </a:t>
              </a:r>
              <a:r>
                <a:rPr lang="en-US" sz="1400" i="1">
                  <a:solidFill>
                    <a:srgbClr val="000099"/>
                  </a:solidFill>
                  <a:latin typeface="Arial"/>
                  <a:ea typeface="Arial"/>
                  <a:cs typeface="Arial"/>
                  <a:sym typeface="Arial"/>
                </a:rPr>
                <a:t>not</a:t>
              </a:r>
              <a:r>
                <a:rPr lang="en-US" sz="1400">
                  <a:solidFill>
                    <a:srgbClr val="000099"/>
                  </a:solidFill>
                  <a:latin typeface="Arial"/>
                  <a:ea typeface="Arial"/>
                  <a:cs typeface="Arial"/>
                  <a:sym typeface="Arial"/>
                </a:rPr>
                <a:t> welcoming socket)</a:t>
              </a:r>
              <a:endParaRPr/>
            </a:p>
          </p:txBody>
        </p:sp>
        <p:cxnSp>
          <p:nvCxnSpPr>
            <p:cNvPr id="981" name="Google Shape;981;p40"/>
            <p:cNvCxnSpPr/>
            <p:nvPr/>
          </p:nvCxnSpPr>
          <p:spPr>
            <a:xfrm>
              <a:off x="2184198" y="5377477"/>
              <a:ext cx="856131" cy="2269"/>
            </a:xfrm>
            <a:prstGeom prst="straightConnector1">
              <a:avLst/>
            </a:prstGeom>
            <a:noFill/>
            <a:ln w="12700" cap="flat" cmpd="sng">
              <a:solidFill>
                <a:srgbClr val="CC0000"/>
              </a:solidFill>
              <a:prstDash val="solid"/>
              <a:round/>
              <a:headEnd type="none" w="med" len="med"/>
              <a:tailEnd type="triangle" w="med" len="med"/>
            </a:ln>
          </p:spPr>
        </p:cxnSp>
      </p:grpSp>
      <p:sp>
        <p:nvSpPr>
          <p:cNvPr id="982" name="Google Shape;982;p40"/>
          <p:cNvSpPr txBox="1"/>
          <p:nvPr/>
        </p:nvSpPr>
        <p:spPr>
          <a:xfrm>
            <a:off x="4241801" y="1439864"/>
            <a:ext cx="6269665"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from socket import *</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 = socket(AF_INET,SOCK_STREAM)</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serverSocket.bind((‘’,serverPort))</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serverSocket.listen(1)</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print(‘The server is ready to receive’)</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while True:</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 addr = serverSocket.accept()</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sentence = connectionSocket.recv(1024).decode()</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capitalizedSentence = sentence.upper()</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connectionSocket.send(capitalizedSentence.</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encode())</a:t>
            </a:r>
            <a:endParaRPr/>
          </a:p>
          <a:p>
            <a:pPr marL="0" marR="0" lvl="0" indent="0" algn="l" rtl="0">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connectionSocket.close()</a:t>
            </a:r>
            <a:endParaRPr sz="1800">
              <a:solidFill>
                <a:schemeClr val="dk1"/>
              </a:solidFill>
              <a:latin typeface="Arial"/>
              <a:ea typeface="Arial"/>
              <a:cs typeface="Arial"/>
              <a:sym typeface="Arial"/>
            </a:endParaRPr>
          </a:p>
        </p:txBody>
      </p:sp>
      <p:sp>
        <p:nvSpPr>
          <p:cNvPr id="983" name="Google Shape;983;p40"/>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40</a:t>
            </a:fld>
            <a:endParaRPr sz="1200">
              <a:solidFill>
                <a:schemeClr val="dk1"/>
              </a:solidFill>
              <a:latin typeface="Comic Sans MS"/>
              <a:ea typeface="Comic Sans MS"/>
              <a:cs typeface="Comic Sans MS"/>
              <a:sym typeface="Comic Sans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67"/>
                                        </p:tgtEl>
                                        <p:attrNameLst>
                                          <p:attrName>style.visibility</p:attrName>
                                        </p:attrNameLst>
                                      </p:cBhvr>
                                      <p:to>
                                        <p:strVal val="visible"/>
                                      </p:to>
                                    </p:set>
                                    <p:animEffect transition="in" filter="fade">
                                      <p:cBhvr>
                                        <p:cTn id="7" dur="500"/>
                                        <p:tgtEl>
                                          <p:spTgt spid="96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500"/>
                                        <p:tgtEl>
                                          <p:spTgt spid="967"/>
                                        </p:tgtEl>
                                      </p:cBhvr>
                                    </p:animEffect>
                                    <p:set>
                                      <p:cBhvr>
                                        <p:cTn id="12" dur="1" fill="hold">
                                          <p:stCondLst>
                                            <p:cond delay="500"/>
                                          </p:stCondLst>
                                        </p:cTn>
                                        <p:tgtEl>
                                          <p:spTgt spid="967"/>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970"/>
                                        </p:tgtEl>
                                        <p:attrNameLst>
                                          <p:attrName>style.visibility</p:attrName>
                                        </p:attrNameLst>
                                      </p:cBhvr>
                                      <p:to>
                                        <p:strVal val="visible"/>
                                      </p:to>
                                    </p:set>
                                    <p:animEffect transition="in" filter="fade">
                                      <p:cBhvr>
                                        <p:cTn id="15" dur="500"/>
                                        <p:tgtEl>
                                          <p:spTgt spid="97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970"/>
                                        </p:tgtEl>
                                      </p:cBhvr>
                                    </p:animEffect>
                                    <p:set>
                                      <p:cBhvr>
                                        <p:cTn id="20" dur="1" fill="hold">
                                          <p:stCondLst>
                                            <p:cond delay="500"/>
                                          </p:stCondLst>
                                        </p:cTn>
                                        <p:tgtEl>
                                          <p:spTgt spid="970"/>
                                        </p:tgtEl>
                                        <p:attrNameLst>
                                          <p:attrName>style.visibility</p:attrName>
                                        </p:attrNameLst>
                                      </p:cBhvr>
                                      <p:to>
                                        <p:strVal val="hidden"/>
                                      </p:to>
                                    </p:set>
                                  </p:childTnLst>
                                </p:cTn>
                              </p:par>
                              <p:par>
                                <p:cTn id="21" presetID="10" presetClass="entr" presetSubtype="0" fill="hold" nodeType="withEffect">
                                  <p:stCondLst>
                                    <p:cond delay="0"/>
                                  </p:stCondLst>
                                  <p:childTnLst>
                                    <p:set>
                                      <p:cBhvr>
                                        <p:cTn id="22" dur="1" fill="hold">
                                          <p:stCondLst>
                                            <p:cond delay="0"/>
                                          </p:stCondLst>
                                        </p:cTn>
                                        <p:tgtEl>
                                          <p:spTgt spid="973"/>
                                        </p:tgtEl>
                                        <p:attrNameLst>
                                          <p:attrName>style.visibility</p:attrName>
                                        </p:attrNameLst>
                                      </p:cBhvr>
                                      <p:to>
                                        <p:strVal val="visible"/>
                                      </p:to>
                                    </p:set>
                                    <p:animEffect transition="in" filter="fade">
                                      <p:cBhvr>
                                        <p:cTn id="23" dur="500"/>
                                        <p:tgtEl>
                                          <p:spTgt spid="97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xit" presetSubtype="0" fill="hold" nodeType="clickEffect">
                                  <p:stCondLst>
                                    <p:cond delay="0"/>
                                  </p:stCondLst>
                                  <p:childTnLst>
                                    <p:animEffect transition="out" filter="fade">
                                      <p:cBhvr>
                                        <p:cTn id="27" dur="500"/>
                                        <p:tgtEl>
                                          <p:spTgt spid="973"/>
                                        </p:tgtEl>
                                      </p:cBhvr>
                                    </p:animEffect>
                                    <p:set>
                                      <p:cBhvr>
                                        <p:cTn id="28" dur="1" fill="hold">
                                          <p:stCondLst>
                                            <p:cond delay="500"/>
                                          </p:stCondLst>
                                        </p:cTn>
                                        <p:tgtEl>
                                          <p:spTgt spid="973"/>
                                        </p:tgtEl>
                                        <p:attrNameLst>
                                          <p:attrName>style.visibility</p:attrName>
                                        </p:attrNameLst>
                                      </p:cBhvr>
                                      <p:to>
                                        <p:strVal val="hidden"/>
                                      </p:to>
                                    </p:set>
                                  </p:childTnLst>
                                </p:cTn>
                              </p:par>
                              <p:par>
                                <p:cTn id="29" presetID="10" presetClass="entr" presetSubtype="0" fill="hold" nodeType="withEffect">
                                  <p:stCondLst>
                                    <p:cond delay="0"/>
                                  </p:stCondLst>
                                  <p:childTnLst>
                                    <p:set>
                                      <p:cBhvr>
                                        <p:cTn id="30" dur="1" fill="hold">
                                          <p:stCondLst>
                                            <p:cond delay="0"/>
                                          </p:stCondLst>
                                        </p:cTn>
                                        <p:tgtEl>
                                          <p:spTgt spid="976"/>
                                        </p:tgtEl>
                                        <p:attrNameLst>
                                          <p:attrName>style.visibility</p:attrName>
                                        </p:attrNameLst>
                                      </p:cBhvr>
                                      <p:to>
                                        <p:strVal val="visible"/>
                                      </p:to>
                                    </p:set>
                                    <p:animEffect transition="in" filter="fade">
                                      <p:cBhvr>
                                        <p:cTn id="31" dur="500"/>
                                        <p:tgtEl>
                                          <p:spTgt spid="97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xit" presetSubtype="0" fill="hold" nodeType="clickEffect">
                                  <p:stCondLst>
                                    <p:cond delay="0"/>
                                  </p:stCondLst>
                                  <p:childTnLst>
                                    <p:animEffect transition="out" filter="fade">
                                      <p:cBhvr>
                                        <p:cTn id="35" dur="500"/>
                                        <p:tgtEl>
                                          <p:spTgt spid="976"/>
                                        </p:tgtEl>
                                      </p:cBhvr>
                                    </p:animEffect>
                                    <p:set>
                                      <p:cBhvr>
                                        <p:cTn id="36" dur="1" fill="hold">
                                          <p:stCondLst>
                                            <p:cond delay="500"/>
                                          </p:stCondLst>
                                        </p:cTn>
                                        <p:tgtEl>
                                          <p:spTgt spid="976"/>
                                        </p:tgtEl>
                                        <p:attrNameLst>
                                          <p:attrName>style.visibility</p:attrName>
                                        </p:attrNameLst>
                                      </p:cBhvr>
                                      <p:to>
                                        <p:strVal val="hidden"/>
                                      </p:to>
                                    </p:set>
                                  </p:childTnLst>
                                </p:cTn>
                              </p:par>
                              <p:par>
                                <p:cTn id="37" presetID="10" presetClass="entr" presetSubtype="0" fill="hold" nodeType="withEffect">
                                  <p:stCondLst>
                                    <p:cond delay="0"/>
                                  </p:stCondLst>
                                  <p:childTnLst>
                                    <p:set>
                                      <p:cBhvr>
                                        <p:cTn id="38" dur="1" fill="hold">
                                          <p:stCondLst>
                                            <p:cond delay="0"/>
                                          </p:stCondLst>
                                        </p:cTn>
                                        <p:tgtEl>
                                          <p:spTgt spid="979"/>
                                        </p:tgtEl>
                                        <p:attrNameLst>
                                          <p:attrName>style.visibility</p:attrName>
                                        </p:attrNameLst>
                                      </p:cBhvr>
                                      <p:to>
                                        <p:strVal val="visible"/>
                                      </p:to>
                                    </p:set>
                                    <p:animEffect transition="in" filter="fade">
                                      <p:cBhvr>
                                        <p:cTn id="39" dur="500"/>
                                        <p:tgtEl>
                                          <p:spTgt spid="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serverSocket=socket(AF_INET,SOCK_STREAM)</a:t>
            </a:r>
            <a:endParaRPr/>
          </a:p>
        </p:txBody>
      </p:sp>
      <p:sp>
        <p:nvSpPr>
          <p:cNvPr id="989" name="Google Shape;989;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As with TCPClient, the server creates a TCP socket with the above line</a:t>
            </a:r>
            <a:endParaRPr/>
          </a:p>
          <a:p>
            <a:pPr marL="228600" lvl="0" indent="-228600" algn="l" rtl="0">
              <a:lnSpc>
                <a:spcPct val="90000"/>
              </a:lnSpc>
              <a:spcBef>
                <a:spcPts val="1000"/>
              </a:spcBef>
              <a:spcAft>
                <a:spcPts val="0"/>
              </a:spcAft>
              <a:buClr>
                <a:schemeClr val="dk1"/>
              </a:buClr>
              <a:buSzPts val="2800"/>
              <a:buChar char="•"/>
            </a:pPr>
            <a:r>
              <a:rPr lang="en-US"/>
              <a:t>Similar to UDPServer, we associate the server port number, serverPort, with this socket.</a:t>
            </a:r>
            <a:endParaRPr/>
          </a:p>
          <a:p>
            <a:pPr marL="228600" lvl="0" indent="-228600" algn="l" rtl="0">
              <a:lnSpc>
                <a:spcPct val="90000"/>
              </a:lnSpc>
              <a:spcBef>
                <a:spcPts val="1000"/>
              </a:spcBef>
              <a:spcAft>
                <a:spcPts val="0"/>
              </a:spcAft>
              <a:buClr>
                <a:schemeClr val="dk1"/>
              </a:buClr>
              <a:buSzPts val="2800"/>
              <a:buChar char="•"/>
            </a:pPr>
            <a:r>
              <a:rPr lang="en-US"/>
              <a:t>But with TCP, serverSocket will be our welcoming socket.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serverSocket.listen(1) </a:t>
            </a:r>
            <a:endParaRPr/>
          </a:p>
        </p:txBody>
      </p:sp>
      <p:sp>
        <p:nvSpPr>
          <p:cNvPr id="995" name="Google Shape;995;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After establishing this welcoming door, we will wait and listen for some client to knock on the door.</a:t>
            </a:r>
            <a:endParaRPr dirty="0"/>
          </a:p>
          <a:p>
            <a:pPr marL="228600" lvl="0" indent="-228600" algn="l" rtl="0">
              <a:lnSpc>
                <a:spcPct val="90000"/>
              </a:lnSpc>
              <a:spcBef>
                <a:spcPts val="1000"/>
              </a:spcBef>
              <a:spcAft>
                <a:spcPts val="0"/>
              </a:spcAft>
              <a:buClr>
                <a:schemeClr val="dk1"/>
              </a:buClr>
              <a:buSzPts val="2800"/>
              <a:buChar char="•"/>
            </a:pPr>
            <a:r>
              <a:rPr lang="en-US" dirty="0">
                <a:highlight>
                  <a:srgbClr val="FFFF00"/>
                </a:highlight>
              </a:rPr>
              <a:t>This line has the server listen for TCP connection requests from the client. The parameter specifies the maximum number of queued connections (at least 1).</a:t>
            </a:r>
            <a:endParaRPr dirty="0">
              <a:highlight>
                <a:srgbClr val="FFFF00"/>
              </a:highlight>
            </a:endParaRPr>
          </a:p>
          <a:p>
            <a:pPr marL="228600" lvl="0" indent="-50800" algn="l"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dirty="0" err="1">
                <a:highlight>
                  <a:srgbClr val="FFFF00"/>
                </a:highlight>
              </a:rPr>
              <a:t>connectionSocket</a:t>
            </a:r>
            <a:r>
              <a:rPr lang="en-US" dirty="0">
                <a:highlight>
                  <a:srgbClr val="FFFF00"/>
                </a:highlight>
              </a:rPr>
              <a:t>, </a:t>
            </a:r>
            <a:r>
              <a:rPr lang="en-US" dirty="0" err="1">
                <a:highlight>
                  <a:srgbClr val="FFFF00"/>
                </a:highlight>
              </a:rPr>
              <a:t>addr</a:t>
            </a:r>
            <a:r>
              <a:rPr lang="en-US" dirty="0">
                <a:highlight>
                  <a:srgbClr val="FFFF00"/>
                </a:highlight>
              </a:rPr>
              <a:t> = </a:t>
            </a:r>
            <a:r>
              <a:rPr lang="en-US" dirty="0" err="1">
                <a:highlight>
                  <a:srgbClr val="FFFF00"/>
                </a:highlight>
              </a:rPr>
              <a:t>serverSocket.accept</a:t>
            </a:r>
            <a:r>
              <a:rPr lang="en-US" dirty="0">
                <a:highlight>
                  <a:srgbClr val="FFFF00"/>
                </a:highlight>
              </a:rPr>
              <a:t>() </a:t>
            </a:r>
            <a:endParaRPr dirty="0">
              <a:highlight>
                <a:srgbClr val="FFFF00"/>
              </a:highlight>
            </a:endParaRPr>
          </a:p>
        </p:txBody>
      </p:sp>
      <p:sp>
        <p:nvSpPr>
          <p:cNvPr id="1001" name="Google Shape;1001;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When a client knocks on this door, the program invokes the </a:t>
            </a:r>
            <a:r>
              <a:rPr lang="en-US" i="1" dirty="0"/>
              <a:t>accept() </a:t>
            </a:r>
            <a:r>
              <a:rPr lang="en-US" dirty="0"/>
              <a:t>method for </a:t>
            </a:r>
            <a:r>
              <a:rPr lang="en-US" i="1" dirty="0" err="1"/>
              <a:t>serverSocket</a:t>
            </a:r>
            <a:r>
              <a:rPr lang="en-US" dirty="0"/>
              <a:t>, which creates a new socket in the server, called </a:t>
            </a:r>
            <a:r>
              <a:rPr lang="en-US" i="1" dirty="0" err="1"/>
              <a:t>connectionSocket</a:t>
            </a:r>
            <a:r>
              <a:rPr lang="en-US" dirty="0"/>
              <a:t>, dedicated to this particular client. </a:t>
            </a:r>
            <a:endParaRPr dirty="0"/>
          </a:p>
          <a:p>
            <a:pPr marL="228600" lvl="0" indent="-228600" algn="l" rtl="0">
              <a:lnSpc>
                <a:spcPct val="90000"/>
              </a:lnSpc>
              <a:spcBef>
                <a:spcPts val="1000"/>
              </a:spcBef>
              <a:spcAft>
                <a:spcPts val="0"/>
              </a:spcAft>
              <a:buClr>
                <a:schemeClr val="dk1"/>
              </a:buClr>
              <a:buSzPts val="2800"/>
              <a:buChar char="•"/>
            </a:pPr>
            <a:r>
              <a:rPr lang="en-US" dirty="0"/>
              <a:t>The client and server then complete the hand shaking, creating a TCP connection between the client’s </a:t>
            </a:r>
            <a:r>
              <a:rPr lang="en-US" i="1" dirty="0" err="1"/>
              <a:t>clientSocket</a:t>
            </a:r>
            <a:r>
              <a:rPr lang="en-US" dirty="0"/>
              <a:t> and the server’s </a:t>
            </a:r>
            <a:r>
              <a:rPr lang="en-US" i="1" dirty="0" err="1"/>
              <a:t>connectionSocket</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a:t>With the TCP connection established, the client and server can now send bytes to each other over the connection.</a:t>
            </a:r>
            <a:endParaRPr dirty="0"/>
          </a:p>
          <a:p>
            <a:pPr marL="228600" lvl="0" indent="-228600" algn="l" rtl="0">
              <a:lnSpc>
                <a:spcPct val="90000"/>
              </a:lnSpc>
              <a:spcBef>
                <a:spcPts val="1000"/>
              </a:spcBef>
              <a:spcAft>
                <a:spcPts val="0"/>
              </a:spcAft>
              <a:buClr>
                <a:schemeClr val="dk1"/>
              </a:buClr>
              <a:buSzPts val="2800"/>
              <a:buChar char="•"/>
            </a:pPr>
            <a:r>
              <a:rPr lang="en-US" dirty="0"/>
              <a:t>With TCP, all bytes sent from one side are only guaranteed to arrive at the other side but also guaranteed to arrive in order.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Google Shape;1006;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connectionSocket.close() </a:t>
            </a:r>
            <a:endParaRPr/>
          </a:p>
        </p:txBody>
      </p:sp>
      <p:sp>
        <p:nvSpPr>
          <p:cNvPr id="1007" name="Google Shape;1007;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In this program, after sending the modified sentence to the client, we close the connection socket. </a:t>
            </a:r>
            <a:endParaRPr/>
          </a:p>
          <a:p>
            <a:pPr marL="228600" lvl="0" indent="-228600" algn="l" rtl="0">
              <a:lnSpc>
                <a:spcPct val="90000"/>
              </a:lnSpc>
              <a:spcBef>
                <a:spcPts val="1000"/>
              </a:spcBef>
              <a:spcAft>
                <a:spcPts val="0"/>
              </a:spcAft>
              <a:buClr>
                <a:schemeClr val="dk1"/>
              </a:buClr>
              <a:buSzPts val="2800"/>
              <a:buChar char="•"/>
            </a:pPr>
            <a:r>
              <a:rPr lang="en-US"/>
              <a:t>But since </a:t>
            </a:r>
            <a:r>
              <a:rPr lang="en-US" i="1"/>
              <a:t>serverSocket</a:t>
            </a:r>
            <a:r>
              <a:rPr lang="en-US"/>
              <a:t> remains open, another client can now knock on the door and send the server a sentence to modify.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11"/>
        <p:cNvGrpSpPr/>
        <p:nvPr/>
      </p:nvGrpSpPr>
      <p:grpSpPr>
        <a:xfrm>
          <a:off x="0" y="0"/>
          <a:ext cx="0" cy="0"/>
          <a:chOff x="0" y="0"/>
          <a:chExt cx="0" cy="0"/>
        </a:xfrm>
      </p:grpSpPr>
      <p:sp>
        <p:nvSpPr>
          <p:cNvPr id="1012" name="Google Shape;1012;p45"/>
          <p:cNvSpPr/>
          <p:nvPr/>
        </p:nvSpPr>
        <p:spPr>
          <a:xfrm>
            <a:off x="1946275" y="88900"/>
            <a:ext cx="7772400" cy="94773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TCP client</a:t>
            </a:r>
            <a:endParaRPr sz="4400">
              <a:solidFill>
                <a:srgbClr val="000099"/>
              </a:solidFill>
              <a:latin typeface="Comic Sans MS"/>
              <a:ea typeface="Comic Sans MS"/>
              <a:cs typeface="Comic Sans MS"/>
              <a:sym typeface="Comic Sans MS"/>
            </a:endParaRPr>
          </a:p>
        </p:txBody>
      </p:sp>
      <p:sp>
        <p:nvSpPr>
          <p:cNvPr id="1013" name="Google Shape;1013;p45"/>
          <p:cNvSpPr txBox="1"/>
          <p:nvPr/>
        </p:nvSpPr>
        <p:spPr>
          <a:xfrm>
            <a:off x="4229100" y="1651001"/>
            <a:ext cx="5889754" cy="3651705"/>
          </a:xfrm>
          <a:prstGeom prst="rect">
            <a:avLst/>
          </a:prstGeom>
          <a:noFill/>
          <a:ln>
            <a:noFill/>
          </a:ln>
        </p:spPr>
        <p:txBody>
          <a:bodyPr spcFirstLastPara="1" wrap="square" lIns="91425" tIns="45700" rIns="91425" bIns="45700" anchor="t" anchorCtr="0">
            <a:spAutoFit/>
          </a:bodyPr>
          <a:lstStyle/>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serverName = ’servername’</a:t>
            </a:r>
            <a:endParaRPr sz="2000">
              <a:solidFill>
                <a:schemeClr val="dk1"/>
              </a:solidFill>
              <a:latin typeface="Arial"/>
              <a:ea typeface="Arial"/>
              <a:cs typeface="Arial"/>
              <a:sym typeface="Arial"/>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 = socket(AF_INET, SOCK_STREAM)</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clientSocket.connect((serverName,serverPort))</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sentence = input(‘Input lowercase sentence:’)</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clientSocket.send(sentence.encode())</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modifiedSentence = clientSocket.recv(1024)</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print(‘From Server:’, modifiedSentence.decode())</a:t>
            </a:r>
            <a:endParaRPr/>
          </a:p>
          <a:p>
            <a:pPr marL="0" marR="0" lvl="0" indent="0" algn="l" rtl="0">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clientSocket.close()</a:t>
            </a:r>
            <a:endParaRPr/>
          </a:p>
        </p:txBody>
      </p:sp>
      <p:sp>
        <p:nvSpPr>
          <p:cNvPr id="1014" name="Google Shape;1014;p45"/>
          <p:cNvSpPr txBox="1"/>
          <p:nvPr/>
        </p:nvSpPr>
        <p:spPr>
          <a:xfrm>
            <a:off x="4241800" y="1168401"/>
            <a:ext cx="2706688" cy="4619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Arial"/>
              <a:buNone/>
            </a:pPr>
            <a:r>
              <a:rPr lang="en-US" sz="2400" i="1">
                <a:solidFill>
                  <a:srgbClr val="CC0000"/>
                </a:solidFill>
                <a:latin typeface="Arial"/>
                <a:ea typeface="Arial"/>
                <a:cs typeface="Arial"/>
                <a:sym typeface="Arial"/>
              </a:rPr>
              <a:t>Python TCPClient</a:t>
            </a:r>
            <a:endParaRPr/>
          </a:p>
        </p:txBody>
      </p:sp>
      <p:grpSp>
        <p:nvGrpSpPr>
          <p:cNvPr id="1015" name="Google Shape;1015;p45"/>
          <p:cNvGrpSpPr/>
          <p:nvPr/>
        </p:nvGrpSpPr>
        <p:grpSpPr>
          <a:xfrm>
            <a:off x="1524001" y="2600326"/>
            <a:ext cx="2778125" cy="523875"/>
            <a:chOff x="-811" y="2439839"/>
            <a:chExt cx="2778483" cy="523220"/>
          </a:xfrm>
        </p:grpSpPr>
        <p:sp>
          <p:nvSpPr>
            <p:cNvPr id="1016" name="Google Shape;1016;p45"/>
            <p:cNvSpPr txBox="1"/>
            <p:nvPr/>
          </p:nvSpPr>
          <p:spPr>
            <a:xfrm>
              <a:off x="-811" y="2439839"/>
              <a:ext cx="2271818" cy="5232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TCP socket for server, remote port 12000</a:t>
              </a:r>
              <a:endParaRPr/>
            </a:p>
          </p:txBody>
        </p:sp>
        <p:cxnSp>
          <p:nvCxnSpPr>
            <p:cNvPr id="1017" name="Google Shape;1017;p45"/>
            <p:cNvCxnSpPr/>
            <p:nvPr/>
          </p:nvCxnSpPr>
          <p:spPr>
            <a:xfrm>
              <a:off x="2050143" y="2934447"/>
              <a:ext cx="727529" cy="2721"/>
            </a:xfrm>
            <a:prstGeom prst="straightConnector1">
              <a:avLst/>
            </a:prstGeom>
            <a:noFill/>
            <a:ln w="12700" cap="flat" cmpd="sng">
              <a:solidFill>
                <a:srgbClr val="CC0000"/>
              </a:solidFill>
              <a:prstDash val="solid"/>
              <a:round/>
              <a:headEnd type="none" w="med" len="med"/>
              <a:tailEnd type="triangle" w="med" len="med"/>
            </a:ln>
          </p:spPr>
        </p:cxnSp>
      </p:grpSp>
      <p:sp>
        <p:nvSpPr>
          <p:cNvPr id="1018" name="Google Shape;1018;p45"/>
          <p:cNvSpPr/>
          <p:nvPr/>
        </p:nvSpPr>
        <p:spPr>
          <a:xfrm>
            <a:off x="7810500" y="2667000"/>
            <a:ext cx="2247900" cy="508000"/>
          </a:xfrm>
          <a:prstGeom prst="ellipse">
            <a:avLst/>
          </a:prstGeom>
          <a:noFill/>
          <a:ln w="19050" cap="flat" cmpd="sng">
            <a:solidFill>
              <a:srgbClr val="000099"/>
            </a:solidFill>
            <a:prstDash val="solid"/>
            <a:round/>
            <a:headEnd type="none" w="sm" len="sm"/>
            <a:tailEnd type="none" w="sm" len="sm"/>
          </a:ln>
        </p:spPr>
        <p:txBody>
          <a:bodyPr spcFirstLastPara="1" wrap="square" lIns="91425" tIns="45700" rIns="91425" bIns="45700" anchor="t" anchorCtr="0">
            <a:noAutofit/>
          </a:bodyPr>
          <a:lstStyle/>
          <a:p>
            <a:pPr marL="342900" marR="0" lvl="0" indent="-342900" algn="l" rtl="0">
              <a:spcBef>
                <a:spcPts val="0"/>
              </a:spcBef>
              <a:spcAft>
                <a:spcPts val="0"/>
              </a:spcAft>
              <a:buClr>
                <a:schemeClr val="dk1"/>
              </a:buClr>
              <a:buSzPts val="2400"/>
              <a:buFont typeface="Comic Sans MS"/>
              <a:buNone/>
            </a:pPr>
            <a:endParaRPr sz="2400">
              <a:solidFill>
                <a:schemeClr val="dk1"/>
              </a:solidFill>
              <a:latin typeface="Comic Sans MS"/>
              <a:ea typeface="Comic Sans MS"/>
              <a:cs typeface="Comic Sans MS"/>
              <a:sym typeface="Comic Sans MS"/>
            </a:endParaRPr>
          </a:p>
        </p:txBody>
      </p:sp>
      <p:grpSp>
        <p:nvGrpSpPr>
          <p:cNvPr id="1019" name="Google Shape;1019;p45"/>
          <p:cNvGrpSpPr/>
          <p:nvPr/>
        </p:nvGrpSpPr>
        <p:grpSpPr>
          <a:xfrm>
            <a:off x="1524000" y="3810001"/>
            <a:ext cx="2794000" cy="523875"/>
            <a:chOff x="-17288" y="2918148"/>
            <a:chExt cx="2794960" cy="522566"/>
          </a:xfrm>
        </p:grpSpPr>
        <p:sp>
          <p:nvSpPr>
            <p:cNvPr id="1020" name="Google Shape;1020;p45"/>
            <p:cNvSpPr txBox="1"/>
            <p:nvPr/>
          </p:nvSpPr>
          <p:spPr>
            <a:xfrm>
              <a:off x="-17288" y="2918148"/>
              <a:ext cx="2271818" cy="52256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No need to attach server name, port </a:t>
              </a:r>
              <a:endParaRPr/>
            </a:p>
          </p:txBody>
        </p:sp>
        <p:cxnSp>
          <p:nvCxnSpPr>
            <p:cNvPr id="1021" name="Google Shape;1021;p45"/>
            <p:cNvCxnSpPr/>
            <p:nvPr/>
          </p:nvCxnSpPr>
          <p:spPr>
            <a:xfrm>
              <a:off x="2050143" y="3165929"/>
              <a:ext cx="727529" cy="2721"/>
            </a:xfrm>
            <a:prstGeom prst="straightConnector1">
              <a:avLst/>
            </a:prstGeom>
            <a:noFill/>
            <a:ln w="12700" cap="flat" cmpd="sng">
              <a:solidFill>
                <a:srgbClr val="CC0000"/>
              </a:solidFill>
              <a:prstDash val="solid"/>
              <a:round/>
              <a:headEnd type="none" w="med" len="med"/>
              <a:tailEnd type="triangle" w="med" len="med"/>
            </a:ln>
          </p:spPr>
        </p:cxnSp>
      </p:grpSp>
      <p:sp>
        <p:nvSpPr>
          <p:cNvPr id="1022" name="Google Shape;1022;p45"/>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45</a:t>
            </a:fld>
            <a:endParaRPr sz="1200">
              <a:solidFill>
                <a:schemeClr val="dk1"/>
              </a:solidFill>
              <a:latin typeface="Comic Sans MS"/>
              <a:ea typeface="Comic Sans MS"/>
              <a:cs typeface="Comic Sans MS"/>
              <a:sym typeface="Comic Sans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15"/>
                                        </p:tgtEl>
                                        <p:attrNameLst>
                                          <p:attrName>style.visibility</p:attrName>
                                        </p:attrNameLst>
                                      </p:cBhvr>
                                      <p:to>
                                        <p:strVal val="visible"/>
                                      </p:to>
                                    </p:set>
                                    <p:animEffect transition="in" filter="fade">
                                      <p:cBhvr>
                                        <p:cTn id="7" dur="500"/>
                                        <p:tgtEl>
                                          <p:spTgt spid="1015"/>
                                        </p:tgtEl>
                                      </p:cBhvr>
                                    </p:animEffect>
                                  </p:childTnLst>
                                </p:cTn>
                              </p:par>
                              <p:par>
                                <p:cTn id="8" presetID="10" presetClass="entr" presetSubtype="0" fill="hold" nodeType="withEffect">
                                  <p:stCondLst>
                                    <p:cond delay="0"/>
                                  </p:stCondLst>
                                  <p:childTnLst>
                                    <p:set>
                                      <p:cBhvr>
                                        <p:cTn id="9" dur="1" fill="hold">
                                          <p:stCondLst>
                                            <p:cond delay="0"/>
                                          </p:stCondLst>
                                        </p:cTn>
                                        <p:tgtEl>
                                          <p:spTgt spid="1018"/>
                                        </p:tgtEl>
                                        <p:attrNameLst>
                                          <p:attrName>style.visibility</p:attrName>
                                        </p:attrNameLst>
                                      </p:cBhvr>
                                      <p:to>
                                        <p:strVal val="visible"/>
                                      </p:to>
                                    </p:set>
                                    <p:animEffect transition="in" filter="fade">
                                      <p:cBhvr>
                                        <p:cTn id="10" dur="500"/>
                                        <p:tgtEl>
                                          <p:spTgt spid="101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19"/>
                                        </p:tgtEl>
                                        <p:attrNameLst>
                                          <p:attrName>style.visibility</p:attrName>
                                        </p:attrNameLst>
                                      </p:cBhvr>
                                      <p:to>
                                        <p:strVal val="visible"/>
                                      </p:to>
                                    </p:set>
                                    <p:animEffect transition="in" filter="fade">
                                      <p:cBhvr>
                                        <p:cTn id="15" dur="500"/>
                                        <p:tgtEl>
                                          <p:spTgt spid="10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clientSocket = socket(AF_INET, SOCK_STREAM) </a:t>
            </a:r>
            <a:endParaRPr/>
          </a:p>
        </p:txBody>
      </p:sp>
      <p:sp>
        <p:nvSpPr>
          <p:cNvPr id="1028" name="Google Shape;1028;p4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line creates the client’s socket, called </a:t>
            </a:r>
            <a:r>
              <a:rPr lang="en-US" i="1"/>
              <a:t>clientSocket</a:t>
            </a:r>
            <a:r>
              <a:rPr lang="en-US"/>
              <a:t>. The first parameter again indicates that the underlying network is using IPv4.</a:t>
            </a:r>
            <a:endParaRPr/>
          </a:p>
          <a:p>
            <a:pPr marL="228600" lvl="0" indent="-228600" algn="l" rtl="0">
              <a:lnSpc>
                <a:spcPct val="90000"/>
              </a:lnSpc>
              <a:spcBef>
                <a:spcPts val="1000"/>
              </a:spcBef>
              <a:spcAft>
                <a:spcPts val="0"/>
              </a:spcAft>
              <a:buClr>
                <a:schemeClr val="dk1"/>
              </a:buClr>
              <a:buSzPts val="2800"/>
              <a:buChar char="•"/>
            </a:pPr>
            <a:r>
              <a:rPr lang="en-US"/>
              <a:t>The second parameter indicates that the socket is of type </a:t>
            </a:r>
            <a:r>
              <a:rPr lang="en-US" i="1"/>
              <a:t>SOCK_STREAM</a:t>
            </a:r>
            <a:r>
              <a:rPr lang="en-US"/>
              <a:t>, which means it is a TCP socket (rather than a UDP socket). </a:t>
            </a:r>
            <a:endParaRPr/>
          </a:p>
          <a:p>
            <a:pPr marL="228600" lvl="0" indent="-228600" algn="l" rtl="0">
              <a:lnSpc>
                <a:spcPct val="90000"/>
              </a:lnSpc>
              <a:spcBef>
                <a:spcPts val="1000"/>
              </a:spcBef>
              <a:spcAft>
                <a:spcPts val="0"/>
              </a:spcAft>
              <a:buClr>
                <a:schemeClr val="dk1"/>
              </a:buClr>
              <a:buSzPts val="2800"/>
              <a:buChar char="•"/>
            </a:pPr>
            <a:r>
              <a:rPr lang="en-US"/>
              <a:t>Note that we are again not specifying the port number of the client socket when we create it; we are instead letting the operating system do this for us.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32"/>
        <p:cNvGrpSpPr/>
        <p:nvPr/>
      </p:nvGrpSpPr>
      <p:grpSpPr>
        <a:xfrm>
          <a:off x="0" y="0"/>
          <a:ext cx="0" cy="0"/>
          <a:chOff x="0" y="0"/>
          <a:chExt cx="0" cy="0"/>
        </a:xfrm>
      </p:grpSpPr>
      <p:sp>
        <p:nvSpPr>
          <p:cNvPr id="1033" name="Google Shape;1033;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clientSocket.connect((serverName,serverPort)) </a:t>
            </a:r>
            <a:endParaRPr/>
          </a:p>
        </p:txBody>
      </p:sp>
      <p:sp>
        <p:nvSpPr>
          <p:cNvPr id="1034" name="Google Shape;1034;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This line of code is very different from what we saw in UDPClient.</a:t>
            </a:r>
            <a:endParaRPr/>
          </a:p>
          <a:p>
            <a:pPr marL="228600" lvl="0" indent="-228600" algn="l" rtl="0">
              <a:lnSpc>
                <a:spcPct val="90000"/>
              </a:lnSpc>
              <a:spcBef>
                <a:spcPts val="1000"/>
              </a:spcBef>
              <a:spcAft>
                <a:spcPts val="0"/>
              </a:spcAft>
              <a:buClr>
                <a:schemeClr val="dk1"/>
              </a:buClr>
              <a:buSzPct val="100000"/>
              <a:buChar char="•"/>
            </a:pPr>
            <a:r>
              <a:rPr lang="en-US"/>
              <a:t>Recall that before the client can send data to the server (or vice versa) using a TCP socket, a TCP connection must first be established between the client and server.</a:t>
            </a:r>
            <a:endParaRPr/>
          </a:p>
          <a:p>
            <a:pPr marL="228600" lvl="0" indent="-228600" algn="l" rtl="0">
              <a:lnSpc>
                <a:spcPct val="90000"/>
              </a:lnSpc>
              <a:spcBef>
                <a:spcPts val="1000"/>
              </a:spcBef>
              <a:spcAft>
                <a:spcPts val="0"/>
              </a:spcAft>
              <a:buClr>
                <a:schemeClr val="dk1"/>
              </a:buClr>
              <a:buSzPct val="100000"/>
              <a:buChar char="•"/>
            </a:pPr>
            <a:r>
              <a:rPr lang="en-US"/>
              <a:t>The above line initiates the TCP connection between the client and server. </a:t>
            </a:r>
            <a:endParaRPr/>
          </a:p>
          <a:p>
            <a:pPr marL="228600" lvl="0" indent="-228600" algn="l" rtl="0">
              <a:lnSpc>
                <a:spcPct val="90000"/>
              </a:lnSpc>
              <a:spcBef>
                <a:spcPts val="1000"/>
              </a:spcBef>
              <a:spcAft>
                <a:spcPts val="0"/>
              </a:spcAft>
              <a:buClr>
                <a:schemeClr val="dk1"/>
              </a:buClr>
              <a:buSzPct val="100000"/>
              <a:buChar char="•"/>
            </a:pPr>
            <a:r>
              <a:rPr lang="en-US"/>
              <a:t>The parameter of the connect() method is the address of the server side of the connection. </a:t>
            </a:r>
            <a:endParaRPr/>
          </a:p>
          <a:p>
            <a:pPr marL="228600" lvl="0" indent="-228600" algn="l" rtl="0">
              <a:lnSpc>
                <a:spcPct val="90000"/>
              </a:lnSpc>
              <a:spcBef>
                <a:spcPts val="1000"/>
              </a:spcBef>
              <a:spcAft>
                <a:spcPts val="0"/>
              </a:spcAft>
              <a:buClr>
                <a:schemeClr val="dk1"/>
              </a:buClr>
              <a:buSzPct val="100000"/>
              <a:buChar char="•"/>
            </a:pPr>
            <a:r>
              <a:rPr lang="en-US"/>
              <a:t>After this line of code is executed, the three-way handshake is performed and a TCP connection is established between the client and server.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sentence = input(’Input lowercase sentence:’) </a:t>
            </a:r>
            <a:endParaRPr/>
          </a:p>
        </p:txBody>
      </p:sp>
      <p:sp>
        <p:nvSpPr>
          <p:cNvPr id="1040" name="Google Shape;1040;p4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As with UDPClient, the above obtains a sentence from the user. The string sentence continues to gather characters until the user ends the line by typing a carriage return.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4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clientSocket.send(sentence.encode()) </a:t>
            </a:r>
            <a:endParaRPr/>
          </a:p>
        </p:txBody>
      </p:sp>
      <p:sp>
        <p:nvSpPr>
          <p:cNvPr id="1046" name="Google Shape;1046;p4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above line sends the sentence through the client’s socket and into the TCP connection. </a:t>
            </a:r>
            <a:endParaRPr/>
          </a:p>
          <a:p>
            <a:pPr marL="228600" lvl="0" indent="-228600" algn="l" rtl="0">
              <a:lnSpc>
                <a:spcPct val="90000"/>
              </a:lnSpc>
              <a:spcBef>
                <a:spcPts val="1000"/>
              </a:spcBef>
              <a:spcAft>
                <a:spcPts val="0"/>
              </a:spcAft>
              <a:buClr>
                <a:schemeClr val="dk1"/>
              </a:buClr>
              <a:buSzPts val="2800"/>
              <a:buChar char="•"/>
            </a:pPr>
            <a:r>
              <a:rPr lang="en-US"/>
              <a:t>Note that the program does not explicitly create a packet and attach the destination address to the packet, as was the case with UDP sockets. </a:t>
            </a:r>
            <a:endParaRPr/>
          </a:p>
          <a:p>
            <a:pPr marL="228600" lvl="0" indent="-228600" algn="l" rtl="0">
              <a:lnSpc>
                <a:spcPct val="90000"/>
              </a:lnSpc>
              <a:spcBef>
                <a:spcPts val="1000"/>
              </a:spcBef>
              <a:spcAft>
                <a:spcPts val="0"/>
              </a:spcAft>
              <a:buClr>
                <a:schemeClr val="dk1"/>
              </a:buClr>
              <a:buSzPts val="2800"/>
              <a:buChar char="•"/>
            </a:pPr>
            <a:r>
              <a:rPr lang="en-US"/>
              <a:t>Instead the client program simply drops the bytes in the string sentence into the TCP connection. </a:t>
            </a:r>
            <a:endParaRPr/>
          </a:p>
          <a:p>
            <a:pPr marL="228600" lvl="0" indent="-228600" algn="l" rtl="0">
              <a:lnSpc>
                <a:spcPct val="90000"/>
              </a:lnSpc>
              <a:spcBef>
                <a:spcPts val="1000"/>
              </a:spcBef>
              <a:spcAft>
                <a:spcPts val="0"/>
              </a:spcAft>
              <a:buClr>
                <a:schemeClr val="dk1"/>
              </a:buClr>
              <a:buSzPts val="2800"/>
              <a:buChar char="•"/>
            </a:pPr>
            <a:r>
              <a:rPr lang="en-US"/>
              <a:t>The client then waits to receive bytes from the server.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5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modifiedSentence = clientSocket.recv(2048) </a:t>
            </a:r>
            <a:endParaRPr/>
          </a:p>
        </p:txBody>
      </p:sp>
      <p:sp>
        <p:nvSpPr>
          <p:cNvPr id="1052" name="Google Shape;1052;p5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When characters arrive from the server, they get placed into the string </a:t>
            </a:r>
            <a:r>
              <a:rPr lang="en-US" i="1"/>
              <a:t>modifiedSentence</a:t>
            </a:r>
            <a:r>
              <a:rPr lang="en-US"/>
              <a:t>. </a:t>
            </a:r>
            <a:endParaRPr/>
          </a:p>
          <a:p>
            <a:pPr marL="228600" lvl="0" indent="-228600" algn="l" rtl="0">
              <a:lnSpc>
                <a:spcPct val="90000"/>
              </a:lnSpc>
              <a:spcBef>
                <a:spcPts val="1000"/>
              </a:spcBef>
              <a:spcAft>
                <a:spcPts val="0"/>
              </a:spcAft>
              <a:buClr>
                <a:schemeClr val="dk1"/>
              </a:buClr>
              <a:buSzPts val="2800"/>
              <a:buChar char="•"/>
            </a:pPr>
            <a:r>
              <a:rPr lang="en-US"/>
              <a:t>Characters continue to accumulate in </a:t>
            </a:r>
            <a:r>
              <a:rPr lang="en-US" i="1"/>
              <a:t>modifiedSentence</a:t>
            </a:r>
            <a:r>
              <a:rPr lang="en-US"/>
              <a:t> until the line ends with a carriage return character.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5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clientSocket.close() </a:t>
            </a:r>
            <a:endParaRPr/>
          </a:p>
        </p:txBody>
      </p:sp>
      <p:sp>
        <p:nvSpPr>
          <p:cNvPr id="1058" name="Google Shape;1058;p5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This last line closes the socket and, hence, closes the TCP connection between the client and the server.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52"/>
          <p:cNvSpPr txBox="1">
            <a:spLocks noGrp="1"/>
          </p:cNvSpPr>
          <p:nvPr>
            <p:ph type="title"/>
          </p:nvPr>
        </p:nvSpPr>
        <p:spPr>
          <a:xfrm>
            <a:off x="2209800" y="304800"/>
            <a:ext cx="8001000" cy="11430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600"/>
              <a:buFont typeface="Play"/>
              <a:buNone/>
            </a:pPr>
            <a:r>
              <a:rPr lang="en-US" sz="3600"/>
              <a:t>Two Different Server Behaviors</a:t>
            </a:r>
            <a:endParaRPr/>
          </a:p>
        </p:txBody>
      </p:sp>
      <p:sp>
        <p:nvSpPr>
          <p:cNvPr id="1065" name="Google Shape;1065;p5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Iterative server</a:t>
            </a:r>
            <a:endParaRPr/>
          </a:p>
          <a:p>
            <a:pPr marL="685800" lvl="1" indent="-228600" algn="l" rtl="0">
              <a:lnSpc>
                <a:spcPct val="90000"/>
              </a:lnSpc>
              <a:spcBef>
                <a:spcPts val="500"/>
              </a:spcBef>
              <a:spcAft>
                <a:spcPts val="0"/>
              </a:spcAft>
              <a:buClr>
                <a:schemeClr val="dk1"/>
              </a:buClr>
              <a:buSzPts val="1800"/>
              <a:buChar char="•"/>
            </a:pPr>
            <a:r>
              <a:rPr lang="en-US" sz="1800"/>
              <a:t>At any time, only handles one client request</a:t>
            </a:r>
            <a:endParaRPr/>
          </a:p>
        </p:txBody>
      </p:sp>
      <p:sp>
        <p:nvSpPr>
          <p:cNvPr id="1066" name="Google Shape;1066;p52"/>
          <p:cNvSpPr txBox="1">
            <a:spLocks noGrp="1"/>
          </p:cNvSpPr>
          <p:nvPr>
            <p:ph type="body" idx="2"/>
          </p:nvPr>
        </p:nvSpPr>
        <p:spPr>
          <a:xfrm>
            <a:off x="5791200" y="1981200"/>
            <a:ext cx="4572000" cy="411480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Concurrent server</a:t>
            </a:r>
            <a:endParaRPr/>
          </a:p>
          <a:p>
            <a:pPr marL="685800" lvl="1" indent="-228600" algn="l" rtl="0">
              <a:lnSpc>
                <a:spcPct val="90000"/>
              </a:lnSpc>
              <a:spcBef>
                <a:spcPts val="500"/>
              </a:spcBef>
              <a:spcAft>
                <a:spcPts val="0"/>
              </a:spcAft>
              <a:buClr>
                <a:schemeClr val="dk1"/>
              </a:buClr>
              <a:buSzPts val="1800"/>
              <a:buChar char="•"/>
            </a:pPr>
            <a:r>
              <a:rPr lang="en-US" sz="1800"/>
              <a:t>Multiple client requests can be handled simultaneously</a:t>
            </a:r>
            <a:endParaRPr/>
          </a:p>
          <a:p>
            <a:pPr marL="685800" lvl="1" indent="-228600" algn="l" rtl="0">
              <a:lnSpc>
                <a:spcPct val="90000"/>
              </a:lnSpc>
              <a:spcBef>
                <a:spcPts val="500"/>
              </a:spcBef>
              <a:spcAft>
                <a:spcPts val="0"/>
              </a:spcAft>
              <a:buClr>
                <a:schemeClr val="dk1"/>
              </a:buClr>
              <a:buSzPts val="1800"/>
              <a:buChar char="•"/>
            </a:pPr>
            <a:r>
              <a:rPr lang="en-US" sz="1800"/>
              <a:t>create a new process/thread to handle each request</a:t>
            </a:r>
            <a:endParaRPr/>
          </a:p>
        </p:txBody>
      </p:sp>
      <p:sp>
        <p:nvSpPr>
          <p:cNvPr id="1067" name="Google Shape;1067;p52"/>
          <p:cNvSpPr txBox="1"/>
          <p:nvPr/>
        </p:nvSpPr>
        <p:spPr>
          <a:xfrm>
            <a:off x="2574925" y="3089275"/>
            <a:ext cx="3279872"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for (;;) {</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   accept a client request;</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   handle it</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a:t>
            </a:r>
            <a:endParaRPr/>
          </a:p>
        </p:txBody>
      </p:sp>
      <p:sp>
        <p:nvSpPr>
          <p:cNvPr id="1068" name="Google Shape;1068;p52"/>
          <p:cNvSpPr txBox="1"/>
          <p:nvPr/>
        </p:nvSpPr>
        <p:spPr>
          <a:xfrm>
            <a:off x="5943600" y="3581400"/>
            <a:ext cx="4495800"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for (;;) {</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   accept a client request;</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   create a new  process / thread  to 	handle 	request;</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   parent process / thread continues</a:t>
            </a:r>
            <a:endParaRPr/>
          </a:p>
          <a:p>
            <a:pPr marL="0" marR="0" lvl="0" indent="0" algn="l" rtl="0">
              <a:spcBef>
                <a:spcPts val="0"/>
              </a:spcBef>
              <a:spcAft>
                <a:spcPts val="0"/>
              </a:spcAft>
              <a:buClr>
                <a:srgbClr val="CC0000"/>
              </a:buClr>
              <a:buSzPts val="2400"/>
              <a:buFont typeface="Times New Roman"/>
              <a:buNone/>
            </a:pPr>
            <a:r>
              <a:rPr lang="en-US" sz="2400" i="1">
                <a:solidFill>
                  <a:srgbClr val="CC0000"/>
                </a:solidFill>
                <a:latin typeface="Times New Roman"/>
                <a:ea typeface="Times New Roman"/>
                <a:cs typeface="Times New Roman"/>
                <a:sym typeface="Times New Roman"/>
              </a:rPr>
              <a:t>}</a:t>
            </a:r>
            <a:endParaRPr/>
          </a:p>
        </p:txBody>
      </p:sp>
      <p:sp>
        <p:nvSpPr>
          <p:cNvPr id="1069" name="Google Shape;1069;p52"/>
          <p:cNvSpPr txBox="1">
            <a:spLocks noGrp="1"/>
          </p:cNvSpPr>
          <p:nvPr>
            <p:ph type="sldNum" idx="12"/>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52</a:t>
            </a:fld>
            <a:endParaRPr sz="1200">
              <a:solidFill>
                <a:schemeClr val="dk1"/>
              </a:solidFill>
              <a:latin typeface="Comic Sans MS"/>
              <a:ea typeface="Comic Sans MS"/>
              <a:cs typeface="Comic Sans MS"/>
              <a:sym typeface="Comic Sans M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073"/>
        <p:cNvGrpSpPr/>
        <p:nvPr/>
      </p:nvGrpSpPr>
      <p:grpSpPr>
        <a:xfrm>
          <a:off x="0" y="0"/>
          <a:ext cx="0" cy="0"/>
          <a:chOff x="0" y="0"/>
          <a:chExt cx="0" cy="0"/>
        </a:xfrm>
      </p:grpSpPr>
      <p:sp>
        <p:nvSpPr>
          <p:cNvPr id="1074" name="Google Shape;1074;p5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2222"/>
              </a:buClr>
              <a:buSzPts val="4400"/>
              <a:buFont typeface="Arial"/>
              <a:buNone/>
            </a:pPr>
            <a:r>
              <a:rPr lang="en-US" b="0" i="0">
                <a:solidFill>
                  <a:srgbClr val="222222"/>
                </a:solidFill>
                <a:latin typeface="Arial"/>
                <a:ea typeface="Arial"/>
                <a:cs typeface="Arial"/>
                <a:sym typeface="Arial"/>
              </a:rPr>
              <a:t>socket.socket()</a:t>
            </a:r>
            <a:endParaRPr/>
          </a:p>
        </p:txBody>
      </p:sp>
      <p:sp>
        <p:nvSpPr>
          <p:cNvPr id="1075" name="Google Shape;1075;p5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i="1" dirty="0" err="1"/>
              <a:t>socket.socket</a:t>
            </a:r>
            <a:r>
              <a:rPr lang="en-US" i="1" dirty="0"/>
              <a:t>() </a:t>
            </a:r>
            <a:r>
              <a:rPr lang="en-US" dirty="0"/>
              <a:t>creates a socket object that supports the context manager type, so you can use it in a with statement. There’s no need to call </a:t>
            </a:r>
            <a:r>
              <a:rPr lang="en-US" i="1" dirty="0" err="1"/>
              <a:t>s.close</a:t>
            </a:r>
            <a:r>
              <a:rPr lang="en-US" i="1" dirty="0"/>
              <a:t>()</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The arguments passed to </a:t>
            </a:r>
            <a:r>
              <a:rPr lang="en-US" i="1" dirty="0"/>
              <a:t>socket() </a:t>
            </a:r>
            <a:r>
              <a:rPr lang="en-US" dirty="0"/>
              <a:t>are constants used to specify the address family and socket type. </a:t>
            </a:r>
            <a:endParaRPr dirty="0"/>
          </a:p>
          <a:p>
            <a:pPr marL="228600" lvl="0" indent="-228600" algn="l" rtl="0">
              <a:lnSpc>
                <a:spcPct val="90000"/>
              </a:lnSpc>
              <a:spcBef>
                <a:spcPts val="1000"/>
              </a:spcBef>
              <a:spcAft>
                <a:spcPts val="0"/>
              </a:spcAft>
              <a:buClr>
                <a:schemeClr val="dk1"/>
              </a:buClr>
              <a:buSzPts val="2800"/>
              <a:buChar char="•"/>
            </a:pPr>
            <a:r>
              <a:rPr lang="en-US" i="1" dirty="0">
                <a:highlight>
                  <a:srgbClr val="FFFF00"/>
                </a:highlight>
              </a:rPr>
              <a:t>AF_INET </a:t>
            </a:r>
            <a:r>
              <a:rPr lang="en-US" dirty="0"/>
              <a:t>is the Internet address family for </a:t>
            </a:r>
            <a:r>
              <a:rPr lang="en-US" i="1" dirty="0">
                <a:highlight>
                  <a:srgbClr val="FFFF00"/>
                </a:highlight>
              </a:rPr>
              <a:t>IPv4</a:t>
            </a:r>
            <a:r>
              <a:rPr lang="en-US" i="1" dirty="0"/>
              <a:t>. </a:t>
            </a:r>
            <a:r>
              <a:rPr lang="en-US" i="1" dirty="0">
                <a:highlight>
                  <a:srgbClr val="FFFF00"/>
                </a:highlight>
              </a:rPr>
              <a:t>SOCK_STREAM </a:t>
            </a:r>
            <a:r>
              <a:rPr lang="en-US" dirty="0"/>
              <a:t>is the socket type for </a:t>
            </a:r>
            <a:r>
              <a:rPr lang="en-US" dirty="0">
                <a:highlight>
                  <a:srgbClr val="FFFF00"/>
                </a:highlight>
              </a:rPr>
              <a:t>TCP</a:t>
            </a:r>
            <a:r>
              <a:rPr lang="en-US" dirty="0"/>
              <a:t>, the protocol that will be used to transport messages in the network.</a:t>
            </a:r>
            <a:endParaRPr dirty="0"/>
          </a:p>
        </p:txBody>
      </p:sp>
      <p:pic>
        <p:nvPicPr>
          <p:cNvPr id="1076" name="Google Shape;1076;p53"/>
          <p:cNvPicPr preferRelativeResize="0"/>
          <p:nvPr/>
        </p:nvPicPr>
        <p:blipFill rotWithShape="1">
          <a:blip r:embed="rId3">
            <a:alphaModFix/>
          </a:blip>
          <a:srcRect/>
          <a:stretch/>
        </p:blipFill>
        <p:spPr>
          <a:xfrm>
            <a:off x="2883891" y="3116553"/>
            <a:ext cx="6424217" cy="62489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5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222222"/>
              </a:buClr>
              <a:buSzPts val="4400"/>
              <a:buFont typeface="Arial"/>
              <a:buNone/>
            </a:pPr>
            <a:r>
              <a:rPr lang="en-US" b="0" i="0">
                <a:solidFill>
                  <a:srgbClr val="222222"/>
                </a:solidFill>
                <a:latin typeface="Arial"/>
                <a:ea typeface="Arial"/>
                <a:cs typeface="Arial"/>
                <a:sym typeface="Arial"/>
              </a:rPr>
              <a:t>.bind()</a:t>
            </a:r>
            <a:endParaRPr/>
          </a:p>
        </p:txBody>
      </p:sp>
      <p:sp>
        <p:nvSpPr>
          <p:cNvPr id="1082" name="Google Shape;1082;p5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The .bind() method is used to associate the socket with a specific network interface and port number:</a:t>
            </a: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50800" algn="l" rtl="0">
              <a:lnSpc>
                <a:spcPct val="90000"/>
              </a:lnSpc>
              <a:spcBef>
                <a:spcPts val="1000"/>
              </a:spcBef>
              <a:spcAft>
                <a:spcPts val="0"/>
              </a:spcAft>
              <a:buClr>
                <a:schemeClr val="dk1"/>
              </a:buClr>
              <a:buSzPts val="2800"/>
              <a:buNone/>
            </a:pPr>
            <a:endParaRPr dirty="0"/>
          </a:p>
          <a:p>
            <a:pPr marL="228600" lvl="0" indent="-228600" algn="l" rtl="0">
              <a:lnSpc>
                <a:spcPct val="90000"/>
              </a:lnSpc>
              <a:spcBef>
                <a:spcPts val="1000"/>
              </a:spcBef>
              <a:spcAft>
                <a:spcPts val="0"/>
              </a:spcAft>
              <a:buClr>
                <a:schemeClr val="dk1"/>
              </a:buClr>
              <a:buSzPts val="2800"/>
              <a:buChar char="•"/>
            </a:pPr>
            <a:r>
              <a:rPr lang="en-US" dirty="0"/>
              <a:t>The values passed to .bind() depend on the address family of the socket. </a:t>
            </a:r>
            <a:endParaRPr dirty="0"/>
          </a:p>
          <a:p>
            <a:pPr marL="228600" lvl="0" indent="-228600" algn="l" rtl="0">
              <a:lnSpc>
                <a:spcPct val="90000"/>
              </a:lnSpc>
              <a:spcBef>
                <a:spcPts val="1000"/>
              </a:spcBef>
              <a:spcAft>
                <a:spcPts val="0"/>
              </a:spcAft>
              <a:buClr>
                <a:schemeClr val="dk1"/>
              </a:buClr>
              <a:buSzPts val="2800"/>
              <a:buChar char="•"/>
            </a:pPr>
            <a:r>
              <a:rPr lang="en-US" dirty="0"/>
              <a:t>In this example, we’re using </a:t>
            </a:r>
            <a:r>
              <a:rPr lang="en-US" dirty="0" err="1">
                <a:highlight>
                  <a:srgbClr val="FFFF00"/>
                </a:highlight>
              </a:rPr>
              <a:t>socket.AF_INET</a:t>
            </a:r>
            <a:r>
              <a:rPr lang="en-US" dirty="0">
                <a:highlight>
                  <a:srgbClr val="FFFF00"/>
                </a:highlight>
              </a:rPr>
              <a:t> (IPv4</a:t>
            </a:r>
            <a:r>
              <a:rPr lang="en-US" dirty="0"/>
              <a:t>). So it expects </a:t>
            </a:r>
            <a:r>
              <a:rPr lang="en-US" dirty="0">
                <a:highlight>
                  <a:srgbClr val="FFFF00"/>
                </a:highlight>
              </a:rPr>
              <a:t>a two-tuple: (host, port).</a:t>
            </a:r>
            <a:endParaRPr dirty="0">
              <a:highlight>
                <a:srgbClr val="FFFF00"/>
              </a:highlight>
            </a:endParaRPr>
          </a:p>
        </p:txBody>
      </p:sp>
      <p:pic>
        <p:nvPicPr>
          <p:cNvPr id="1083" name="Google Shape;1083;p54"/>
          <p:cNvPicPr preferRelativeResize="0"/>
          <p:nvPr/>
        </p:nvPicPr>
        <p:blipFill rotWithShape="1">
          <a:blip r:embed="rId3">
            <a:alphaModFix/>
          </a:blip>
          <a:srcRect/>
          <a:stretch/>
        </p:blipFill>
        <p:spPr>
          <a:xfrm>
            <a:off x="2868650" y="2876502"/>
            <a:ext cx="6454699" cy="110499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port</a:t>
            </a:r>
            <a:endParaRPr/>
          </a:p>
        </p:txBody>
      </p:sp>
      <p:sp>
        <p:nvSpPr>
          <p:cNvPr id="1089" name="Google Shape;1089;p5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port represents the TCP port number to accept connections on from clients. </a:t>
            </a:r>
            <a:endParaRPr/>
          </a:p>
          <a:p>
            <a:pPr marL="228600" lvl="0" indent="-228600" algn="l" rtl="0">
              <a:lnSpc>
                <a:spcPct val="90000"/>
              </a:lnSpc>
              <a:spcBef>
                <a:spcPts val="1000"/>
              </a:spcBef>
              <a:spcAft>
                <a:spcPts val="0"/>
              </a:spcAft>
              <a:buClr>
                <a:schemeClr val="dk1"/>
              </a:buClr>
              <a:buSzPts val="2800"/>
              <a:buChar char="•"/>
            </a:pPr>
            <a:r>
              <a:rPr lang="en-US"/>
              <a:t>It should be an integer from 1 to 65535, as 0 is reserved. </a:t>
            </a:r>
            <a:endParaRPr/>
          </a:p>
          <a:p>
            <a:pPr marL="228600" lvl="0" indent="-228600" algn="l" rtl="0">
              <a:lnSpc>
                <a:spcPct val="90000"/>
              </a:lnSpc>
              <a:spcBef>
                <a:spcPts val="1000"/>
              </a:spcBef>
              <a:spcAft>
                <a:spcPts val="0"/>
              </a:spcAft>
              <a:buClr>
                <a:schemeClr val="dk1"/>
              </a:buClr>
              <a:buSzPts val="2800"/>
              <a:buChar char="•"/>
            </a:pPr>
            <a:r>
              <a:rPr lang="en-US"/>
              <a:t>Some systems may require superuser privileges if the port number is less than 1024.</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sp>
        <p:nvSpPr>
          <p:cNvPr id="1094" name="Google Shape;1094;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a note on using hostnames with .bind()</a:t>
            </a:r>
            <a:endParaRPr/>
          </a:p>
        </p:txBody>
      </p:sp>
      <p:sp>
        <p:nvSpPr>
          <p:cNvPr id="1095" name="Google Shape;1095;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If you use a hostname in the host portion of IPv4/v6 socket address, the program may show a non-deterministic behavior, as Python uses the first address returned from the DNS resolution. The socket address will be resolved differently into an actual IPv4/v6 address, depending on the results from DNS resolution and/or the host configuration. For deterministic behavior use a numeric address in host portion.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.listen()</a:t>
            </a:r>
            <a:endParaRPr/>
          </a:p>
        </p:txBody>
      </p:sp>
      <p:sp>
        <p:nvSpPr>
          <p:cNvPr id="1101" name="Google Shape;1101;p5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In the server example, .listen() enables a server to accept connections. It makes the server a listening socket:</a:t>
            </a: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228600" algn="l" rtl="0">
              <a:lnSpc>
                <a:spcPct val="90000"/>
              </a:lnSpc>
              <a:spcBef>
                <a:spcPts val="1000"/>
              </a:spcBef>
              <a:spcAft>
                <a:spcPts val="0"/>
              </a:spcAft>
              <a:buClr>
                <a:schemeClr val="dk1"/>
              </a:buClr>
              <a:buSzPct val="100000"/>
              <a:buChar char="•"/>
            </a:pPr>
            <a:r>
              <a:rPr lang="en-US"/>
              <a:t>The .listen() method has a backlog parameter. It specifies the number of unaccepted connections that the system will allow before refusing new connections.</a:t>
            </a:r>
            <a:endParaRPr/>
          </a:p>
          <a:p>
            <a:pPr marL="228600" lvl="0" indent="-228600" algn="l" rtl="0">
              <a:lnSpc>
                <a:spcPct val="90000"/>
              </a:lnSpc>
              <a:spcBef>
                <a:spcPts val="1000"/>
              </a:spcBef>
              <a:spcAft>
                <a:spcPts val="0"/>
              </a:spcAft>
              <a:buClr>
                <a:schemeClr val="dk1"/>
              </a:buClr>
              <a:buSzPct val="100000"/>
              <a:buChar char="•"/>
            </a:pPr>
            <a:r>
              <a:rPr lang="en-US"/>
              <a:t> Starting in Python 3.5, it’s optional. If not specified, a default backlog value is chosen.</a:t>
            </a:r>
            <a:endParaRPr/>
          </a:p>
        </p:txBody>
      </p:sp>
      <p:pic>
        <p:nvPicPr>
          <p:cNvPr id="1102" name="Google Shape;1102;p57"/>
          <p:cNvPicPr preferRelativeResize="0"/>
          <p:nvPr/>
        </p:nvPicPr>
        <p:blipFill rotWithShape="1">
          <a:blip r:embed="rId3">
            <a:alphaModFix/>
          </a:blip>
          <a:srcRect/>
          <a:stretch/>
        </p:blipFill>
        <p:spPr>
          <a:xfrm>
            <a:off x="2428784" y="2780497"/>
            <a:ext cx="6370872" cy="149364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106"/>
        <p:cNvGrpSpPr/>
        <p:nvPr/>
      </p:nvGrpSpPr>
      <p:grpSpPr>
        <a:xfrm>
          <a:off x="0" y="0"/>
          <a:ext cx="0" cy="0"/>
          <a:chOff x="0" y="0"/>
          <a:chExt cx="0" cy="0"/>
        </a:xfrm>
      </p:grpSpPr>
      <p:sp>
        <p:nvSpPr>
          <p:cNvPr id="1107" name="Google Shape;1107;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backlog </a:t>
            </a:r>
            <a:endParaRPr/>
          </a:p>
        </p:txBody>
      </p:sp>
      <p:sp>
        <p:nvSpPr>
          <p:cNvPr id="1108" name="Google Shape;1108;p5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If your server receives a lot of connection requests simultaneously, increasing the backlog value may help by setting the maximum length of the queue for pending connections. </a:t>
            </a:r>
            <a:endParaRPr/>
          </a:p>
          <a:p>
            <a:pPr marL="228600" lvl="0" indent="-228600" algn="l" rtl="0">
              <a:lnSpc>
                <a:spcPct val="90000"/>
              </a:lnSpc>
              <a:spcBef>
                <a:spcPts val="1000"/>
              </a:spcBef>
              <a:spcAft>
                <a:spcPts val="0"/>
              </a:spcAft>
              <a:buClr>
                <a:schemeClr val="dk1"/>
              </a:buClr>
              <a:buSzPts val="2800"/>
              <a:buChar char="•"/>
            </a:pPr>
            <a:r>
              <a:rPr lang="en-US"/>
              <a:t>The maximum value is system dependent. For example, on Linux, see /proc/sys/net/core/somaxconn.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112"/>
        <p:cNvGrpSpPr/>
        <p:nvPr/>
      </p:nvGrpSpPr>
      <p:grpSpPr>
        <a:xfrm>
          <a:off x="0" y="0"/>
          <a:ext cx="0" cy="0"/>
          <a:chOff x="0" y="0"/>
          <a:chExt cx="0" cy="0"/>
        </a:xfrm>
      </p:grpSpPr>
      <p:sp>
        <p:nvSpPr>
          <p:cNvPr id="1113" name="Google Shape;1113;p5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.accept() </a:t>
            </a:r>
            <a:endParaRPr/>
          </a:p>
        </p:txBody>
      </p:sp>
      <p:sp>
        <p:nvSpPr>
          <p:cNvPr id="1114" name="Google Shape;1114;p5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The .accept() method blocks execution and waits for an incoming connection. </a:t>
            </a:r>
            <a:endParaRPr dirty="0"/>
          </a:p>
          <a:p>
            <a:pPr marL="228600" lvl="0" indent="-228600" algn="l" rtl="0">
              <a:lnSpc>
                <a:spcPct val="90000"/>
              </a:lnSpc>
              <a:spcBef>
                <a:spcPts val="1000"/>
              </a:spcBef>
              <a:spcAft>
                <a:spcPts val="0"/>
              </a:spcAft>
              <a:buClr>
                <a:schemeClr val="dk1"/>
              </a:buClr>
              <a:buSzPts val="2800"/>
              <a:buChar char="•"/>
            </a:pPr>
            <a:r>
              <a:rPr lang="en-US" dirty="0"/>
              <a:t>When a client connects, it returns a new socket object representing the connection and a tuple holding the address of the client. </a:t>
            </a:r>
            <a:endParaRPr dirty="0"/>
          </a:p>
          <a:p>
            <a:pPr marL="228600" lvl="0" indent="-228600" algn="l" rtl="0">
              <a:lnSpc>
                <a:spcPct val="90000"/>
              </a:lnSpc>
              <a:spcBef>
                <a:spcPts val="1000"/>
              </a:spcBef>
              <a:spcAft>
                <a:spcPts val="0"/>
              </a:spcAft>
              <a:buClr>
                <a:schemeClr val="dk1"/>
              </a:buClr>
              <a:buSzPts val="2800"/>
              <a:buChar char="•"/>
            </a:pPr>
            <a:r>
              <a:rPr lang="en-US" dirty="0"/>
              <a:t>The tuple will contain (host, port) for IPv4 connections or (host, port, </a:t>
            </a:r>
            <a:r>
              <a:rPr lang="en-US" dirty="0" err="1"/>
              <a:t>flowinfo</a:t>
            </a:r>
            <a:r>
              <a:rPr lang="en-US" dirty="0"/>
              <a:t>, </a:t>
            </a:r>
            <a:r>
              <a:rPr lang="en-US" dirty="0" err="1"/>
              <a:t>scopeid</a:t>
            </a:r>
            <a:r>
              <a:rPr lang="en-US" dirty="0"/>
              <a:t>) for IPv6.</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118"/>
        <p:cNvGrpSpPr/>
        <p:nvPr/>
      </p:nvGrpSpPr>
      <p:grpSpPr>
        <a:xfrm>
          <a:off x="0" y="0"/>
          <a:ext cx="0" cy="0"/>
          <a:chOff x="0" y="0"/>
          <a:chExt cx="0" cy="0"/>
        </a:xfrm>
      </p:grpSpPr>
      <p:sp>
        <p:nvSpPr>
          <p:cNvPr id="1119" name="Google Shape;1119;p6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.accept() </a:t>
            </a:r>
            <a:endParaRPr/>
          </a:p>
        </p:txBody>
      </p:sp>
      <p:sp>
        <p:nvSpPr>
          <p:cNvPr id="1120" name="Google Shape;1120;p6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you now have a new socket object from .accept(). It’s the socket that you’ll use to communicate with the client. It’s distinct from the </a:t>
            </a:r>
            <a:r>
              <a:rPr lang="en-US" dirty="0">
                <a:highlight>
                  <a:srgbClr val="FFFF00"/>
                </a:highlight>
              </a:rPr>
              <a:t>listening socket </a:t>
            </a:r>
            <a:r>
              <a:rPr lang="en-US" dirty="0"/>
              <a:t>that </a:t>
            </a:r>
            <a:r>
              <a:rPr lang="en-US" dirty="0">
                <a:highlight>
                  <a:srgbClr val="FFFF00"/>
                </a:highlight>
              </a:rPr>
              <a:t>the server is using to accept new connections</a:t>
            </a:r>
            <a:endParaRPr dirty="0">
              <a:highlight>
                <a:srgbClr val="FFFF00"/>
              </a:highlight>
            </a:endParaRPr>
          </a:p>
        </p:txBody>
      </p:sp>
      <p:pic>
        <p:nvPicPr>
          <p:cNvPr id="1121" name="Google Shape;1121;p60"/>
          <p:cNvPicPr preferRelativeResize="0"/>
          <p:nvPr/>
        </p:nvPicPr>
        <p:blipFill rotWithShape="1">
          <a:blip r:embed="rId3">
            <a:alphaModFix/>
          </a:blip>
          <a:srcRect/>
          <a:stretch/>
        </p:blipFill>
        <p:spPr>
          <a:xfrm>
            <a:off x="3139522" y="3291574"/>
            <a:ext cx="5852667" cy="237764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connection object</a:t>
            </a:r>
            <a:endParaRPr/>
          </a:p>
        </p:txBody>
      </p:sp>
      <p:sp>
        <p:nvSpPr>
          <p:cNvPr id="1127" name="Google Shape;1127;p6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After .accept() provides the client socket object conn, an infinite while loop is used to loop over blocking calls to </a:t>
            </a:r>
            <a:r>
              <a:rPr lang="en-US" dirty="0" err="1"/>
              <a:t>conn.recv</a:t>
            </a:r>
            <a:r>
              <a:rPr lang="en-US" dirty="0"/>
              <a:t>(). This reads whatever data the client sends and echoes it back using </a:t>
            </a:r>
            <a:r>
              <a:rPr lang="en-US" dirty="0" err="1"/>
              <a:t>conn.sendall</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a:highlight>
                  <a:srgbClr val="FFFF00"/>
                </a:highlight>
              </a:rPr>
              <a:t>If </a:t>
            </a:r>
            <a:r>
              <a:rPr lang="en-US" dirty="0" err="1">
                <a:highlight>
                  <a:srgbClr val="FFFF00"/>
                </a:highlight>
              </a:rPr>
              <a:t>conn.recv</a:t>
            </a:r>
            <a:r>
              <a:rPr lang="en-US" dirty="0">
                <a:highlight>
                  <a:srgbClr val="FFFF00"/>
                </a:highlight>
              </a:rPr>
              <a:t>() returns an empty bytes object</a:t>
            </a:r>
            <a:r>
              <a:rPr lang="en-US" dirty="0"/>
              <a:t>, b'', that signals that the client closed the connection and the loop is terminated. The with statement is used with conn to automatically close the socket at the end of the block.</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31"/>
        <p:cNvGrpSpPr/>
        <p:nvPr/>
      </p:nvGrpSpPr>
      <p:grpSpPr>
        <a:xfrm>
          <a:off x="0" y="0"/>
          <a:ext cx="0" cy="0"/>
          <a:chOff x="0" y="0"/>
          <a:chExt cx="0" cy="0"/>
        </a:xfrm>
      </p:grpSpPr>
      <p:sp>
        <p:nvSpPr>
          <p:cNvPr id="1132" name="Google Shape;1132;p6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33" name="Google Shape;1133;p62"/>
          <p:cNvSpPr/>
          <p:nvPr/>
        </p:nvSpPr>
        <p:spPr>
          <a:xfrm rot="10800000">
            <a:off x="-3291" y="3296652"/>
            <a:ext cx="12202113" cy="3561346"/>
          </a:xfrm>
          <a:custGeom>
            <a:avLst/>
            <a:gdLst/>
            <a:ahLst/>
            <a:cxnLst/>
            <a:rect l="l" t="t" r="r" b="b"/>
            <a:pathLst>
              <a:path w="12202113" h="3188466" extrusionOk="0">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34" name="Google Shape;1134;p62"/>
          <p:cNvSpPr txBox="1">
            <a:spLocks noGrp="1"/>
          </p:cNvSpPr>
          <p:nvPr>
            <p:ph type="title"/>
          </p:nvPr>
        </p:nvSpPr>
        <p:spPr>
          <a:xfrm>
            <a:off x="838200" y="3905833"/>
            <a:ext cx="4215063" cy="239871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b="0" i="0">
                <a:latin typeface="Arial"/>
                <a:ea typeface="Arial"/>
                <a:cs typeface="Arial"/>
                <a:sym typeface="Arial"/>
              </a:rPr>
              <a:t>Client</a:t>
            </a:r>
            <a:endParaRPr/>
          </a:p>
        </p:txBody>
      </p:sp>
      <p:pic>
        <p:nvPicPr>
          <p:cNvPr id="1135" name="Google Shape;1135;p62" descr="A computer screen shot of a server&#10;&#10;Description automatically generated"/>
          <p:cNvPicPr preferRelativeResize="0"/>
          <p:nvPr/>
        </p:nvPicPr>
        <p:blipFill rotWithShape="1">
          <a:blip r:embed="rId3">
            <a:alphaModFix/>
          </a:blip>
          <a:srcRect/>
          <a:stretch/>
        </p:blipFill>
        <p:spPr>
          <a:xfrm>
            <a:off x="1523844" y="553454"/>
            <a:ext cx="9145480" cy="2469279"/>
          </a:xfrm>
          <a:prstGeom prst="rect">
            <a:avLst/>
          </a:prstGeom>
          <a:noFill/>
          <a:ln>
            <a:noFill/>
          </a:ln>
        </p:spPr>
      </p:pic>
      <p:sp>
        <p:nvSpPr>
          <p:cNvPr id="1136" name="Google Shape;1136;p62"/>
          <p:cNvSpPr txBox="1">
            <a:spLocks noGrp="1"/>
          </p:cNvSpPr>
          <p:nvPr>
            <p:ph type="body" idx="1"/>
          </p:nvPr>
        </p:nvSpPr>
        <p:spPr>
          <a:xfrm>
            <a:off x="5630779" y="3884452"/>
            <a:ext cx="5723021" cy="2398713"/>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n-US" sz="2000" dirty="0"/>
              <a:t>It creates a socket object, </a:t>
            </a:r>
            <a:r>
              <a:rPr lang="en-US" sz="2000" dirty="0">
                <a:highlight>
                  <a:srgbClr val="FFFF00"/>
                </a:highlight>
              </a:rPr>
              <a:t>uses .connect() to connect to the server and calls </a:t>
            </a:r>
            <a:r>
              <a:rPr lang="en-US" sz="2000" dirty="0" err="1">
                <a:highlight>
                  <a:srgbClr val="FFFF00"/>
                </a:highlight>
              </a:rPr>
              <a:t>s.sendall</a:t>
            </a:r>
            <a:r>
              <a:rPr lang="en-US" sz="2000" dirty="0">
                <a:highlight>
                  <a:srgbClr val="FFFF00"/>
                </a:highlight>
              </a:rPr>
              <a:t>() to send its message</a:t>
            </a:r>
            <a:r>
              <a:rPr lang="en-US" sz="2000" dirty="0"/>
              <a:t>. Lastly, </a:t>
            </a:r>
            <a:r>
              <a:rPr lang="en-US" sz="2000" dirty="0">
                <a:highlight>
                  <a:srgbClr val="FFFF00"/>
                </a:highlight>
              </a:rPr>
              <a:t>it calls </a:t>
            </a:r>
            <a:r>
              <a:rPr lang="en-US" sz="2000" dirty="0" err="1">
                <a:highlight>
                  <a:srgbClr val="FFFF00"/>
                </a:highlight>
              </a:rPr>
              <a:t>s.recv</a:t>
            </a:r>
            <a:r>
              <a:rPr lang="en-US" sz="2000" dirty="0">
                <a:highlight>
                  <a:srgbClr val="FFFF00"/>
                </a:highlight>
              </a:rPr>
              <a:t>() to read the server’s reply and then prints it</a:t>
            </a:r>
            <a:r>
              <a:rPr lang="en-US" sz="2000" dirty="0"/>
              <a:t>.</a:t>
            </a:r>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40"/>
        <p:cNvGrpSpPr/>
        <p:nvPr/>
      </p:nvGrpSpPr>
      <p:grpSpPr>
        <a:xfrm>
          <a:off x="0" y="0"/>
          <a:ext cx="0" cy="0"/>
          <a:chOff x="0" y="0"/>
          <a:chExt cx="0" cy="0"/>
        </a:xfrm>
      </p:grpSpPr>
      <p:sp>
        <p:nvSpPr>
          <p:cNvPr id="1141" name="Google Shape;1141;p6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2" name="Google Shape;1142;p63"/>
          <p:cNvSpPr/>
          <p:nvPr/>
        </p:nvSpPr>
        <p:spPr>
          <a:xfrm>
            <a:off x="0" y="0"/>
            <a:ext cx="12192000" cy="2146816"/>
          </a:xfrm>
          <a:prstGeom prst="rect">
            <a:avLst/>
          </a:prstGeom>
          <a:solidFill>
            <a:srgbClr val="D8D8D8">
              <a:alpha val="34901"/>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3" name="Google Shape;1143;p63"/>
          <p:cNvSpPr txBox="1">
            <a:spLocks noGrp="1"/>
          </p:cNvSpPr>
          <p:nvPr>
            <p:ph type="title"/>
          </p:nvPr>
        </p:nvSpPr>
        <p:spPr>
          <a:xfrm>
            <a:off x="5764783" y="349664"/>
            <a:ext cx="5845571" cy="1638377"/>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4800"/>
              <a:buFont typeface="Play"/>
              <a:buNone/>
            </a:pPr>
            <a:r>
              <a:rPr lang="en-US" sz="4800"/>
              <a:t>Viewing Socket State</a:t>
            </a:r>
            <a:endParaRPr/>
          </a:p>
        </p:txBody>
      </p:sp>
      <p:sp>
        <p:nvSpPr>
          <p:cNvPr id="1144" name="Google Shape;1144;p63"/>
          <p:cNvSpPr/>
          <p:nvPr/>
        </p:nvSpPr>
        <p:spPr>
          <a:xfrm>
            <a:off x="329185" y="424614"/>
            <a:ext cx="4647368" cy="277908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45" name="Google Shape;1145;p63"/>
          <p:cNvPicPr preferRelativeResize="0"/>
          <p:nvPr/>
        </p:nvPicPr>
        <p:blipFill rotWithShape="1">
          <a:blip r:embed="rId3">
            <a:alphaModFix/>
          </a:blip>
          <a:srcRect/>
          <a:stretch/>
        </p:blipFill>
        <p:spPr>
          <a:xfrm>
            <a:off x="534534" y="1470019"/>
            <a:ext cx="4235516" cy="688271"/>
          </a:xfrm>
          <a:prstGeom prst="rect">
            <a:avLst/>
          </a:prstGeom>
          <a:noFill/>
          <a:ln>
            <a:noFill/>
          </a:ln>
        </p:spPr>
      </p:pic>
      <p:sp>
        <p:nvSpPr>
          <p:cNvPr id="1146" name="Google Shape;1146;p63"/>
          <p:cNvSpPr/>
          <p:nvPr/>
        </p:nvSpPr>
        <p:spPr>
          <a:xfrm rot="5400000">
            <a:off x="-106441" y="6131892"/>
            <a:ext cx="524256"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7" name="Google Shape;1147;p63"/>
          <p:cNvSpPr/>
          <p:nvPr/>
        </p:nvSpPr>
        <p:spPr>
          <a:xfrm rot="-5400000" flipH="1">
            <a:off x="5998176" y="277912"/>
            <a:ext cx="524256" cy="11863390"/>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48" name="Google Shape;1148;p63"/>
          <p:cNvSpPr/>
          <p:nvPr/>
        </p:nvSpPr>
        <p:spPr>
          <a:xfrm>
            <a:off x="328608" y="3428999"/>
            <a:ext cx="4647368" cy="2779083"/>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49" name="Google Shape;1149;p63"/>
          <p:cNvPicPr preferRelativeResize="0"/>
          <p:nvPr/>
        </p:nvPicPr>
        <p:blipFill rotWithShape="1">
          <a:blip r:embed="rId4">
            <a:alphaModFix/>
          </a:blip>
          <a:srcRect/>
          <a:stretch/>
        </p:blipFill>
        <p:spPr>
          <a:xfrm>
            <a:off x="534534" y="4495582"/>
            <a:ext cx="4235516" cy="645915"/>
          </a:xfrm>
          <a:prstGeom prst="rect">
            <a:avLst/>
          </a:prstGeom>
          <a:noFill/>
          <a:ln>
            <a:noFill/>
          </a:ln>
        </p:spPr>
      </p:pic>
      <p:sp>
        <p:nvSpPr>
          <p:cNvPr id="1150" name="Google Shape;1150;p63"/>
          <p:cNvSpPr txBox="1">
            <a:spLocks noGrp="1"/>
          </p:cNvSpPr>
          <p:nvPr>
            <p:ph type="body" idx="1"/>
          </p:nvPr>
        </p:nvSpPr>
        <p:spPr>
          <a:xfrm>
            <a:off x="5766262" y="2620641"/>
            <a:ext cx="5837750" cy="3023702"/>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n-US" sz="2000"/>
              <a:t>To see the current state of sockets on your host, use netstat. It’s available by default on macOS, Linux, and Windows.</a:t>
            </a:r>
            <a:endParaRPr/>
          </a:p>
          <a:p>
            <a:pPr marL="228600" lvl="0" indent="-101600" algn="l" rtl="0">
              <a:lnSpc>
                <a:spcPct val="90000"/>
              </a:lnSpc>
              <a:spcBef>
                <a:spcPts val="1000"/>
              </a:spcBef>
              <a:spcAft>
                <a:spcPts val="0"/>
              </a:spcAft>
              <a:buClr>
                <a:schemeClr val="dk1"/>
              </a:buClr>
              <a:buSzPts val="2000"/>
              <a:buNone/>
            </a:pPr>
            <a:endParaRPr sz="2000"/>
          </a:p>
          <a:p>
            <a:pPr marL="228600" lvl="0" indent="-101600" algn="l" rtl="0">
              <a:lnSpc>
                <a:spcPct val="90000"/>
              </a:lnSpc>
              <a:spcBef>
                <a:spcPts val="1000"/>
              </a:spcBef>
              <a:spcAft>
                <a:spcPts val="0"/>
              </a:spcAft>
              <a:buClr>
                <a:schemeClr val="dk1"/>
              </a:buClr>
              <a:buSzPts val="2000"/>
              <a:buNone/>
            </a:pPr>
            <a:endParaRPr sz="2000"/>
          </a:p>
          <a:p>
            <a:pPr marL="228600" lvl="0" indent="-228600" algn="l" rtl="0">
              <a:lnSpc>
                <a:spcPct val="90000"/>
              </a:lnSpc>
              <a:spcBef>
                <a:spcPts val="1000"/>
              </a:spcBef>
              <a:spcAft>
                <a:spcPts val="0"/>
              </a:spcAft>
              <a:buClr>
                <a:schemeClr val="dk1"/>
              </a:buClr>
              <a:buSzPts val="2000"/>
              <a:buChar char="•"/>
            </a:pPr>
            <a:r>
              <a:rPr lang="en-US" sz="2000"/>
              <a:t>Notice that Local Address is 127.0.0.1.65432. If the server had used HOST = "" instead of HOST = "127.0.0.1", netstat would show this: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54"/>
        <p:cNvGrpSpPr/>
        <p:nvPr/>
      </p:nvGrpSpPr>
      <p:grpSpPr>
        <a:xfrm>
          <a:off x="0" y="0"/>
          <a:ext cx="0" cy="0"/>
          <a:chOff x="0" y="0"/>
          <a:chExt cx="0" cy="0"/>
        </a:xfrm>
      </p:grpSpPr>
      <p:sp>
        <p:nvSpPr>
          <p:cNvPr id="1155" name="Google Shape;1155;p64"/>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6" name="Google Shape;1156;p64"/>
          <p:cNvSpPr/>
          <p:nvPr/>
        </p:nvSpPr>
        <p:spPr>
          <a:xfrm>
            <a:off x="1" y="0"/>
            <a:ext cx="4167271" cy="6858000"/>
          </a:xfrm>
          <a:custGeom>
            <a:avLst/>
            <a:gdLst/>
            <a:ahLst/>
            <a:cxnLst/>
            <a:rect l="l" t="t" r="r" b="b"/>
            <a:pathLst>
              <a:path w="4167271" h="6858000" extrusionOk="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57" name="Google Shape;1157;p64"/>
          <p:cNvSpPr txBox="1">
            <a:spLocks noGrp="1"/>
          </p:cNvSpPr>
          <p:nvPr>
            <p:ph type="title"/>
          </p:nvPr>
        </p:nvSpPr>
        <p:spPr>
          <a:xfrm>
            <a:off x="686834" y="1153572"/>
            <a:ext cx="3200400" cy="44611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FFFF"/>
              </a:buClr>
              <a:buSzPts val="4400"/>
              <a:buFont typeface="Arial"/>
              <a:buNone/>
            </a:pPr>
            <a:r>
              <a:rPr lang="en-US" b="0" i="0">
                <a:solidFill>
                  <a:srgbClr val="FFFFFF"/>
                </a:solidFill>
                <a:latin typeface="Arial"/>
                <a:ea typeface="Arial"/>
                <a:cs typeface="Arial"/>
                <a:sym typeface="Arial"/>
              </a:rPr>
              <a:t>Local Address</a:t>
            </a:r>
            <a:endParaRPr>
              <a:solidFill>
                <a:srgbClr val="FFFFFF"/>
              </a:solidFill>
            </a:endParaRPr>
          </a:p>
        </p:txBody>
      </p:sp>
      <p:sp>
        <p:nvSpPr>
          <p:cNvPr id="1158" name="Google Shape;1158;p64"/>
          <p:cNvSpPr/>
          <p:nvPr/>
        </p:nvSpPr>
        <p:spPr>
          <a:xfrm rot="10800000" flipH="1">
            <a:off x="7550402" y="2455479"/>
            <a:ext cx="4083433" cy="4083433"/>
          </a:xfrm>
          <a:prstGeom prst="arc">
            <a:avLst>
              <a:gd name="adj1" fmla="val 16200000"/>
              <a:gd name="adj2" fmla="val 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sp>
        <p:nvSpPr>
          <p:cNvPr id="1159" name="Google Shape;1159;p64"/>
          <p:cNvSpPr txBox="1">
            <a:spLocks noGrp="1"/>
          </p:cNvSpPr>
          <p:nvPr>
            <p:ph type="body" idx="1"/>
          </p:nvPr>
        </p:nvSpPr>
        <p:spPr>
          <a:xfrm>
            <a:off x="4447308" y="591344"/>
            <a:ext cx="6906491" cy="5585619"/>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800"/>
              <a:buChar char="•"/>
            </a:pPr>
            <a:r>
              <a:rPr lang="en-US" dirty="0"/>
              <a:t>Local Address is </a:t>
            </a:r>
            <a:r>
              <a:rPr lang="en-US" i="1" dirty="0"/>
              <a:t>*.port,</a:t>
            </a:r>
            <a:r>
              <a:rPr lang="en-US" dirty="0"/>
              <a:t> which means all available host interfaces that support the address family will be used to accept incoming connections. </a:t>
            </a:r>
            <a:endParaRPr dirty="0"/>
          </a:p>
          <a:p>
            <a:pPr marL="228600" lvl="0" indent="-228600" algn="l" rtl="0">
              <a:lnSpc>
                <a:spcPct val="90000"/>
              </a:lnSpc>
              <a:spcBef>
                <a:spcPts val="1000"/>
              </a:spcBef>
              <a:spcAft>
                <a:spcPts val="0"/>
              </a:spcAft>
              <a:buClr>
                <a:schemeClr val="dk1"/>
              </a:buClr>
              <a:buSzPts val="2800"/>
              <a:buChar char="•"/>
            </a:pPr>
            <a:r>
              <a:rPr lang="en-US" dirty="0"/>
              <a:t>In this example, </a:t>
            </a:r>
            <a:r>
              <a:rPr lang="en-US" dirty="0" err="1">
                <a:highlight>
                  <a:srgbClr val="FFFF00"/>
                </a:highlight>
              </a:rPr>
              <a:t>socket.AF_INET</a:t>
            </a:r>
            <a:r>
              <a:rPr lang="en-US" dirty="0">
                <a:highlight>
                  <a:srgbClr val="FFFF00"/>
                </a:highlight>
              </a:rPr>
              <a:t> </a:t>
            </a:r>
            <a:r>
              <a:rPr lang="en-US" dirty="0"/>
              <a:t>was </a:t>
            </a:r>
            <a:r>
              <a:rPr lang="en-US" dirty="0">
                <a:highlight>
                  <a:srgbClr val="FFFF00"/>
                </a:highlight>
              </a:rPr>
              <a:t>used (IPv4) </a:t>
            </a:r>
            <a:r>
              <a:rPr lang="en-US" dirty="0"/>
              <a:t>in the call to socket(). You can see this in the Proto column: tcp4.</a:t>
            </a: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63"/>
        <p:cNvGrpSpPr/>
        <p:nvPr/>
      </p:nvGrpSpPr>
      <p:grpSpPr>
        <a:xfrm>
          <a:off x="0" y="0"/>
          <a:ext cx="0" cy="0"/>
          <a:chOff x="0" y="0"/>
          <a:chExt cx="0" cy="0"/>
        </a:xfrm>
      </p:grpSpPr>
      <p:sp>
        <p:nvSpPr>
          <p:cNvPr id="1164" name="Google Shape;1164;p6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65" name="Google Shape;1165;p65"/>
          <p:cNvSpPr/>
          <p:nvPr/>
        </p:nvSpPr>
        <p:spPr>
          <a:xfrm rot="3967198" flipH="1">
            <a:off x="8631348" y="490493"/>
            <a:ext cx="2987899" cy="2987899"/>
          </a:xfrm>
          <a:prstGeom prst="arc">
            <a:avLst>
              <a:gd name="adj1" fmla="val 14441841"/>
              <a:gd name="adj2" fmla="val 0"/>
            </a:avLst>
          </a:prstGeom>
          <a:noFill/>
          <a:ln w="127000" cap="rnd" cmpd="sng">
            <a:solidFill>
              <a:schemeClr val="accent4"/>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6" name="Google Shape;1166;p65"/>
          <p:cNvSpPr txBox="1">
            <a:spLocks noGrp="1"/>
          </p:cNvSpPr>
          <p:nvPr>
            <p:ph type="title"/>
          </p:nvPr>
        </p:nvSpPr>
        <p:spPr>
          <a:xfrm>
            <a:off x="5894962" y="479493"/>
            <a:ext cx="5458838"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Communication Breakdown</a:t>
            </a:r>
            <a:endParaRPr/>
          </a:p>
        </p:txBody>
      </p:sp>
      <p:sp>
        <p:nvSpPr>
          <p:cNvPr id="1167" name="Google Shape;1167;p65"/>
          <p:cNvSpPr/>
          <p:nvPr/>
        </p:nvSpPr>
        <p:spPr>
          <a:xfrm flipH="1">
            <a:off x="0" y="5486400"/>
            <a:ext cx="2672863" cy="1371600"/>
          </a:xfrm>
          <a:custGeom>
            <a:avLst/>
            <a:gdLst/>
            <a:ahLst/>
            <a:cxnLst/>
            <a:rect l="l" t="t" r="r" b="b"/>
            <a:pathLst>
              <a:path w="2672863" h="1371600" extrusionOk="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168" name="Google Shape;1168;p65" descr="Sockets loopback interface"/>
          <p:cNvPicPr preferRelativeResize="0"/>
          <p:nvPr/>
        </p:nvPicPr>
        <p:blipFill rotWithShape="1">
          <a:blip r:embed="rId3">
            <a:alphaModFix/>
          </a:blip>
          <a:srcRect/>
          <a:stretch/>
        </p:blipFill>
        <p:spPr>
          <a:xfrm>
            <a:off x="703182" y="1660101"/>
            <a:ext cx="4777381" cy="3368053"/>
          </a:xfrm>
          <a:custGeom>
            <a:avLst/>
            <a:gdLst/>
            <a:ahLst/>
            <a:cxnLst/>
            <a:rect l="l" t="t" r="r" b="b"/>
            <a:pathLst>
              <a:path w="4777381" h="5643794" extrusionOk="0">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169" name="Google Shape;1169;p65"/>
          <p:cNvSpPr txBox="1">
            <a:spLocks noGrp="1"/>
          </p:cNvSpPr>
          <p:nvPr>
            <p:ph type="body" idx="1"/>
          </p:nvPr>
        </p:nvSpPr>
        <p:spPr>
          <a:xfrm>
            <a:off x="5894962" y="1984443"/>
            <a:ext cx="5458838" cy="419252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400"/>
              <a:buChar char="•"/>
            </a:pPr>
            <a:r>
              <a:rPr lang="en-US" sz="2400"/>
              <a:t>When using the loopback interface (IPv4 address 127.0.0.1 or IPv6 address ::1), data never leaves the host or touches the external network. </a:t>
            </a:r>
            <a:endParaRPr/>
          </a:p>
          <a:p>
            <a:pPr marL="228600" lvl="0" indent="-228600" algn="l" rtl="0">
              <a:lnSpc>
                <a:spcPct val="90000"/>
              </a:lnSpc>
              <a:spcBef>
                <a:spcPts val="1000"/>
              </a:spcBef>
              <a:spcAft>
                <a:spcPts val="0"/>
              </a:spcAft>
              <a:buClr>
                <a:schemeClr val="dk1"/>
              </a:buClr>
              <a:buSzPts val="2400"/>
              <a:buChar char="•"/>
            </a:pPr>
            <a:r>
              <a:rPr lang="en-US" sz="2400"/>
              <a:t>In the diagram above, the loopback interface is contained inside the host. This represents the internal nature of the loopback interface and shows that connections and data that transit it are local to the host.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74" name="Google Shape;1174;p6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Loopback interface</a:t>
            </a:r>
            <a:endParaRPr/>
          </a:p>
        </p:txBody>
      </p:sp>
      <p:sp>
        <p:nvSpPr>
          <p:cNvPr id="1175" name="Google Shape;1175;p6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222222"/>
              </a:buClr>
              <a:buSzPts val="2800"/>
              <a:buChar char="•"/>
            </a:pPr>
            <a:r>
              <a:rPr lang="en-US" b="0" i="0">
                <a:solidFill>
                  <a:srgbClr val="222222"/>
                </a:solidFill>
                <a:latin typeface="Arial"/>
                <a:ea typeface="Arial"/>
                <a:cs typeface="Arial"/>
                <a:sym typeface="Arial"/>
              </a:rPr>
              <a:t>Applications use the loopback interface to communicate with other processes running on the host and for security and isolation from the external network. Because it’s internal and accessible only from within the host, it’s not exposed.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79"/>
        <p:cNvGrpSpPr/>
        <p:nvPr/>
      </p:nvGrpSpPr>
      <p:grpSpPr>
        <a:xfrm>
          <a:off x="0" y="0"/>
          <a:ext cx="0" cy="0"/>
          <a:chOff x="0" y="0"/>
          <a:chExt cx="0" cy="0"/>
        </a:xfrm>
      </p:grpSpPr>
      <p:sp>
        <p:nvSpPr>
          <p:cNvPr id="1180" name="Google Shape;1180;p6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181" name="Google Shape;1181;p67"/>
          <p:cNvSpPr txBox="1">
            <a:spLocks noGrp="1"/>
          </p:cNvSpPr>
          <p:nvPr>
            <p:ph type="title"/>
          </p:nvPr>
        </p:nvSpPr>
        <p:spPr>
          <a:xfrm>
            <a:off x="6769570" y="530578"/>
            <a:ext cx="4771178" cy="116011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pic>
        <p:nvPicPr>
          <p:cNvPr id="1182" name="Google Shape;1182;p67" descr="Sockets ethernet interface"/>
          <p:cNvPicPr preferRelativeResize="0"/>
          <p:nvPr/>
        </p:nvPicPr>
        <p:blipFill rotWithShape="1">
          <a:blip r:embed="rId3">
            <a:alphaModFix/>
          </a:blip>
          <a:srcRect/>
          <a:stretch/>
        </p:blipFill>
        <p:spPr>
          <a:xfrm>
            <a:off x="838199" y="1713296"/>
            <a:ext cx="5440195" cy="3318518"/>
          </a:xfrm>
          <a:custGeom>
            <a:avLst/>
            <a:gdLst/>
            <a:ahLst/>
            <a:cxnLst/>
            <a:rect l="l" t="t" r="r" b="b"/>
            <a:pathLst>
              <a:path w="4643496" h="5550370" extrusionOk="0">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a:noFill/>
          <a:ln>
            <a:noFill/>
          </a:ln>
        </p:spPr>
      </p:pic>
      <p:sp>
        <p:nvSpPr>
          <p:cNvPr id="1183" name="Google Shape;1183;p67"/>
          <p:cNvSpPr/>
          <p:nvPr/>
        </p:nvSpPr>
        <p:spPr>
          <a:xfrm rot="6269068">
            <a:off x="8717845" y="3339275"/>
            <a:ext cx="2987899" cy="2987899"/>
          </a:xfrm>
          <a:prstGeom prst="arc">
            <a:avLst>
              <a:gd name="adj1" fmla="val 14441841"/>
              <a:gd name="adj2" fmla="val 0"/>
            </a:avLst>
          </a:prstGeom>
          <a:noFill/>
          <a:ln w="127000" cap="rnd" cmpd="sng">
            <a:solidFill>
              <a:schemeClr val="accent4">
                <a:alpha val="94901"/>
              </a:schemeClr>
            </a:solidFill>
            <a:prstDash val="dash"/>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4" name="Google Shape;1184;p67"/>
          <p:cNvSpPr txBox="1">
            <a:spLocks noGrp="1"/>
          </p:cNvSpPr>
          <p:nvPr>
            <p:ph type="body" idx="1"/>
          </p:nvPr>
        </p:nvSpPr>
        <p:spPr>
          <a:xfrm>
            <a:off x="6769570" y="1825625"/>
            <a:ext cx="4771178" cy="438890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When you use an IP address other than 127.0.0.1 or ::1 in your applications, it’s probably bound to an Ethernet interface that’s connected to an external network. This is your gateway to other hosts outside of your “localhost” kingdom</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88"/>
        <p:cNvGrpSpPr/>
        <p:nvPr/>
      </p:nvGrpSpPr>
      <p:grpSpPr>
        <a:xfrm>
          <a:off x="0" y="0"/>
          <a:ext cx="0" cy="0"/>
          <a:chOff x="0" y="0"/>
          <a:chExt cx="0" cy="0"/>
        </a:xfrm>
      </p:grpSpPr>
      <p:sp>
        <p:nvSpPr>
          <p:cNvPr id="1189" name="Google Shape;1189;p6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endParaRPr/>
          </a:p>
        </p:txBody>
      </p:sp>
      <p:sp>
        <p:nvSpPr>
          <p:cNvPr id="1190" name="Google Shape;1190;p6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a:t>The bufsize argument of 1024 used above is the maximum amount of data to be received at once. It doesn’t mean that .recv() will return 1024 bytes.</a:t>
            </a: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64135" algn="l" rtl="0">
              <a:lnSpc>
                <a:spcPct val="90000"/>
              </a:lnSpc>
              <a:spcBef>
                <a:spcPts val="1000"/>
              </a:spcBef>
              <a:spcAft>
                <a:spcPts val="0"/>
              </a:spcAft>
              <a:buClr>
                <a:schemeClr val="dk1"/>
              </a:buClr>
              <a:buSzPct val="100000"/>
              <a:buNone/>
            </a:pPr>
            <a:endParaRPr/>
          </a:p>
          <a:p>
            <a:pPr marL="228600" lvl="0" indent="-228600" algn="l" rtl="0">
              <a:lnSpc>
                <a:spcPct val="90000"/>
              </a:lnSpc>
              <a:spcBef>
                <a:spcPts val="1000"/>
              </a:spcBef>
              <a:spcAft>
                <a:spcPts val="0"/>
              </a:spcAft>
              <a:buClr>
                <a:schemeClr val="dk1"/>
              </a:buClr>
              <a:buSzPct val="100000"/>
              <a:buChar char="•"/>
            </a:pPr>
            <a:r>
              <a:rPr lang="en-US"/>
              <a:t>The .send() method also behaves this way. It returns the number of bytes sent, which may be less than the size of the data passed in. You’re responsible for checking this and calling .send() as many times as needed to send all of the data</a:t>
            </a:r>
            <a:endParaRPr/>
          </a:p>
        </p:txBody>
      </p:sp>
      <p:pic>
        <p:nvPicPr>
          <p:cNvPr id="1191" name="Google Shape;1191;p68"/>
          <p:cNvPicPr preferRelativeResize="0"/>
          <p:nvPr/>
        </p:nvPicPr>
        <p:blipFill rotWithShape="1">
          <a:blip r:embed="rId3">
            <a:alphaModFix/>
          </a:blip>
          <a:srcRect/>
          <a:stretch/>
        </p:blipFill>
        <p:spPr>
          <a:xfrm>
            <a:off x="2622843" y="2704158"/>
            <a:ext cx="6454699" cy="188230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95"/>
        <p:cNvGrpSpPr/>
        <p:nvPr/>
      </p:nvGrpSpPr>
      <p:grpSpPr>
        <a:xfrm>
          <a:off x="0" y="0"/>
          <a:ext cx="0" cy="0"/>
          <a:chOff x="0" y="0"/>
          <a:chExt cx="0" cy="0"/>
        </a:xfrm>
      </p:grpSpPr>
      <p:sp>
        <p:nvSpPr>
          <p:cNvPr id="1196" name="Google Shape;1196;p69"/>
          <p:cNvSpPr txBox="1">
            <a:spLocks noGrp="1"/>
          </p:cNvSpPr>
          <p:nvPr>
            <p:ph type="title"/>
          </p:nvPr>
        </p:nvSpPr>
        <p:spPr>
          <a:xfrm>
            <a:off x="762001" y="1141711"/>
            <a:ext cx="3234466" cy="3474364"/>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How does the Kernel handle TCP requests?</a:t>
            </a:r>
            <a:endParaRPr/>
          </a:p>
        </p:txBody>
      </p:sp>
      <p:cxnSp>
        <p:nvCxnSpPr>
          <p:cNvPr id="1197" name="Google Shape;1197;p69"/>
          <p:cNvCxnSpPr/>
          <p:nvPr/>
        </p:nvCxnSpPr>
        <p:spPr>
          <a:xfrm>
            <a:off x="865140" y="871146"/>
            <a:ext cx="736939" cy="0"/>
          </a:xfrm>
          <a:prstGeom prst="straightConnector1">
            <a:avLst/>
          </a:prstGeom>
          <a:noFill/>
          <a:ln w="57150" cap="flat" cmpd="sng">
            <a:solidFill>
              <a:schemeClr val="accent4"/>
            </a:solidFill>
            <a:prstDash val="solid"/>
            <a:miter lim="800000"/>
            <a:headEnd type="none" w="sm" len="sm"/>
            <a:tailEnd type="none" w="sm" len="sm"/>
          </a:ln>
        </p:spPr>
      </p:cxnSp>
      <p:pic>
        <p:nvPicPr>
          <p:cNvPr id="1198" name="Google Shape;1198;p69" descr="alt"/>
          <p:cNvPicPr preferRelativeResize="0">
            <a:picLocks noGrp="1"/>
          </p:cNvPicPr>
          <p:nvPr>
            <p:ph type="body" idx="1"/>
          </p:nvPr>
        </p:nvPicPr>
        <p:blipFill rotWithShape="1">
          <a:blip r:embed="rId3">
            <a:alphaModFix/>
          </a:blip>
          <a:srcRect/>
          <a:stretch/>
        </p:blipFill>
        <p:spPr>
          <a:xfrm>
            <a:off x="4615543" y="1173870"/>
            <a:ext cx="6711317" cy="4530138"/>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sci4211-api">
  <a:themeElements>
    <a:clrScheme name="csci4211-ap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4440</Words>
  <Application>Microsoft Office PowerPoint</Application>
  <PresentationFormat>Widescreen</PresentationFormat>
  <Paragraphs>552</Paragraphs>
  <Slides>69</Slides>
  <Notes>69</Notes>
  <HiddenSlides>0</HiddenSlides>
  <MMClips>0</MMClips>
  <ScaleCrop>false</ScaleCrop>
  <HeadingPairs>
    <vt:vector size="8" baseType="variant">
      <vt:variant>
        <vt:lpstr>Fonts Used</vt:lpstr>
      </vt:variant>
      <vt:variant>
        <vt:i4>9</vt:i4>
      </vt:variant>
      <vt:variant>
        <vt:lpstr>Theme</vt:lpstr>
      </vt:variant>
      <vt:variant>
        <vt:i4>2</vt:i4>
      </vt:variant>
      <vt:variant>
        <vt:lpstr>Embedded OLE Servers</vt:lpstr>
      </vt:variant>
      <vt:variant>
        <vt:i4>1</vt:i4>
      </vt:variant>
      <vt:variant>
        <vt:lpstr>Slide Titles</vt:lpstr>
      </vt:variant>
      <vt:variant>
        <vt:i4>69</vt:i4>
      </vt:variant>
    </vt:vector>
  </HeadingPairs>
  <TitlesOfParts>
    <vt:vector size="81" baseType="lpstr">
      <vt:lpstr>Play</vt:lpstr>
      <vt:lpstr>Courier New</vt:lpstr>
      <vt:lpstr>Times New Roman</vt:lpstr>
      <vt:lpstr>Comic Sans MS</vt:lpstr>
      <vt:lpstr>Arial</vt:lpstr>
      <vt:lpstr>Noto Sans Symbols</vt:lpstr>
      <vt:lpstr>Tahoma</vt:lpstr>
      <vt:lpstr>Calibri</vt:lpstr>
      <vt:lpstr>Gill Sans</vt:lpstr>
      <vt:lpstr>Office Theme</vt:lpstr>
      <vt:lpstr>csci4211-api</vt:lpstr>
      <vt:lpstr>MS_ClipArt_Gallery.2</vt:lpstr>
      <vt:lpstr>Socket Programming</vt:lpstr>
      <vt:lpstr>Recap: Client-Server Communication Paradigm</vt:lpstr>
      <vt:lpstr>Client/server model</vt:lpstr>
      <vt:lpstr>Internet Connections (TCP/IP)</vt:lpstr>
      <vt:lpstr>Clients</vt:lpstr>
      <vt:lpstr>Using Ports to Identify Services</vt:lpstr>
      <vt:lpstr>Servers</vt:lpstr>
      <vt:lpstr>Sockets!</vt:lpstr>
      <vt:lpstr>What are sockets?</vt:lpstr>
      <vt:lpstr>PowerPoint Presentation</vt:lpstr>
      <vt:lpstr>How do Sockets releate to Applications?</vt:lpstr>
      <vt:lpstr>Socket programming</vt:lpstr>
      <vt:lpstr>Socket Programming: Basics</vt:lpstr>
      <vt:lpstr>Socket Programming: Analogy</vt:lpstr>
      <vt:lpstr>Client+server: connectionless</vt:lpstr>
      <vt:lpstr>Socket: conceptual view</vt:lpstr>
      <vt:lpstr>Socket programming</vt:lpstr>
      <vt:lpstr>BSD Socket Programming (connectionless)</vt:lpstr>
      <vt:lpstr>Socket programming with UDP</vt:lpstr>
      <vt:lpstr>Client/server socket interaction: UDP</vt:lpstr>
      <vt:lpstr>PowerPoint Presentation</vt:lpstr>
      <vt:lpstr>host</vt:lpstr>
      <vt:lpstr>serverSocket.bind((’’, serverPort)) </vt:lpstr>
      <vt:lpstr>message, clientAddress = serverSocket.recvfrom(2048) </vt:lpstr>
      <vt:lpstr>modifiedMessage = message.decode().upper() </vt:lpstr>
      <vt:lpstr>serverSocket.sendto(modifiedMessage.encode(), clientAddress) </vt:lpstr>
      <vt:lpstr>PowerPoint Presentation</vt:lpstr>
      <vt:lpstr>from socket import *</vt:lpstr>
      <vt:lpstr>clientSocket = socket(AF_INET, SOCK_DGRAM)</vt:lpstr>
      <vt:lpstr>message = input(’Input lowercase sentence:’) </vt:lpstr>
      <vt:lpstr>clientSocket.sendto(message.encode(), (serverHost, serverPort)) </vt:lpstr>
      <vt:lpstr>modifiedMessage, serverAddress = clientSocket.recvfrom(2048) </vt:lpstr>
      <vt:lpstr>print(modifiedMessage.decode())</vt:lpstr>
      <vt:lpstr>clientSocket.close()</vt:lpstr>
      <vt:lpstr>BSD Socket Programming Flows (connection-oriented)</vt:lpstr>
      <vt:lpstr>Socket programming with TCP</vt:lpstr>
      <vt:lpstr>Socket programming with TCP</vt:lpstr>
      <vt:lpstr>Client/server socket interaction: TCP</vt:lpstr>
      <vt:lpstr>PowerPoint Presentation</vt:lpstr>
      <vt:lpstr>PowerPoint Presentation</vt:lpstr>
      <vt:lpstr>serverSocket=socket(AF_INET,SOCK_STREAM)</vt:lpstr>
      <vt:lpstr>serverSocket.listen(1) </vt:lpstr>
      <vt:lpstr>connectionSocket, addr = serverSocket.accept() </vt:lpstr>
      <vt:lpstr>connectionSocket.close() </vt:lpstr>
      <vt:lpstr>PowerPoint Presentation</vt:lpstr>
      <vt:lpstr>clientSocket = socket(AF_INET, SOCK_STREAM) </vt:lpstr>
      <vt:lpstr>clientSocket.connect((serverName,serverPort)) </vt:lpstr>
      <vt:lpstr>sentence = input(’Input lowercase sentence:’) </vt:lpstr>
      <vt:lpstr>clientSocket.send(sentence.encode()) </vt:lpstr>
      <vt:lpstr>modifiedSentence = clientSocket.recv(2048) </vt:lpstr>
      <vt:lpstr>clientSocket.close() </vt:lpstr>
      <vt:lpstr>Two Different Server Behaviors</vt:lpstr>
      <vt:lpstr>socket.socket()</vt:lpstr>
      <vt:lpstr>.bind()</vt:lpstr>
      <vt:lpstr>port</vt:lpstr>
      <vt:lpstr>a note on using hostnames with .bind()</vt:lpstr>
      <vt:lpstr>.listen()</vt:lpstr>
      <vt:lpstr>backlog </vt:lpstr>
      <vt:lpstr>.accept() </vt:lpstr>
      <vt:lpstr>.accept() </vt:lpstr>
      <vt:lpstr>connection object</vt:lpstr>
      <vt:lpstr>Client</vt:lpstr>
      <vt:lpstr>Viewing Socket State</vt:lpstr>
      <vt:lpstr>Local Address</vt:lpstr>
      <vt:lpstr>Communication Breakdown</vt:lpstr>
      <vt:lpstr>Loopback interface</vt:lpstr>
      <vt:lpstr>PowerPoint Presentation</vt:lpstr>
      <vt:lpstr>PowerPoint Presentation</vt:lpstr>
      <vt:lpstr>How does the Kernel handle TCP requests?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Ly Vu</dc:creator>
  <cp:lastModifiedBy>Hoài Nam Nguyễn</cp:lastModifiedBy>
  <cp:revision>5</cp:revision>
  <dcterms:created xsi:type="dcterms:W3CDTF">2025-01-03T16:12:19Z</dcterms:created>
  <dcterms:modified xsi:type="dcterms:W3CDTF">2025-07-16T04:09:32Z</dcterms:modified>
</cp:coreProperties>
</file>