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1291" r:id="rId2"/>
    <p:sldId id="956" r:id="rId3"/>
    <p:sldId id="1164" r:id="rId4"/>
    <p:sldId id="1165" r:id="rId5"/>
    <p:sldId id="1166" r:id="rId6"/>
    <p:sldId id="1167" r:id="rId7"/>
    <p:sldId id="1169" r:id="rId8"/>
    <p:sldId id="1171" r:id="rId9"/>
    <p:sldId id="1172" r:id="rId10"/>
    <p:sldId id="1174" r:id="rId11"/>
    <p:sldId id="1175" r:id="rId12"/>
    <p:sldId id="1176" r:id="rId13"/>
    <p:sldId id="1177" r:id="rId14"/>
    <p:sldId id="1178" r:id="rId15"/>
    <p:sldId id="1179" r:id="rId16"/>
    <p:sldId id="1180" r:id="rId17"/>
    <p:sldId id="1181" r:id="rId18"/>
    <p:sldId id="1182" r:id="rId19"/>
    <p:sldId id="1183" r:id="rId20"/>
    <p:sldId id="1184" r:id="rId21"/>
    <p:sldId id="1185" r:id="rId22"/>
    <p:sldId id="1186" r:id="rId23"/>
    <p:sldId id="1192" r:id="rId24"/>
    <p:sldId id="1193" r:id="rId25"/>
    <p:sldId id="1194" r:id="rId26"/>
    <p:sldId id="1195" r:id="rId27"/>
    <p:sldId id="1196" r:id="rId28"/>
    <p:sldId id="1197" r:id="rId29"/>
    <p:sldId id="1198" r:id="rId30"/>
    <p:sldId id="1200" r:id="rId31"/>
    <p:sldId id="1201" r:id="rId32"/>
    <p:sldId id="1202" r:id="rId33"/>
    <p:sldId id="1203" r:id="rId34"/>
    <p:sldId id="1190" r:id="rId35"/>
    <p:sldId id="1191" r:id="rId36"/>
    <p:sldId id="1206" r:id="rId37"/>
    <p:sldId id="1207" r:id="rId38"/>
    <p:sldId id="1208" r:id="rId39"/>
    <p:sldId id="1209" r:id="rId40"/>
    <p:sldId id="1211" r:id="rId41"/>
    <p:sldId id="1212" r:id="rId42"/>
    <p:sldId id="1213" r:id="rId43"/>
    <p:sldId id="1214" r:id="rId44"/>
    <p:sldId id="1223" r:id="rId45"/>
    <p:sldId id="1290" r:id="rId46"/>
    <p:sldId id="1224" r:id="rId47"/>
    <p:sldId id="1233" r:id="rId48"/>
    <p:sldId id="122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1162" autoAdjust="0"/>
  </p:normalViewPr>
  <p:slideViewPr>
    <p:cSldViewPr snapToGrid="0" snapToObjects="1">
      <p:cViewPr varScale="1">
        <p:scale>
          <a:sx n="101" d="100"/>
          <a:sy n="101" d="100"/>
        </p:scale>
        <p:origin x="564" y="102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91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66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1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62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08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48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77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2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76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26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23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80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789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82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183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70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87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588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2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46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298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76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25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807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81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386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004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270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586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06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573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257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8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wmf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wm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wmf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wmf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wmf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wmf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wmf"/><Relationship Id="rId5" Type="http://schemas.openxmlformats.org/officeDocument/2006/relationships/image" Target="../media/image12.wmf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wmf"/><Relationship Id="rId4" Type="http://schemas.openxmlformats.org/officeDocument/2006/relationships/image" Target="../media/image4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8014F5-A542-3E64-6F58-4D8BF3F00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Secure Network Programming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DF52BA-CE64-4F6E-78BA-3E8AB30147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7C869-C6F5-CB76-3F90-8A8173EE1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Chapter goals: </a:t>
            </a:r>
          </a:p>
          <a:p>
            <a:r>
              <a:rPr lang="en-US" dirty="0"/>
              <a:t>understand principles of network security: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cryptography and its </a:t>
            </a:r>
            <a:r>
              <a:rPr lang="en-US" i="1" dirty="0"/>
              <a:t>many</a:t>
            </a:r>
            <a:r>
              <a:rPr lang="en-US" dirty="0"/>
              <a:t> uses beyond “</a:t>
            </a:r>
            <a:r>
              <a:rPr lang="en-US" altLang="ja-JP" dirty="0"/>
              <a:t>confidentiality”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message integrity</a:t>
            </a:r>
          </a:p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</a:t>
            </a:r>
            <a:r>
              <a:rPr lang="en-US" dirty="0">
                <a:highlight>
                  <a:srgbClr val="FFFF00"/>
                </a:highlight>
              </a:rPr>
              <a:t>application</a:t>
            </a:r>
            <a:r>
              <a:rPr lang="en-US" dirty="0"/>
              <a:t>, transport, network, link layers</a:t>
            </a:r>
          </a:p>
        </p:txBody>
      </p:sp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Security in Networks?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highlight>
                  <a:srgbClr val="FFFF00"/>
                </a:highlight>
              </a:rPr>
              <a:t>confidentiality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dirty="0"/>
              <a:t>only sender, intended receiver should “</a:t>
            </a:r>
            <a:r>
              <a:rPr lang="en-US" altLang="ja-JP" dirty="0"/>
              <a:t>understand” message contents</a:t>
            </a:r>
          </a:p>
          <a:p>
            <a:pPr lvl="1"/>
            <a:r>
              <a:rPr lang="en-US" sz="2800" dirty="0"/>
              <a:t>sender encrypts message</a:t>
            </a:r>
          </a:p>
          <a:p>
            <a:pPr lvl="1"/>
            <a:r>
              <a:rPr lang="en-US" sz="28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highlight>
                  <a:srgbClr val="FFFF00"/>
                </a:highlight>
              </a:rPr>
              <a:t>authentication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highlight>
                  <a:srgbClr val="FFFF00"/>
                </a:highlight>
              </a:rPr>
              <a:t>message integrity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highlight>
                  <a:srgbClr val="FFFF00"/>
                </a:highlight>
              </a:rPr>
              <a:t>access and availability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services must be accessible and available to users</a:t>
            </a:r>
          </a:p>
        </p:txBody>
      </p:sp>
    </p:spTree>
    <p:extLst>
      <p:ext uri="{BB962C8B-B14F-4D97-AF65-F5344CB8AC3E}">
        <p14:creationId xmlns:p14="http://schemas.microsoft.com/office/powerpoint/2010/main" val="40115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2E102F-B559-D74C-B1F7-42B1D4330A9B}"/>
              </a:ext>
            </a:extLst>
          </p:cNvPr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F546669-9553-174C-8C04-88D4B8B5E631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87D9967-A24E-F544-9A59-FD2A48433B92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93D35B-8FAD-964F-98EB-85771990F25E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FC56D7B-912D-134F-A0C1-5929F034B9E3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41783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(lovers!)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pic>
        <p:nvPicPr>
          <p:cNvPr id="7" name="Picture 6" descr="Alice">
            <a:extLst>
              <a:ext uri="{FF2B5EF4-FFF2-40B4-BE49-F238E27FC236}">
                <a16:creationId xmlns:a16="http://schemas.microsoft.com/office/drawing/2014/main" id="{D41C01D5-C522-4441-86E3-6D530C05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Bob">
            <a:extLst>
              <a:ext uri="{FF2B5EF4-FFF2-40B4-BE49-F238E27FC236}">
                <a16:creationId xmlns:a16="http://schemas.microsoft.com/office/drawing/2014/main" id="{27314ED6-3AD0-5E4A-B3AB-B14814BF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Eve">
            <a:extLst>
              <a:ext uri="{FF2B5EF4-FFF2-40B4-BE49-F238E27FC236}">
                <a16:creationId xmlns:a16="http://schemas.microsoft.com/office/drawing/2014/main" id="{C36C7116-CBC3-4246-B029-205ED76E3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</p:spPr>
      </p:pic>
      <p:sp>
        <p:nvSpPr>
          <p:cNvPr id="10" name="Rectangle 11">
            <a:extLst>
              <a:ext uri="{FF2B5EF4-FFF2-40B4-BE49-F238E27FC236}">
                <a16:creationId xmlns:a16="http://schemas.microsoft.com/office/drawing/2014/main" id="{A92F29AA-F23F-2547-B160-DA6CE27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6E3E372-2ADE-2A43-9779-A64AB5B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17176-141A-5F47-AE82-67DD4D8411A3}"/>
              </a:ext>
            </a:extLst>
          </p:cNvPr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386017F-3A55-9C49-945C-0928FAED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F0FE550-BD73-1149-8513-63C825B3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5" name="Text Box 18">
            <a:extLst>
              <a:ext uri="{FF2B5EF4-FFF2-40B4-BE49-F238E27FC236}">
                <a16:creationId xmlns:a16="http://schemas.microsoft.com/office/drawing/2014/main" id="{2871BD83-FEA5-F04B-9AD0-59A6E9B63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ED0D5246-4FE6-EB49-A4F4-63EFE600E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39338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B737BEF-635E-0B4E-9C2B-7E984A418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6672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A088F030-4F36-0E40-BDB5-E25C442E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CAD963E2-1C4F-3E4B-8B7E-980218B6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0862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Freeform 25">
            <a:extLst>
              <a:ext uri="{FF2B5EF4-FFF2-40B4-BE49-F238E27FC236}">
                <a16:creationId xmlns:a16="http://schemas.microsoft.com/office/drawing/2014/main" id="{AB38AEF3-BCB8-E74B-A27C-43FD3B8F6715}"/>
              </a:ext>
            </a:extLst>
          </p:cNvPr>
          <p:cNvSpPr>
            <a:spLocks/>
          </p:cNvSpPr>
          <p:nvPr/>
        </p:nvSpPr>
        <p:spPr bwMode="auto">
          <a:xfrm>
            <a:off x="4517059" y="4765930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Freeform 26">
            <a:extLst>
              <a:ext uri="{FF2B5EF4-FFF2-40B4-BE49-F238E27FC236}">
                <a16:creationId xmlns:a16="http://schemas.microsoft.com/office/drawing/2014/main" id="{7C6916B8-170A-BB43-A2C3-595906F3DF83}"/>
              </a:ext>
            </a:extLst>
          </p:cNvPr>
          <p:cNvSpPr>
            <a:spLocks/>
          </p:cNvSpPr>
          <p:nvPr/>
        </p:nvSpPr>
        <p:spPr bwMode="auto">
          <a:xfrm flipH="1">
            <a:off x="5191747" y="477909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EF78E35C-D23D-F54E-B7D2-D0B863099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644462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F78D243C-DAD1-2545-8A7F-EFA46953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0EA62CC-094B-3C41-A09D-B3C2234B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673293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6801AEE1-C5DF-2E4D-A000-7105881F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9914A3F1-3112-2F44-A2A9-D16F0B8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43A34027-1F74-E84A-8D3E-88B03152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7911D325-AAB9-0840-9130-68C94E244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</p:spTree>
    <p:extLst>
      <p:ext uri="{BB962C8B-B14F-4D97-AF65-F5344CB8AC3E}">
        <p14:creationId xmlns:p14="http://schemas.microsoft.com/office/powerpoint/2010/main" val="25009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-117475">
              <a:buNone/>
            </a:pPr>
            <a:r>
              <a:rPr lang="en-US" sz="3200" dirty="0"/>
              <a:t>Who might Bob and Alice be?</a:t>
            </a:r>
          </a:p>
          <a:p>
            <a:pPr marL="461963" indent="-250825"/>
            <a:r>
              <a:rPr lang="en-US" dirty="0"/>
              <a:t>… well, </a:t>
            </a:r>
            <a:r>
              <a:rPr lang="en-US" i="1" dirty="0"/>
              <a:t>real-life</a:t>
            </a:r>
            <a:r>
              <a:rPr lang="en-US" dirty="0"/>
              <a:t> Bobs and Alices!</a:t>
            </a:r>
          </a:p>
          <a:p>
            <a:pPr marL="461963" indent="-250825"/>
            <a:r>
              <a:rPr lang="en-US" dirty="0"/>
              <a:t>Web browser/server for electronic transactions (e.g., on-line purchases)</a:t>
            </a:r>
          </a:p>
          <a:p>
            <a:pPr marL="461963" indent="-250825"/>
            <a:r>
              <a:rPr lang="en-US" dirty="0"/>
              <a:t>on-line banking client/server</a:t>
            </a:r>
          </a:p>
          <a:p>
            <a:pPr marL="461963" indent="-250825"/>
            <a:r>
              <a:rPr lang="en-US" dirty="0"/>
              <a:t>DNS servers</a:t>
            </a:r>
          </a:p>
          <a:p>
            <a:pPr marL="461963" indent="-250825"/>
            <a:r>
              <a:rPr lang="en-US" dirty="0"/>
              <a:t>BGP routers exchanging routing table updates</a:t>
            </a:r>
          </a:p>
          <a:p>
            <a:pPr marL="461963" indent="-250825"/>
            <a:r>
              <a:rPr lang="en-US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17386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There are bad guys (and girls) out there!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Q: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What can a “</a:t>
            </a:r>
            <a:r>
              <a:rPr lang="en-US" altLang="ja-JP" dirty="0"/>
              <a:t>bad guy” do?</a:t>
            </a:r>
          </a:p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A: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A lot! (recall section 1.6)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eavesdrop: </a:t>
            </a:r>
            <a:r>
              <a:rPr lang="en-US" sz="2800" dirty="0"/>
              <a:t>intercept messages</a:t>
            </a:r>
          </a:p>
          <a:p>
            <a:pPr lvl="1"/>
            <a:r>
              <a:rPr lang="en-US" sz="2800" dirty="0"/>
              <a:t>actively </a:t>
            </a:r>
            <a:r>
              <a:rPr lang="en-US" sz="2800" dirty="0">
                <a:solidFill>
                  <a:srgbClr val="C00000"/>
                </a:solidFill>
              </a:rPr>
              <a:t>insert</a:t>
            </a:r>
            <a:r>
              <a:rPr lang="en-US" sz="2800" dirty="0"/>
              <a:t> messages into connection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impersonation: </a:t>
            </a:r>
            <a:r>
              <a:rPr lang="en-US" sz="2800" dirty="0"/>
              <a:t>can fake (spoof) source address in packet (or any field in packet)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hijacking: </a:t>
            </a:r>
            <a:r>
              <a:rPr lang="en-US" altLang="ja-JP" sz="2800" dirty="0"/>
              <a:t>“take over” ongoing connection by removing sender or receiver, inserting himself in place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denial of service: </a:t>
            </a:r>
            <a:r>
              <a:rPr lang="en-US" sz="2800" dirty="0"/>
              <a:t>prevent service from being used by others (e.g.,  by overloading resources)</a:t>
            </a:r>
          </a:p>
          <a:p>
            <a:pPr marL="461963" indent="-2508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7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641910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644056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757022-6774-C94A-BAA4-D350B1EA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648985"/>
            <a:ext cx="1455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A</a:t>
              </a:r>
            </a:p>
          </p:txBody>
        </p:sp>
      </p:grpSp>
      <p:pic>
        <p:nvPicPr>
          <p:cNvPr id="10" name="Picture 11" descr="Alice">
            <a:extLst>
              <a:ext uri="{FF2B5EF4-FFF2-40B4-BE49-F238E27FC236}">
                <a16:creationId xmlns:a16="http://schemas.microsoft.com/office/drawing/2014/main" id="{0452868E-2DCB-044D-8E12-3E12E050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Eve">
            <a:extLst>
              <a:ext uri="{FF2B5EF4-FFF2-40B4-BE49-F238E27FC236}">
                <a16:creationId xmlns:a16="http://schemas.microsoft.com/office/drawing/2014/main" id="{5FB61849-AF28-B748-AC63-D36BB6A42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D7A11F5F-767A-EC4C-B0AA-6D4085AF7666}"/>
              </a:ext>
            </a:extLst>
          </p:cNvPr>
          <p:cNvSpPr>
            <a:spLocks/>
          </p:cNvSpPr>
          <p:nvPr/>
        </p:nvSpPr>
        <p:spPr bwMode="auto">
          <a:xfrm>
            <a:off x="4933606" y="3156641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570F99C-C488-E54E-B34B-F9DE1A458E77}"/>
              </a:ext>
            </a:extLst>
          </p:cNvPr>
          <p:cNvSpPr>
            <a:spLocks/>
          </p:cNvSpPr>
          <p:nvPr/>
        </p:nvSpPr>
        <p:spPr bwMode="auto">
          <a:xfrm flipH="1">
            <a:off x="5608294" y="3155054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0B23DD9-B76B-B44C-8FA0-D0B4E6E0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19" y="1529453"/>
            <a:ext cx="1824038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Alice’</a:t>
            </a:r>
            <a:r>
              <a:rPr lang="en-US" altLang="ja-JP" sz="2400" dirty="0">
                <a:latin typeface="+mn-lt"/>
                <a:cs typeface="Arial" charset="0"/>
              </a:rPr>
              <a:t>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encryption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809532EF-4B73-154F-9DF4-49771781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556" y="1597716"/>
            <a:ext cx="1657350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Bob</a:t>
            </a:r>
            <a:r>
              <a:rPr lang="en-US" altLang="ja-JP" sz="2400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decryption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pic>
        <p:nvPicPr>
          <p:cNvPr id="23" name="Picture 24" descr="Bob">
            <a:extLst>
              <a:ext uri="{FF2B5EF4-FFF2-40B4-BE49-F238E27FC236}">
                <a16:creationId xmlns:a16="http://schemas.microsoft.com/office/drawing/2014/main" id="{B7CDFDA3-AD05-5641-9F13-C959774E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18CDF60A-5D15-834D-BFE1-94FFE10C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cryptography</a:t>
            </a:r>
            <a:endParaRPr lang="en-US" sz="4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469633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471779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10" name="Picture 11" descr="Alice">
            <a:extLst>
              <a:ext uri="{FF2B5EF4-FFF2-40B4-BE49-F238E27FC236}">
                <a16:creationId xmlns:a16="http://schemas.microsoft.com/office/drawing/2014/main" id="{0452868E-2DCB-044D-8E12-3E12E050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pic>
        <p:nvPicPr>
          <p:cNvPr id="23" name="Picture 24" descr="Bob">
            <a:extLst>
              <a:ext uri="{FF2B5EF4-FFF2-40B4-BE49-F238E27FC236}">
                <a16:creationId xmlns:a16="http://schemas.microsoft.com/office/drawing/2014/main" id="{B7CDFDA3-AD05-5641-9F13-C959774E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7">
            <a:extLst>
              <a:ext uri="{FF2B5EF4-FFF2-40B4-BE49-F238E27FC236}">
                <a16:creationId xmlns:a16="http://schemas.microsoft.com/office/drawing/2014/main" id="{23D78889-5D58-7B49-852E-A4D7CE204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2F4A5A09-FA83-434F-92C3-28E1DB3E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K  (m)</a:t>
            </a:r>
          </a:p>
        </p:txBody>
      </p:sp>
      <p:sp>
        <p:nvSpPr>
          <p:cNvPr id="41" name="Text Box 28">
            <a:extLst>
              <a:ext uri="{FF2B5EF4-FFF2-40B4-BE49-F238E27FC236}">
                <a16:creationId xmlns:a16="http://schemas.microsoft.com/office/drawing/2014/main" id="{B230A58D-9373-144C-92D9-84B3F53C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S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D5E2051B-B645-DE43-BBCC-96C0307D24A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</a:t>
            </a:r>
            <a:r>
              <a:rPr lang="en-US" sz="3200" dirty="0"/>
              <a:t>: Bob and Alice share same (symmetric) key: K</a:t>
            </a:r>
          </a:p>
          <a:p>
            <a:r>
              <a:rPr lang="en-US" i="1" dirty="0"/>
              <a:t>e.g., </a:t>
            </a:r>
            <a:r>
              <a:rPr lang="en-US" dirty="0"/>
              <a:t>key is knowing substitution pattern in mono alphabetic substitution cipher</a:t>
            </a: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i="1" u="sng" dirty="0">
                <a:solidFill>
                  <a:srgbClr val="C00000"/>
                </a:solidFill>
              </a:rPr>
              <a:t>Q: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how do Bob and Alice agree on key value?</a:t>
            </a:r>
            <a:endParaRPr lang="en-US" sz="3200" i="1" dirty="0"/>
          </a:p>
        </p:txBody>
      </p: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98A2B4F2-C89B-C344-A03B-58164B0C8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substitution cipher: </a:t>
            </a:r>
            <a:r>
              <a:rPr lang="en-US" dirty="0"/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/>
              <a:t>monoalphabetic cipher: substitute one letter for another</a:t>
            </a:r>
            <a:endParaRPr lang="en-US" sz="3200" dirty="0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+mn-lt"/>
              </a:rPr>
              <a:t>Encryption key: </a:t>
            </a:r>
            <a:r>
              <a:rPr lang="en-US" sz="3200" dirty="0">
                <a:latin typeface="+mn-lt"/>
              </a:rPr>
              <a:t>mapping from set of 26 letters</a:t>
            </a:r>
          </a:p>
          <a:p>
            <a:r>
              <a:rPr lang="en-US" sz="3200" dirty="0">
                <a:latin typeface="+mn-lt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crypto: DES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37BF43-2D44-0746-9CC6-CB87B013203F}"/>
              </a:ext>
            </a:extLst>
          </p:cNvPr>
          <p:cNvSpPr txBox="1">
            <a:spLocks noChangeArrowheads="1"/>
          </p:cNvSpPr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DES: Data Encryption Standard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US encryption standard [NIST 1993]</a:t>
            </a:r>
          </a:p>
          <a:p>
            <a:r>
              <a:rPr lang="en-US" dirty="0"/>
              <a:t>56-bit symmetric key, 64-bit plaintext input</a:t>
            </a:r>
          </a:p>
          <a:p>
            <a:r>
              <a:rPr lang="en-US" dirty="0"/>
              <a:t>block cipher with cipher block chaining</a:t>
            </a:r>
          </a:p>
          <a:p>
            <a:r>
              <a:rPr lang="en-US" dirty="0"/>
              <a:t>how secure is DES?</a:t>
            </a:r>
          </a:p>
          <a:p>
            <a:pPr lvl="1"/>
            <a:r>
              <a:rPr lang="en-US" sz="2800" dirty="0"/>
              <a:t>DES Challenge: 56-bit-key-encrypted phrase  decrypted (brute force) in less than a day</a:t>
            </a:r>
          </a:p>
          <a:p>
            <a:pPr lvl="1"/>
            <a:r>
              <a:rPr lang="en-US" sz="2800" dirty="0"/>
              <a:t>no known good analytic attack</a:t>
            </a:r>
          </a:p>
          <a:p>
            <a:r>
              <a:rPr lang="en-US" dirty="0"/>
              <a:t>making DES more secure:</a:t>
            </a:r>
          </a:p>
          <a:p>
            <a:pPr lvl="1"/>
            <a:r>
              <a:rPr lang="en-US" sz="2800" dirty="0"/>
              <a:t>3DES: encrypt 3 times with 3 different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AES: Advanced Encryption Standard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667AF7-BF48-5243-985F-E9DDCE1AFF39}"/>
              </a:ext>
            </a:extLst>
          </p:cNvPr>
          <p:cNvSpPr txBox="1">
            <a:spLocks noChangeArrowheads="1"/>
          </p:cNvSpPr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symmetric-key NIST standard, replaced DES (Nov 2001)</a:t>
            </a:r>
          </a:p>
          <a:p>
            <a:r>
              <a:rPr lang="en-US" sz="3200" dirty="0"/>
              <a:t>processes data in 128 bit blocks</a:t>
            </a:r>
          </a:p>
          <a:p>
            <a:r>
              <a:rPr lang="en-US" sz="3200" dirty="0"/>
              <a:t>128, 192, or 256 bit keys</a:t>
            </a:r>
          </a:p>
          <a:p>
            <a:r>
              <a:rPr lang="en-US" sz="3200" dirty="0"/>
              <a:t>brute force decryption (try each key) taking 1 sec on DES, takes 149 trillion years for AES</a:t>
            </a:r>
          </a:p>
        </p:txBody>
      </p:sp>
    </p:spTree>
    <p:extLst>
      <p:ext uri="{BB962C8B-B14F-4D97-AF65-F5344CB8AC3E}">
        <p14:creationId xmlns:p14="http://schemas.microsoft.com/office/powerpoint/2010/main" val="9921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9" name="Picture 5" descr="Alice">
            <a:extLst>
              <a:ext uri="{FF2B5EF4-FFF2-40B4-BE49-F238E27FC236}">
                <a16:creationId xmlns:a16="http://schemas.microsoft.com/office/drawing/2014/main" id="{DA4FFCE3-3AE4-544C-8D5B-C3BA4367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12" descr="Bob">
            <a:extLst>
              <a:ext uri="{FF2B5EF4-FFF2-40B4-BE49-F238E27FC236}">
                <a16:creationId xmlns:a16="http://schemas.microsoft.com/office/drawing/2014/main" id="{C0216B91-AA56-D447-82C5-145B19963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" name="Group 29">
            <a:extLst>
              <a:ext uri="{FF2B5EF4-FFF2-40B4-BE49-F238E27FC236}">
                <a16:creationId xmlns:a16="http://schemas.microsoft.com/office/drawing/2014/main" id="{7BD7980D-FCF0-3C4A-93D5-EAE9F1C3020E}"/>
              </a:ext>
            </a:extLst>
          </p:cNvPr>
          <p:cNvGrpSpPr>
            <a:grpSpLocks/>
          </p:cNvGrpSpPr>
          <p:nvPr/>
        </p:nvGrpSpPr>
        <p:grpSpPr bwMode="auto"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E2514AB3-88CA-4541-9CE9-713B944F4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4153A745-501E-0545-A470-D433A0EAE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5A82004A-529C-F540-B693-87463162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78" name="Text Box 33">
              <a:extLst>
                <a:ext uri="{FF2B5EF4-FFF2-40B4-BE49-F238E27FC236}">
                  <a16:creationId xmlns:a16="http://schemas.microsoft.com/office/drawing/2014/main" id="{FC50E53E-9F9B-654F-9FA8-ECCEF77A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EDF2B244-5719-2F45-A42A-402B6622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83" name="Text Box 6">
            <a:extLst>
              <a:ext uri="{FF2B5EF4-FFF2-40B4-BE49-F238E27FC236}">
                <a16:creationId xmlns:a16="http://schemas.microsoft.com/office/drawing/2014/main" id="{6CC01E21-09EC-DC40-8599-EEA1BC50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043" y="3584964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4" name="Rectangle 13">
            <a:extLst>
              <a:ext uri="{FF2B5EF4-FFF2-40B4-BE49-F238E27FC236}">
                <a16:creationId xmlns:a16="http://schemas.microsoft.com/office/drawing/2014/main" id="{889B7A33-37EE-4D46-B817-164D2D6B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5" name="Text Box 14">
            <a:extLst>
              <a:ext uri="{FF2B5EF4-FFF2-40B4-BE49-F238E27FC236}">
                <a16:creationId xmlns:a16="http://schemas.microsoft.com/office/drawing/2014/main" id="{ECBBD5A2-07AE-1344-92CC-97064DC6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86" name="Rectangle 15">
            <a:extLst>
              <a:ext uri="{FF2B5EF4-FFF2-40B4-BE49-F238E27FC236}">
                <a16:creationId xmlns:a16="http://schemas.microsoft.com/office/drawing/2014/main" id="{60AEB48B-8CF1-8E42-A0B2-02C05B89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7" name="Text Box 16">
            <a:extLst>
              <a:ext uri="{FF2B5EF4-FFF2-40B4-BE49-F238E27FC236}">
                <a16:creationId xmlns:a16="http://schemas.microsoft.com/office/drawing/2014/main" id="{638D795E-2C6D-CB48-9019-7A6554C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26637B-377D-7B4D-99F1-F721A3FF4606}"/>
              </a:ext>
            </a:extLst>
          </p:cNvPr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08EBEE-85B2-AD4A-ACE2-254B3FCAB316}"/>
              </a:ext>
            </a:extLst>
          </p:cNvPr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A03BC1-BA79-2B42-9CE7-DBF51217C896}"/>
              </a:ext>
            </a:extLst>
          </p:cNvPr>
          <p:cNvCxnSpPr>
            <a:cxnSpLocks/>
          </p:cNvCxnSpPr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0A1163E-E166-654E-B7B1-EF42611270BE}"/>
              </a:ext>
            </a:extLst>
          </p:cNvPr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62" name="Group 17">
              <a:extLst>
                <a:ext uri="{FF2B5EF4-FFF2-40B4-BE49-F238E27FC236}">
                  <a16:creationId xmlns:a16="http://schemas.microsoft.com/office/drawing/2014/main" id="{BF5A27BD-7C5D-CD46-AACC-04980CD41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63" name="Text Box 18">
                <a:extLst>
                  <a:ext uri="{FF2B5EF4-FFF2-40B4-BE49-F238E27FC236}">
                    <a16:creationId xmlns:a16="http://schemas.microsoft.com/office/drawing/2014/main" id="{6A92BBF9-E8F3-DF4A-ADAE-98CEF396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</a:p>
            </p:txBody>
          </p:sp>
          <p:sp>
            <p:nvSpPr>
              <p:cNvPr id="64" name="Text Box 19">
                <a:extLst>
                  <a:ext uri="{FF2B5EF4-FFF2-40B4-BE49-F238E27FC236}">
                    <a16:creationId xmlns:a16="http://schemas.microsoft.com/office/drawing/2014/main" id="{3E5AC652-46D8-0349-9928-222C0A843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D038288E-5776-3D44-97D8-AA1FCEB5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D5A73CC5-A226-834C-9D98-B404C12A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A06E7808-C2D2-D044-B709-E24B5275C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plaintext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message, m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1E97B71-D008-454C-9F25-22FF4C7E0BB4}"/>
              </a:ext>
            </a:extLst>
          </p:cNvPr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id="60" name="Picture 15" descr="BS00768_[1]">
              <a:extLst>
                <a:ext uri="{FF2B5EF4-FFF2-40B4-BE49-F238E27FC236}">
                  <a16:creationId xmlns:a16="http://schemas.microsoft.com/office/drawing/2014/main" id="{2560A757-A38F-AC4E-B091-353015A3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 Box 21">
              <a:extLst>
                <a:ext uri="{FF2B5EF4-FFF2-40B4-BE49-F238E27FC236}">
                  <a16:creationId xmlns:a16="http://schemas.microsoft.com/office/drawing/2014/main" id="{50806497-41D8-2E4E-B50D-F7BB60F0F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CE859CC3-670B-FC49-A3AF-C82F3C2E7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" name="Text Box 23">
              <a:extLst>
                <a:ext uri="{FF2B5EF4-FFF2-40B4-BE49-F238E27FC236}">
                  <a16:creationId xmlns:a16="http://schemas.microsoft.com/office/drawing/2014/main" id="{598ECE34-7F25-8C4E-BDB3-B5BFD35BB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5947757-0EAA-384F-AF69-755E3F48343B}"/>
                </a:ext>
              </a:extLst>
            </p:cNvPr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EC4974E1-78D0-CA46-A1E0-4780A77AB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lang="en-US" sz="2400" kern="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’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public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70DAC614-E588-2544-93E7-C7BF64B0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1B6B11D-ECAA-4143-AB7E-D47E64078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4379" y="1804781"/>
                <a:ext cx="265423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BC244-80B9-8045-8AAB-052208AAFCAF}"/>
              </a:ext>
            </a:extLst>
          </p:cNvPr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10A72390-FCE4-7743-B879-430BA64C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’s </a:t>
              </a:r>
              <a:r>
                <a:rPr kumimoji="0" lang="en-US" altLang="ja-JP" sz="2400" b="0" i="1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private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 key </a:t>
              </a:r>
            </a:p>
          </p:txBody>
        </p:sp>
        <p:pic>
          <p:nvPicPr>
            <p:cNvPr id="70" name="Picture 25" descr="BS00768_[1]">
              <a:extLst>
                <a:ext uri="{FF2B5EF4-FFF2-40B4-BE49-F238E27FC236}">
                  <a16:creationId xmlns:a16="http://schemas.microsoft.com/office/drawing/2014/main" id="{E5AF231D-A446-4C40-90CA-324AE831D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1FAC5085-46DD-834E-AC5E-9F54BBD8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72" name="Text Box 27">
              <a:extLst>
                <a:ext uri="{FF2B5EF4-FFF2-40B4-BE49-F238E27FC236}">
                  <a16:creationId xmlns:a16="http://schemas.microsoft.com/office/drawing/2014/main" id="{B741F65D-D85A-BA44-A0EC-45B50137B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3" name="Text Box 28">
              <a:extLst>
                <a:ext uri="{FF2B5EF4-FFF2-40B4-BE49-F238E27FC236}">
                  <a16:creationId xmlns:a16="http://schemas.microsoft.com/office/drawing/2014/main" id="{B9C2DED2-A012-704E-B1B5-9CEE4CCC6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33644F-66D9-7E4F-AA09-88F31F1C5629}"/>
                </a:ext>
              </a:extLst>
            </p:cNvPr>
            <p:cNvCxnSpPr>
              <a:cxnSpLocks/>
            </p:cNvCxnSpPr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C00000"/>
                </a:solidFill>
              </a:rPr>
              <a:t>Wow</a:t>
            </a:r>
            <a:r>
              <a:rPr lang="en-US" sz="2800" dirty="0"/>
              <a:t> - public key cryptography revolutionized 2000-year-old (previously only symmetric key) cryptography!</a:t>
            </a:r>
          </a:p>
          <a:p>
            <a:pPr marL="457200" indent="-219075">
              <a:buClr>
                <a:srgbClr val="0012A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similar ideas emerged at roughly same time, independently in US and UK (classified)</a:t>
            </a:r>
          </a:p>
        </p:txBody>
      </p:sp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+mn-lt"/>
              </a:rPr>
              <a:t>RSA: </a:t>
            </a:r>
            <a:r>
              <a:rPr lang="en-US" sz="3200" dirty="0">
                <a:latin typeface="+mn-lt"/>
              </a:rPr>
              <a:t>Rivest, Shamir, Adelson algorithm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7924800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/>
              <a:t>x mod n = remainder of x when divide by n</a:t>
            </a:r>
          </a:p>
          <a:p>
            <a:pPr marL="277813" indent="-277813"/>
            <a:r>
              <a:rPr lang="en-US" sz="3200" dirty="0"/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* (b mod n)] mod n = (a*b) mod n</a:t>
            </a:r>
          </a:p>
          <a:p>
            <a:pPr marL="277813" indent="-277813"/>
            <a:r>
              <a:rPr lang="en-US" sz="3200" dirty="0"/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/>
              <a:t>    </a:t>
            </a:r>
            <a:r>
              <a:rPr lang="en-US" sz="3200" dirty="0">
                <a:solidFill>
                  <a:srgbClr val="000099"/>
                </a:solidFill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example: x=14, n=10, d=2:</a:t>
            </a:r>
            <a:br>
              <a:rPr lang="en-US" sz="3200" dirty="0"/>
            </a:br>
            <a:r>
              <a:rPr lang="en-US" sz="3200" dirty="0"/>
              <a:t>    (x mod n)</a:t>
            </a:r>
            <a:r>
              <a:rPr lang="en-US" sz="3200" baseline="30000" dirty="0"/>
              <a:t>d</a:t>
            </a:r>
            <a:r>
              <a:rPr lang="en-US" sz="3200" dirty="0"/>
              <a:t> mod n = 4</a:t>
            </a:r>
            <a:r>
              <a:rPr lang="en-US" sz="3200" baseline="30000" dirty="0"/>
              <a:t>2</a:t>
            </a:r>
            <a:r>
              <a:rPr lang="en-US" sz="3200" dirty="0"/>
              <a:t> mod 10 = 6</a:t>
            </a:r>
            <a:br>
              <a:rPr lang="en-US" sz="3200" dirty="0"/>
            </a:br>
            <a:r>
              <a:rPr lang="en-US" sz="3200" dirty="0"/>
              <a:t>    x</a:t>
            </a:r>
            <a:r>
              <a:rPr lang="en-US" sz="3200" baseline="30000" dirty="0"/>
              <a:t>d</a:t>
            </a:r>
            <a:r>
              <a:rPr lang="en-US" sz="3200" dirty="0"/>
              <a:t> = 14</a:t>
            </a:r>
            <a:r>
              <a:rPr lang="en-US" sz="3200" baseline="30000" dirty="0"/>
              <a:t>2</a:t>
            </a:r>
            <a:r>
              <a:rPr lang="en-US" sz="3200" dirty="0"/>
              <a:t> = 196   x</a:t>
            </a:r>
            <a:r>
              <a:rPr lang="en-US" sz="3200" baseline="30000" dirty="0"/>
              <a:t>d</a:t>
            </a:r>
            <a:r>
              <a:rPr lang="en-US" sz="3200" dirty="0"/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RSA: getting ready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070DD6-9C23-9845-83F8-26D99BC9F34A}"/>
              </a:ext>
            </a:extLst>
          </p:cNvPr>
          <p:cNvSpPr txBox="1">
            <a:spLocks noChangeArrowheads="1"/>
          </p:cNvSpPr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>
              <a:lnSpc>
                <a:spcPct val="110000"/>
              </a:lnSpc>
            </a:pPr>
            <a:r>
              <a:rPr lang="en-US" sz="3200" dirty="0"/>
              <a:t>message: just a bit pattern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bit pattern can be uniquely represented by an integer number </a:t>
            </a:r>
          </a:p>
          <a:p>
            <a:pPr marL="277813" indent="-277813"/>
            <a:r>
              <a:rPr lang="en-US" sz="3200" dirty="0"/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example:</a:t>
            </a:r>
          </a:p>
          <a:p>
            <a:pPr marL="693738" indent="-223838"/>
            <a:r>
              <a:rPr lang="en-US" dirty="0"/>
              <a:t>m= 10010001. This message is uniquely represented by the decimal number 145. </a:t>
            </a:r>
          </a:p>
          <a:p>
            <a:pPr marL="693738" indent="-223838"/>
            <a:r>
              <a:rPr lang="en-US" dirty="0"/>
              <a:t>to encrypt m, we encrypt the corresponding number, which gives a new number (the ciphertext).</a:t>
            </a:r>
          </a:p>
        </p:txBody>
      </p:sp>
    </p:spTree>
    <p:extLst>
      <p:ext uri="{BB962C8B-B14F-4D97-AF65-F5344CB8AC3E}">
        <p14:creationId xmlns:p14="http://schemas.microsoft.com/office/powerpoint/2010/main" val="15858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Creating public/private key pair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0D8010-0A1D-6340-A10F-5D2A7174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sz="2800" dirty="0">
                <a:latin typeface="+mn-lt"/>
              </a:rPr>
              <a:t> choose two large prime numbers </a:t>
            </a:r>
            <a:r>
              <a:rPr lang="en-US" sz="2800" i="1" dirty="0">
                <a:latin typeface="+mn-lt"/>
              </a:rPr>
              <a:t>p, q.</a:t>
            </a:r>
            <a:r>
              <a:rPr lang="en-US" sz="2800" dirty="0">
                <a:latin typeface="+mn-lt"/>
              </a:rPr>
              <a:t>  (e.g., 1024 bits each)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929A20-5DDA-7E4E-B7D1-697CDB61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2800" dirty="0">
                <a:latin typeface="+mn-lt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 </a:t>
            </a:r>
            <a:r>
              <a:rPr lang="en-US" sz="2800" i="1" dirty="0">
                <a:latin typeface="+mn-lt"/>
              </a:rPr>
              <a:t>= pq,  z = (p-1)(q-1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ECA6D99-7D73-AA45-B5BA-F1660C93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52425" indent="-352425"/>
            <a:r>
              <a:rPr lang="en-US" sz="28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e</a:t>
            </a:r>
            <a:r>
              <a:rPr lang="en-US" sz="2800" i="1" dirty="0">
                <a:latin typeface="+mn-lt"/>
              </a:rPr>
              <a:t> (</a:t>
            </a:r>
            <a:r>
              <a:rPr lang="en-US" sz="2800" dirty="0">
                <a:latin typeface="+mn-lt"/>
              </a:rPr>
              <a:t>with</a:t>
            </a:r>
            <a:r>
              <a:rPr lang="en-US" sz="2800" i="1" dirty="0">
                <a:latin typeface="+mn-lt"/>
              </a:rPr>
              <a:t> e&lt;n)</a:t>
            </a:r>
            <a:r>
              <a:rPr lang="en-US" sz="2800" dirty="0">
                <a:latin typeface="+mn-lt"/>
              </a:rPr>
              <a:t> that has no common factors  with z (</a:t>
            </a:r>
            <a:r>
              <a:rPr lang="en-US" sz="2800" i="1" dirty="0">
                <a:latin typeface="+mn-lt"/>
              </a:rPr>
              <a:t>e, z</a:t>
            </a:r>
            <a:r>
              <a:rPr lang="en-US" sz="2800" dirty="0">
                <a:latin typeface="+mn-lt"/>
              </a:rPr>
              <a:t> are “</a:t>
            </a:r>
            <a:r>
              <a:rPr lang="en-US" altLang="ja-JP" sz="2800" dirty="0">
                <a:latin typeface="+mn-lt"/>
              </a:rPr>
              <a:t>relatively prime”).</a:t>
            </a:r>
            <a:endParaRPr lang="en-US" sz="2800" dirty="0">
              <a:latin typeface="+mn-lt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E97B724-5589-0D4C-9525-09651E1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04813" indent="-392113"/>
            <a:r>
              <a:rPr lang="en-US" sz="2800" dirty="0">
                <a:solidFill>
                  <a:srgbClr val="000099"/>
                </a:solidFill>
                <a:latin typeface="+mn-lt"/>
              </a:rPr>
              <a:t>4.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d</a:t>
            </a:r>
            <a:r>
              <a:rPr lang="en-US" sz="2800" dirty="0">
                <a:latin typeface="+mn-lt"/>
              </a:rPr>
              <a:t> such that </a:t>
            </a:r>
            <a:r>
              <a:rPr lang="en-US" sz="2800" i="1" dirty="0">
                <a:latin typeface="+mn-lt"/>
              </a:rPr>
              <a:t>ed-1</a:t>
            </a:r>
            <a:r>
              <a:rPr lang="en-US" sz="2800" dirty="0">
                <a:latin typeface="+mn-lt"/>
              </a:rPr>
              <a:t> is  exactly divisible by </a:t>
            </a:r>
            <a:r>
              <a:rPr lang="en-US" sz="2800" i="1" dirty="0">
                <a:latin typeface="+mn-lt"/>
              </a:rPr>
              <a:t>z</a:t>
            </a:r>
            <a:r>
              <a:rPr lang="en-US" sz="2800" dirty="0">
                <a:latin typeface="+mn-lt"/>
              </a:rPr>
              <a:t>.  (in other words: </a:t>
            </a:r>
            <a:r>
              <a:rPr lang="en-US" sz="2800" i="1" dirty="0">
                <a:latin typeface="+mn-lt"/>
              </a:rPr>
              <a:t>ed</a:t>
            </a:r>
            <a:r>
              <a:rPr lang="en-US" sz="2800" dirty="0">
                <a:latin typeface="+mn-lt"/>
              </a:rPr>
              <a:t> mod </a:t>
            </a:r>
            <a:r>
              <a:rPr lang="en-US" sz="2800" i="1" dirty="0">
                <a:latin typeface="+mn-lt"/>
              </a:rPr>
              <a:t>z  = 1 </a:t>
            </a:r>
            <a:r>
              <a:rPr lang="en-US" sz="2800" dirty="0">
                <a:latin typeface="+mn-lt"/>
              </a:rPr>
              <a:t>).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1BDA10B-6C91-B24D-B490-3E2713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5.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2800" i="1" dirty="0">
                <a:latin typeface="+mn-lt"/>
              </a:rPr>
              <a:t>).</a:t>
            </a:r>
            <a:r>
              <a:rPr lang="en-US" sz="2800" dirty="0">
                <a:latin typeface="+mn-lt"/>
              </a:rPr>
              <a:t> 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private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2800" i="1" dirty="0">
                <a:latin typeface="+mn-lt"/>
              </a:rPr>
              <a:t>).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2401F63-E607-EC42-81D5-B599E298C06E}"/>
              </a:ext>
            </a:extLst>
          </p:cNvPr>
          <p:cNvGrpSpPr>
            <a:grpSpLocks/>
          </p:cNvGrpSpPr>
          <p:nvPr/>
        </p:nvGrpSpPr>
        <p:grpSpPr bwMode="auto"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974BD35-F581-2A4B-8232-EC3577D9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95094613-170F-DB41-A508-D84F0D83F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B5BBC98D-0AD4-C843-8D5A-7499CC0AA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FB52D6-CC18-274A-981A-C804A9C7DB97}"/>
              </a:ext>
            </a:extLst>
          </p:cNvPr>
          <p:cNvGrpSpPr>
            <a:grpSpLocks/>
          </p:cNvGrpSpPr>
          <p:nvPr/>
        </p:nvGrpSpPr>
        <p:grpSpPr bwMode="auto"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693197C3-20B4-354C-95D0-D37FF8CFB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4162E66-99EA-6641-817F-A30782A5C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614295A-36D3-BD40-AE97-E81A153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</p:grpSp>
      <p:sp>
        <p:nvSpPr>
          <p:cNvPr id="19" name="AutoShape 16">
            <a:extLst>
              <a:ext uri="{FF2B5EF4-FFF2-40B4-BE49-F238E27FC236}">
                <a16:creationId xmlns:a16="http://schemas.microsoft.com/office/drawing/2014/main" id="{C8E63AC6-2EC5-1C45-BD35-68B79810907F}"/>
              </a:ext>
            </a:extLst>
          </p:cNvPr>
          <p:cNvSpPr>
            <a:spLocks/>
          </p:cNvSpPr>
          <p:nvPr/>
        </p:nvSpPr>
        <p:spPr bwMode="auto">
          <a:xfrm rot="5400000">
            <a:off x="3569087" y="5227389"/>
            <a:ext cx="165100" cy="788588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65E3246-B890-1944-AECE-AF673B857899}"/>
              </a:ext>
            </a:extLst>
          </p:cNvPr>
          <p:cNvSpPr>
            <a:spLocks/>
          </p:cNvSpPr>
          <p:nvPr/>
        </p:nvSpPr>
        <p:spPr bwMode="auto">
          <a:xfrm rot="5400000">
            <a:off x="6348800" y="5197226"/>
            <a:ext cx="165100" cy="788589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854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encryption, decryption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9056CA21-CF24-294A-9634-A7793AC8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0.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 given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and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as computed above</a:t>
            </a:r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A699F20C-465F-AE4E-AB75-A61EDA154B23}"/>
              </a:ext>
            </a:extLst>
          </p:cNvPr>
          <p:cNvGrpSpPr>
            <a:grpSpLocks/>
          </p:cNvGrpSpPr>
          <p:nvPr/>
        </p:nvGrpSpPr>
        <p:grpSpPr bwMode="auto"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E69CCAC-498E-F14E-AE4B-01A7DAE18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0099"/>
                  </a:solidFill>
                  <a:latin typeface="+mn-lt"/>
                </a:rPr>
                <a:t>1.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 to encrypt message </a:t>
              </a:r>
              <a:r>
                <a:rPr lang="en-US" sz="3200" i="1" dirty="0">
                  <a:solidFill>
                    <a:srgbClr val="000000"/>
                  </a:solidFill>
                  <a:latin typeface="+mn-lt"/>
                </a:rPr>
                <a:t>m (&lt;n)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, compute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931667AD-2167-4643-ACCA-FEDA340BB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5C608D45-4EAE-9741-8605-B1917498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c = m   </a:t>
                </a:r>
                <a:r>
                  <a:rPr lang="en-US" sz="3200" dirty="0">
                    <a:solidFill>
                      <a:srgbClr val="C00000"/>
                    </a:solidFill>
                    <a:latin typeface="+mn-lt"/>
                  </a:rPr>
                  <a:t>mod</a:t>
                </a: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  n</a:t>
                </a: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3BDD1282-A69D-8140-8C13-F90A6D2EC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e</a:t>
                </a:r>
              </a:p>
            </p:txBody>
          </p:sp>
        </p:grpSp>
        <p:grpSp>
          <p:nvGrpSpPr>
            <p:cNvPr id="47" name="Group 9">
              <a:extLst>
                <a:ext uri="{FF2B5EF4-FFF2-40B4-BE49-F238E27FC236}">
                  <a16:creationId xmlns:a16="http://schemas.microsoft.com/office/drawing/2014/main" id="{A532181C-5B2B-F54F-A31A-7CB8B2AC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56FC0B1F-B51B-5D49-B5E8-86727236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11">
                <a:extLst>
                  <a:ext uri="{FF2B5EF4-FFF2-40B4-BE49-F238E27FC236}">
                    <a16:creationId xmlns:a16="http://schemas.microsoft.com/office/drawing/2014/main" id="{51D18D63-8BB0-E84D-9227-3CB61C2AD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53" name="Text Box 12">
            <a:extLst>
              <a:ext uri="{FF2B5EF4-FFF2-40B4-BE49-F238E27FC236}">
                <a16:creationId xmlns:a16="http://schemas.microsoft.com/office/drawing/2014/main" id="{10236FC4-064B-9D42-8E70-8161A1BF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to decrypt received bit pattern, </a:t>
            </a:r>
            <a:r>
              <a:rPr lang="en-US" sz="3200" i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, compute</a:t>
            </a: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22E7CBF0-068F-0A41-8BBB-68965EBE48C8}"/>
              </a:ext>
            </a:extLst>
          </p:cNvPr>
          <p:cNvGrpSpPr>
            <a:grpSpLocks/>
          </p:cNvGrpSpPr>
          <p:nvPr/>
        </p:nvGrpSpPr>
        <p:grpSpPr bwMode="auto"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CD267156-6332-8D4B-8449-03B5F845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m = c   </a:t>
              </a:r>
              <a:r>
                <a:rPr lang="en-US" sz="3200" dirty="0">
                  <a:solidFill>
                    <a:srgbClr val="C00000"/>
                  </a:solidFill>
                  <a:latin typeface="+mn-lt"/>
                </a:rPr>
                <a:t>mod</a:t>
              </a: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  n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2C25EF-BAAD-254C-BAAF-B7D9FFD71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A1035740-363B-2345-B7B1-2001DD85CEB8}"/>
              </a:ext>
            </a:extLst>
          </p:cNvPr>
          <p:cNvGrpSpPr>
            <a:grpSpLocks/>
          </p:cNvGrpSpPr>
          <p:nvPr/>
        </p:nvGrpSpPr>
        <p:grpSpPr bwMode="auto"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21E382C2-360B-D747-92D9-5E9A861F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m  =  (m  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n)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62237C72-69BA-0C4F-90E5-A564C691A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03B9FE94-17D8-7F47-B42E-A398B32A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BABBDF2C-2DAC-174A-9933-6193C8848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d</a:t>
              </a:r>
            </a:p>
          </p:txBody>
        </p:sp>
      </p:grpSp>
      <p:sp>
        <p:nvSpPr>
          <p:cNvPr id="62" name="Text Box 21">
            <a:extLst>
              <a:ext uri="{FF2B5EF4-FFF2-40B4-BE49-F238E27FC236}">
                <a16:creationId xmlns:a16="http://schemas.microsoft.com/office/drawing/2014/main" id="{C0266B1E-F960-E548-8AB2-60F2F296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magic happens!</a:t>
            </a: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9D1B2350-594E-3E44-A1E2-05DB52F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486" y="4916556"/>
            <a:ext cx="7667141" cy="1099931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CE2EA006-139B-1845-B02F-1FEF788A185A}"/>
              </a:ext>
            </a:extLst>
          </p:cNvPr>
          <p:cNvSpPr>
            <a:spLocks/>
          </p:cNvSpPr>
          <p:nvPr/>
        </p:nvSpPr>
        <p:spPr bwMode="auto">
          <a:xfrm rot="-5400000">
            <a:off x="7193343" y="4984092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65" name="Text Box 24">
            <a:extLst>
              <a:ext uri="{FF2B5EF4-FFF2-40B4-BE49-F238E27FC236}">
                <a16:creationId xmlns:a16="http://schemas.microsoft.com/office/drawing/2014/main" id="{28C77BF7-7E4E-CE43-9481-0A97EF77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467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example: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4" name="Text Box 3">
            <a:extLst>
              <a:ext uri="{FF2B5EF4-FFF2-40B4-BE49-F238E27FC236}">
                <a16:creationId xmlns:a16="http://schemas.microsoft.com/office/drawing/2014/main" id="{FB0DD009-6BF8-9B41-9C00-98FA2E9C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Bob chooses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p=5, q=7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  Then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n=35, z=24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</a:t>
            </a:r>
          </a:p>
        </p:txBody>
      </p:sp>
      <p:sp>
        <p:nvSpPr>
          <p:cNvPr id="85" name="Text Box 4">
            <a:extLst>
              <a:ext uri="{FF2B5EF4-FFF2-40B4-BE49-F238E27FC236}">
                <a16:creationId xmlns:a16="http://schemas.microsoft.com/office/drawing/2014/main" id="{9C293842-DC20-4B4C-B1AD-4749A530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e=5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e, z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relatively prime).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d=29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ed-1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exactly divisible by z).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</a:t>
            </a: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2FBF81FF-D042-0E4E-BE40-EB560CEC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bit pattern</a:t>
            </a:r>
          </a:p>
        </p:txBody>
      </p:sp>
      <p:sp>
        <p:nvSpPr>
          <p:cNvPr id="87" name="Text Box 6">
            <a:extLst>
              <a:ext uri="{FF2B5EF4-FFF2-40B4-BE49-F238E27FC236}">
                <a16:creationId xmlns:a16="http://schemas.microsoft.com/office/drawing/2014/main" id="{1E8319D7-A62A-7B4C-A347-CD7574E5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4F445430-8120-FB43-B18D-70F17C4B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9" name="Text Box 8">
            <a:extLst>
              <a:ext uri="{FF2B5EF4-FFF2-40B4-BE49-F238E27FC236}">
                <a16:creationId xmlns:a16="http://schemas.microsoft.com/office/drawing/2014/main" id="{8E6A7F1C-7108-5449-8193-1321ACFA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</a:t>
            </a: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1A927CF2-FBEE-C949-ACEF-A5C2A74C9C6F}"/>
              </a:ext>
            </a:extLst>
          </p:cNvPr>
          <p:cNvGrpSpPr>
            <a:grpSpLocks/>
          </p:cNvGrpSpPr>
          <p:nvPr/>
        </p:nvGrpSpPr>
        <p:grpSpPr bwMode="auto"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19C1075F-254D-0B48-9778-9E9562D02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c = m  mod  n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E4D271F5-00DA-E94B-AD49-5AF427F13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</p:grpSp>
      <p:sp>
        <p:nvSpPr>
          <p:cNvPr id="93" name="Text Box 12">
            <a:extLst>
              <a:ext uri="{FF2B5EF4-FFF2-40B4-BE49-F238E27FC236}">
                <a16:creationId xmlns:a16="http://schemas.microsoft.com/office/drawing/2014/main" id="{86499D3F-2848-0748-A706-290A93E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0000l000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21EA5B24-1503-1343-BEB8-1B4FE1C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12</a:t>
            </a:r>
          </a:p>
        </p:txBody>
      </p:sp>
      <p:sp>
        <p:nvSpPr>
          <p:cNvPr id="95" name="Text Box 14">
            <a:extLst>
              <a:ext uri="{FF2B5EF4-FFF2-40B4-BE49-F238E27FC236}">
                <a16:creationId xmlns:a16="http://schemas.microsoft.com/office/drawing/2014/main" id="{506F66DC-AD7F-0E4E-A0BB-4A6279D5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24832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E746DBFE-0909-1D47-A24F-4CF5FE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17</a:t>
            </a:r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EFF46EF4-7BA8-8949-B84B-E9B1E644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99"/>
                </a:solidFill>
                <a:latin typeface="+mn-lt"/>
                <a:cs typeface="Arial" charset="0"/>
              </a:rPr>
              <a:t>encrypt: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1939F08-D7FB-D941-9914-067FA0FF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encrypting 8-bit messages.</a:t>
            </a:r>
          </a:p>
        </p:txBody>
      </p:sp>
      <p:sp>
        <p:nvSpPr>
          <p:cNvPr id="99" name="Right Brace 1">
            <a:extLst>
              <a:ext uri="{FF2B5EF4-FFF2-40B4-BE49-F238E27FC236}">
                <a16:creationId xmlns:a16="http://schemas.microsoft.com/office/drawing/2014/main" id="{E98DD281-14BA-E246-B6C3-6B66EF2CC6C1}"/>
              </a:ext>
            </a:extLst>
          </p:cNvPr>
          <p:cNvSpPr>
            <a:spLocks/>
          </p:cNvSpPr>
          <p:nvPr/>
        </p:nvSpPr>
        <p:spPr bwMode="auto">
          <a:xfrm rot="5400000">
            <a:off x="4202733" y="3216828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0" name="Right Brace 31">
            <a:extLst>
              <a:ext uri="{FF2B5EF4-FFF2-40B4-BE49-F238E27FC236}">
                <a16:creationId xmlns:a16="http://schemas.microsoft.com/office/drawing/2014/main" id="{2307264E-9C5B-5A43-AFD8-13406440796F}"/>
              </a:ext>
            </a:extLst>
          </p:cNvPr>
          <p:cNvSpPr>
            <a:spLocks/>
          </p:cNvSpPr>
          <p:nvPr/>
        </p:nvSpPr>
        <p:spPr bwMode="auto">
          <a:xfrm rot="5400000">
            <a:off x="5525120" y="3689903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1" name="Right Brace 32">
            <a:extLst>
              <a:ext uri="{FF2B5EF4-FFF2-40B4-BE49-F238E27FC236}">
                <a16:creationId xmlns:a16="http://schemas.microsoft.com/office/drawing/2014/main" id="{877E4C41-AB3C-E740-BA48-3E574A17A614}"/>
              </a:ext>
            </a:extLst>
          </p:cNvPr>
          <p:cNvSpPr>
            <a:spLocks/>
          </p:cNvSpPr>
          <p:nvPr/>
        </p:nvSpPr>
        <p:spPr bwMode="auto">
          <a:xfrm rot="5400000">
            <a:off x="6772102" y="3695458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2" name="Right Brace 33">
            <a:extLst>
              <a:ext uri="{FF2B5EF4-FFF2-40B4-BE49-F238E27FC236}">
                <a16:creationId xmlns:a16="http://schemas.microsoft.com/office/drawing/2014/main" id="{1C88363E-5034-0A4B-A052-583195F4E9F2}"/>
              </a:ext>
            </a:extLst>
          </p:cNvPr>
          <p:cNvSpPr>
            <a:spLocks/>
          </p:cNvSpPr>
          <p:nvPr/>
        </p:nvSpPr>
        <p:spPr bwMode="auto">
          <a:xfrm rot="5400000">
            <a:off x="9314483" y="2905677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48CF0B2-3182-EF47-B3D7-985E8B8AFB67}"/>
              </a:ext>
            </a:extLst>
          </p:cNvPr>
          <p:cNvGrpSpPr>
            <a:grpSpLocks/>
          </p:cNvGrpSpPr>
          <p:nvPr/>
        </p:nvGrpSpPr>
        <p:grpSpPr bwMode="auto"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104" name="Text Box 16">
              <a:extLst>
                <a:ext uri="{FF2B5EF4-FFF2-40B4-BE49-F238E27FC236}">
                  <a16:creationId xmlns:a16="http://schemas.microsoft.com/office/drawing/2014/main" id="{55FD3CE7-0885-8446-8200-9A0EEE48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105" name="Group 17">
              <a:extLst>
                <a:ext uri="{FF2B5EF4-FFF2-40B4-BE49-F238E27FC236}">
                  <a16:creationId xmlns:a16="http://schemas.microsoft.com/office/drawing/2014/main" id="{F7AFF9D6-B4A1-9E43-B57B-496703EDA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116" name="Text Box 18">
                <a:extLst>
                  <a:ext uri="{FF2B5EF4-FFF2-40B4-BE49-F238E27FC236}">
                    <a16:creationId xmlns:a16="http://schemas.microsoft.com/office/drawing/2014/main" id="{EDB87C99-05D3-7F4D-AC08-ECF06ECA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117" name="Text Box 19">
                <a:extLst>
                  <a:ext uri="{FF2B5EF4-FFF2-40B4-BE49-F238E27FC236}">
                    <a16:creationId xmlns:a16="http://schemas.microsoft.com/office/drawing/2014/main" id="{8DE61BF2-BDC1-1542-9084-C17039C47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06" name="Text Box 20">
              <a:extLst>
                <a:ext uri="{FF2B5EF4-FFF2-40B4-BE49-F238E27FC236}">
                  <a16:creationId xmlns:a16="http://schemas.microsoft.com/office/drawing/2014/main" id="{1F8625A9-6775-A54A-A7DF-25E164F01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17</a:t>
              </a:r>
            </a:p>
          </p:txBody>
        </p:sp>
        <p:sp>
          <p:nvSpPr>
            <p:cNvPr id="107" name="Text Box 21">
              <a:extLst>
                <a:ext uri="{FF2B5EF4-FFF2-40B4-BE49-F238E27FC236}">
                  <a16:creationId xmlns:a16="http://schemas.microsoft.com/office/drawing/2014/main" id="{E3D9D933-964F-B246-9386-8B839697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108" name="Text Box 22">
              <a:extLst>
                <a:ext uri="{FF2B5EF4-FFF2-40B4-BE49-F238E27FC236}">
                  <a16:creationId xmlns:a16="http://schemas.microsoft.com/office/drawing/2014/main" id="{D9BF4DD4-D8B3-E841-9716-E4DB33C53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12</a:t>
              </a:r>
            </a:p>
          </p:txBody>
        </p:sp>
        <p:grpSp>
          <p:nvGrpSpPr>
            <p:cNvPr id="109" name="Group 23">
              <a:extLst>
                <a:ext uri="{FF2B5EF4-FFF2-40B4-BE49-F238E27FC236}">
                  <a16:creationId xmlns:a16="http://schemas.microsoft.com/office/drawing/2014/main" id="{8885D463-FAA8-9140-9A84-C0EDE70E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114" name="Text Box 24">
                <a:extLst>
                  <a:ext uri="{FF2B5EF4-FFF2-40B4-BE49-F238E27FC236}">
                    <a16:creationId xmlns:a16="http://schemas.microsoft.com/office/drawing/2014/main" id="{6D72F36B-148A-AA4C-8FE5-CC456C4F9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15" name="Text Box 25">
                <a:extLst>
                  <a:ext uri="{FF2B5EF4-FFF2-40B4-BE49-F238E27FC236}">
                    <a16:creationId xmlns:a16="http://schemas.microsoft.com/office/drawing/2014/main" id="{678A0FE0-D6EC-FC46-B048-C1C5F1AF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9263726D-66BD-4840-925A-32F3F8E7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decrypt:</a:t>
              </a:r>
            </a:p>
          </p:txBody>
        </p:sp>
        <p:sp>
          <p:nvSpPr>
            <p:cNvPr id="111" name="Right Brace 36">
              <a:extLst>
                <a:ext uri="{FF2B5EF4-FFF2-40B4-BE49-F238E27FC236}">
                  <a16:creationId xmlns:a16="http://schemas.microsoft.com/office/drawing/2014/main" id="{806B4247-52E0-F94A-A51F-3FF58755CF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2" name="Right Brace 37">
              <a:extLst>
                <a:ext uri="{FF2B5EF4-FFF2-40B4-BE49-F238E27FC236}">
                  <a16:creationId xmlns:a16="http://schemas.microsoft.com/office/drawing/2014/main" id="{780C030B-9AB8-4A41-9DF9-D8B492D150D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Right Brace 38">
              <a:extLst>
                <a:ext uri="{FF2B5EF4-FFF2-40B4-BE49-F238E27FC236}">
                  <a16:creationId xmlns:a16="http://schemas.microsoft.com/office/drawing/2014/main" id="{B97D913A-A8C6-074F-AC8F-39F524A3F8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8" name="Left-Right Arrow 117">
            <a:extLst>
              <a:ext uri="{FF2B5EF4-FFF2-40B4-BE49-F238E27FC236}">
                <a16:creationId xmlns:a16="http://schemas.microsoft.com/office/drawing/2014/main" id="{7E5EB329-6AAF-B24A-AEA1-CE46E0712404}"/>
              </a:ext>
            </a:extLst>
          </p:cNvPr>
          <p:cNvSpPr>
            <a:spLocks noChangeArrowheads="1"/>
          </p:cNvSpPr>
          <p:nvPr/>
        </p:nvSpPr>
        <p:spPr bwMode="auto">
          <a:xfrm rot="1604466">
            <a:off x="5690221" y="4840840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rgbClr val="3333CC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does RSA work?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F5DD7F8-21FC-134D-BADA-5441DF2BCD61}"/>
              </a:ext>
            </a:extLst>
          </p:cNvPr>
          <p:cNvSpPr txBox="1">
            <a:spLocks noChangeArrowheads="1"/>
          </p:cNvSpPr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must show that c</a:t>
            </a:r>
            <a:r>
              <a:rPr lang="en-US" sz="3200" baseline="30000" dirty="0"/>
              <a:t>d</a:t>
            </a:r>
            <a:r>
              <a:rPr lang="en-US" sz="3200" dirty="0"/>
              <a:t> mod n = m,  where c = m</a:t>
            </a:r>
            <a:r>
              <a:rPr lang="en-US" sz="3200" baseline="30000" dirty="0"/>
              <a:t>e</a:t>
            </a:r>
            <a:r>
              <a:rPr lang="en-US" sz="3200" dirty="0"/>
              <a:t> mod n</a:t>
            </a:r>
          </a:p>
          <a:p>
            <a:pPr indent="-339725"/>
            <a:r>
              <a:rPr lang="en-US" sz="3200" dirty="0"/>
              <a:t>fact: for any x and y: x</a:t>
            </a:r>
            <a:r>
              <a:rPr lang="en-US" sz="3200" baseline="30000" dirty="0"/>
              <a:t>y</a:t>
            </a:r>
            <a:r>
              <a:rPr lang="en-US" sz="3200" dirty="0"/>
              <a:t> mod n = x</a:t>
            </a:r>
            <a:r>
              <a:rPr lang="en-US" sz="3200" baseline="30000" dirty="0"/>
              <a:t>(y mod z)</a:t>
            </a:r>
            <a:r>
              <a:rPr lang="en-US" sz="3200" dirty="0"/>
              <a:t> mod n</a:t>
            </a:r>
          </a:p>
          <a:p>
            <a:pPr marL="574675" lvl="1" indent="-222250"/>
            <a:r>
              <a:rPr lang="en-US" sz="2800" dirty="0"/>
              <a:t>where n= pq and z = (p-1)(q-1)</a:t>
            </a:r>
          </a:p>
          <a:p>
            <a:pPr indent="-339725"/>
            <a:r>
              <a:rPr lang="en-US" sz="3200" dirty="0"/>
              <a:t>thus, </a:t>
            </a:r>
            <a:br>
              <a:rPr lang="en-US" sz="3200" dirty="0"/>
            </a:br>
            <a:r>
              <a:rPr lang="en-US" sz="3200" dirty="0"/>
              <a:t> c</a:t>
            </a:r>
            <a:r>
              <a:rPr lang="en-US" sz="3200" baseline="30000" dirty="0"/>
              <a:t>d</a:t>
            </a:r>
            <a:r>
              <a:rPr lang="en-US" sz="3200" dirty="0"/>
              <a:t> mod n = 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ed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(ed mod z)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1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54DF921-3E50-E048-A33A-4941BF48FC38}"/>
              </a:ext>
            </a:extLst>
          </p:cNvPr>
          <p:cNvGrpSpPr>
            <a:grpSpLocks/>
          </p:cNvGrpSpPr>
          <p:nvPr/>
        </p:nvGrpSpPr>
        <p:grpSpPr bwMode="auto"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F9A81EDD-9C78-4D40-BBF1-D502F1E6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402"/>
              <a:ext cx="3119" cy="481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00F77348-56A4-5C4D-805A-F10A8243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889"/>
              <a:ext cx="740" cy="1236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2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another important property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E1F4A0-78B0-BD4D-A91E-EC5C089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The following property will be </a:t>
            </a:r>
            <a:r>
              <a:rPr lang="en-US" sz="3200" i="1" dirty="0">
                <a:solidFill>
                  <a:srgbClr val="0012A0"/>
                </a:solidFill>
                <a:latin typeface="+mn-lt"/>
              </a:rPr>
              <a:t>very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useful later:</a:t>
            </a:r>
            <a:endParaRPr lang="en-US" sz="2800" dirty="0">
              <a:latin typeface="+mn-lt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016FCB0-4AEE-864B-90F8-703500D61B3D}"/>
              </a:ext>
            </a:extLst>
          </p:cNvPr>
          <p:cNvGrpSpPr>
            <a:grpSpLocks/>
          </p:cNvGrpSpPr>
          <p:nvPr/>
        </p:nvGrpSpPr>
        <p:grpSpPr bwMode="auto"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B4185EBA-7292-654A-9C55-3FD6DFE33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4DEA9E7F-3063-C44A-8BA6-2D10AAC9C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7CA309C3-F398-7342-B829-761DD9380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4BE4A247-397C-4B49-A0FE-B01CAD55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2" name="Text Box 9">
                  <a:extLst>
                    <a:ext uri="{FF2B5EF4-FFF2-40B4-BE49-F238E27FC236}">
                      <a16:creationId xmlns:a16="http://schemas.microsoft.com/office/drawing/2014/main" id="{AE701ACD-F994-B443-8676-C896D17D9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E794409D-DEC5-A249-803E-48D183B57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CC2E8FA6-62C9-B64C-B493-1F6F04723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D29B7F-090A-A44F-9DB5-BC9E17EDE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3894D50-3F7E-414D-9D50-733406DA1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89D2D53-9991-9F4F-ACA1-CE73046CA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30F1D5B7-EC19-7B4D-95C1-F2494D51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84D77053-58F4-9548-BA15-30800CD9F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D8FA4809-100F-6F42-B949-08EFA64CE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  <p:sp>
        <p:nvSpPr>
          <p:cNvPr id="23" name="Text Box 18">
            <a:extLst>
              <a:ext uri="{FF2B5EF4-FFF2-40B4-BE49-F238E27FC236}">
                <a16:creationId xmlns:a16="http://schemas.microsoft.com/office/drawing/2014/main" id="{340CC0E8-B62C-504E-AEB1-6848700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public key first, followed by private key </a:t>
            </a:r>
            <a:endParaRPr lang="en-US" sz="2800" dirty="0">
              <a:latin typeface="+mn-lt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3A42832-F508-B343-8C8C-BEF9E3FF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private key first, followed by public key </a:t>
            </a:r>
            <a:endParaRPr lang="en-US" sz="2800" dirty="0">
              <a:latin typeface="+mn-lt"/>
            </a:endParaRP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02AA67A9-2B3D-0D41-9805-A055EFEABF26}"/>
              </a:ext>
            </a:extLst>
          </p:cNvPr>
          <p:cNvSpPr>
            <a:spLocks/>
          </p:cNvSpPr>
          <p:nvPr/>
        </p:nvSpPr>
        <p:spPr bwMode="auto">
          <a:xfrm rot="5400000">
            <a:off x="3581193" y="2445763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635B218B-7A80-474D-B6FE-1FEED4F297EF}"/>
              </a:ext>
            </a:extLst>
          </p:cNvPr>
          <p:cNvSpPr>
            <a:spLocks/>
          </p:cNvSpPr>
          <p:nvPr/>
        </p:nvSpPr>
        <p:spPr bwMode="auto">
          <a:xfrm rot="5400000">
            <a:off x="6853030" y="2437825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133B9DA1-4813-804A-BDEB-BC6F62E80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i="1" dirty="0">
                <a:solidFill>
                  <a:srgbClr val="C00000"/>
                </a:solidFill>
                <a:latin typeface="+mn-lt"/>
              </a:rPr>
              <a:t>result is the same!</a:t>
            </a:r>
            <a:r>
              <a:rPr lang="en-US" sz="36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01C5215-2055-6645-B2A2-7E90E6DD7C1D}"/>
              </a:ext>
            </a:extLst>
          </p:cNvPr>
          <p:cNvSpPr txBox="1">
            <a:spLocks noChangeArrowheads="1"/>
          </p:cNvSpPr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3200" dirty="0"/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dirty="0"/>
              <a:t>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 = m</a:t>
            </a:r>
            <a:r>
              <a:rPr lang="en-US" sz="3200" baseline="30000" dirty="0"/>
              <a:t>ed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m</a:t>
            </a:r>
            <a:r>
              <a:rPr lang="en-US" sz="3200" baseline="30000" dirty="0"/>
              <a:t>de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(m</a:t>
            </a:r>
            <a:r>
              <a:rPr lang="en-US" sz="3200" baseline="30000" dirty="0"/>
              <a:t>d</a:t>
            </a:r>
            <a:r>
              <a:rPr lang="en-US" sz="3200" dirty="0"/>
              <a:t> mod n)</a:t>
            </a:r>
            <a:r>
              <a:rPr lang="en-US" sz="3200" baseline="30000" dirty="0"/>
              <a:t>e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A05BA737-B1A7-9E44-9589-2517A92B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+mn-lt"/>
              </a:rPr>
              <a:t>Why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BEC6564A-7ECB-C449-9E44-F7AE43F7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cs typeface="Arial" charset="0"/>
              </a:rPr>
              <a:t>?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8536CA01-0A05-2040-B9E9-70C1D7FF1EE8}"/>
              </a:ext>
            </a:extLst>
          </p:cNvPr>
          <p:cNvGrpSpPr>
            <a:grpSpLocks/>
          </p:cNvGrpSpPr>
          <p:nvPr/>
        </p:nvGrpSpPr>
        <p:grpSpPr bwMode="auto"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8" name="Group 5">
              <a:extLst>
                <a:ext uri="{FF2B5EF4-FFF2-40B4-BE49-F238E27FC236}">
                  <a16:creationId xmlns:a16="http://schemas.microsoft.com/office/drawing/2014/main" id="{6E379951-E11F-D84F-AE4B-3E03B60F8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56" name="Group 6">
                <a:extLst>
                  <a:ext uri="{FF2B5EF4-FFF2-40B4-BE49-F238E27FC236}">
                    <a16:creationId xmlns:a16="http://schemas.microsoft.com/office/drawing/2014/main" id="{AD7E7E0C-2F26-8748-9DB0-0A4018AC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59" name="Text Box 7">
                  <a:extLst>
                    <a:ext uri="{FF2B5EF4-FFF2-40B4-BE49-F238E27FC236}">
                      <a16:creationId xmlns:a16="http://schemas.microsoft.com/office/drawing/2014/main" id="{94C94DD1-CB16-EC44-AF5B-8946009CAD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60" name="Text Box 8">
                  <a:extLst>
                    <a:ext uri="{FF2B5EF4-FFF2-40B4-BE49-F238E27FC236}">
                      <a16:creationId xmlns:a16="http://schemas.microsoft.com/office/drawing/2014/main" id="{096DF2BA-5704-A84D-A3D6-88351D80C3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61" name="Text Box 9">
                  <a:extLst>
                    <a:ext uri="{FF2B5EF4-FFF2-40B4-BE49-F238E27FC236}">
                      <a16:creationId xmlns:a16="http://schemas.microsoft.com/office/drawing/2014/main" id="{6AA81AA7-43CE-784A-8D0D-3ADEBA89F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57" name="Text Box 10">
                <a:extLst>
                  <a:ext uri="{FF2B5EF4-FFF2-40B4-BE49-F238E27FC236}">
                    <a16:creationId xmlns:a16="http://schemas.microsoft.com/office/drawing/2014/main" id="{42C5AC87-8B91-D549-A18F-3823C61C9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9A5B81AD-CE77-5B4E-896E-695978519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36B2E6A2-F23D-DB49-AB69-90BEB607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28004FB0-749E-DA48-A7C0-B15CEAA6F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1" name="Text Box 14">
              <a:extLst>
                <a:ext uri="{FF2B5EF4-FFF2-40B4-BE49-F238E27FC236}">
                  <a16:creationId xmlns:a16="http://schemas.microsoft.com/office/drawing/2014/main" id="{B727BAD1-AC6B-AD4C-BE92-314207D9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0434FBA1-64EE-564E-87E8-5154C80B9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D2F24B3D-FEEA-BE4A-AF8F-1170CCAD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B12BE81F-2742-3E43-A16D-9AF31D72C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2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7C063F1-1B01-9C4C-B6DC-5164EA97A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9">
            <a:extLst>
              <a:ext uri="{FF2B5EF4-FFF2-40B4-BE49-F238E27FC236}">
                <a16:creationId xmlns:a16="http://schemas.microsoft.com/office/drawing/2014/main" id="{B1406D73-30A7-2643-BADF-4EEA27B2F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06" y="4075872"/>
            <a:ext cx="1870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6581AAA-994B-4F43-B1B3-AE73B307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latin typeface="+mn-lt"/>
                <a:cs typeface="Arial" charset="0"/>
              </a:rPr>
              <a:t>“I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0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5">
            <a:extLst>
              <a:ext uri="{FF2B5EF4-FFF2-40B4-BE49-F238E27FC236}">
                <a16:creationId xmlns:a16="http://schemas.microsoft.com/office/drawing/2014/main" id="{65C1FDF6-1546-0A4A-9B22-9D9CCA78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i="1" dirty="0">
                <a:latin typeface="+mn-lt"/>
                <a:cs typeface="Arial" charset="0"/>
              </a:rPr>
              <a:t>in a network, Bob can not </a:t>
            </a:r>
            <a:r>
              <a:rPr lang="en-US" altLang="ja-JP" sz="2400" i="1" dirty="0">
                <a:latin typeface="+mn-lt"/>
                <a:cs typeface="Arial" charset="0"/>
              </a:rPr>
              <a:t>“</a:t>
            </a:r>
            <a:r>
              <a:rPr lang="en-US" sz="2400" i="1" dirty="0">
                <a:latin typeface="+mn-lt"/>
                <a:cs typeface="Arial" charset="0"/>
              </a:rPr>
              <a:t>see</a:t>
            </a:r>
            <a:r>
              <a:rPr lang="en-US" altLang="ja-JP" sz="2400" i="1" dirty="0">
                <a:latin typeface="+mn-lt"/>
                <a:cs typeface="Arial" charset="0"/>
              </a:rPr>
              <a:t>”</a:t>
            </a:r>
            <a:r>
              <a:rPr lang="en-US" sz="2400" i="1" dirty="0">
                <a:latin typeface="+mn-lt"/>
                <a:cs typeface="Arial" charset="0"/>
              </a:rPr>
              <a:t> Alice, so Trudy simply declares herself to be Alice</a:t>
            </a: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08D195E9-D0C5-1447-B41F-4771B5A05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0336" y="4301297"/>
            <a:ext cx="773113" cy="1027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 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C14E974A-5022-614B-8E01-23645289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altLang="ja-JP" sz="2800" dirty="0">
                <a:latin typeface="+mn-lt"/>
                <a:cs typeface="Arial" charset="0"/>
              </a:rPr>
              <a:t>“</a:t>
            </a:r>
            <a:r>
              <a:rPr lang="en-US" sz="2800" dirty="0">
                <a:latin typeface="+mn-lt"/>
                <a:cs typeface="Arial" charset="0"/>
              </a:rPr>
              <a:t>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8E5351-9AD4-834D-8CEE-AD5E09FB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482" y="2548273"/>
            <a:ext cx="325602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5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</p:spTree>
    <p:extLst>
      <p:ext uri="{BB962C8B-B14F-4D97-AF65-F5344CB8AC3E}">
        <p14:creationId xmlns:p14="http://schemas.microsoft.com/office/powerpoint/2010/main" val="215487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1094" y="4572000"/>
            <a:ext cx="2267433" cy="102518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Trudy can create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 packet “spoofing”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Alice’s address</a:t>
            </a:r>
          </a:p>
        </p:txBody>
      </p:sp>
    </p:spTree>
    <p:extLst>
      <p:ext uri="{BB962C8B-B14F-4D97-AF65-F5344CB8AC3E}">
        <p14:creationId xmlns:p14="http://schemas.microsoft.com/office/powerpoint/2010/main" val="419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12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plays it back to Bob </a:t>
            </a:r>
          </a:p>
        </p:txBody>
      </p:sp>
    </p:spTree>
    <p:extLst>
      <p:ext uri="{BB962C8B-B14F-4D97-AF65-F5344CB8AC3E}">
        <p14:creationId xmlns:p14="http://schemas.microsoft.com/office/powerpoint/2010/main" val="30689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9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Eve">
            <a:extLst>
              <a:ext uri="{FF2B5EF4-FFF2-40B4-BE49-F238E27FC236}">
                <a16:creationId xmlns:a16="http://schemas.microsoft.com/office/drawing/2014/main" id="{8D70E75A-B231-744B-8D16-252AE09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 still works: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 plays it back to Bob </a:t>
            </a:r>
          </a:p>
        </p:txBody>
      </p:sp>
    </p:spTree>
    <p:extLst>
      <p:ext uri="{BB962C8B-B14F-4D97-AF65-F5344CB8AC3E}">
        <p14:creationId xmlns:p14="http://schemas.microsoft.com/office/powerpoint/2010/main" val="248780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141769FA-74DC-F04C-8E0C-274CCE2D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once-in-a-lifetime</a:t>
            </a: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8FD904F7-9081-E447-9656-C8A098F81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i="1" dirty="0">
                <a:latin typeface="+mn-lt"/>
                <a:cs typeface="Arial" charset="0"/>
              </a:rPr>
              <a:t>Failures, drawbacks?</a:t>
            </a:r>
          </a:p>
        </p:txBody>
      </p:sp>
      <p:pic>
        <p:nvPicPr>
          <p:cNvPr id="56" name="Picture 7" descr="Alice">
            <a:extLst>
              <a:ext uri="{FF2B5EF4-FFF2-40B4-BE49-F238E27FC236}">
                <a16:creationId xmlns:a16="http://schemas.microsoft.com/office/drawing/2014/main" id="{2F9AF6F6-F327-4249-8539-07CD631C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8" descr="Bob">
            <a:extLst>
              <a:ext uri="{FF2B5EF4-FFF2-40B4-BE49-F238E27FC236}">
                <a16:creationId xmlns:a16="http://schemas.microsoft.com/office/drawing/2014/main" id="{39A855F0-2FE6-984A-B72E-20AA23DB5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966128" y="3573117"/>
            <a:ext cx="3697288" cy="614363"/>
            <a:chOff x="2733675" y="3467100"/>
            <a:chExt cx="3697288" cy="614363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959778" y="4247805"/>
            <a:ext cx="3697288" cy="557212"/>
            <a:chOff x="2727325" y="4141788"/>
            <a:chExt cx="3697288" cy="557212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24DDBA-586C-2246-9568-00131C0B0DBF}"/>
              </a:ext>
            </a:extLst>
          </p:cNvPr>
          <p:cNvGrpSpPr>
            <a:grpSpLocks/>
          </p:cNvGrpSpPr>
          <p:nvPr/>
        </p:nvGrpSpPr>
        <p:grpSpPr bwMode="auto">
          <a:xfrm>
            <a:off x="3967716" y="4806605"/>
            <a:ext cx="7442403" cy="1421928"/>
            <a:chOff x="2735263" y="4700588"/>
            <a:chExt cx="7442403" cy="1421928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263" y="5097463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6" name="Group 14">
              <a:extLst>
                <a:ext uri="{FF2B5EF4-FFF2-40B4-BE49-F238E27FC236}">
                  <a16:creationId xmlns:a16="http://schemas.microsoft.com/office/drawing/2014/main" id="{55E586C0-CCEB-B94D-9BF6-043B8F7FA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68" name="Text Box 15">
                <a:extLst>
                  <a:ext uri="{FF2B5EF4-FFF2-40B4-BE49-F238E27FC236}">
                    <a16:creationId xmlns:a16="http://schemas.microsoft.com/office/drawing/2014/main" id="{01536074-7B52-B048-8659-E090783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  (R)</a:t>
                </a:r>
              </a:p>
            </p:txBody>
          </p:sp>
          <p:sp>
            <p:nvSpPr>
              <p:cNvPr id="69" name="Text Box 16">
                <a:extLst>
                  <a:ext uri="{FF2B5EF4-FFF2-40B4-BE49-F238E27FC236}">
                    <a16:creationId xmlns:a16="http://schemas.microsoft.com/office/drawing/2014/main" id="{D784196B-33BA-5445-9ABA-35DDC8AD7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A-B</a:t>
                </a:r>
              </a:p>
            </p:txBody>
          </p:sp>
        </p:grpSp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id="{8D82095B-7548-E344-BD94-8F9CC1AF4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know Alice is live, and only Alice knows key to encrypt nonce, so it must be Alice!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459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latin typeface="+mn-lt"/>
              </a:rPr>
              <a:t>ap4.0 requires shared symmetric key  - can we authenticate using public key techniques?</a:t>
            </a:r>
          </a:p>
          <a:p>
            <a:pPr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ap5.0: </a:t>
            </a:r>
            <a:r>
              <a:rPr lang="en-US" sz="3200" dirty="0">
                <a:latin typeface="+mn-lt"/>
              </a:rPr>
              <a:t>use nonce, public key cryptography</a:t>
            </a:r>
          </a:p>
        </p:txBody>
      </p:sp>
      <p:pic>
        <p:nvPicPr>
          <p:cNvPr id="56" name="Picture 7" descr="Alice">
            <a:extLst>
              <a:ext uri="{FF2B5EF4-FFF2-40B4-BE49-F238E27FC236}">
                <a16:creationId xmlns:a16="http://schemas.microsoft.com/office/drawing/2014/main" id="{2F9AF6F6-F327-4249-8539-07CD631C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8" descr="Bob">
            <a:extLst>
              <a:ext uri="{FF2B5EF4-FFF2-40B4-BE49-F238E27FC236}">
                <a16:creationId xmlns:a16="http://schemas.microsoft.com/office/drawing/2014/main" id="{39A855F0-2FE6-984A-B72E-20AA23DB5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064980" y="3241813"/>
            <a:ext cx="3697288" cy="461665"/>
            <a:chOff x="2733675" y="3718892"/>
            <a:chExt cx="3697288" cy="461665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058630" y="3757474"/>
            <a:ext cx="3697288" cy="523220"/>
            <a:chOff x="2727325" y="4234553"/>
            <a:chExt cx="3697288" cy="523220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B0819E-4D5E-5144-A5A8-E2CA9BD36E85}"/>
              </a:ext>
            </a:extLst>
          </p:cNvPr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100" y="4408349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3" name="Group 12">
              <a:extLst>
                <a:ext uri="{FF2B5EF4-FFF2-40B4-BE49-F238E27FC236}">
                  <a16:creationId xmlns:a16="http://schemas.microsoft.com/office/drawing/2014/main" id="{DEFF3F8A-1D3B-0940-96F5-EAAB79FA3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24" name="Text Box 13">
                <a:extLst>
                  <a:ext uri="{FF2B5EF4-FFF2-40B4-BE49-F238E27FC236}">
                    <a16:creationId xmlns:a16="http://schemas.microsoft.com/office/drawing/2014/main" id="{0D581F6E-86B1-534F-BDAB-82E839A33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C75C26F3-0008-5949-9BEA-927DBA56F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9C57DEA5-6B03-E348-B265-415DA783C3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2833DA-9CEF-1740-B263-141DE78DFACD}"/>
              </a:ext>
            </a:extLst>
          </p:cNvPr>
          <p:cNvGrpSpPr>
            <a:grpSpLocks/>
          </p:cNvGrpSpPr>
          <p:nvPr/>
        </p:nvGrpSpPr>
        <p:grpSpPr bwMode="auto">
          <a:xfrm>
            <a:off x="2985743" y="5009805"/>
            <a:ext cx="3697288" cy="369332"/>
            <a:chOff x="2727325" y="4380327"/>
            <a:chExt cx="3697288" cy="369332"/>
          </a:xfrm>
        </p:grpSpPr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C5335B3-53A9-8141-8881-70E37150C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9099361D-C78F-5D47-90E9-7A0E22532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A1B0A3-002F-BE44-A232-0C1647891076}"/>
              </a:ext>
            </a:extLst>
          </p:cNvPr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D5DB138C-C974-784C-B5DF-44D22492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848" y="5647428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51" name="Group 12">
              <a:extLst>
                <a:ext uri="{FF2B5EF4-FFF2-40B4-BE49-F238E27FC236}">
                  <a16:creationId xmlns:a16="http://schemas.microsoft.com/office/drawing/2014/main" id="{7B23B9D4-5ABC-6748-8A77-C2599E687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32123EC4-E97B-E54F-AE15-8F511BEDB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D9A3EB35-2155-5B4E-846A-ED5F02B7C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0" name="Text Box 15">
                <a:extLst>
                  <a:ext uri="{FF2B5EF4-FFF2-40B4-BE49-F238E27FC236}">
                    <a16:creationId xmlns:a16="http://schemas.microsoft.com/office/drawing/2014/main" id="{B0CB5623-EA61-D04C-9262-80E608464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E0E366-E4FF-5D48-8B56-C779840E608F}"/>
              </a:ext>
            </a:extLst>
          </p:cNvPr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85AC5181-C0FE-8D46-AE3D-B48809AF3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computes</a:t>
              </a:r>
            </a:p>
          </p:txBody>
        </p:sp>
        <p:sp>
          <p:nvSpPr>
            <p:cNvPr id="43" name="Text Box 31">
              <a:extLst>
                <a:ext uri="{FF2B5EF4-FFF2-40B4-BE49-F238E27FC236}">
                  <a16:creationId xmlns:a16="http://schemas.microsoft.com/office/drawing/2014/main" id="{F167A309-060E-CB47-B167-406BAE2F3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and knows only Alice could have the private key, that encrypted R such that</a:t>
              </a:r>
            </a:p>
          </p:txBody>
        </p:sp>
        <p:grpSp>
          <p:nvGrpSpPr>
            <p:cNvPr id="44" name="Group 32">
              <a:extLst>
                <a:ext uri="{FF2B5EF4-FFF2-40B4-BE49-F238E27FC236}">
                  <a16:creationId xmlns:a16="http://schemas.microsoft.com/office/drawing/2014/main" id="{9B8399BA-1EDD-1441-A8CF-664BAC5C8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45" name="Text Box 33">
                <a:extLst>
                  <a:ext uri="{FF2B5EF4-FFF2-40B4-BE49-F238E27FC236}">
                    <a16:creationId xmlns:a16="http://schemas.microsoft.com/office/drawing/2014/main" id="{F64AD157-0740-8F4A-B120-B415F19E6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46" name="Text Box 34">
                <a:extLst>
                  <a:ext uri="{FF2B5EF4-FFF2-40B4-BE49-F238E27FC236}">
                    <a16:creationId xmlns:a16="http://schemas.microsoft.com/office/drawing/2014/main" id="{0BB260CB-AF5A-2C4C-992A-1E67D6720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47" name="Text Box 35">
                <a:extLst>
                  <a:ext uri="{FF2B5EF4-FFF2-40B4-BE49-F238E27FC236}">
                    <a16:creationId xmlns:a16="http://schemas.microsoft.com/office/drawing/2014/main" id="{AAB195AB-2054-6E42-A9EB-46D095B22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36">
                <a:extLst>
                  <a:ext uri="{FF2B5EF4-FFF2-40B4-BE49-F238E27FC236}">
                    <a16:creationId xmlns:a16="http://schemas.microsoft.com/office/drawing/2014/main" id="{59939334-F3BC-9547-9113-1B49FAF0D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49" name="Text Box 37">
                <a:extLst>
                  <a:ext uri="{FF2B5EF4-FFF2-40B4-BE49-F238E27FC236}">
                    <a16:creationId xmlns:a16="http://schemas.microsoft.com/office/drawing/2014/main" id="{8ED1822E-3198-0946-A269-EAE47B251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50" name="Text Box 38">
                <a:extLst>
                  <a:ext uri="{FF2B5EF4-FFF2-40B4-BE49-F238E27FC236}">
                    <a16:creationId xmlns:a16="http://schemas.microsoft.com/office/drawing/2014/main" id="{D2A07B58-F8F4-764F-8083-BACA7957F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71" name="Group 32">
              <a:extLst>
                <a:ext uri="{FF2B5EF4-FFF2-40B4-BE49-F238E27FC236}">
                  <a16:creationId xmlns:a16="http://schemas.microsoft.com/office/drawing/2014/main" id="{9A9EF96A-DB45-9140-929A-C624915D8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72" name="Text Box 33">
                <a:extLst>
                  <a:ext uri="{FF2B5EF4-FFF2-40B4-BE49-F238E27FC236}">
                    <a16:creationId xmlns:a16="http://schemas.microsoft.com/office/drawing/2014/main" id="{A200BBB4-00A3-2147-A532-5218A2C35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73" name="Text Box 34">
                <a:extLst>
                  <a:ext uri="{FF2B5EF4-FFF2-40B4-BE49-F238E27FC236}">
                    <a16:creationId xmlns:a16="http://schemas.microsoft.com/office/drawing/2014/main" id="{4F6B97CC-6A55-5E4D-961B-7B04C268D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4" name="Text Box 35">
                <a:extLst>
                  <a:ext uri="{FF2B5EF4-FFF2-40B4-BE49-F238E27FC236}">
                    <a16:creationId xmlns:a16="http://schemas.microsoft.com/office/drawing/2014/main" id="{91CEFBBB-4C73-F64A-B98C-47B2D5ECC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75" name="Text Box 36">
                <a:extLst>
                  <a:ext uri="{FF2B5EF4-FFF2-40B4-BE49-F238E27FC236}">
                    <a16:creationId xmlns:a16="http://schemas.microsoft.com/office/drawing/2014/main" id="{37F04E6C-C5B6-D84D-B11D-0C6729C63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76" name="Text Box 37">
                <a:extLst>
                  <a:ext uri="{FF2B5EF4-FFF2-40B4-BE49-F238E27FC236}">
                    <a16:creationId xmlns:a16="http://schemas.microsoft.com/office/drawing/2014/main" id="{8A278A51-C50D-C34B-8024-ED46F75556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7" name="Text Box 38">
                <a:extLst>
                  <a:ext uri="{FF2B5EF4-FFF2-40B4-BE49-F238E27FC236}">
                    <a16:creationId xmlns:a16="http://schemas.microsoft.com/office/drawing/2014/main" id="{A60CF1AF-7A33-6740-B29B-FDEA1A0E7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017155-79A1-0640-B6D4-2FCD229680FC}"/>
                </a:ext>
              </a:extLst>
            </p:cNvPr>
            <p:cNvCxnSpPr>
              <a:cxnSpLocks/>
            </p:cNvCxnSpPr>
            <p:nvPr/>
          </p:nvCxnSpPr>
          <p:spPr>
            <a:xfrm>
              <a:off x="8375374" y="3806822"/>
              <a:ext cx="0" cy="248796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1C0842A-6581-4244-83F0-28D1B6C7509C}"/>
                </a:ext>
              </a:extLst>
            </p:cNvPr>
            <p:cNvCxnSpPr>
              <a:cxnSpLocks/>
            </p:cNvCxnSpPr>
            <p:nvPr/>
          </p:nvCxnSpPr>
          <p:spPr>
            <a:xfrm>
              <a:off x="6970643" y="5917096"/>
              <a:ext cx="139810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617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pic>
        <p:nvPicPr>
          <p:cNvPr id="64" name="Picture 4" descr="Bob">
            <a:extLst>
              <a:ext uri="{FF2B5EF4-FFF2-40B4-BE49-F238E27FC236}">
                <a16:creationId xmlns:a16="http://schemas.microsoft.com/office/drawing/2014/main" id="{D6CDB079-52DB-9B4C-8BD8-117DDA00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6" name="Picture 5" descr="Eve">
            <a:extLst>
              <a:ext uri="{FF2B5EF4-FFF2-40B4-BE49-F238E27FC236}">
                <a16:creationId xmlns:a16="http://schemas.microsoft.com/office/drawing/2014/main" id="{7A34C871-5A03-CF41-BB7C-A3A095B39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6" descr="Alice">
            <a:extLst>
              <a:ext uri="{FF2B5EF4-FFF2-40B4-BE49-F238E27FC236}">
                <a16:creationId xmlns:a16="http://schemas.microsoft.com/office/drawing/2014/main" id="{35BF2A26-939A-ED42-8C3B-750D5A282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FE1B004-4F80-AA48-AFDF-A9BF7C694CD1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A86E69C-B341-2347-BBAD-F723056261E7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BEC8F23-A525-0541-8636-E24CC13D794F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31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247566-7DA7-1B43-9739-70BD8636B3D5}"/>
              </a:ext>
            </a:extLst>
          </p:cNvPr>
          <p:cNvSpPr txBox="1">
            <a:spLocks noChangeArrowheads="1"/>
          </p:cNvSpPr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cryptographic technique analogous to hand-written signatures:</a:t>
            </a:r>
          </a:p>
          <a:p>
            <a:r>
              <a:rPr lang="en-US" dirty="0"/>
              <a:t>sender (Bob) digitally signs document: he is document owner/creator. </a:t>
            </a:r>
          </a:p>
          <a:p>
            <a:r>
              <a:rPr lang="en-US" i="1" dirty="0">
                <a:solidFill>
                  <a:srgbClr val="000099"/>
                </a:solidFill>
              </a:rPr>
              <a:t>verifiable, nonforgeable:</a:t>
            </a:r>
            <a:r>
              <a:rPr lang="en-US" i="1" dirty="0"/>
              <a:t> </a:t>
            </a:r>
            <a:r>
              <a:rPr lang="en-US" dirty="0"/>
              <a:t>recipient (Alice) can prove to someone that Bob, and no one else (including Alice), must have signed document </a:t>
            </a:r>
          </a:p>
          <a:p>
            <a:r>
              <a:rPr lang="en-US" dirty="0">
                <a:solidFill>
                  <a:srgbClr val="C00000"/>
                </a:solidFill>
              </a:rPr>
              <a:t>simple digital signature for message m:</a:t>
            </a:r>
          </a:p>
          <a:p>
            <a:pPr lvl="1"/>
            <a:r>
              <a:rPr lang="en-US" dirty="0"/>
              <a:t>Bob signs m by encrypting with his private key K</a:t>
            </a:r>
            <a:r>
              <a:rPr lang="en-US" baseline="-25000" dirty="0"/>
              <a:t>B</a:t>
            </a:r>
            <a:r>
              <a:rPr lang="en-US" dirty="0"/>
              <a:t>, creating “</a:t>
            </a:r>
            <a:r>
              <a:rPr lang="en-US" altLang="ja-JP" dirty="0"/>
              <a:t>signed” message, K</a:t>
            </a:r>
            <a:r>
              <a:rPr lang="en-US" altLang="ja-JP" baseline="-25000" dirty="0"/>
              <a:t>B</a:t>
            </a:r>
            <a:r>
              <a:rPr lang="en-US" altLang="ja-JP" baseline="30000" dirty="0"/>
              <a:t>-</a:t>
            </a:r>
            <a:r>
              <a:rPr lang="en-US" altLang="ja-JP" dirty="0"/>
              <a:t>(m)</a:t>
            </a:r>
            <a:endParaRPr lang="en-US" dirty="0"/>
          </a:p>
          <a:p>
            <a:endParaRPr lang="en-US" dirty="0"/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16595CF5-7C18-5646-8CF5-290FD7343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Bob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’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 message, m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999B2F42-1C49-3242-9F33-AABB02BA6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D59055E0-0F4A-D44C-9AF9-3829B5D57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Public key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4" name="Line 12">
            <a:extLst>
              <a:ext uri="{FF2B5EF4-FFF2-40B4-BE49-F238E27FC236}">
                <a16:creationId xmlns:a16="http://schemas.microsoft.com/office/drawing/2014/main" id="{42BF7666-AEBA-894D-81D3-70728380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5080" y="5531541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DCB23176-B5BF-834E-BAE0-A1D3AA7AD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Bob’s private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36" name="Picture 14" descr="BS00768_[1]">
            <a:extLst>
              <a:ext uri="{FF2B5EF4-FFF2-40B4-BE49-F238E27FC236}">
                <a16:creationId xmlns:a16="http://schemas.microsoft.com/office/drawing/2014/main" id="{9DA5D995-915C-1E4A-94EE-8940D5B20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" name="Group 15">
            <a:extLst>
              <a:ext uri="{FF2B5EF4-FFF2-40B4-BE49-F238E27FC236}">
                <a16:creationId xmlns:a16="http://schemas.microsoft.com/office/drawing/2014/main" id="{954129EF-8C19-B449-B2B5-A62BC61F213F}"/>
              </a:ext>
            </a:extLst>
          </p:cNvPr>
          <p:cNvGrpSpPr>
            <a:grpSpLocks/>
          </p:cNvGrpSpPr>
          <p:nvPr/>
        </p:nvGrpSpPr>
        <p:grpSpPr bwMode="auto"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38" name="Group 16">
              <a:extLst>
                <a:ext uri="{FF2B5EF4-FFF2-40B4-BE49-F238E27FC236}">
                  <a16:creationId xmlns:a16="http://schemas.microsoft.com/office/drawing/2014/main" id="{AEC95C76-7D3F-F94E-99AA-691126FDE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40" name="Text Box 17">
                <a:extLst>
                  <a:ext uri="{FF2B5EF4-FFF2-40B4-BE49-F238E27FC236}">
                    <a16:creationId xmlns:a16="http://schemas.microsoft.com/office/drawing/2014/main" id="{9F552C79-49EC-5C4C-B858-52FE65A4EF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41" name="Text Box 18">
                <a:extLst>
                  <a:ext uri="{FF2B5EF4-FFF2-40B4-BE49-F238E27FC236}">
                    <a16:creationId xmlns:a16="http://schemas.microsoft.com/office/drawing/2014/main" id="{56339FF9-7A5C-A049-BF66-D38AA2793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ED944B1D-3083-2A49-B687-9F8D79D0B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" name="Line 20">
            <a:extLst>
              <a:ext uri="{FF2B5EF4-FFF2-40B4-BE49-F238E27FC236}">
                <a16:creationId xmlns:a16="http://schemas.microsoft.com/office/drawing/2014/main" id="{38C448CC-0BC5-6A41-917E-B897438AC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354" y="4578489"/>
            <a:ext cx="1588" cy="4699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553D03E9-7542-F443-A643-1F22BEEF7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0784" y="5518289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865779-4372-244B-AC15-D7C762A8A14C}"/>
              </a:ext>
            </a:extLst>
          </p:cNvPr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AE8BE604-17AC-3A49-8448-5944CE37F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m,K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DB8BE5-9950-C849-BB63-EABFBCCE07AF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46" name="Text Box 26">
                <a:extLst>
                  <a:ext uri="{FF2B5EF4-FFF2-40B4-BE49-F238E27FC236}">
                    <a16:creationId xmlns:a16="http://schemas.microsoft.com/office/drawing/2014/main" id="{6CBE6BCA-4044-F741-9C69-F056784B3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27">
                <a:extLst>
                  <a:ext uri="{FF2B5EF4-FFF2-40B4-BE49-F238E27FC236}">
                    <a16:creationId xmlns:a16="http://schemas.microsoft.com/office/drawing/2014/main" id="{20A71881-8E33-EF48-B5B1-0594382BD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1057607-073D-AA4E-A320-B65BF92EF2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478CAE-5B04-A34F-8C28-C2A810B84E28}"/>
              </a:ext>
            </a:extLst>
          </p:cNvPr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0305A02-B8E0-3346-A22A-2F64FC1E4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30" name="Text Box 8">
              <a:extLst>
                <a:ext uri="{FF2B5EF4-FFF2-40B4-BE49-F238E27FC236}">
                  <a16:creationId xmlns:a16="http://schemas.microsoft.com/office/drawing/2014/main" id="{5F1CFD14-B851-C04A-89E6-CDCFCF528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0CDB89D-9227-A14E-80AF-B6C57E3CEDD2}"/>
              </a:ext>
            </a:extLst>
          </p:cNvPr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361D2D9-6A81-6349-AADE-831105308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55" name="Text Box 8">
              <a:extLst>
                <a:ext uri="{FF2B5EF4-FFF2-40B4-BE49-F238E27FC236}">
                  <a16:creationId xmlns:a16="http://schemas.microsoft.com/office/drawing/2014/main" id="{CD849CC5-702A-8144-BED4-A4DAF7980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31556-A1E4-394E-A667-BE16E2A81C1A}"/>
              </a:ext>
            </a:extLst>
          </p:cNvPr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60E20416-5EA0-7543-AEAC-9857362CE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AA3E933-BCD9-CF44-97BC-401ADFE6D39B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64" name="Text Box 26">
                <a:extLst>
                  <a:ext uri="{FF2B5EF4-FFF2-40B4-BE49-F238E27FC236}">
                    <a16:creationId xmlns:a16="http://schemas.microsoft.com/office/drawing/2014/main" id="{11AB5857-3B67-DC42-A125-978DBBA95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7">
                <a:extLst>
                  <a:ext uri="{FF2B5EF4-FFF2-40B4-BE49-F238E27FC236}">
                    <a16:creationId xmlns:a16="http://schemas.microsoft.com/office/drawing/2014/main" id="{C46E62AB-3611-114F-AA86-E18C2ED70B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66" name="Text Box 28">
                <a:extLst>
                  <a:ext uri="{FF2B5EF4-FFF2-40B4-BE49-F238E27FC236}">
                    <a16:creationId xmlns:a16="http://schemas.microsoft.com/office/drawing/2014/main" id="{9AD6C1D1-4C86-BA42-8F13-7D8651860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3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E86042F-3271-1D4E-B8DA-ABF93350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AB8D43-8150-1B49-AF72-A5318307076B}"/>
              </a:ext>
            </a:extLst>
          </p:cNvPr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02B7BF4C-C3E8-E34C-B98E-4BD63E5307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Alice thus verifies that: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no one else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 and not m’</a:t>
              </a:r>
              <a:endParaRPr lang="en-US" altLang="ja-JP" sz="3000" dirty="0"/>
            </a:p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non-repudiation:</a:t>
              </a:r>
            </a:p>
            <a:p>
              <a:pPr marL="800100" lvl="1" indent="-342900">
                <a:buFont typeface="Wingdings" charset="0"/>
                <a:buChar char="ü"/>
              </a:pPr>
              <a:r>
                <a:rPr lang="en-US" sz="3000" dirty="0"/>
                <a:t>Alice can take m, and signature K</a:t>
              </a:r>
              <a:r>
                <a:rPr lang="en-US" sz="3000" baseline="-25000" dirty="0"/>
                <a:t>B</a:t>
              </a:r>
              <a:r>
                <a:rPr lang="en-US" sz="3000" dirty="0"/>
                <a:t>(m) to court and prove that Bob signed m</a:t>
              </a:r>
            </a:p>
            <a:p>
              <a:pPr marL="381000" indent="-381000">
                <a:buFont typeface="Wingdings" charset="0"/>
                <a:buChar char="ü"/>
              </a:pPr>
              <a:endParaRPr lang="en-US" sz="2400" dirty="0">
                <a:latin typeface="Gill Sans MT" charset="0"/>
              </a:endParaRPr>
            </a:p>
          </p:txBody>
        </p: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C773B6DE-E51B-254E-B064-733EB2A7F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sz="1800" dirty="0">
                  <a:latin typeface="Arial Unicode MS" charset="0"/>
                  <a:cs typeface="Arial Unicode MS" charset="0"/>
                </a:rPr>
                <a:t>-</a:t>
              </a:r>
            </a:p>
          </p:txBody>
        </p:sp>
      </p:grpSp>
      <p:sp>
        <p:nvSpPr>
          <p:cNvPr id="58" name="Rectangle 3">
            <a:extLst>
              <a:ext uri="{FF2B5EF4-FFF2-40B4-BE49-F238E27FC236}">
                <a16:creationId xmlns:a16="http://schemas.microsoft.com/office/drawing/2014/main" id="{5E59394B-2781-2E4C-8768-154AB5B6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suppose Alice receives msg m, with signature: m,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verifies m signed by Bob by applying Bob’</a:t>
            </a:r>
            <a:r>
              <a:rPr lang="en-US" altLang="ja-JP" sz="2800" dirty="0">
                <a:latin typeface="+mn-lt"/>
              </a:rPr>
              <a:t>s public key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 to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then checks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If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 ) = m, whoever signed m must have used Bob’</a:t>
            </a:r>
            <a:r>
              <a:rPr lang="en-US" altLang="ja-JP" sz="2800" dirty="0">
                <a:latin typeface="+mn-lt"/>
              </a:rPr>
              <a:t>s private key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047B424C-87AE-D342-8A27-BAEB832E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7" name="Text Box 7">
            <a:extLst>
              <a:ext uri="{FF2B5EF4-FFF2-40B4-BE49-F238E27FC236}">
                <a16:creationId xmlns:a16="http://schemas.microsoft.com/office/drawing/2014/main" id="{956480F6-18F7-0C41-A084-D1D19E48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6726CCD4-8193-2F40-8804-69A46F7E8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813668F-F8DE-834D-BFAE-B0EF3336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0" name="Text Box 7">
            <a:extLst>
              <a:ext uri="{FF2B5EF4-FFF2-40B4-BE49-F238E27FC236}">
                <a16:creationId xmlns:a16="http://schemas.microsoft.com/office/drawing/2014/main" id="{546520CC-303A-8840-BFA6-458DDF08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EE7C6A5-3E58-3B4D-A409-4A9F3B4D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367" y="2165626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0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Message digests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09ECB0-3A94-1341-9EBB-C98248A1F3FF}"/>
              </a:ext>
            </a:extLst>
          </p:cNvPr>
          <p:cNvSpPr txBox="1">
            <a:spLocks noChangeArrowheads="1"/>
          </p:cNvSpPr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500" dirty="0">
                <a:solidFill>
                  <a:srgbClr val="C00000"/>
                </a:solidFill>
              </a:rPr>
              <a:t>Hash function properties: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many-to-1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produces fixed-size msg digest (fingerprint)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given message digest </a:t>
            </a:r>
            <a:r>
              <a:rPr lang="en-US" i="1" dirty="0"/>
              <a:t>x</a:t>
            </a:r>
            <a:r>
              <a:rPr lang="en-US" dirty="0"/>
              <a:t>, computationally infeasible to find </a:t>
            </a:r>
            <a:r>
              <a:rPr lang="en-US" i="1" dirty="0"/>
              <a:t>m</a:t>
            </a:r>
            <a:r>
              <a:rPr lang="en-US" dirty="0"/>
              <a:t> such that </a:t>
            </a:r>
            <a:r>
              <a:rPr lang="en-US" i="1" dirty="0"/>
              <a:t>x = H(m)</a:t>
            </a:r>
          </a:p>
          <a:p>
            <a:pPr>
              <a:buFont typeface="Wingdings" charset="0"/>
              <a:buNone/>
            </a:pPr>
            <a:endParaRPr lang="en-US" dirty="0"/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711DE-5BCA-8145-BDA5-E821E6B7FBF9}"/>
              </a:ext>
            </a:extLst>
          </p:cNvPr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DFE7CF-2327-6543-8885-7E6CEA2AE74D}"/>
                </a:ext>
              </a:extLst>
            </p:cNvPr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172699-9F33-624E-8D39-A7D9A08A6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486B9566-CED3-D045-B265-EC988F366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</a:p>
            </p:txBody>
          </p:sp>
        </p:grp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5199ACEC-B6E5-AA4B-809E-E39426DE3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0D215AFC-9F10-E34D-9606-16C9F04F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4352C06B-013A-3C40-A71C-475F92FB7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390" y="116177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40C2249D-AF39-5D43-890D-EB074882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H(m)</a:t>
              </a: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9AD0E0FC-0316-CA4F-8777-C03580EC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790" y="119490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FDC35326-ED1E-FE4D-9A93-19CE679A25DE}"/>
              </a:ext>
            </a:extLst>
          </p:cNvPr>
          <p:cNvSpPr txBox="1">
            <a:spLocks noChangeArrowheads="1"/>
          </p:cNvSpPr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3200" dirty="0"/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6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fixed-length, easy- to-compute digital “</a:t>
            </a:r>
            <a:r>
              <a:rPr lang="en-US" altLang="ja-JP" sz="3200" dirty="0"/>
              <a:t>fingerprint”</a:t>
            </a:r>
          </a:p>
          <a:p>
            <a:pPr>
              <a:spcBef>
                <a:spcPts val="400"/>
              </a:spcBef>
            </a:pPr>
            <a:r>
              <a:rPr lang="en-US" dirty="0"/>
              <a:t>apply hash function H to </a:t>
            </a:r>
            <a:r>
              <a:rPr lang="en-US" i="1" dirty="0"/>
              <a:t>m</a:t>
            </a:r>
            <a:r>
              <a:rPr lang="en-US" dirty="0"/>
              <a:t>, get fixed size message digest, </a:t>
            </a:r>
            <a:r>
              <a:rPr lang="en-US" i="1" dirty="0"/>
              <a:t>H(m)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309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Internet checksum: poor crypto hash function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5CFB9A6-2751-1D40-8575-CD4D580963CA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/>
              <a:t>Internet checksum has some properties of hash function: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produces fixed length digest (16-bit sum) of message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is many-to-one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E386E9F-CFF2-D246-BE26-B962F1FE1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2E96B89F-97B8-114A-A04F-39793039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8DC27A76-C869-6B4B-B25D-846EBAE9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327CE0C7-929E-3D43-819A-1FC457662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7CC79AF2-A056-4F4A-A6D7-116CB8909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80AE841F-F61F-A44E-825C-CBE562800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841" y="535056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180C5637-141F-164F-9BF7-AF14F2A4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68A9DA2C-57D1-A24F-B730-BCD4A1871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D844FFB7-DBBC-1A4D-B3C6-E6240D7D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B6EB42E9-A7D7-A949-973D-75A7C204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3C642FAA-D19F-A64A-B465-98452562F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3DF46F5E-D066-E043-AF4B-716096B09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3104" y="533469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1516AFD8-E50A-A842-BB2A-6F9336429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888A2083-7EA3-994F-ABA1-BC6B9E23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0012A0"/>
                </a:solidFill>
                <a:latin typeface="+mn-lt"/>
                <a:cs typeface="Arial" charset="0"/>
              </a:rPr>
              <a:t>but identical checksums</a:t>
            </a:r>
            <a:r>
              <a:rPr lang="en-US" i="1" dirty="0">
                <a:latin typeface="+mn-lt"/>
                <a:cs typeface="Arial" charset="0"/>
              </a:rPr>
              <a:t>!</a:t>
            </a:r>
          </a:p>
        </p:txBody>
      </p:sp>
      <p:sp>
        <p:nvSpPr>
          <p:cNvPr id="39" name="Line 18">
            <a:extLst>
              <a:ext uri="{FF2B5EF4-FFF2-40B4-BE49-F238E27FC236}">
                <a16:creationId xmlns:a16="http://schemas.microsoft.com/office/drawing/2014/main" id="{91B6FCEC-BF46-924C-A488-4FF98F7C34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9354" y="5575990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8CCCD314-5330-6D49-9052-E25A959334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89241" y="5560115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5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 = signed message digest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EF39249-C525-1044-B18E-5DF6B1F9C731}"/>
              </a:ext>
            </a:extLst>
          </p:cNvPr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84" name="Rectangle 14">
              <a:extLst>
                <a:ext uri="{FF2B5EF4-FFF2-40B4-BE49-F238E27FC236}">
                  <a16:creationId xmlns:a16="http://schemas.microsoft.com/office/drawing/2014/main" id="{CCD41351-883C-8B49-B15E-99ECE2D4E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5" name="Text Box 15">
              <a:extLst>
                <a:ext uri="{FF2B5EF4-FFF2-40B4-BE49-F238E27FC236}">
                  <a16:creationId xmlns:a16="http://schemas.microsoft.com/office/drawing/2014/main" id="{F444D081-AA34-024E-8458-B708CC893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95" name="Group 25">
            <a:extLst>
              <a:ext uri="{FF2B5EF4-FFF2-40B4-BE49-F238E27FC236}">
                <a16:creationId xmlns:a16="http://schemas.microsoft.com/office/drawing/2014/main" id="{F24A5ECF-CB3B-9542-8A84-EB2D480B9C98}"/>
              </a:ext>
            </a:extLst>
          </p:cNvPr>
          <p:cNvGrpSpPr>
            <a:grpSpLocks/>
          </p:cNvGrpSpPr>
          <p:nvPr/>
        </p:nvGrpSpPr>
        <p:grpSpPr bwMode="auto"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96" name="Text Box 26">
              <a:extLst>
                <a:ext uri="{FF2B5EF4-FFF2-40B4-BE49-F238E27FC236}">
                  <a16:creationId xmlns:a16="http://schemas.microsoft.com/office/drawing/2014/main" id="{43036DA1-DAA5-E64D-BD4A-16183B595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  <p:sp>
          <p:nvSpPr>
            <p:cNvPr id="97" name="Oval 27">
              <a:extLst>
                <a:ext uri="{FF2B5EF4-FFF2-40B4-BE49-F238E27FC236}">
                  <a16:creationId xmlns:a16="http://schemas.microsoft.com/office/drawing/2014/main" id="{D0190EA0-B1F1-BB41-8527-B7DE7B3CB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98" name="Line 28">
            <a:extLst>
              <a:ext uri="{FF2B5EF4-FFF2-40B4-BE49-F238E27FC236}">
                <a16:creationId xmlns:a16="http://schemas.microsoft.com/office/drawing/2014/main" id="{F58C3779-4B81-0744-9C3C-6395CFBCD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412" y="3034955"/>
            <a:ext cx="0" cy="198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074B9069-12AF-DC46-BFF3-3DD97A29C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0425" y="5328892"/>
            <a:ext cx="3175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100" name="Picture 30" descr="BS00592_[1]">
            <a:extLst>
              <a:ext uri="{FF2B5EF4-FFF2-40B4-BE49-F238E27FC236}">
                <a16:creationId xmlns:a16="http://schemas.microsoft.com/office/drawing/2014/main" id="{A353C0C9-83AB-CB4A-B367-C0C0237B1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1" name="Rectangle 31">
            <a:extLst>
              <a:ext uri="{FF2B5EF4-FFF2-40B4-BE49-F238E27FC236}">
                <a16:creationId xmlns:a16="http://schemas.microsoft.com/office/drawing/2014/main" id="{B1BDC4E1-DD74-DE4C-8F80-855E91E8D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Bob sends digitally signed message: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BAC604B-FEED-1542-8940-C030E497366C}"/>
              </a:ext>
            </a:extLst>
          </p:cNvPr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5BB42433-5DF6-C44F-BDD6-65779EEA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17" name="Text Box 7">
              <a:extLst>
                <a:ext uri="{FF2B5EF4-FFF2-40B4-BE49-F238E27FC236}">
                  <a16:creationId xmlns:a16="http://schemas.microsoft.com/office/drawing/2014/main" id="{66B66418-0805-9348-B4DF-667D4778D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111" name="Rectangle 8">
            <a:extLst>
              <a:ext uri="{FF2B5EF4-FFF2-40B4-BE49-F238E27FC236}">
                <a16:creationId xmlns:a16="http://schemas.microsoft.com/office/drawing/2014/main" id="{CA3DAA77-64B7-1042-8DCB-7AF45A2F0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12" name="Text Box 9">
            <a:extLst>
              <a:ext uri="{FF2B5EF4-FFF2-40B4-BE49-F238E27FC236}">
                <a16:creationId xmlns:a16="http://schemas.microsoft.com/office/drawing/2014/main" id="{77F65553-DFEE-A044-B301-608E86F75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13" name="Line 10">
            <a:extLst>
              <a:ext uri="{FF2B5EF4-FFF2-40B4-BE49-F238E27FC236}">
                <a16:creationId xmlns:a16="http://schemas.microsoft.com/office/drawing/2014/main" id="{5E5DB4D6-107F-2548-A010-967052CB7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5148" y="2553252"/>
            <a:ext cx="37106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11">
            <a:extLst>
              <a:ext uri="{FF2B5EF4-FFF2-40B4-BE49-F238E27FC236}">
                <a16:creationId xmlns:a16="http://schemas.microsoft.com/office/drawing/2014/main" id="{CCE58BB5-B800-3541-BEAF-15DF6A072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H(m)</a:t>
            </a:r>
          </a:p>
        </p:txBody>
      </p:sp>
      <p:sp>
        <p:nvSpPr>
          <p:cNvPr id="115" name="Line 10">
            <a:extLst>
              <a:ext uri="{FF2B5EF4-FFF2-40B4-BE49-F238E27FC236}">
                <a16:creationId xmlns:a16="http://schemas.microsoft.com/office/drawing/2014/main" id="{E853EA3C-9A61-EF49-AA07-C25D3B9A4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2149" y="2599634"/>
            <a:ext cx="38058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FE9FE0-FA56-1246-BBC9-6609138EAE40}"/>
              </a:ext>
            </a:extLst>
          </p:cNvPr>
          <p:cNvCxnSpPr>
            <a:cxnSpLocks/>
          </p:cNvCxnSpPr>
          <p:nvPr/>
        </p:nvCxnSpPr>
        <p:spPr>
          <a:xfrm flipH="1">
            <a:off x="1815550" y="5155096"/>
            <a:ext cx="20275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BB38349-24AF-A040-AE21-18FF1706C30D}"/>
              </a:ext>
            </a:extLst>
          </p:cNvPr>
          <p:cNvCxnSpPr>
            <a:cxnSpLocks/>
          </p:cNvCxnSpPr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8AB17B7-C101-3B4C-8B67-952A3ECA45AB}"/>
              </a:ext>
            </a:extLst>
          </p:cNvPr>
          <p:cNvCxnSpPr>
            <a:cxnSpLocks/>
          </p:cNvCxnSpPr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32">
            <a:extLst>
              <a:ext uri="{FF2B5EF4-FFF2-40B4-BE49-F238E27FC236}">
                <a16:creationId xmlns:a16="http://schemas.microsoft.com/office/drawing/2014/main" id="{2B56B630-D20C-0E48-AAD7-E33AEE101543}"/>
              </a:ext>
            </a:extLst>
          </p:cNvPr>
          <p:cNvSpPr txBox="1">
            <a:spLocks noChangeArrowheads="1"/>
          </p:cNvSpPr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0"/>
              <a:buNone/>
            </a:pPr>
            <a:r>
              <a:rPr lang="en-US" dirty="0"/>
              <a:t>Alice verifies signature, integrity of digitally signed message:</a:t>
            </a:r>
          </a:p>
        </p:txBody>
      </p:sp>
      <p:pic>
        <p:nvPicPr>
          <p:cNvPr id="130" name="Picture 40" descr="BS00592_[1]">
            <a:extLst>
              <a:ext uri="{FF2B5EF4-FFF2-40B4-BE49-F238E27FC236}">
                <a16:creationId xmlns:a16="http://schemas.microsoft.com/office/drawing/2014/main" id="{F490BD09-6CB3-B246-B4D6-6CD3F15C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" name="Text Box 53">
            <a:extLst>
              <a:ext uri="{FF2B5EF4-FFF2-40B4-BE49-F238E27FC236}">
                <a16:creationId xmlns:a16="http://schemas.microsoft.com/office/drawing/2014/main" id="{A1C55E3A-B8B7-9549-95DA-6B2B3FCA1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46" name="Text Box 56">
            <a:extLst>
              <a:ext uri="{FF2B5EF4-FFF2-40B4-BE49-F238E27FC236}">
                <a16:creationId xmlns:a16="http://schemas.microsoft.com/office/drawing/2014/main" id="{C0071582-0553-9D4C-A577-8ED033785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3" name="Text Box 63">
            <a:extLst>
              <a:ext uri="{FF2B5EF4-FFF2-40B4-BE49-F238E27FC236}">
                <a16:creationId xmlns:a16="http://schemas.microsoft.com/office/drawing/2014/main" id="{9E337D23-C848-8145-B079-D4D6C7C1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4" name="Line 64">
            <a:extLst>
              <a:ext uri="{FF2B5EF4-FFF2-40B4-BE49-F238E27FC236}">
                <a16:creationId xmlns:a16="http://schemas.microsoft.com/office/drawing/2014/main" id="{C9E8F389-B8AB-5043-9CC6-A9A006D5E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0534" y="286302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6" name="Line 76">
            <a:extLst>
              <a:ext uri="{FF2B5EF4-FFF2-40B4-BE49-F238E27FC236}">
                <a16:creationId xmlns:a16="http://schemas.microsoft.com/office/drawing/2014/main" id="{E136B6C7-FA1F-EA4C-8639-CE1F2D4A9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8272" y="587292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7" name="Line 77">
            <a:extLst>
              <a:ext uri="{FF2B5EF4-FFF2-40B4-BE49-F238E27FC236}">
                <a16:creationId xmlns:a16="http://schemas.microsoft.com/office/drawing/2014/main" id="{928DBF80-B664-AF47-AAD2-41EAC2164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85934" y="586657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835AEB4-A61F-0E40-BCF8-A126D96A9C7C}"/>
              </a:ext>
            </a:extLst>
          </p:cNvPr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90AA764F-C6F5-F143-BF93-01B3B95A0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71" name="Text Box 7">
              <a:extLst>
                <a:ext uri="{FF2B5EF4-FFF2-40B4-BE49-F238E27FC236}">
                  <a16:creationId xmlns:a16="http://schemas.microsoft.com/office/drawing/2014/main" id="{ECF19F4D-E8AE-F54C-A6AD-6FA62D5ED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4E33964-896C-AF4C-92FD-F359907E3C57}"/>
              </a:ext>
            </a:extLst>
          </p:cNvPr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id="{19E2C28C-9A5F-914E-97E0-D15A78E18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87" name="Picture 17" descr="BS00768_[1]">
              <a:extLst>
                <a:ext uri="{FF2B5EF4-FFF2-40B4-BE49-F238E27FC236}">
                  <a16:creationId xmlns:a16="http://schemas.microsoft.com/office/drawing/2014/main" id="{A3A39AD6-434F-0348-B359-E805575CB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8" name="Group 18">
              <a:extLst>
                <a:ext uri="{FF2B5EF4-FFF2-40B4-BE49-F238E27FC236}">
                  <a16:creationId xmlns:a16="http://schemas.microsoft.com/office/drawing/2014/main" id="{9C9D4178-7FEF-594F-8CCF-1AFD1E30A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89" name="Group 19">
                <a:extLst>
                  <a:ext uri="{FF2B5EF4-FFF2-40B4-BE49-F238E27FC236}">
                    <a16:creationId xmlns:a16="http://schemas.microsoft.com/office/drawing/2014/main" id="{A60DC2D3-52D9-8744-8609-C10E299AA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91" name="Text Box 20">
                  <a:extLst>
                    <a:ext uri="{FF2B5EF4-FFF2-40B4-BE49-F238E27FC236}">
                      <a16:creationId xmlns:a16="http://schemas.microsoft.com/office/drawing/2014/main" id="{F3BED591-BCCB-2246-A254-61335DF2D6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2" name="Text Box 21">
                  <a:extLst>
                    <a:ext uri="{FF2B5EF4-FFF2-40B4-BE49-F238E27FC236}">
                      <a16:creationId xmlns:a16="http://schemas.microsoft.com/office/drawing/2014/main" id="{17AB0DA2-1167-2D46-8632-CC1190C16D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90" name="Text Box 22">
                <a:extLst>
                  <a:ext uri="{FF2B5EF4-FFF2-40B4-BE49-F238E27FC236}">
                    <a16:creationId xmlns:a16="http://schemas.microsoft.com/office/drawing/2014/main" id="{7587A174-D942-3D43-89B9-A23BF65DE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19823C-0FB1-8645-8287-EB4C5AA12B57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649D0B-607E-EE43-B217-A547BE617F99}"/>
              </a:ext>
            </a:extLst>
          </p:cNvPr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6748C72-BC5C-0D43-9291-EF04370297D3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3" name="Group 34">
                <a:extLst>
                  <a:ext uri="{FF2B5EF4-FFF2-40B4-BE49-F238E27FC236}">
                    <a16:creationId xmlns:a16="http://schemas.microsoft.com/office/drawing/2014/main" id="{C9466280-BB4D-9548-9D44-4E595E9791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6" name="Text Box 35">
                  <a:extLst>
                    <a:ext uri="{FF2B5EF4-FFF2-40B4-BE49-F238E27FC236}">
                      <a16:creationId xmlns:a16="http://schemas.microsoft.com/office/drawing/2014/main" id="{30C1FFBF-8C5A-3145-A216-83DF674976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07" name="Text Box 36">
                  <a:extLst>
                    <a:ext uri="{FF2B5EF4-FFF2-40B4-BE49-F238E27FC236}">
                      <a16:creationId xmlns:a16="http://schemas.microsoft.com/office/drawing/2014/main" id="{12076172-D4A5-3847-ADDD-7C31F8E94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05" name="Text Box 38">
                <a:extLst>
                  <a:ext uri="{FF2B5EF4-FFF2-40B4-BE49-F238E27FC236}">
                    <a16:creationId xmlns:a16="http://schemas.microsoft.com/office/drawing/2014/main" id="{58FF323C-65B7-E746-A44B-832C06C63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469F7B-FDF8-594E-84C7-B40FE8CE7EB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272639B-DF97-714E-8070-A7C8696F2BD7}"/>
              </a:ext>
            </a:extLst>
          </p:cNvPr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EE4BB737-59C1-474D-94B9-031695A0036A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80" name="Group 34">
                <a:extLst>
                  <a:ext uri="{FF2B5EF4-FFF2-40B4-BE49-F238E27FC236}">
                    <a16:creationId xmlns:a16="http://schemas.microsoft.com/office/drawing/2014/main" id="{3A474D83-98EA-0945-BE7F-EF0F3D1861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82" name="Text Box 35">
                  <a:extLst>
                    <a:ext uri="{FF2B5EF4-FFF2-40B4-BE49-F238E27FC236}">
                      <a16:creationId xmlns:a16="http://schemas.microsoft.com/office/drawing/2014/main" id="{B4BFDBE1-B0AE-C944-923B-0FB222D936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83" name="Text Box 36">
                  <a:extLst>
                    <a:ext uri="{FF2B5EF4-FFF2-40B4-BE49-F238E27FC236}">
                      <a16:creationId xmlns:a16="http://schemas.microsoft.com/office/drawing/2014/main" id="{72BF8384-456B-A944-BDC5-136549DED3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81" name="Text Box 38">
                <a:extLst>
                  <a:ext uri="{FF2B5EF4-FFF2-40B4-BE49-F238E27FC236}">
                    <a16:creationId xmlns:a16="http://schemas.microsoft.com/office/drawing/2014/main" id="{5C4C32ED-C92A-D34E-83F0-5A60D46E1B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27611C3-F7BF-504D-BDE0-60EB822045D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34FC27D-E26C-7D45-8F7D-8D201F9D1327}"/>
              </a:ext>
            </a:extLst>
          </p:cNvPr>
          <p:cNvCxnSpPr>
            <a:cxnSpLocks/>
          </p:cNvCxnSpPr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20EAE69-54A8-5647-A90F-1B7B2600C816}"/>
              </a:ext>
            </a:extLst>
          </p:cNvPr>
          <p:cNvCxnSpPr>
            <a:cxnSpLocks/>
          </p:cNvCxnSpPr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A7A7AA8-3031-8E48-8587-B178226D9C5B}"/>
              </a:ext>
            </a:extLst>
          </p:cNvPr>
          <p:cNvCxnSpPr>
            <a:cxnSpLocks/>
          </p:cNvCxnSpPr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7AE4029-112C-CF40-B41E-A26EECCD4A51}"/>
              </a:ext>
            </a:extLst>
          </p:cNvPr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91" name="Rectangle 14">
              <a:extLst>
                <a:ext uri="{FF2B5EF4-FFF2-40B4-BE49-F238E27FC236}">
                  <a16:creationId xmlns:a16="http://schemas.microsoft.com/office/drawing/2014/main" id="{2C63D620-97A5-5F45-85C2-D4A6B4ADE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2" name="Text Box 15">
              <a:extLst>
                <a:ext uri="{FF2B5EF4-FFF2-40B4-BE49-F238E27FC236}">
                  <a16:creationId xmlns:a16="http://schemas.microsoft.com/office/drawing/2014/main" id="{0B18E250-70E3-444A-8ACC-CD29158E9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898EB7A9-23BB-5343-B2B1-EC1055BBBBC6}"/>
              </a:ext>
            </a:extLst>
          </p:cNvPr>
          <p:cNvCxnSpPr>
            <a:cxnSpLocks/>
          </p:cNvCxnSpPr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B2E8B7A-0FF0-AD49-8BCC-0F3FA0572B12}"/>
              </a:ext>
            </a:extLst>
          </p:cNvPr>
          <p:cNvCxnSpPr>
            <a:cxnSpLocks/>
          </p:cNvCxnSpPr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1B8A9C-6EB6-FD43-8531-A67FEE184BB2}"/>
              </a:ext>
            </a:extLst>
          </p:cNvPr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96" name="Text Box 16">
              <a:extLst>
                <a:ext uri="{FF2B5EF4-FFF2-40B4-BE49-F238E27FC236}">
                  <a16:creationId xmlns:a16="http://schemas.microsoft.com/office/drawing/2014/main" id="{27560837-1C52-4C48-94FE-2E10581CC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197" name="Picture 17" descr="BS00768_[1]">
              <a:extLst>
                <a:ext uri="{FF2B5EF4-FFF2-40B4-BE49-F238E27FC236}">
                  <a16:creationId xmlns:a16="http://schemas.microsoft.com/office/drawing/2014/main" id="{53D412DD-734D-634A-BE12-66848A93B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8" name="Group 18">
              <a:extLst>
                <a:ext uri="{FF2B5EF4-FFF2-40B4-BE49-F238E27FC236}">
                  <a16:creationId xmlns:a16="http://schemas.microsoft.com/office/drawing/2014/main" id="{0B4DDFE1-EDF2-5B45-B8E0-30A2652C5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200" name="Group 19">
                <a:extLst>
                  <a:ext uri="{FF2B5EF4-FFF2-40B4-BE49-F238E27FC236}">
                    <a16:creationId xmlns:a16="http://schemas.microsoft.com/office/drawing/2014/main" id="{5383C6D8-058F-4A41-B601-80BE0F38E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202" name="Text Box 20">
                  <a:extLst>
                    <a:ext uri="{FF2B5EF4-FFF2-40B4-BE49-F238E27FC236}">
                      <a16:creationId xmlns:a16="http://schemas.microsoft.com/office/drawing/2014/main" id="{8DDFD6D6-CFB2-A543-803B-E0D225340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203" name="Text Box 21">
                  <a:extLst>
                    <a:ext uri="{FF2B5EF4-FFF2-40B4-BE49-F238E27FC236}">
                      <a16:creationId xmlns:a16="http://schemas.microsoft.com/office/drawing/2014/main" id="{04FCED81-808C-4B40-8559-2FE4E66FE0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201" name="Text Box 22">
                <a:extLst>
                  <a:ext uri="{FF2B5EF4-FFF2-40B4-BE49-F238E27FC236}">
                    <a16:creationId xmlns:a16="http://schemas.microsoft.com/office/drawing/2014/main" id="{22667D2E-474F-C04F-9EF1-65999F53A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C58EDE71-07B3-4841-A2B5-5F1C258FE2F2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75C74AE-98C7-C245-9222-8EB21BF49F29}"/>
              </a:ext>
            </a:extLst>
          </p:cNvPr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C7D723-D7D8-E949-B946-5AC1C0648A21}"/>
                </a:ext>
              </a:extLst>
            </p:cNvPr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BCCA618-927B-9C45-B38A-F3EA61772599}"/>
                </a:ext>
              </a:extLst>
            </p:cNvPr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equal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34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Hash function algorithms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BF9FAD4A-FE78-7446-845F-6232B124B138}"/>
              </a:ext>
            </a:extLst>
          </p:cNvPr>
          <p:cNvSpPr txBox="1">
            <a:spLocks noChangeArrowheads="1"/>
          </p:cNvSpPr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>
                <a:solidFill>
                  <a:srgbClr val="C00000"/>
                </a:solidFill>
              </a:rPr>
              <a:t>MD5 hash function widely used (RFC 1321) </a:t>
            </a:r>
          </a:p>
          <a:p>
            <a:pPr lvl="1"/>
            <a:r>
              <a:rPr lang="en-US" sz="2800" dirty="0"/>
              <a:t>computes 128-bit message digest in 4-step process. </a:t>
            </a:r>
          </a:p>
          <a:p>
            <a:pPr lvl="1"/>
            <a:r>
              <a:rPr lang="en-US" sz="2800" dirty="0"/>
              <a:t>arbitrary 128-bit string x, appears difficult to construct msg m whose MD5 hash is equal to x</a:t>
            </a:r>
          </a:p>
          <a:p>
            <a:pPr indent="-287338"/>
            <a:r>
              <a:rPr lang="en-US" sz="3200" dirty="0">
                <a:solidFill>
                  <a:srgbClr val="C00000"/>
                </a:solidFill>
              </a:rPr>
              <a:t>SHA-1 is also used</a:t>
            </a:r>
          </a:p>
          <a:p>
            <a:pPr lvl="1"/>
            <a:r>
              <a:rPr lang="en-US" sz="2800" dirty="0"/>
              <a:t>US standard [</a:t>
            </a:r>
            <a:r>
              <a:rPr lang="en-US" dirty="0"/>
              <a:t>NIST, FIPS PUB 180-1]</a:t>
            </a:r>
            <a:endParaRPr lang="en-US" sz="2800" dirty="0"/>
          </a:p>
          <a:p>
            <a:pPr lvl="1"/>
            <a:r>
              <a:rPr lang="en-US" sz="2800" dirty="0"/>
              <a:t>160-bit message digest</a:t>
            </a:r>
          </a:p>
        </p:txBody>
      </p:sp>
    </p:spTree>
    <p:extLst>
      <p:ext uri="{BB962C8B-B14F-4D97-AF65-F5344CB8AC3E}">
        <p14:creationId xmlns:p14="http://schemas.microsoft.com/office/powerpoint/2010/main" val="409278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let’s fix it!!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865909" y="1170523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Recall the problem: </a:t>
            </a:r>
            <a:r>
              <a:rPr lang="en-US" dirty="0"/>
              <a:t>Trudy poses as Alice (to Bob) and as Bob (to Alice)</a:t>
            </a:r>
          </a:p>
        </p:txBody>
      </p:sp>
      <p:pic>
        <p:nvPicPr>
          <p:cNvPr id="64" name="Picture 4" descr="Bob">
            <a:extLst>
              <a:ext uri="{FF2B5EF4-FFF2-40B4-BE49-F238E27FC236}">
                <a16:creationId xmlns:a16="http://schemas.microsoft.com/office/drawing/2014/main" id="{D6CDB079-52DB-9B4C-8BD8-117DDA00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6" name="Picture 5" descr="Eve">
            <a:extLst>
              <a:ext uri="{FF2B5EF4-FFF2-40B4-BE49-F238E27FC236}">
                <a16:creationId xmlns:a16="http://schemas.microsoft.com/office/drawing/2014/main" id="{7A34C871-5A03-CF41-BB7C-A3A095B39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6" descr="Alice">
            <a:extLst>
              <a:ext uri="{FF2B5EF4-FFF2-40B4-BE49-F238E27FC236}">
                <a16:creationId xmlns:a16="http://schemas.microsoft.com/office/drawing/2014/main" id="{35BF2A26-939A-ED42-8C3B-750D5A282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77CCA1-AE8D-374F-BC1F-5EC4C0FB94A5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B4941F-64F3-E447-9284-991F0D048A09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E84004-AA3A-644E-9984-F921D7AEC2D1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71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Need for certified public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90663"/>
            <a:ext cx="7749209" cy="753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motivation: Trudy plays pizza prank on Bob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0482" name="Picture 2" descr="Delivery Pepperoni Pizza | Taste Test | Serious Eats">
            <a:extLst>
              <a:ext uri="{FF2B5EF4-FFF2-40B4-BE49-F238E27FC236}">
                <a16:creationId xmlns:a16="http://schemas.microsoft.com/office/drawing/2014/main" id="{9DE292BF-82C0-674B-895E-5211D05BB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407" y="2252869"/>
            <a:ext cx="3712524" cy="36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 3">
            <a:extLst>
              <a:ext uri="{FF2B5EF4-FFF2-40B4-BE49-F238E27FC236}">
                <a16:creationId xmlns:a16="http://schemas.microsoft.com/office/drawing/2014/main" id="{19B001DB-C120-F941-A274-01407236A44C}"/>
              </a:ext>
            </a:extLst>
          </p:cNvPr>
          <p:cNvSpPr txBox="1">
            <a:spLocks noChangeArrowheads="1"/>
          </p:cNvSpPr>
          <p:nvPr/>
        </p:nvSpPr>
        <p:spPr>
          <a:xfrm>
            <a:off x="868681" y="2059478"/>
            <a:ext cx="6812280" cy="4342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6125" lvl="1" indent="-288925"/>
            <a:r>
              <a:rPr lang="en-US" sz="2800" dirty="0"/>
              <a:t>Trudy creates e-mail order: </a:t>
            </a:r>
            <a:br>
              <a:rPr lang="en-US" sz="2800" dirty="0"/>
            </a:br>
            <a:r>
              <a:rPr lang="en-US" sz="2800" i="1" dirty="0"/>
              <a:t>Dear Pizza Store, Please deliver to me four pepperoni pizzas. Thank you, Bob</a:t>
            </a:r>
          </a:p>
          <a:p>
            <a:pPr lvl="1"/>
            <a:r>
              <a:rPr lang="en-US" sz="2800" dirty="0"/>
              <a:t>Trudy signs order with her private key</a:t>
            </a:r>
          </a:p>
          <a:p>
            <a:pPr lvl="1"/>
            <a:r>
              <a:rPr lang="en-US" sz="2800" dirty="0"/>
              <a:t>Trudy sends order to Pizza Store</a:t>
            </a:r>
          </a:p>
          <a:p>
            <a:pPr lvl="1"/>
            <a:r>
              <a:rPr lang="en-US" sz="2800" dirty="0"/>
              <a:t>Trudy sends to Pizza Store her public key, but says it</a:t>
            </a:r>
            <a:r>
              <a:rPr lang="en-US" altLang="ja-JP" sz="2800" dirty="0"/>
              <a:t>’s Bob’s public key</a:t>
            </a:r>
          </a:p>
          <a:p>
            <a:pPr lvl="1"/>
            <a:r>
              <a:rPr lang="en-US" sz="2800" dirty="0"/>
              <a:t>Pizza Store verifies signature; then delivers four pepperoni pizzas to Bob</a:t>
            </a:r>
          </a:p>
          <a:p>
            <a:pPr lvl="1"/>
            <a:r>
              <a:rPr lang="en-US" sz="2800" dirty="0"/>
              <a:t>Bob doesn’</a:t>
            </a:r>
            <a:r>
              <a:rPr lang="en-US" altLang="ja-JP" sz="2800" dirty="0"/>
              <a:t>t even like pepperoni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2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(CA): </a:t>
            </a:r>
            <a:r>
              <a:rPr lang="en-US" dirty="0"/>
              <a:t>binds public key to particular entity,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pic>
        <p:nvPicPr>
          <p:cNvPr id="7" name="Picture 4" descr="j0175664[1]">
            <a:extLst>
              <a:ext uri="{FF2B5EF4-FFF2-40B4-BE49-F238E27FC236}">
                <a16:creationId xmlns:a16="http://schemas.microsoft.com/office/drawing/2014/main" id="{23CAD533-9FA9-104F-B787-25857E08A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</p:spPr>
      </p:pic>
      <p:pic>
        <p:nvPicPr>
          <p:cNvPr id="8" name="Picture 5" descr="Bob">
            <a:extLst>
              <a:ext uri="{FF2B5EF4-FFF2-40B4-BE49-F238E27FC236}">
                <a16:creationId xmlns:a16="http://schemas.microsoft.com/office/drawing/2014/main" id="{0548BCFD-B7B1-C642-A6A8-74DD77F00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514DEAE9-3473-A94A-B6EB-D6509081E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651" y="453210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B959E000-A13C-AB4A-B282-6A698249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B9863CF-92EF-BC44-9CCC-D015F7212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139" y="531474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D776C03-EA8C-2848-85F8-6B5E0D3EE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451" y="434954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46B9D1E-91F6-E34F-93A3-36FF0A9C8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3076" y="437653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B42AC924-4113-6146-9190-3E0B43B0D2A6}"/>
              </a:ext>
            </a:extLst>
          </p:cNvPr>
          <p:cNvGrpSpPr>
            <a:grpSpLocks/>
          </p:cNvGrpSpPr>
          <p:nvPr/>
        </p:nvGrpSpPr>
        <p:grpSpPr bwMode="auto"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id="32" name="Picture 29" descr="SO00109_[1]">
              <a:extLst>
                <a:ext uri="{FF2B5EF4-FFF2-40B4-BE49-F238E27FC236}">
                  <a16:creationId xmlns:a16="http://schemas.microsoft.com/office/drawing/2014/main" id="{2A42DF74-0987-5743-815C-6D6077F50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CABC37BB-8D37-5346-8D2F-6AEE6F2BF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35" name="Group 31">
                <a:extLst>
                  <a:ext uri="{FF2B5EF4-FFF2-40B4-BE49-F238E27FC236}">
                    <a16:creationId xmlns:a16="http://schemas.microsoft.com/office/drawing/2014/main" id="{6FC90D88-FE04-9642-A206-14C10022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37" name="Text Box 32">
                  <a:extLst>
                    <a:ext uri="{FF2B5EF4-FFF2-40B4-BE49-F238E27FC236}">
                      <a16:creationId xmlns:a16="http://schemas.microsoft.com/office/drawing/2014/main" id="{69E50F96-6F41-304B-AA4E-F0D481927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38" name="Text Box 33">
                  <a:extLst>
                    <a:ext uri="{FF2B5EF4-FFF2-40B4-BE49-F238E27FC236}">
                      <a16:creationId xmlns:a16="http://schemas.microsoft.com/office/drawing/2014/main" id="{BD9826BE-5617-2545-8BEA-DF335B118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9DB419F6-7ACA-F647-82AC-3C6EFAC50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34" name="Picture 35" descr="BS00768_[1]">
              <a:extLst>
                <a:ext uri="{FF2B5EF4-FFF2-40B4-BE49-F238E27FC236}">
                  <a16:creationId xmlns:a16="http://schemas.microsoft.com/office/drawing/2014/main" id="{E90EC5A6-F279-6E4A-A0F4-1F5B775A5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AEC96A95-A24E-234D-BFA0-CAD51D07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certificate for Bob’</a:t>
            </a:r>
            <a:r>
              <a:rPr lang="en-US" altLang="ja-JP" sz="2400" dirty="0">
                <a:latin typeface="+mn-lt"/>
                <a:cs typeface="Arial" charset="0"/>
              </a:rPr>
              <a:t>s public key, signed by CA</a:t>
            </a:r>
            <a:endParaRPr lang="en-US" sz="2400" dirty="0">
              <a:latin typeface="+mn-lt"/>
              <a:cs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A104D4-6597-8545-AE1E-4577D2F09F17}"/>
              </a:ext>
            </a:extLst>
          </p:cNvPr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5506696-77AB-1B40-A4F7-5FFAF0CC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42" name="Picture 17" descr="BS00768_[1]">
              <a:extLst>
                <a:ext uri="{FF2B5EF4-FFF2-40B4-BE49-F238E27FC236}">
                  <a16:creationId xmlns:a16="http://schemas.microsoft.com/office/drawing/2014/main" id="{A7ECB05D-E6D2-A048-986D-B97CF6063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C75D009B-E4B0-7D46-9107-860AFBE8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FA341A53-980A-5C49-B6F7-E79003B34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47" name="Text Box 20">
                  <a:extLst>
                    <a:ext uri="{FF2B5EF4-FFF2-40B4-BE49-F238E27FC236}">
                      <a16:creationId xmlns:a16="http://schemas.microsoft.com/office/drawing/2014/main" id="{DEAC77C3-BAA5-F443-8C94-D92E5D6CD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8" name="Text Box 21">
                  <a:extLst>
                    <a:ext uri="{FF2B5EF4-FFF2-40B4-BE49-F238E27FC236}">
                      <a16:creationId xmlns:a16="http://schemas.microsoft.com/office/drawing/2014/main" id="{C89B2AF0-297B-6E4C-8552-0E5F297C8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46" name="Text Box 22">
                <a:extLst>
                  <a:ext uri="{FF2B5EF4-FFF2-40B4-BE49-F238E27FC236}">
                    <a16:creationId xmlns:a16="http://schemas.microsoft.com/office/drawing/2014/main" id="{FD5B6C22-76DD-BB4D-93E7-DF9484534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59881B-A1F9-7A4D-BDB2-822CB1AC8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3BB3F4-B2E4-CB40-9B41-6B747981F1D1}"/>
              </a:ext>
            </a:extLst>
          </p:cNvPr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9F86004E-57D3-2B47-A9C8-B12CCB4E6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94D9C94A-2C78-EF44-95ED-65E34026B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C9228D-7D76-B749-BF6B-5CD50A49737B}"/>
              </a:ext>
            </a:extLst>
          </p:cNvPr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F1F72D12-E9EA-EA4E-9462-C0194DDA2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55" name="Picture 17" descr="BS00768_[1]">
              <a:extLst>
                <a:ext uri="{FF2B5EF4-FFF2-40B4-BE49-F238E27FC236}">
                  <a16:creationId xmlns:a16="http://schemas.microsoft.com/office/drawing/2014/main" id="{64902A97-E370-9644-A285-671369300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" name="Group 18">
              <a:extLst>
                <a:ext uri="{FF2B5EF4-FFF2-40B4-BE49-F238E27FC236}">
                  <a16:creationId xmlns:a16="http://schemas.microsoft.com/office/drawing/2014/main" id="{40B79DC8-6CFF-1A42-BBB2-043B5D8A6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58" name="Group 19">
                <a:extLst>
                  <a:ext uri="{FF2B5EF4-FFF2-40B4-BE49-F238E27FC236}">
                    <a16:creationId xmlns:a16="http://schemas.microsoft.com/office/drawing/2014/main" id="{7CE30E7F-A771-CD48-8BA7-28ECDB8D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60" name="Text Box 20">
                  <a:extLst>
                    <a:ext uri="{FF2B5EF4-FFF2-40B4-BE49-F238E27FC236}">
                      <a16:creationId xmlns:a16="http://schemas.microsoft.com/office/drawing/2014/main" id="{95F49427-0650-9F48-AD60-F4AD83D70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1" name="Text Box 21">
                  <a:extLst>
                    <a:ext uri="{FF2B5EF4-FFF2-40B4-BE49-F238E27FC236}">
                      <a16:creationId xmlns:a16="http://schemas.microsoft.com/office/drawing/2014/main" id="{1D3534E8-F6F2-3F40-A422-A479EAB109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59" name="Text Box 22">
                <a:extLst>
                  <a:ext uri="{FF2B5EF4-FFF2-40B4-BE49-F238E27FC236}">
                    <a16:creationId xmlns:a16="http://schemas.microsoft.com/office/drawing/2014/main" id="{91198392-95D5-C743-A978-73224FA9A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B9612A-2D92-F647-989B-3FD2B6A7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2" name="Picture 4" descr="j0175664[1]">
            <a:extLst>
              <a:ext uri="{FF2B5EF4-FFF2-40B4-BE49-F238E27FC236}">
                <a16:creationId xmlns:a16="http://schemas.microsoft.com/office/drawing/2014/main" id="{86204907-90B2-284B-BA6F-A051EB0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BF16691C-9BDB-1D4F-AA2F-7065045E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Bob</a:t>
            </a:r>
            <a:r>
              <a:rPr lang="en-US" altLang="ja-JP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public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key </a:t>
            </a:r>
          </a:p>
        </p:txBody>
      </p:sp>
      <p:pic>
        <p:nvPicPr>
          <p:cNvPr id="64" name="Picture 6" descr="BS00768_[1]">
            <a:extLst>
              <a:ext uri="{FF2B5EF4-FFF2-40B4-BE49-F238E27FC236}">
                <a16:creationId xmlns:a16="http://schemas.microsoft.com/office/drawing/2014/main" id="{8280B673-28A1-4F46-858C-8C7273B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7">
            <a:extLst>
              <a:ext uri="{FF2B5EF4-FFF2-40B4-BE49-F238E27FC236}">
                <a16:creationId xmlns:a16="http://schemas.microsoft.com/office/drawing/2014/main" id="{47A82B01-B7E1-D846-8542-A99CD2AEA39E}"/>
              </a:ext>
            </a:extLst>
          </p:cNvPr>
          <p:cNvGrpSpPr>
            <a:grpSpLocks/>
          </p:cNvGrpSpPr>
          <p:nvPr/>
        </p:nvGrpSpPr>
        <p:grpSpPr bwMode="auto"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C2759B9C-729A-5343-BADB-7B154CCF8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68" name="Text Box 9">
                <a:extLst>
                  <a:ext uri="{FF2B5EF4-FFF2-40B4-BE49-F238E27FC236}">
                    <a16:creationId xmlns:a16="http://schemas.microsoft.com/office/drawing/2014/main" id="{A77E39EC-DC13-404E-B464-ABE48C6D1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9" name="Text Box 10">
                <a:extLst>
                  <a:ext uri="{FF2B5EF4-FFF2-40B4-BE49-F238E27FC236}">
                    <a16:creationId xmlns:a16="http://schemas.microsoft.com/office/drawing/2014/main" id="{C5422436-A231-5644-8B83-73C0DDFE2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C552F4B3-060D-5E41-AFB6-6B22FC0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1723C1A2-8445-2D4C-A1AC-7941C67B6447}"/>
              </a:ext>
            </a:extLst>
          </p:cNvPr>
          <p:cNvGrpSpPr>
            <a:grpSpLocks/>
          </p:cNvGrpSpPr>
          <p:nvPr/>
        </p:nvGrpSpPr>
        <p:grpSpPr bwMode="auto"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id="83" name="Picture 25" descr="SO00109_[1]">
              <a:extLst>
                <a:ext uri="{FF2B5EF4-FFF2-40B4-BE49-F238E27FC236}">
                  <a16:creationId xmlns:a16="http://schemas.microsoft.com/office/drawing/2014/main" id="{884E3D47-2931-0749-BC1C-167192A82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" name="Group 26">
              <a:extLst>
                <a:ext uri="{FF2B5EF4-FFF2-40B4-BE49-F238E27FC236}">
                  <a16:creationId xmlns:a16="http://schemas.microsoft.com/office/drawing/2014/main" id="{C26DAA83-3F07-2948-9CB4-F03941CB5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3D9235A1-82B6-9A4D-B692-364CBCFC8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8" name="Text Box 28">
                  <a:extLst>
                    <a:ext uri="{FF2B5EF4-FFF2-40B4-BE49-F238E27FC236}">
                      <a16:creationId xmlns:a16="http://schemas.microsoft.com/office/drawing/2014/main" id="{26A0F4D4-6AF6-9E47-A61A-CF82F0B947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9" name="Text Box 29">
                  <a:extLst>
                    <a:ext uri="{FF2B5EF4-FFF2-40B4-BE49-F238E27FC236}">
                      <a16:creationId xmlns:a16="http://schemas.microsoft.com/office/drawing/2014/main" id="{61B19EC3-D708-D648-BBA1-846CA65A0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7" name="Text Box 30">
                <a:extLst>
                  <a:ext uri="{FF2B5EF4-FFF2-40B4-BE49-F238E27FC236}">
                    <a16:creationId xmlns:a16="http://schemas.microsoft.com/office/drawing/2014/main" id="{8115967C-E3FB-BE48-ABEF-FBE72FA54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" name="Picture 31" descr="BS00768_[1]">
              <a:extLst>
                <a:ext uri="{FF2B5EF4-FFF2-40B4-BE49-F238E27FC236}">
                  <a16:creationId xmlns:a16="http://schemas.microsoft.com/office/drawing/2014/main" id="{00CF9311-3C9B-3A4F-9436-75CF9002FF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8F6ED6-01A5-0E45-82CA-E5937DA040AC}"/>
              </a:ext>
            </a:extLst>
          </p:cNvPr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92" name="Text Box 16">
              <a:extLst>
                <a:ext uri="{FF2B5EF4-FFF2-40B4-BE49-F238E27FC236}">
                  <a16:creationId xmlns:a16="http://schemas.microsoft.com/office/drawing/2014/main" id="{623C5444-33AE-A745-BE15-55AD9A0E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key</a:t>
              </a:r>
              <a:r>
                <a:rPr lang="en-US" sz="1800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pic>
          <p:nvPicPr>
            <p:cNvPr id="93" name="Picture 17" descr="BS00768_[1]">
              <a:extLst>
                <a:ext uri="{FF2B5EF4-FFF2-40B4-BE49-F238E27FC236}">
                  <a16:creationId xmlns:a16="http://schemas.microsoft.com/office/drawing/2014/main" id="{D7837F94-C73E-4F4B-9E5D-BA3F3F58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" name="Group 18">
              <a:extLst>
                <a:ext uri="{FF2B5EF4-FFF2-40B4-BE49-F238E27FC236}">
                  <a16:creationId xmlns:a16="http://schemas.microsoft.com/office/drawing/2014/main" id="{74911AEB-DF5A-1C40-B94B-9013E3477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96" name="Group 19">
                <a:extLst>
                  <a:ext uri="{FF2B5EF4-FFF2-40B4-BE49-F238E27FC236}">
                    <a16:creationId xmlns:a16="http://schemas.microsoft.com/office/drawing/2014/main" id="{4CA1F0FD-4828-2144-A75D-FDE3A8678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98" name="Text Box 20">
                  <a:extLst>
                    <a:ext uri="{FF2B5EF4-FFF2-40B4-BE49-F238E27FC236}">
                      <a16:creationId xmlns:a16="http://schemas.microsoft.com/office/drawing/2014/main" id="{B3D79FB7-1C2B-C94B-B437-7A8ECA448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9" name="Text Box 21">
                  <a:extLst>
                    <a:ext uri="{FF2B5EF4-FFF2-40B4-BE49-F238E27FC236}">
                      <a16:creationId xmlns:a16="http://schemas.microsoft.com/office/drawing/2014/main" id="{E3966B90-5436-A04E-8C64-3707CB218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97" name="Text Box 22">
                <a:extLst>
                  <a:ext uri="{FF2B5EF4-FFF2-40B4-BE49-F238E27FC236}">
                    <a16:creationId xmlns:a16="http://schemas.microsoft.com/office/drawing/2014/main" id="{97AFB871-1EC4-CD44-A23A-77B645039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5A1564F-7EB2-0A4C-BE2B-C0FE1A5F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1BF86D7-C3B3-2847-ACEE-C8C1FEB25E60}"/>
              </a:ext>
            </a:extLst>
          </p:cNvPr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01" name="Rectangle 14">
              <a:extLst>
                <a:ext uri="{FF2B5EF4-FFF2-40B4-BE49-F238E27FC236}">
                  <a16:creationId xmlns:a16="http://schemas.microsoft.com/office/drawing/2014/main" id="{73BE9E8D-6C46-A342-B10D-C6ECD8AED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669CFD21-9EEE-4149-A26A-FB28FA2D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504F19-7FCB-A149-8908-2F307F1C15D6}"/>
              </a:ext>
            </a:extLst>
          </p:cNvPr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339D3AD-1952-B248-B66E-C59F9B8324E8}"/>
              </a:ext>
            </a:extLst>
          </p:cNvPr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2BA622-7D70-E164-B8E0-8ECC003F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SSL/TLS and TCP/IP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68C45A-F203-E216-94D3-1E19C2D5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536591"/>
            <a:ext cx="6702552" cy="288209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EA939E-F89C-51AF-7D83-2525136CC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SSL/TLS provides application programming interface (API) to applications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C, Java, Python SSL/TLS libraries/classes readily available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7E9B3-5806-47DB-8320-B54E6F245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36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Security: 8- </a:t>
            </a:r>
            <a:fld id="{C4204591-24BD-A542-B9D5-F8D8A88D2FEE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45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92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836718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security: what’s needed?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11017D-0786-AE4D-9C8B-A9B78332A06C}"/>
              </a:ext>
            </a:extLst>
          </p:cNvPr>
          <p:cNvSpPr txBox="1">
            <a:spLocks noChangeArrowheads="1"/>
          </p:cNvSpPr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handshake: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Alice, Bob use their certificates, private keys to authenticate each other, exchange or create shared secret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derivation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Alice, Bob use shared secret to derive set of keys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transfer: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stream data transfer: data as a series of records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not just one-time transactions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 closure: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special messages to securely close connection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3FD55F0-E149-124E-8E21-E70DE72E018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62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let’s </a:t>
            </a:r>
            <a:r>
              <a:rPr lang="en-US" sz="3200" i="1" dirty="0"/>
              <a:t>build</a:t>
            </a:r>
            <a:r>
              <a:rPr lang="en-US" sz="3200" dirty="0"/>
              <a:t> a toy TLS protocol, </a:t>
            </a:r>
            <a:r>
              <a:rPr lang="en-US" sz="3200" i="1" dirty="0"/>
              <a:t>t-tls, </a:t>
            </a:r>
            <a:r>
              <a:rPr lang="en-US" sz="3200" dirty="0"/>
              <a:t>to see what’s needed!</a:t>
            </a:r>
            <a:endParaRPr lang="en-US" sz="2800" dirty="0">
              <a:solidFill>
                <a:srgbClr val="0012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0A1B3-23D0-C644-B102-E8B069ED3317}"/>
              </a:ext>
            </a:extLst>
          </p:cNvPr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6863" indent="-296863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3200" dirty="0"/>
              <a:t>we’ve seen the “pieces” already:</a:t>
            </a:r>
          </a:p>
        </p:txBody>
      </p:sp>
    </p:spTree>
    <p:extLst>
      <p:ext uri="{BB962C8B-B14F-4D97-AF65-F5344CB8AC3E}">
        <p14:creationId xmlns:p14="http://schemas.microsoft.com/office/powerpoint/2010/main" val="4741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B6E1B3-13C9-8945-B4C8-DF3D7E18C89E}"/>
              </a:ext>
            </a:extLst>
          </p:cNvPr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916C2B-D7EF-BF44-B631-0B62D5EBDA56}"/>
                </a:ext>
              </a:extLst>
            </p:cNvPr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58A446-6B9F-2E47-9609-B6CADDB9798A}"/>
                </a:ext>
              </a:extLst>
            </p:cNvPr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3015E3-1F8C-C741-878A-8AA698E96E7C}"/>
                </a:ext>
              </a:extLst>
            </p:cNvPr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2AFCE4-D7C8-244E-AA02-FEECB0118F16}"/>
                </a:ext>
              </a:extLst>
            </p:cNvPr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F77898-B99E-B947-AC75-F25AB1606EAA}"/>
                </a:ext>
              </a:extLst>
            </p:cNvPr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E38A84-E462-CD43-BB9F-6E14F48CE02A}"/>
                </a:ext>
              </a:extLst>
            </p:cNvPr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A44FDA-034F-FA44-B4E5-A383BFBA0921}"/>
                </a:ext>
              </a:extLst>
            </p:cNvPr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40684BE-04FA-6042-BBBF-7BEE4ADA92DB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528318-9287-5D4B-8DB6-AECD7CA0D6C7}"/>
                  </a:ext>
                </a:extLst>
              </p:cNvPr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HTTP/2</a:t>
                </a: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983F30-C2B9-D64C-AB3E-16BEEFAD2F8C}"/>
                </a:ext>
              </a:extLst>
            </p:cNvPr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99FDA1-13E1-ED41-B7CB-14891E4274AB}"/>
                </a:ext>
              </a:extLst>
            </p:cNvPr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78255B-D9D7-BA42-B84C-C27E023AEE5F}"/>
                </a:ext>
              </a:extLst>
            </p:cNvPr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0A8F33-53CF-8D4D-965C-20A7EC36DF0A}"/>
                </a:ext>
              </a:extLst>
            </p:cNvPr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60DD56-4A32-E54A-92E3-4DF5A939E262}"/>
                </a:ext>
              </a:extLst>
            </p:cNvPr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B40237-6F67-2D41-AFF0-588D83BB3E71}"/>
                </a:ext>
              </a:extLst>
            </p:cNvPr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7AA547-F1E4-C54B-A489-1F5532C76AD4}"/>
                </a:ext>
              </a:extLst>
            </p:cNvPr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D38505-37B9-AB4C-8BF1-74EFE1C095A7}"/>
                </a:ext>
              </a:extLst>
            </p:cNvPr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7335F2-ABF6-4242-9FE2-B2E1F3C5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1896" y="4737663"/>
              <a:ext cx="7475083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C3B49F-E6E0-2949-AEF9-4FFC5288F340}"/>
                </a:ext>
              </a:extLst>
            </p:cNvPr>
            <p:cNvCxnSpPr>
              <a:cxnSpLocks/>
            </p:cNvCxnSpPr>
            <p:nvPr/>
          </p:nvCxnSpPr>
          <p:spPr>
            <a:xfrm>
              <a:off x="2451652" y="4162508"/>
              <a:ext cx="745444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235AA9-F0DA-CA46-A5C9-DCB93EE9132C}"/>
                </a:ext>
              </a:extLst>
            </p:cNvPr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613C58-7CEF-3544-BEA7-AB8BF40EB729}"/>
                </a:ext>
              </a:extLst>
            </p:cNvPr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CC5FCA-13B1-8C40-BE2B-6836A9805CCD}"/>
                </a:ext>
              </a:extLst>
            </p:cNvPr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81A5A3-7EDB-3C4A-B735-10809E467274}"/>
                </a:ext>
              </a:extLst>
            </p:cNvPr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7114ECE2-1121-0345-B7B9-9FB2F084ED76}"/>
                </a:ext>
              </a:extLst>
            </p:cNvPr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35C09F-1046-AB48-ADAB-00EF1C3B0A9C}"/>
                </a:ext>
              </a:extLst>
            </p:cNvPr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1362FB-24E4-2844-AC7E-E4518CF0715D}"/>
                </a:ext>
              </a:extLst>
            </p:cNvPr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QUIC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(which incorporates TLS)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 UDP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71AB2D0-DE7D-1046-8E6E-9E10EE65DBFB}"/>
                </a:ext>
              </a:extLst>
            </p:cNvPr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37EA29-F710-1744-8487-F190DF4B1F1F}"/>
                </a:ext>
              </a:extLst>
            </p:cNvPr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A9237DD-B9BA-6E47-B09A-1EB16931BEBC}"/>
                </a:ext>
              </a:extLst>
            </p:cNvPr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DA7FF9-8DE9-834C-B550-844A130DB512}"/>
                </a:ext>
              </a:extLst>
            </p:cNvPr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9CD36DF-A6E8-E94A-830D-71530B00B9C8}"/>
                </a:ext>
              </a:extLst>
            </p:cNvPr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E23F83F-706C-254E-9283-B3C113109B24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5A4CDE4-7EF7-DD4B-A4D8-4FDB90287E05}"/>
                  </a:ext>
                </a:extLst>
              </p:cNvPr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</a:t>
                </a:r>
                <a:r>
                  <a:rPr lang="en-US" kern="0" dirty="0">
                    <a:solidFill>
                      <a:prstClr val="black"/>
                    </a:solidFill>
                    <a:latin typeface="Calibri" panose="020F0502020204030204"/>
                  </a:rPr>
                  <a:t> 1.0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5E28FB-A1AD-D543-A262-74F2FD5695C1}"/>
                </a:ext>
              </a:extLst>
            </p:cNvPr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</p:grpSp>
      <p:sp>
        <p:nvSpPr>
          <p:cNvPr id="50" name="Rectangle 3">
            <a:extLst>
              <a:ext uri="{FF2B5EF4-FFF2-40B4-BE49-F238E27FC236}">
                <a16:creationId xmlns:a16="http://schemas.microsoft.com/office/drawing/2014/main" id="{9DBBAA2C-520E-9D42-A957-3021B90655F9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9760742-0469-2542-A9D6-EFAC12730D3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TLS provides an API that </a:t>
            </a:r>
            <a:r>
              <a:rPr lang="en-US" sz="3200" i="1" dirty="0"/>
              <a:t>any</a:t>
            </a:r>
            <a:r>
              <a:rPr lang="en-US" sz="3200" dirty="0"/>
              <a:t> application can use</a:t>
            </a:r>
          </a:p>
          <a:p>
            <a:pPr marL="287338" indent="-287338"/>
            <a:r>
              <a:rPr lang="en-US" sz="3200" dirty="0"/>
              <a:t>an HTTP view of TLS:</a:t>
            </a:r>
            <a:endParaRPr lang="en-US" sz="2800" dirty="0"/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2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31208</TotalTime>
  <Words>3884</Words>
  <Application>Microsoft Office PowerPoint</Application>
  <PresentationFormat>Widescreen</PresentationFormat>
  <Paragraphs>854</Paragraphs>
  <Slides>48</Slides>
  <Notes>46</Notes>
  <HiddenSlides>9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ＭＳ Ｐゴシック</vt:lpstr>
      <vt:lpstr>Arial</vt:lpstr>
      <vt:lpstr>Arial Unicode MS</vt:lpstr>
      <vt:lpstr>Calibri</vt:lpstr>
      <vt:lpstr>Calibri Light</vt:lpstr>
      <vt:lpstr>Courier New</vt:lpstr>
      <vt:lpstr>Gill Sans MT</vt:lpstr>
      <vt:lpstr>Wingdings</vt:lpstr>
      <vt:lpstr>ZapfDingbats</vt:lpstr>
      <vt:lpstr>Office Theme</vt:lpstr>
      <vt:lpstr>Secure Network Programming</vt:lpstr>
      <vt:lpstr>Security: overview</vt:lpstr>
      <vt:lpstr>Security in Networks?</vt:lpstr>
      <vt:lpstr>Friends and enemies: Alice, Bob, Trudy</vt:lpstr>
      <vt:lpstr>Friends and enemies: Alice, Bob, Trudy</vt:lpstr>
      <vt:lpstr>There are bad guys (and girls) out there!</vt:lpstr>
      <vt:lpstr>The language of cryptography</vt:lpstr>
      <vt:lpstr>Symmetric key cryptography</vt:lpstr>
      <vt:lpstr>Simple encryption scheme</vt:lpstr>
      <vt:lpstr>Symmetric key crypto: DES</vt:lpstr>
      <vt:lpstr>AES: Advanced Encryption Standard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Authentication</vt:lpstr>
      <vt:lpstr>Authentication</vt:lpstr>
      <vt:lpstr>Authentication: another try</vt:lpstr>
      <vt:lpstr>Authentication: another try</vt:lpstr>
      <vt:lpstr>Authentication: a third try</vt:lpstr>
      <vt:lpstr>Authentication: a third try</vt:lpstr>
      <vt:lpstr>Authentication: a modified third try</vt:lpstr>
      <vt:lpstr>Authentication: a modified third try</vt:lpstr>
      <vt:lpstr>Authentication: a fourth try</vt:lpstr>
      <vt:lpstr>Authentication: ap5.0</vt:lpstr>
      <vt:lpstr>Authentication: ap5.0 – there’s still a flaw!</vt:lpstr>
      <vt:lpstr>Digital signatures </vt:lpstr>
      <vt:lpstr>Digital signatures </vt:lpstr>
      <vt:lpstr>Message digests</vt:lpstr>
      <vt:lpstr>Internet checksum: poor crypto hash function</vt:lpstr>
      <vt:lpstr>Digital signature = signed message digest</vt:lpstr>
      <vt:lpstr>Hash function algorithms</vt:lpstr>
      <vt:lpstr>Authentication: ap5.0 – let’s fix it!!</vt:lpstr>
      <vt:lpstr>Need for certified public keys</vt:lpstr>
      <vt:lpstr>Public key Certification Authorities (CA)</vt:lpstr>
      <vt:lpstr>Public key Certification Authorities (CA)</vt:lpstr>
      <vt:lpstr>Transport-layer security (TLS)</vt:lpstr>
      <vt:lpstr>SSL/TLS and TCP/IP</vt:lpstr>
      <vt:lpstr>Transport-layer security (TLS)</vt:lpstr>
      <vt:lpstr>Transport-layer security: what’s needed?</vt:lpstr>
      <vt:lpstr>Transport-layer security (TLS)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Hoài Nam Nguyễn</cp:lastModifiedBy>
  <cp:revision>1077</cp:revision>
  <dcterms:created xsi:type="dcterms:W3CDTF">2020-01-18T07:24:59Z</dcterms:created>
  <dcterms:modified xsi:type="dcterms:W3CDTF">2025-07-30T04:26:45Z</dcterms:modified>
</cp:coreProperties>
</file>