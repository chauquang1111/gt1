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5" r:id="rId5"/>
  </p:sldMasterIdLst>
  <p:notesMasterIdLst>
    <p:notesMasterId r:id="rId42"/>
  </p:notesMasterIdLst>
  <p:handoutMasterIdLst>
    <p:handoutMasterId r:id="rId43"/>
  </p:handoutMasterIdLst>
  <p:sldIdLst>
    <p:sldId id="262" r:id="rId6"/>
    <p:sldId id="359" r:id="rId7"/>
    <p:sldId id="257" r:id="rId8"/>
    <p:sldId id="313" r:id="rId9"/>
    <p:sldId id="314" r:id="rId10"/>
    <p:sldId id="315" r:id="rId11"/>
    <p:sldId id="316" r:id="rId12"/>
    <p:sldId id="317" r:id="rId13"/>
    <p:sldId id="367" r:id="rId14"/>
    <p:sldId id="368" r:id="rId15"/>
    <p:sldId id="369" r:id="rId16"/>
    <p:sldId id="370" r:id="rId17"/>
    <p:sldId id="321" r:id="rId18"/>
    <p:sldId id="362" r:id="rId19"/>
    <p:sldId id="322" r:id="rId20"/>
    <p:sldId id="323" r:id="rId21"/>
    <p:sldId id="324" r:id="rId22"/>
    <p:sldId id="326" r:id="rId23"/>
    <p:sldId id="327" r:id="rId24"/>
    <p:sldId id="328" r:id="rId25"/>
    <p:sldId id="331" r:id="rId26"/>
    <p:sldId id="353" r:id="rId27"/>
    <p:sldId id="329" r:id="rId28"/>
    <p:sldId id="330" r:id="rId29"/>
    <p:sldId id="334" r:id="rId30"/>
    <p:sldId id="333" r:id="rId31"/>
    <p:sldId id="363" r:id="rId32"/>
    <p:sldId id="339" r:id="rId33"/>
    <p:sldId id="343" r:id="rId34"/>
    <p:sldId id="340" r:id="rId35"/>
    <p:sldId id="341" r:id="rId36"/>
    <p:sldId id="357" r:id="rId37"/>
    <p:sldId id="344" r:id="rId38"/>
    <p:sldId id="345" r:id="rId39"/>
    <p:sldId id="346" r:id="rId40"/>
    <p:sldId id="25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2" autoAdjust="0"/>
    <p:restoredTop sz="85057" autoAdjust="0"/>
  </p:normalViewPr>
  <p:slideViewPr>
    <p:cSldViewPr snapToGrid="0">
      <p:cViewPr varScale="1">
        <p:scale>
          <a:sx n="83" d="100"/>
          <a:sy n="83" d="100"/>
        </p:scale>
        <p:origin x="638" y="67"/>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68441-9A0B-436B-BA97-1C66F388CA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DAA03A-E157-4CFC-8C99-3C98F9F55C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EF305B-EB96-40B1-AA07-AFBF8E7CBFAB}" type="datetimeFigureOut">
              <a:rPr lang="en-US" smtClean="0"/>
              <a:t>02-Sep-25</a:t>
            </a:fld>
            <a:endParaRPr lang="en-US"/>
          </a:p>
        </p:txBody>
      </p:sp>
      <p:sp>
        <p:nvSpPr>
          <p:cNvPr id="4" name="Footer Placeholder 3">
            <a:extLst>
              <a:ext uri="{FF2B5EF4-FFF2-40B4-BE49-F238E27FC236}">
                <a16:creationId xmlns:a16="http://schemas.microsoft.com/office/drawing/2014/main" id="{6283C502-7E98-4E6E-A35D-1996CBAAA11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C016E4D-F01B-42FF-ACCC-3C1EB329909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9A772C-78F5-450B-809E-5F9BDBB06EB2}" type="slidenum">
              <a:rPr lang="en-US" smtClean="0"/>
              <a:t>‹#›</a:t>
            </a:fld>
            <a:endParaRPr lang="en-US"/>
          </a:p>
        </p:txBody>
      </p:sp>
    </p:spTree>
    <p:extLst>
      <p:ext uri="{BB962C8B-B14F-4D97-AF65-F5344CB8AC3E}">
        <p14:creationId xmlns:p14="http://schemas.microsoft.com/office/powerpoint/2010/main" val="37317925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1C8ED-CAE4-48EB-875D-F2A66FED8A3E}" type="datetimeFigureOut">
              <a:rPr lang="en-US" smtClean="0"/>
              <a:t>02-Sep-25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FB132C-384A-4FBF-ADB4-B64A01CCA9C8}" type="slidenum">
              <a:rPr lang="en-US" smtClean="0"/>
              <a:t>‹#›</a:t>
            </a:fld>
            <a:endParaRPr lang="en-US"/>
          </a:p>
        </p:txBody>
      </p:sp>
    </p:spTree>
    <p:extLst>
      <p:ext uri="{BB962C8B-B14F-4D97-AF65-F5344CB8AC3E}">
        <p14:creationId xmlns:p14="http://schemas.microsoft.com/office/powerpoint/2010/main" val="812444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195703-381E-4D13-9EA2-BC83D76C341E}" type="slidenum">
              <a:rPr lang="en-US" smtClean="0"/>
              <a:t>1</a:t>
            </a:fld>
            <a:endParaRPr lang="en-US"/>
          </a:p>
        </p:txBody>
      </p:sp>
    </p:spTree>
    <p:extLst>
      <p:ext uri="{BB962C8B-B14F-4D97-AF65-F5344CB8AC3E}">
        <p14:creationId xmlns:p14="http://schemas.microsoft.com/office/powerpoint/2010/main" val="310649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7B96-C006-4A3C-BA31-223343FE7B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9F42DA-4A11-4C05-AC91-0E5025C09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76C9F7-EE7B-45B5-92F8-F6FB68B9759A}"/>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5" name="Footer Placeholder 4">
            <a:extLst>
              <a:ext uri="{FF2B5EF4-FFF2-40B4-BE49-F238E27FC236}">
                <a16:creationId xmlns:a16="http://schemas.microsoft.com/office/drawing/2014/main" id="{25428F88-493D-4AD4-A9DD-270BF6F40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FA8B7A-2C06-4F53-8401-022FF93189CA}"/>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416034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7544-BF90-4912-A2D4-2EA768AEC4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7195B0-518F-404B-B2F2-65B3C3045D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9C5BE5-503F-4E1C-A371-DB16B549AD1A}"/>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5" name="Footer Placeholder 4">
            <a:extLst>
              <a:ext uri="{FF2B5EF4-FFF2-40B4-BE49-F238E27FC236}">
                <a16:creationId xmlns:a16="http://schemas.microsoft.com/office/drawing/2014/main" id="{CBEAEC77-19AA-457D-AABF-3FD2E2E1E6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7AFDE1-F81B-4F44-93B2-6F7761561B0F}"/>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260730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871A4-DCF1-432B-AB13-DFE30BD38D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A562C1-F527-4E56-A7A7-757B0F3AAB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021889-5714-423D-84C6-5DDF325E5756}"/>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5" name="Footer Placeholder 4">
            <a:extLst>
              <a:ext uri="{FF2B5EF4-FFF2-40B4-BE49-F238E27FC236}">
                <a16:creationId xmlns:a16="http://schemas.microsoft.com/office/drawing/2014/main" id="{A7ED31D6-15A8-4887-94DC-4727976CF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80C9C0-7EF4-4D11-9D09-C5DECE3DF773}"/>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4038774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392AA-0DBA-4F17-B4AE-537AB1F531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040F16-D7F9-4C44-80D0-F788433E00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A3BE7E-3EB8-4532-83BC-648B74F71D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05C197-0A30-4C70-97EB-33971FEC51E0}"/>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6" name="Footer Placeholder 5">
            <a:extLst>
              <a:ext uri="{FF2B5EF4-FFF2-40B4-BE49-F238E27FC236}">
                <a16:creationId xmlns:a16="http://schemas.microsoft.com/office/drawing/2014/main" id="{47CF125A-4C92-4852-8DB6-0365509119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9C217C-1C08-472F-8A9D-58F0BB209BB9}"/>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695124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3EC6-C4CA-4243-833E-1220D46CDF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364F96-0050-44F6-B980-24ED38F502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1C37B-7648-46AF-B7D8-EA454657E8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0D4124-9B7F-4DF5-8F14-F37DDAE995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188776-5579-401B-86F9-0E6C5524E1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19D0DD-507E-4B04-A88E-82A66A0FCD8E}"/>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8" name="Footer Placeholder 7">
            <a:extLst>
              <a:ext uri="{FF2B5EF4-FFF2-40B4-BE49-F238E27FC236}">
                <a16:creationId xmlns:a16="http://schemas.microsoft.com/office/drawing/2014/main" id="{67F020DB-8AC4-4ABF-B59F-53E8696208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A754D8-9E43-445B-ADAF-9B9BE7998707}"/>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652221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AA141-0515-49B5-ADAE-60861A7B1E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013609-D5AD-46E2-AB13-457E793FE315}"/>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4" name="Footer Placeholder 3">
            <a:extLst>
              <a:ext uri="{FF2B5EF4-FFF2-40B4-BE49-F238E27FC236}">
                <a16:creationId xmlns:a16="http://schemas.microsoft.com/office/drawing/2014/main" id="{84D4CCFE-8B29-49E5-AE12-A2B6FE3187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E588EF-7A1F-47D5-974D-D1DA36AF1FAF}"/>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163126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4546AD-389C-496B-93DF-1F6CA5CDC2F0}"/>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3" name="Footer Placeholder 2">
            <a:extLst>
              <a:ext uri="{FF2B5EF4-FFF2-40B4-BE49-F238E27FC236}">
                <a16:creationId xmlns:a16="http://schemas.microsoft.com/office/drawing/2014/main" id="{2355FA69-E77D-4254-AD44-A03EF55A30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AE8BF2-A0B1-4C3F-8B41-0BBAC94077CF}"/>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93915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00A7D-D141-4D66-9B7E-F840569547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9F6D22-30C7-48AC-A8FA-1912C22F6C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AE7671-CD0A-47C3-97ED-F11FC72BA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BD8E48-F103-4A77-AA25-960198692D7A}"/>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6" name="Footer Placeholder 5">
            <a:extLst>
              <a:ext uri="{FF2B5EF4-FFF2-40B4-BE49-F238E27FC236}">
                <a16:creationId xmlns:a16="http://schemas.microsoft.com/office/drawing/2014/main" id="{E6D75E5A-5245-4094-A130-6461BA459A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65ACE9-75D8-446D-B8B3-0F62063B0141}"/>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367869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0E892-AEFF-4D21-AA01-642845D54D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0A2EC3-5CFF-4B76-857A-FD48E3166B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F87A4D-8795-41F4-86D8-8AA6AAF75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5DC4FB-0E2A-47D5-B812-5DFA6351B066}"/>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6" name="Footer Placeholder 5">
            <a:extLst>
              <a:ext uri="{FF2B5EF4-FFF2-40B4-BE49-F238E27FC236}">
                <a16:creationId xmlns:a16="http://schemas.microsoft.com/office/drawing/2014/main" id="{316049A7-FA66-4875-AE38-BCD2040CDF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A3266-5C70-4880-9411-628D5AD151F1}"/>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392372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5AD01-715B-40EC-863A-B33360AC2D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14FD9D-1626-4632-8C79-D1001B23AC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4126D4-18C6-4970-96FD-66BE53ABACB6}"/>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5" name="Footer Placeholder 4">
            <a:extLst>
              <a:ext uri="{FF2B5EF4-FFF2-40B4-BE49-F238E27FC236}">
                <a16:creationId xmlns:a16="http://schemas.microsoft.com/office/drawing/2014/main" id="{D3A0F2CD-6993-4DF8-B595-B70AB3305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B925A-B1AF-46B8-856B-6264F5BDA332}"/>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76936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A41A68-3AE3-4A8C-B5AC-927776FFF4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BAC105-CB82-4BBA-A333-BC077ACDB4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194E19-576C-4CEC-B54C-9BBB7E99184A}"/>
              </a:ext>
            </a:extLst>
          </p:cNvPr>
          <p:cNvSpPr>
            <a:spLocks noGrp="1"/>
          </p:cNvSpPr>
          <p:nvPr>
            <p:ph type="dt" sz="half" idx="10"/>
          </p:nvPr>
        </p:nvSpPr>
        <p:spPr/>
        <p:txBody>
          <a:bodyPr/>
          <a:lstStyle/>
          <a:p>
            <a:fld id="{5FADDBA6-7898-4A7E-81D8-4315F9153EB6}" type="datetimeFigureOut">
              <a:rPr lang="en-US" smtClean="0"/>
              <a:t>02-Sep-25</a:t>
            </a:fld>
            <a:endParaRPr lang="en-US"/>
          </a:p>
        </p:txBody>
      </p:sp>
      <p:sp>
        <p:nvSpPr>
          <p:cNvPr id="5" name="Footer Placeholder 4">
            <a:extLst>
              <a:ext uri="{FF2B5EF4-FFF2-40B4-BE49-F238E27FC236}">
                <a16:creationId xmlns:a16="http://schemas.microsoft.com/office/drawing/2014/main" id="{45180759-AC5C-4C9F-947F-3906EE5BEE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CDA37C-A04D-4757-B31D-B8F0BD71FCE7}"/>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069708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DC0465-9299-4B37-A33F-42BA906DAE8A}"/>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02-Sep-25</a:t>
            </a:fld>
            <a:endParaRPr lang="en-US"/>
          </a:p>
        </p:txBody>
      </p:sp>
      <p:sp>
        <p:nvSpPr>
          <p:cNvPr id="5" name="Footer Placeholder 4">
            <a:extLst>
              <a:ext uri="{FF2B5EF4-FFF2-40B4-BE49-F238E27FC236}">
                <a16:creationId xmlns:a16="http://schemas.microsoft.com/office/drawing/2014/main" id="{0730C887-EDD3-46E9-98FC-AC9603D2E8B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ED05DA8-FB2A-4538-B2DC-D6BD18B56D36}"/>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35582561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5E7F-EED2-4296-BAAF-35F3F04D6DD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FA6CB27-3FB5-49FF-91EA-684D33BD84A3}"/>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00EBFD-ECF3-49E6-8541-B72D1D90BA9B}"/>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02-Sep-25</a:t>
            </a:fld>
            <a:endParaRPr lang="en-US"/>
          </a:p>
        </p:txBody>
      </p:sp>
      <p:sp>
        <p:nvSpPr>
          <p:cNvPr id="5" name="Footer Placeholder 4">
            <a:extLst>
              <a:ext uri="{FF2B5EF4-FFF2-40B4-BE49-F238E27FC236}">
                <a16:creationId xmlns:a16="http://schemas.microsoft.com/office/drawing/2014/main" id="{49206D40-08BA-4BE2-9845-2C72F7FDCF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77253BD-107C-4F2A-8A8B-ED122A446449}"/>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2931757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7F0A9-F0F1-4F3B-9F54-20BD5473993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6226402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63CD2-54F3-4911-A4BA-25D2645C152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304722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FADDBA6-7898-4A7E-81D8-4315F9153EB6}" type="datetimeFigureOut">
              <a:rPr lang="en-US" smtClean="0"/>
              <a:t>02-Sep-25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0344548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DBA6-7898-4A7E-81D8-4315F9153EB6}" type="datetimeFigureOut">
              <a:rPr lang="en-US" smtClean="0"/>
              <a:t>02-Sep-25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2876442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ADDBA6-7898-4A7E-81D8-4315F9153EB6}" type="datetimeFigureOut">
              <a:rPr lang="en-US" smtClean="0"/>
              <a:t>02-Sep-25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2184926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ADDBA6-7898-4A7E-81D8-4315F9153EB6}" type="datetimeFigureOut">
              <a:rPr lang="en-US" smtClean="0"/>
              <a:t>02-Sep-25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7215978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ADDBA6-7898-4A7E-81D8-4315F9153EB6}" type="datetimeFigureOut">
              <a:rPr lang="en-US" smtClean="0"/>
              <a:t>02-Sep-25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9044478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DBA6-7898-4A7E-81D8-4315F9153EB6}" type="datetimeFigureOut">
              <a:rPr lang="en-US" smtClean="0"/>
              <a:t>02-Sep-25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8459189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02-Sep-25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4220061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02-Sep-25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6748247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02-Sep-25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8960430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02-Sep-25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5481940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FADDBA6-7898-4A7E-81D8-4315F9153EB6}" type="datetimeFigureOut">
              <a:rPr lang="en-US" smtClean="0"/>
              <a:t>02-Sep-25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9946981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8283011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722341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02-Sep-25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Tree>
    <p:extLst>
      <p:ext uri="{BB962C8B-B14F-4D97-AF65-F5344CB8AC3E}">
        <p14:creationId xmlns:p14="http://schemas.microsoft.com/office/powerpoint/2010/main" val="1664274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1.pn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293B3D-B666-4DD6-94C9-B0CC4AB167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82178F-E23C-48AB-974D-1F9CF87F84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065A74-4F5C-434F-B428-90F5A5E73C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ADDBA6-7898-4A7E-81D8-4315F9153EB6}" type="datetimeFigureOut">
              <a:rPr lang="en-US" smtClean="0"/>
              <a:t>02-Sep-25</a:t>
            </a:fld>
            <a:endParaRPr lang="en-US"/>
          </a:p>
        </p:txBody>
      </p:sp>
      <p:sp>
        <p:nvSpPr>
          <p:cNvPr id="5" name="Footer Placeholder 4">
            <a:extLst>
              <a:ext uri="{FF2B5EF4-FFF2-40B4-BE49-F238E27FC236}">
                <a16:creationId xmlns:a16="http://schemas.microsoft.com/office/drawing/2014/main" id="{F34EAF9B-9667-4531-83B4-303062C4E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D5AF72B-54FF-4BEE-A65B-D4216D569A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E2A7F9-E658-489E-9D02-A8C67FB1B49C}" type="slidenum">
              <a:rPr lang="en-US" smtClean="0"/>
              <a:t>‹#›</a:t>
            </a:fld>
            <a:endParaRPr lang="en-US"/>
          </a:p>
        </p:txBody>
      </p:sp>
    </p:spTree>
    <p:extLst>
      <p:ext uri="{BB962C8B-B14F-4D97-AF65-F5344CB8AC3E}">
        <p14:creationId xmlns:p14="http://schemas.microsoft.com/office/powerpoint/2010/main" val="8412778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4" r:id="rId12"/>
    <p:sldLayoutId id="2147483650" r:id="rId13"/>
    <p:sldLayoutId id="2147483672" r:id="rId14"/>
    <p:sldLayoutId id="214748367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ADDBA6-7898-4A7E-81D8-4315F9153EB6}" type="datetimeFigureOut">
              <a:rPr lang="en-US" smtClean="0"/>
              <a:t>02-Sep-25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E2A7F9-E658-489E-9D02-A8C67FB1B49C}" type="slidenum">
              <a:rPr lang="en-US" smtClean="0"/>
              <a:t>‹#›</a:t>
            </a:fld>
            <a:endParaRPr lang="en-US"/>
          </a:p>
        </p:txBody>
      </p:sp>
    </p:spTree>
    <p:extLst>
      <p:ext uri="{BB962C8B-B14F-4D97-AF65-F5344CB8AC3E}">
        <p14:creationId xmlns:p14="http://schemas.microsoft.com/office/powerpoint/2010/main" val="375948812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7" r:id="rId11"/>
    <p:sldLayoutId id="2147483688" r:id="rId12"/>
    <p:sldLayoutId id="2147483689" r:id="rId13"/>
    <p:sldLayoutId id="214748369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9.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rtboard 1"/>
          <p:cNvPicPr>
            <a:picLocks noChangeAspect="1"/>
          </p:cNvPicPr>
          <p:nvPr/>
        </p:nvPicPr>
        <p:blipFill>
          <a:blip r:embed="rId3"/>
          <a:stretch>
            <a:fillRect/>
          </a:stretch>
        </p:blipFill>
        <p:spPr>
          <a:xfrm>
            <a:off x="0" y="-9413"/>
            <a:ext cx="12190730" cy="6857365"/>
          </a:xfrm>
          <a:prstGeom prst="rect">
            <a:avLst/>
          </a:prstGeom>
        </p:spPr>
      </p:pic>
      <p:sp>
        <p:nvSpPr>
          <p:cNvPr id="5" name="TextBox 6"/>
          <p:cNvSpPr txBox="1"/>
          <p:nvPr/>
        </p:nvSpPr>
        <p:spPr>
          <a:xfrm>
            <a:off x="6941584" y="4196532"/>
            <a:ext cx="4562946" cy="958660"/>
          </a:xfrm>
          <a:prstGeom prst="rect">
            <a:avLst/>
          </a:prstGeom>
          <a:noFill/>
        </p:spPr>
        <p:txBody>
          <a:bodyPr wrap="square" rtlCol="0">
            <a:spAutoFit/>
          </a:bodyPr>
          <a:lstStyle/>
          <a:p>
            <a:pPr lvl="0">
              <a:lnSpc>
                <a:spcPct val="150000"/>
              </a:lnSpc>
              <a:defRPr/>
            </a:pPr>
            <a:r>
              <a:rPr lang="en-US" sz="2000" b="1" dirty="0" err="1">
                <a:solidFill>
                  <a:prstClr val="white"/>
                </a:solidFill>
                <a:latin typeface="Arial" panose="020B0604020202020204" pitchFamily="34" charset="0"/>
                <a:cs typeface="Arial" panose="020B0604020202020204" pitchFamily="34" charset="0"/>
              </a:rPr>
              <a:t>Giảng</a:t>
            </a:r>
            <a:r>
              <a:rPr lang="en-US" sz="2000" b="1" dirty="0">
                <a:solidFill>
                  <a:prstClr val="white"/>
                </a:solidFill>
                <a:latin typeface="Arial" panose="020B0604020202020204" pitchFamily="34" charset="0"/>
                <a:cs typeface="Arial" panose="020B0604020202020204" pitchFamily="34" charset="0"/>
              </a:rPr>
              <a:t> </a:t>
            </a:r>
            <a:r>
              <a:rPr lang="en-US" sz="2000" b="1" dirty="0" err="1">
                <a:solidFill>
                  <a:prstClr val="white"/>
                </a:solidFill>
                <a:latin typeface="Arial" panose="020B0604020202020204" pitchFamily="34" charset="0"/>
                <a:cs typeface="Arial" panose="020B0604020202020204" pitchFamily="34" charset="0"/>
              </a:rPr>
              <a:t>viên</a:t>
            </a:r>
            <a:r>
              <a:rPr lang="en-US" sz="2000" b="1" dirty="0">
                <a:solidFill>
                  <a:prstClr val="white"/>
                </a:solidFill>
                <a:latin typeface="Arial" panose="020B0604020202020204" pitchFamily="34" charset="0"/>
                <a:cs typeface="Arial" panose="020B0604020202020204" pitchFamily="34" charset="0"/>
              </a:rPr>
              <a:t>: </a:t>
            </a:r>
            <a:r>
              <a:rPr lang="en-US" sz="2000" b="1" dirty="0" err="1">
                <a:solidFill>
                  <a:prstClr val="white"/>
                </a:solidFill>
                <a:latin typeface="Arial" panose="020B0604020202020204" pitchFamily="34" charset="0"/>
                <a:cs typeface="Arial" panose="020B0604020202020204" pitchFamily="34" charset="0"/>
              </a:rPr>
              <a:t>ThS</a:t>
            </a:r>
            <a:r>
              <a:rPr lang="en-US" sz="2000" b="1" dirty="0">
                <a:solidFill>
                  <a:prstClr val="white"/>
                </a:solidFill>
                <a:latin typeface="Arial" panose="020B0604020202020204" pitchFamily="34" charset="0"/>
                <a:cs typeface="Arial" panose="020B0604020202020204" pitchFamily="34" charset="0"/>
              </a:rPr>
              <a:t>. Lý Liệt Thanh </a:t>
            </a:r>
          </a:p>
          <a:p>
            <a:pPr lvl="0">
              <a:lnSpc>
                <a:spcPct val="150000"/>
              </a:lnSpc>
              <a:defRPr/>
            </a:pPr>
            <a:r>
              <a:rPr lang="en-US" sz="2000" b="1" dirty="0" err="1">
                <a:solidFill>
                  <a:prstClr val="white"/>
                </a:solidFill>
                <a:latin typeface="Arial" panose="020B0604020202020204" pitchFamily="34" charset="0"/>
                <a:cs typeface="Arial" panose="020B0604020202020204" pitchFamily="34" charset="0"/>
              </a:rPr>
              <a:t>Thời</a:t>
            </a:r>
            <a:r>
              <a:rPr lang="en-US" sz="2000" b="1" dirty="0">
                <a:solidFill>
                  <a:prstClr val="white"/>
                </a:solidFill>
                <a:latin typeface="Arial" panose="020B0604020202020204" pitchFamily="34" charset="0"/>
                <a:cs typeface="Arial" panose="020B0604020202020204" pitchFamily="34" charset="0"/>
              </a:rPr>
              <a:t> </a:t>
            </a:r>
            <a:r>
              <a:rPr lang="en-US" sz="2000" b="1" dirty="0" err="1">
                <a:solidFill>
                  <a:prstClr val="white"/>
                </a:solidFill>
                <a:latin typeface="Arial" panose="020B0604020202020204" pitchFamily="34" charset="0"/>
                <a:cs typeface="Arial" panose="020B0604020202020204" pitchFamily="34" charset="0"/>
              </a:rPr>
              <a:t>lượng</a:t>
            </a:r>
            <a:r>
              <a:rPr lang="en-US" sz="2000" b="1" dirty="0">
                <a:solidFill>
                  <a:prstClr val="white"/>
                </a:solidFill>
                <a:latin typeface="Arial" panose="020B0604020202020204" pitchFamily="34" charset="0"/>
                <a:cs typeface="Arial" panose="020B0604020202020204" pitchFamily="34" charset="0"/>
              </a:rPr>
              <a:t>: 30 </a:t>
            </a:r>
            <a:r>
              <a:rPr lang="en-US" sz="2000" b="1" dirty="0" err="1">
                <a:solidFill>
                  <a:prstClr val="white"/>
                </a:solidFill>
                <a:latin typeface="Arial" panose="020B0604020202020204" pitchFamily="34" charset="0"/>
                <a:cs typeface="Arial" panose="020B0604020202020204" pitchFamily="34" charset="0"/>
              </a:rPr>
              <a:t>tiết</a:t>
            </a:r>
            <a:endParaRPr lang="vi-VN" sz="2000" b="1" dirty="0">
              <a:solidFill>
                <a:prstClr val="white"/>
              </a:solidFill>
              <a:cs typeface="Arial" panose="020B0604020202020204" pitchFamily="34" charset="0"/>
            </a:endParaRPr>
          </a:p>
        </p:txBody>
      </p:sp>
      <p:pic>
        <p:nvPicPr>
          <p:cNvPr id="9" name="Picture 8" descr="Untitled-4"/>
          <p:cNvPicPr>
            <a:picLocks noChangeAspect="1"/>
          </p:cNvPicPr>
          <p:nvPr/>
        </p:nvPicPr>
        <p:blipFill>
          <a:blip r:embed="rId4"/>
          <a:stretch>
            <a:fillRect/>
          </a:stretch>
        </p:blipFill>
        <p:spPr>
          <a:xfrm>
            <a:off x="6790055" y="985520"/>
            <a:ext cx="4866005" cy="1176020"/>
          </a:xfrm>
          <a:prstGeom prst="rect">
            <a:avLst/>
          </a:prstGeom>
        </p:spPr>
      </p:pic>
      <p:sp>
        <p:nvSpPr>
          <p:cNvPr id="7" name="TextBox 16">
            <a:extLst>
              <a:ext uri="{FF2B5EF4-FFF2-40B4-BE49-F238E27FC236}">
                <a16:creationId xmlns:a16="http://schemas.microsoft.com/office/drawing/2014/main" id="{F4DAA269-80D9-0965-13FC-31B6B3CE4AAD}"/>
              </a:ext>
            </a:extLst>
          </p:cNvPr>
          <p:cNvSpPr txBox="1"/>
          <p:nvPr/>
        </p:nvSpPr>
        <p:spPr>
          <a:xfrm>
            <a:off x="5561474" y="2703065"/>
            <a:ext cx="7017816"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TỔNG QUAN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QUẢN TRỊ KHÁCH SẠN </a:t>
            </a:r>
          </a:p>
        </p:txBody>
      </p:sp>
      <p:pic>
        <p:nvPicPr>
          <p:cNvPr id="8" name="Picture 7">
            <a:extLst>
              <a:ext uri="{FF2B5EF4-FFF2-40B4-BE49-F238E27FC236}">
                <a16:creationId xmlns:a16="http://schemas.microsoft.com/office/drawing/2014/main" id="{6813C165-78AF-FA6C-0ECE-9DFD5530E5D5}"/>
              </a:ext>
            </a:extLst>
          </p:cNvPr>
          <p:cNvPicPr>
            <a:picLocks noChangeAspect="1"/>
          </p:cNvPicPr>
          <p:nvPr/>
        </p:nvPicPr>
        <p:blipFill>
          <a:blip r:embed="rId5"/>
          <a:stretch>
            <a:fillRect/>
          </a:stretch>
        </p:blipFill>
        <p:spPr>
          <a:xfrm>
            <a:off x="0" y="-153600"/>
            <a:ext cx="12192000" cy="7011600"/>
          </a:xfrm>
          <a:prstGeom prst="rect">
            <a:avLst/>
          </a:prstGeom>
        </p:spPr>
      </p:pic>
    </p:spTree>
    <p:extLst>
      <p:ext uri="{BB962C8B-B14F-4D97-AF65-F5344CB8AC3E}">
        <p14:creationId xmlns:p14="http://schemas.microsoft.com/office/powerpoint/2010/main" val="2780475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FA6E97B7-9586-F499-9374-191A6E9F5AA7}"/>
              </a:ext>
            </a:extLst>
          </p:cNvPr>
          <p:cNvSpPr txBox="1"/>
          <p:nvPr/>
        </p:nvSpPr>
        <p:spPr>
          <a:xfrm rot="10800000" flipH="1" flipV="1">
            <a:off x="4761781" y="2646365"/>
            <a:ext cx="6768159" cy="707886"/>
          </a:xfrm>
          <a:prstGeom prst="rect">
            <a:avLst/>
          </a:prstGeom>
          <a:noFill/>
        </p:spPr>
        <p:txBody>
          <a:bodyPr wrap="square" rtlCol="0">
            <a:spAutoFit/>
          </a:bodyPr>
          <a:lstStyle/>
          <a:p>
            <a:r>
              <a:rPr lang="en-US" sz="4000" b="1" dirty="0">
                <a:solidFill>
                  <a:srgbClr val="FF0000"/>
                </a:solidFill>
              </a:rPr>
              <a:t>VHU-TỔNG QUAN KHÁCH SẠN </a:t>
            </a:r>
            <a:endParaRPr lang="vi-VN" sz="4000" b="1" dirty="0">
              <a:solidFill>
                <a:srgbClr val="FF0000"/>
              </a:solidFill>
            </a:endParaRPr>
          </a:p>
        </p:txBody>
      </p:sp>
    </p:spTree>
    <p:extLst>
      <p:ext uri="{BB962C8B-B14F-4D97-AF65-F5344CB8AC3E}">
        <p14:creationId xmlns:p14="http://schemas.microsoft.com/office/powerpoint/2010/main" val="2614429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CE89D-F5E8-E54B-7E31-EB19AA8EB20B}"/>
              </a:ext>
            </a:extLst>
          </p:cNvPr>
          <p:cNvSpPr txBox="1"/>
          <p:nvPr/>
        </p:nvSpPr>
        <p:spPr>
          <a:xfrm>
            <a:off x="1066800" y="2092269"/>
            <a:ext cx="10058400" cy="2123658"/>
          </a:xfrm>
          <a:prstGeom prst="rect">
            <a:avLst/>
          </a:prstGeom>
          <a:noFill/>
        </p:spPr>
        <p:txBody>
          <a:bodyPr wrap="square" rtlCol="0">
            <a:spAutoFit/>
          </a:bodyPr>
          <a:lstStyle/>
          <a:p>
            <a:pPr algn="ctr"/>
            <a:r>
              <a:rPr lang="en-US" sz="6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 QUAN </a:t>
            </a:r>
          </a:p>
          <a:p>
            <a:pPr algn="ctr"/>
            <a:r>
              <a:rPr lang="en-US" sz="6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TRỊ KHÁCH SẠN </a:t>
            </a:r>
            <a:endParaRPr lang="vi-VN" sz="6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97118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67845-BD81-70EA-7817-C87B727B0981}"/>
              </a:ext>
            </a:extLst>
          </p:cNvPr>
          <p:cNvSpPr txBox="1"/>
          <p:nvPr/>
        </p:nvSpPr>
        <p:spPr>
          <a:xfrm>
            <a:off x="356461" y="681925"/>
            <a:ext cx="6400800" cy="584775"/>
          </a:xfrm>
          <a:prstGeom prst="rect">
            <a:avLst/>
          </a:prstGeom>
          <a:noFill/>
        </p:spPr>
        <p:txBody>
          <a:bodyPr wrap="square" rtlCol="0">
            <a:spAutoFit/>
          </a:bodyPr>
          <a:lstStyle/>
          <a:p>
            <a:r>
              <a:rPr lang="en-US"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MÔN HỌC </a:t>
            </a:r>
            <a:endParaRPr lang="vi-VN"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02C6DCF9-2315-620C-C476-599EC479915E}"/>
              </a:ext>
            </a:extLst>
          </p:cNvPr>
          <p:cNvSpPr txBox="1"/>
          <p:nvPr/>
        </p:nvSpPr>
        <p:spPr>
          <a:xfrm>
            <a:off x="423620" y="1757599"/>
            <a:ext cx="11344760" cy="3604898"/>
          </a:xfrm>
          <a:prstGeom prst="rect">
            <a:avLst/>
          </a:prstGeom>
          <a:noFill/>
        </p:spPr>
        <p:txBody>
          <a:bodyPr wrap="square">
            <a:spAutoFit/>
          </a:bodyPr>
          <a:lstStyle/>
          <a:p>
            <a:pPr marL="285750" indent="-285750" algn="just">
              <a:lnSpc>
                <a:spcPct val="115000"/>
              </a:lnSpc>
              <a:spcBef>
                <a:spcPts val="1200"/>
              </a:spcBef>
              <a:spcAft>
                <a:spcPts val="300"/>
              </a:spcAft>
              <a:buFont typeface="Wingdings" panose="05000000000000000000" pitchFamily="2" charset="2"/>
              <a:buChar char="q"/>
            </a:pP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lao</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lnSpc>
                <a:spcPct val="115000"/>
              </a:lnSpc>
              <a:spcBef>
                <a:spcPts val="1200"/>
              </a:spcBef>
              <a:spcAft>
                <a:spcPts val="300"/>
              </a:spcAft>
              <a:buFont typeface="Wingdings" panose="05000000000000000000" pitchFamily="2" charset="2"/>
              <a:buChar char="q"/>
            </a:pP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Trang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lnSpc>
                <a:spcPct val="115000"/>
              </a:lnSpc>
              <a:spcBef>
                <a:spcPts val="1200"/>
              </a:spcBef>
              <a:spcAft>
                <a:spcPts val="300"/>
              </a:spcAft>
              <a:buFont typeface="Wingdings" panose="05000000000000000000" pitchFamily="2" charset="2"/>
              <a:buChar char="q"/>
            </a:pP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giao</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xây</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dựng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lnSpc>
                <a:spcPct val="115000"/>
              </a:lnSpc>
              <a:spcBef>
                <a:spcPts val="1200"/>
              </a:spcBef>
              <a:spcAft>
                <a:spcPts val="300"/>
              </a:spcAft>
              <a:buFont typeface="Wingdings" panose="05000000000000000000" pitchFamily="2" charset="2"/>
              <a:buChar char="q"/>
            </a:pP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tích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lập</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thuyết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2308817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344ED3-5042-BBEE-12C1-34C48731D4BA}"/>
              </a:ext>
            </a:extLst>
          </p:cNvPr>
          <p:cNvSpPr txBox="1"/>
          <p:nvPr/>
        </p:nvSpPr>
        <p:spPr>
          <a:xfrm>
            <a:off x="5366657" y="238499"/>
            <a:ext cx="6507996" cy="523220"/>
          </a:xfrm>
          <a:prstGeom prst="rect">
            <a:avLst/>
          </a:prstGeom>
          <a:noFill/>
        </p:spPr>
        <p:txBody>
          <a:bodyPr wrap="square" rtlCol="0">
            <a:spAutoFit/>
          </a:bodyPr>
          <a:lstStyle/>
          <a:p>
            <a:pPr algn="ctr"/>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NỘI DUNG CHƯƠNG TRÌNH  </a:t>
            </a:r>
            <a:endParaRPr lang="vi-VN"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aphicFrame>
        <p:nvGraphicFramePr>
          <p:cNvPr id="4" name="Table 3">
            <a:extLst>
              <a:ext uri="{FF2B5EF4-FFF2-40B4-BE49-F238E27FC236}">
                <a16:creationId xmlns:a16="http://schemas.microsoft.com/office/drawing/2014/main" id="{5C02EC93-EA35-C460-37CD-2B7687E052C0}"/>
              </a:ext>
            </a:extLst>
          </p:cNvPr>
          <p:cNvGraphicFramePr>
            <a:graphicFrameLocks noGrp="1"/>
          </p:cNvGraphicFramePr>
          <p:nvPr>
            <p:extLst>
              <p:ext uri="{D42A27DB-BD31-4B8C-83A1-F6EECF244321}">
                <p14:modId xmlns:p14="http://schemas.microsoft.com/office/powerpoint/2010/main" val="735463720"/>
              </p:ext>
            </p:extLst>
          </p:nvPr>
        </p:nvGraphicFramePr>
        <p:xfrm>
          <a:off x="294468" y="1064125"/>
          <a:ext cx="10879810" cy="1820802"/>
        </p:xfrm>
        <a:graphic>
          <a:graphicData uri="http://schemas.openxmlformats.org/drawingml/2006/table">
            <a:tbl>
              <a:tblPr>
                <a:tableStyleId>{5C22544A-7EE6-4342-B048-85BDC9FD1C3A}</a:tableStyleId>
              </a:tblPr>
              <a:tblGrid>
                <a:gridCol w="1789205">
                  <a:extLst>
                    <a:ext uri="{9D8B030D-6E8A-4147-A177-3AD203B41FA5}">
                      <a16:colId xmlns:a16="http://schemas.microsoft.com/office/drawing/2014/main" val="2368574806"/>
                    </a:ext>
                  </a:extLst>
                </a:gridCol>
                <a:gridCol w="9090605">
                  <a:extLst>
                    <a:ext uri="{9D8B030D-6E8A-4147-A177-3AD203B41FA5}">
                      <a16:colId xmlns:a16="http://schemas.microsoft.com/office/drawing/2014/main" val="470480153"/>
                    </a:ext>
                  </a:extLst>
                </a:gridCol>
              </a:tblGrid>
              <a:tr h="0">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1</a:t>
                      </a:r>
                    </a:p>
                  </a:txBody>
                  <a:tcPr marL="66299" marR="66299" marT="0" marB="0" anchor="ctr"/>
                </a:tc>
                <a:tc>
                  <a:txBody>
                    <a:bodyPr/>
                    <a:lstStyle/>
                    <a:p>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476048800"/>
                  </a:ext>
                </a:extLst>
              </a:tr>
              <a:tr h="202581">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1.1.</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Lịch sử hình thành và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460742267"/>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1.2.</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vi-VN"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khái niệm cơ bản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1411431812"/>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1.3.</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và xếp hạng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615906"/>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1.4.</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 cấu tổ chức của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973927035"/>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1.5.</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Xu hướng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94786579"/>
                  </a:ext>
                </a:extLst>
              </a:tr>
            </a:tbl>
          </a:graphicData>
        </a:graphic>
      </p:graphicFrame>
      <p:graphicFrame>
        <p:nvGraphicFramePr>
          <p:cNvPr id="5" name="Table 4">
            <a:extLst>
              <a:ext uri="{FF2B5EF4-FFF2-40B4-BE49-F238E27FC236}">
                <a16:creationId xmlns:a16="http://schemas.microsoft.com/office/drawing/2014/main" id="{AB456307-816C-D06D-B254-47B52FD6CFAC}"/>
              </a:ext>
            </a:extLst>
          </p:cNvPr>
          <p:cNvGraphicFramePr>
            <a:graphicFrameLocks noGrp="1"/>
          </p:cNvGraphicFramePr>
          <p:nvPr>
            <p:extLst>
              <p:ext uri="{D42A27DB-BD31-4B8C-83A1-F6EECF244321}">
                <p14:modId xmlns:p14="http://schemas.microsoft.com/office/powerpoint/2010/main" val="2598143586"/>
              </p:ext>
            </p:extLst>
          </p:nvPr>
        </p:nvGraphicFramePr>
        <p:xfrm>
          <a:off x="282474" y="2966519"/>
          <a:ext cx="10864312" cy="1820802"/>
        </p:xfrm>
        <a:graphic>
          <a:graphicData uri="http://schemas.openxmlformats.org/drawingml/2006/table">
            <a:tbl>
              <a:tblPr>
                <a:tableStyleId>{5C22544A-7EE6-4342-B048-85BDC9FD1C3A}</a:tableStyleId>
              </a:tblPr>
              <a:tblGrid>
                <a:gridCol w="1768609">
                  <a:extLst>
                    <a:ext uri="{9D8B030D-6E8A-4147-A177-3AD203B41FA5}">
                      <a16:colId xmlns:a16="http://schemas.microsoft.com/office/drawing/2014/main" val="2865336541"/>
                    </a:ext>
                  </a:extLst>
                </a:gridCol>
                <a:gridCol w="9095703">
                  <a:extLst>
                    <a:ext uri="{9D8B030D-6E8A-4147-A177-3AD203B41FA5}">
                      <a16:colId xmlns:a16="http://schemas.microsoft.com/office/drawing/2014/main" val="2930767451"/>
                    </a:ext>
                  </a:extLst>
                </a:gridCol>
              </a:tblGrid>
              <a:tr h="202581">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622322330"/>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trò, nhiệm vụ của bộ phận tiền 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816642246"/>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97162349"/>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815115883"/>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268459174"/>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2.5.</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tiêu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trú</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598625922"/>
                  </a:ext>
                </a:extLst>
              </a:tr>
            </a:tbl>
          </a:graphicData>
        </a:graphic>
      </p:graphicFrame>
      <p:graphicFrame>
        <p:nvGraphicFramePr>
          <p:cNvPr id="6" name="Table 5">
            <a:extLst>
              <a:ext uri="{FF2B5EF4-FFF2-40B4-BE49-F238E27FC236}">
                <a16:creationId xmlns:a16="http://schemas.microsoft.com/office/drawing/2014/main" id="{984F8D1D-637F-34F3-59F8-5195603D0825}"/>
              </a:ext>
            </a:extLst>
          </p:cNvPr>
          <p:cNvGraphicFramePr>
            <a:graphicFrameLocks noGrp="1"/>
          </p:cNvGraphicFramePr>
          <p:nvPr>
            <p:extLst>
              <p:ext uri="{D42A27DB-BD31-4B8C-83A1-F6EECF244321}">
                <p14:modId xmlns:p14="http://schemas.microsoft.com/office/powerpoint/2010/main" val="725931789"/>
              </p:ext>
            </p:extLst>
          </p:nvPr>
        </p:nvGraphicFramePr>
        <p:xfrm>
          <a:off x="294468" y="4862436"/>
          <a:ext cx="10864312" cy="1652775"/>
        </p:xfrm>
        <a:graphic>
          <a:graphicData uri="http://schemas.openxmlformats.org/drawingml/2006/table">
            <a:tbl>
              <a:tblPr>
                <a:tableStyleId>{5C22544A-7EE6-4342-B048-85BDC9FD1C3A}</a:tableStyleId>
              </a:tblPr>
              <a:tblGrid>
                <a:gridCol w="1840797">
                  <a:extLst>
                    <a:ext uri="{9D8B030D-6E8A-4147-A177-3AD203B41FA5}">
                      <a16:colId xmlns:a16="http://schemas.microsoft.com/office/drawing/2014/main" val="854789265"/>
                    </a:ext>
                  </a:extLst>
                </a:gridCol>
                <a:gridCol w="9023515">
                  <a:extLst>
                    <a:ext uri="{9D8B030D-6E8A-4147-A177-3AD203B41FA5}">
                      <a16:colId xmlns:a16="http://schemas.microsoft.com/office/drawing/2014/main" val="3956250642"/>
                    </a:ext>
                  </a:extLst>
                </a:gridCol>
              </a:tblGrid>
              <a:tr h="438907">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421414538"/>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3.1.</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860183992"/>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10860125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3679089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61867572"/>
                  </a:ext>
                </a:extLst>
              </a:tr>
            </a:tbl>
          </a:graphicData>
        </a:graphic>
      </p:graphicFrame>
    </p:spTree>
    <p:extLst>
      <p:ext uri="{BB962C8B-B14F-4D97-AF65-F5344CB8AC3E}">
        <p14:creationId xmlns:p14="http://schemas.microsoft.com/office/powerpoint/2010/main" val="2310685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959A0C7-29CF-59A1-87D6-891D77B6B41D}"/>
              </a:ext>
            </a:extLst>
          </p:cNvPr>
          <p:cNvGraphicFramePr>
            <a:graphicFrameLocks noGrp="1"/>
          </p:cNvGraphicFramePr>
          <p:nvPr>
            <p:extLst>
              <p:ext uri="{D42A27DB-BD31-4B8C-83A1-F6EECF244321}">
                <p14:modId xmlns:p14="http://schemas.microsoft.com/office/powerpoint/2010/main" val="1013303535"/>
              </p:ext>
            </p:extLst>
          </p:nvPr>
        </p:nvGraphicFramePr>
        <p:xfrm>
          <a:off x="539120" y="1204126"/>
          <a:ext cx="10515600" cy="1517335"/>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1106697701"/>
                    </a:ext>
                  </a:extLst>
                </a:gridCol>
                <a:gridCol w="8629636">
                  <a:extLst>
                    <a:ext uri="{9D8B030D-6E8A-4147-A177-3AD203B41FA5}">
                      <a16:colId xmlns:a16="http://schemas.microsoft.com/office/drawing/2014/main" val="3632730796"/>
                    </a:ext>
                  </a:extLst>
                </a:gridCol>
              </a:tblGrid>
              <a:tr h="202581">
                <a:tc>
                  <a:txBody>
                    <a:bodyPr/>
                    <a:lstStyle/>
                    <a:p>
                      <a:pPr algn="ctr">
                        <a:lnSpc>
                          <a:spcPct val="115000"/>
                        </a:lnSpc>
                        <a:spcAft>
                          <a:spcPts val="300"/>
                        </a:spcAft>
                      </a:pPr>
                      <a:r>
                        <a:rPr lang="nl-NL"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169803711"/>
                  </a:ext>
                </a:extLst>
              </a:tr>
              <a:tr h="202581">
                <a:tc>
                  <a:txBody>
                    <a:bodyPr/>
                    <a:lstStyle/>
                    <a:p>
                      <a:pPr algn="ctr">
                        <a:lnSpc>
                          <a:spcPct val="115000"/>
                        </a:lnSpc>
                        <a:spcAft>
                          <a:spcPts val="300"/>
                        </a:spcAft>
                      </a:pP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4.1.</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21056423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4.2.</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F&amp;B</a:t>
                      </a:r>
                    </a:p>
                  </a:txBody>
                  <a:tcPr marL="66299" marR="66299" marT="0" marB="0" anchor="ctr"/>
                </a:tc>
                <a:extLst>
                  <a:ext uri="{0D108BD9-81ED-4DB2-BD59-A6C34878D82A}">
                    <a16:rowId xmlns:a16="http://schemas.microsoft.com/office/drawing/2014/main" val="2371487698"/>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84694603"/>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23191977"/>
                  </a:ext>
                </a:extLst>
              </a:tr>
            </a:tbl>
          </a:graphicData>
        </a:graphic>
      </p:graphicFrame>
      <p:graphicFrame>
        <p:nvGraphicFramePr>
          <p:cNvPr id="3" name="Table 2">
            <a:extLst>
              <a:ext uri="{FF2B5EF4-FFF2-40B4-BE49-F238E27FC236}">
                <a16:creationId xmlns:a16="http://schemas.microsoft.com/office/drawing/2014/main" id="{B464C6B4-70F7-3FB2-26DA-6951DE608222}"/>
              </a:ext>
            </a:extLst>
          </p:cNvPr>
          <p:cNvGraphicFramePr>
            <a:graphicFrameLocks noGrp="1"/>
          </p:cNvGraphicFramePr>
          <p:nvPr>
            <p:extLst>
              <p:ext uri="{D42A27DB-BD31-4B8C-83A1-F6EECF244321}">
                <p14:modId xmlns:p14="http://schemas.microsoft.com/office/powerpoint/2010/main" val="2305650460"/>
              </p:ext>
            </p:extLst>
          </p:nvPr>
        </p:nvGraphicFramePr>
        <p:xfrm>
          <a:off x="539120" y="2962388"/>
          <a:ext cx="10515600" cy="933223"/>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755161747"/>
                    </a:ext>
                  </a:extLst>
                </a:gridCol>
                <a:gridCol w="8629636">
                  <a:extLst>
                    <a:ext uri="{9D8B030D-6E8A-4147-A177-3AD203B41FA5}">
                      <a16:colId xmlns:a16="http://schemas.microsoft.com/office/drawing/2014/main" val="3531639564"/>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5</a:t>
                      </a:r>
                    </a:p>
                  </a:txBody>
                  <a:tcPr marL="66299" marR="66299" marT="0" marB="0" anchor="ctr"/>
                </a:tc>
                <a:tc>
                  <a:txBody>
                    <a:bodyPr/>
                    <a:lstStyle/>
                    <a:p>
                      <a:pPr>
                        <a:lnSpc>
                          <a:spcPct val="115000"/>
                        </a:lnSpc>
                        <a:spcAft>
                          <a:spcPts val="300"/>
                        </a:spcAft>
                      </a:pP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97825311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5.1.</a:t>
                      </a:r>
                    </a:p>
                  </a:txBody>
                  <a:tcPr marL="66299" marR="66299" marT="0" marB="0" anchor="ctr"/>
                </a:tc>
                <a:tc>
                  <a:txBody>
                    <a:bodyPr/>
                    <a:lstStyle/>
                    <a:p>
                      <a:pPr>
                        <a:lnSpc>
                          <a:spcPct val="115000"/>
                        </a:lnSpc>
                        <a:spcAft>
                          <a:spcPts val="300"/>
                        </a:spcAft>
                      </a:pPr>
                      <a:r>
                        <a:rPr lang="fr-FR"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dịch vụ bổ sung trong kinh doanh khách sạn</a:t>
                      </a:r>
                      <a:endPar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552319"/>
                  </a:ext>
                </a:extLst>
              </a:tr>
              <a:tr h="326289">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5.2.</a:t>
                      </a:r>
                    </a:p>
                  </a:txBody>
                  <a:tcPr marL="66299" marR="66299" marT="0" marB="0" anchor="ctr"/>
                </a:tc>
                <a:tc>
                  <a:txBody>
                    <a:bodyPr/>
                    <a:lstStyle/>
                    <a:p>
                      <a:pPr>
                        <a:lnSpc>
                          <a:spcPct val="115000"/>
                        </a:lnSpc>
                        <a:spcAft>
                          <a:spcPts val="300"/>
                        </a:spcAft>
                      </a:pP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63458410"/>
                  </a:ext>
                </a:extLst>
              </a:tr>
            </a:tbl>
          </a:graphicData>
        </a:graphic>
      </p:graphicFrame>
      <p:graphicFrame>
        <p:nvGraphicFramePr>
          <p:cNvPr id="4" name="Table 3">
            <a:extLst>
              <a:ext uri="{FF2B5EF4-FFF2-40B4-BE49-F238E27FC236}">
                <a16:creationId xmlns:a16="http://schemas.microsoft.com/office/drawing/2014/main" id="{306905C3-CFCB-DEEE-0C8A-DDCC89F69DE1}"/>
              </a:ext>
            </a:extLst>
          </p:cNvPr>
          <p:cNvGraphicFramePr>
            <a:graphicFrameLocks noGrp="1"/>
          </p:cNvGraphicFramePr>
          <p:nvPr>
            <p:extLst>
              <p:ext uri="{D42A27DB-BD31-4B8C-83A1-F6EECF244321}">
                <p14:modId xmlns:p14="http://schemas.microsoft.com/office/powerpoint/2010/main" val="3199353890"/>
              </p:ext>
            </p:extLst>
          </p:nvPr>
        </p:nvGraphicFramePr>
        <p:xfrm>
          <a:off x="539120" y="4136538"/>
          <a:ext cx="10515600" cy="1827334"/>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398876781"/>
                    </a:ext>
                  </a:extLst>
                </a:gridCol>
                <a:gridCol w="8629636">
                  <a:extLst>
                    <a:ext uri="{9D8B030D-6E8A-4147-A177-3AD203B41FA5}">
                      <a16:colId xmlns:a16="http://schemas.microsoft.com/office/drawing/2014/main" val="2654551777"/>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6</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trong khách sạn</a:t>
                      </a:r>
                    </a:p>
                  </a:txBody>
                  <a:tcPr marL="66299" marR="66299" marT="0" marB="0" anchor="ctr"/>
                </a:tc>
                <a:extLst>
                  <a:ext uri="{0D108BD9-81ED-4DB2-BD59-A6C34878D82A}">
                    <a16:rowId xmlns:a16="http://schemas.microsoft.com/office/drawing/2014/main" val="2364313024"/>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6.1.</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tổ chức sự kiện trong khách sạn</a:t>
                      </a:r>
                    </a:p>
                  </a:txBody>
                  <a:tcPr marL="66299" marR="66299" marT="0" marB="0" anchor="ctr"/>
                </a:tc>
                <a:extLst>
                  <a:ext uri="{0D108BD9-81ED-4DB2-BD59-A6C34878D82A}">
                    <a16:rowId xmlns:a16="http://schemas.microsoft.com/office/drawing/2014/main" val="973537183"/>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6.2.</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07355642"/>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716912530"/>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6.4.</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 thành phần trong ban tổ chức sự kiện</a:t>
                      </a:r>
                    </a:p>
                  </a:txBody>
                  <a:tcPr marL="66299" marR="66299" marT="0" marB="0" anchor="ctr"/>
                </a:tc>
                <a:extLst>
                  <a:ext uri="{0D108BD9-81ED-4DB2-BD59-A6C34878D82A}">
                    <a16:rowId xmlns:a16="http://schemas.microsoft.com/office/drawing/2014/main" val="333648669"/>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6.5.</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7633178"/>
                  </a:ext>
                </a:extLst>
              </a:tr>
            </a:tbl>
          </a:graphicData>
        </a:graphic>
      </p:graphicFrame>
    </p:spTree>
    <p:extLst>
      <p:ext uri="{BB962C8B-B14F-4D97-AF65-F5344CB8AC3E}">
        <p14:creationId xmlns:p14="http://schemas.microsoft.com/office/powerpoint/2010/main" val="412759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C8C1CB-E887-ECF7-6125-537F06A05485}"/>
              </a:ext>
            </a:extLst>
          </p:cNvPr>
          <p:cNvSpPr txBox="1"/>
          <p:nvPr/>
        </p:nvSpPr>
        <p:spPr>
          <a:xfrm>
            <a:off x="517902" y="1785442"/>
            <a:ext cx="4850969" cy="584775"/>
          </a:xfrm>
          <a:prstGeom prst="rect">
            <a:avLst/>
          </a:prstGeom>
          <a:noFill/>
        </p:spPr>
        <p:txBody>
          <a:bodyPr wrap="square" rtlCol="0">
            <a:spAutoFit/>
          </a:bodyPr>
          <a:lstStyle/>
          <a:p>
            <a:r>
              <a:rPr lang="en-US"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TÀI LIỆU THAM KHẢO </a:t>
            </a:r>
            <a:endParaRPr lang="vi-VN"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99A60FD1-86A1-7739-A279-033C5F439FDA}"/>
              </a:ext>
            </a:extLst>
          </p:cNvPr>
          <p:cNvSpPr txBox="1"/>
          <p:nvPr/>
        </p:nvSpPr>
        <p:spPr>
          <a:xfrm>
            <a:off x="449451" y="2710029"/>
            <a:ext cx="11344759" cy="2718501"/>
          </a:xfrm>
          <a:prstGeom prst="rect">
            <a:avLst/>
          </a:prstGeom>
          <a:noFill/>
        </p:spPr>
        <p:txBody>
          <a:bodyPr wrap="square">
            <a:spAutoFit/>
          </a:bodyPr>
          <a:lstStyle/>
          <a:p>
            <a:pPr>
              <a:lnSpc>
                <a:spcPct val="115000"/>
              </a:lnSpc>
              <a:spcAft>
                <a:spcPts val="300"/>
              </a:spcAft>
            </a:pPr>
            <a:r>
              <a:rPr lang="vi-VN" sz="2400" b="1" dirty="0">
                <a:solidFill>
                  <a:srgbClr val="FF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 liệu chính</a:t>
            </a:r>
            <a:endParaRPr lang="en-US" sz="2400" b="1" dirty="0">
              <a:solidFill>
                <a:srgbClr val="FF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algn="just">
              <a:lnSpc>
                <a:spcPct val="115000"/>
              </a:lnSpc>
              <a:spcAft>
                <a:spcPts val="300"/>
              </a:spcAft>
              <a:tabLst>
                <a:tab pos="685800" algn="l"/>
              </a:tabLst>
            </a:pP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Phạm Xuân Hậu (chủ biên), (2019), </a:t>
            </a:r>
            <a:r>
              <a:rPr lang="vi-VN" sz="2400" b="1" i="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Giáo trình Tổng quan Quản trị khách sạn,</a:t>
            </a: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NXB.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TP.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Hồ</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Chí Minh.</a:t>
            </a:r>
          </a:p>
          <a:p>
            <a:pPr>
              <a:lnSpc>
                <a:spcPct val="115000"/>
              </a:lnSpc>
              <a:spcAft>
                <a:spcPts val="300"/>
              </a:spcAft>
            </a:pP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Tài liệu </a:t>
            </a:r>
            <a:r>
              <a:rPr lang="en-US" sz="24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tham</a:t>
            </a:r>
            <a:r>
              <a:rPr lang="en-US"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khảo</a:t>
            </a:r>
            <a:endParaRPr lang="en-US"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0" algn="just">
              <a:lnSpc>
                <a:spcPct val="115000"/>
              </a:lnSpc>
              <a:spcAft>
                <a:spcPts val="300"/>
              </a:spcAft>
              <a:tabLst>
                <a:tab pos="457200" algn="l"/>
              </a:tabLst>
            </a:pP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Bài giảng Tổng quan về Quản trị khách sạn (giảng viên cung cấp), Lưu hành nội bộ.</a:t>
            </a:r>
            <a:endPar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543300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D884E1-BB6D-0B71-557A-F42083F691A0}"/>
              </a:ext>
            </a:extLst>
          </p:cNvPr>
          <p:cNvSpPr txBox="1"/>
          <p:nvPr/>
        </p:nvSpPr>
        <p:spPr>
          <a:xfrm>
            <a:off x="501112" y="1257879"/>
            <a:ext cx="10864312" cy="584775"/>
          </a:xfrm>
          <a:prstGeom prst="rect">
            <a:avLst/>
          </a:prstGeom>
          <a:noFill/>
        </p:spPr>
        <p:txBody>
          <a:bodyPr wrap="square" rtlCol="0">
            <a:spAutoFit/>
          </a:bodyPr>
          <a:lstStyle/>
          <a:p>
            <a:pPr algn="ct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 1: TỔNG QUAN VỀ KHÁCH SẠN</a:t>
            </a:r>
          </a:p>
        </p:txBody>
      </p:sp>
      <p:sp>
        <p:nvSpPr>
          <p:cNvPr id="4" name="TextBox 3">
            <a:extLst>
              <a:ext uri="{FF2B5EF4-FFF2-40B4-BE49-F238E27FC236}">
                <a16:creationId xmlns:a16="http://schemas.microsoft.com/office/drawing/2014/main" id="{9F5D0D1E-FAE5-4589-9ED6-5D677D704958}"/>
              </a:ext>
            </a:extLst>
          </p:cNvPr>
          <p:cNvSpPr txBox="1"/>
          <p:nvPr/>
        </p:nvSpPr>
        <p:spPr>
          <a:xfrm>
            <a:off x="652959" y="2199858"/>
            <a:ext cx="6098582" cy="584775"/>
          </a:xfrm>
          <a:prstGeom prst="rect">
            <a:avLst/>
          </a:prstGeom>
          <a:noFill/>
        </p:spPr>
        <p:txBody>
          <a:bodyPr wrap="square">
            <a:spAutoFit/>
          </a:bodyPr>
          <a:lstStyle/>
          <a:p>
            <a:r>
              <a:rPr lang="en-US"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BÀI HỌC </a:t>
            </a:r>
          </a:p>
        </p:txBody>
      </p:sp>
      <p:sp>
        <p:nvSpPr>
          <p:cNvPr id="6" name="TextBox 5">
            <a:extLst>
              <a:ext uri="{FF2B5EF4-FFF2-40B4-BE49-F238E27FC236}">
                <a16:creationId xmlns:a16="http://schemas.microsoft.com/office/drawing/2014/main" id="{1AE074F3-DB2A-D7E3-8349-B49F06E5E159}"/>
              </a:ext>
            </a:extLst>
          </p:cNvPr>
          <p:cNvSpPr txBox="1"/>
          <p:nvPr/>
        </p:nvSpPr>
        <p:spPr>
          <a:xfrm>
            <a:off x="501112" y="2914267"/>
            <a:ext cx="11189776" cy="3540777"/>
          </a:xfrm>
          <a:prstGeom prst="rect">
            <a:avLst/>
          </a:prstGeom>
          <a:noFill/>
        </p:spPr>
        <p:txBody>
          <a:bodyPr wrap="square">
            <a:spAutoFit/>
          </a:bodyPr>
          <a:lstStyle/>
          <a:p>
            <a:pPr marL="342900" lvl="0" indent="-342900" algn="just">
              <a:lnSpc>
                <a:spcPct val="115000"/>
              </a:lnSpc>
              <a:spcAft>
                <a:spcPts val="800"/>
              </a:spcAft>
              <a:buFont typeface="Wingdings" panose="05000000000000000000" pitchFamily="2" charset="2"/>
              <a:buChar char="q"/>
              <a:tabLst>
                <a:tab pos="4572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sử</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thành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lvl="0" indent="-342900" algn="just">
              <a:lnSpc>
                <a:spcPct val="115000"/>
              </a:lnSpc>
              <a:spcAft>
                <a:spcPts val="800"/>
              </a:spcAft>
              <a:buFont typeface="Wingdings" panose="05000000000000000000" pitchFamily="2" charset="2"/>
              <a:buChar char="q"/>
              <a:tabLst>
                <a:tab pos="4572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Nắm</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vững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khái</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lvl="0" indent="-342900" algn="just">
              <a:lnSpc>
                <a:spcPct val="115000"/>
              </a:lnSpc>
              <a:spcAft>
                <a:spcPts val="800"/>
              </a:spcAft>
              <a:buFont typeface="Wingdings" panose="05000000000000000000" pitchFamily="2" charset="2"/>
              <a:buChar char="q"/>
              <a:tabLst>
                <a:tab pos="4572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xếp</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hạng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chuẩn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Việt</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Nam. </a:t>
            </a:r>
          </a:p>
          <a:p>
            <a:pPr marL="342900" lvl="0" indent="-342900" algn="just">
              <a:lnSpc>
                <a:spcPct val="115000"/>
              </a:lnSpc>
              <a:spcAft>
                <a:spcPts val="800"/>
              </a:spcAft>
              <a:buFont typeface="Wingdings" panose="05000000000000000000" pitchFamily="2" charset="2"/>
              <a:buChar char="q"/>
              <a:tabLst>
                <a:tab pos="4572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Biết</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phương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pháp</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lvl="0" indent="-342900" algn="just">
              <a:lnSpc>
                <a:spcPct val="115000"/>
              </a:lnSpc>
              <a:spcAft>
                <a:spcPts val="800"/>
              </a:spcAft>
              <a:buFont typeface="Wingdings" panose="05000000000000000000" pitchFamily="2" charset="2"/>
              <a:buChar char="q"/>
              <a:tabLst>
                <a:tab pos="4572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ý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nghĩa</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lvl="0" indent="-342900" algn="just">
              <a:lnSpc>
                <a:spcPct val="115000"/>
              </a:lnSpc>
              <a:spcAft>
                <a:spcPts val="800"/>
              </a:spcAft>
              <a:buFont typeface="Wingdings" panose="05000000000000000000" pitchFamily="2" charset="2"/>
              <a:buChar char="q"/>
              <a:tabLst>
                <a:tab pos="4572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Nắm</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bắt</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xu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hướng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15533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191AD7-1A5D-29D7-5F07-33A43290A368}"/>
              </a:ext>
            </a:extLst>
          </p:cNvPr>
          <p:cNvSpPr txBox="1"/>
          <p:nvPr/>
        </p:nvSpPr>
        <p:spPr>
          <a:xfrm>
            <a:off x="786226" y="1206393"/>
            <a:ext cx="9519833" cy="1077218"/>
          </a:xfrm>
          <a:prstGeom prst="rect">
            <a:avLst/>
          </a:prstGeom>
          <a:noFill/>
        </p:spPr>
        <p:txBody>
          <a:bodyPr wrap="square">
            <a:spAutoFit/>
          </a:bodyPr>
          <a:lstStyle/>
          <a:p>
            <a:pPr marL="465138" indent="-465138" algn="ctr"/>
            <a:r>
              <a:rPr lang="en-US" sz="3200" b="1" dirty="0">
                <a:solidFill>
                  <a:srgbClr val="FF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1. LỊCH SỬ HÌNH THÀNH VÀ PHÁT TRIỂN CỦA NGÀNH KINH DOANH KHÁCH SẠN</a:t>
            </a:r>
            <a:endParaRPr lang="vi-VN" sz="32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1C92EA70-F56D-B406-A011-E2FC221DCDEB}"/>
              </a:ext>
            </a:extLst>
          </p:cNvPr>
          <p:cNvSpPr txBox="1"/>
          <p:nvPr/>
        </p:nvSpPr>
        <p:spPr>
          <a:xfrm>
            <a:off x="402955" y="2818337"/>
            <a:ext cx="11561737" cy="3335593"/>
          </a:xfrm>
          <a:prstGeom prst="rect">
            <a:avLst/>
          </a:prstGeom>
          <a:noFill/>
        </p:spPr>
        <p:txBody>
          <a:bodyPr wrap="square">
            <a:spAutoFit/>
          </a:bodyPr>
          <a:lstStyle/>
          <a:p>
            <a:pPr marL="342900" lvl="0" indent="-342900">
              <a:lnSpc>
                <a:spcPct val="115000"/>
              </a:lnSpc>
              <a:spcAft>
                <a:spcPts val="800"/>
              </a:spcAft>
              <a:buSzPct val="100000"/>
              <a:buFont typeface="Wingdings" panose="05000000000000000000" pitchFamily="2" charset="2"/>
              <a:buChar char="q"/>
              <a:tabLst>
                <a:tab pos="457200" algn="l"/>
              </a:tabLst>
            </a:pP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Khởi</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đầu</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ngành</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nSpc>
                <a:spcPct val="115000"/>
              </a:lnSpc>
              <a:spcAft>
                <a:spcPts val="800"/>
              </a:spcAft>
              <a:buSzPct val="100000"/>
              <a:buFont typeface="Wingdings" panose="05000000000000000000" pitchFamily="2" charset="2"/>
              <a:buChar char="v"/>
              <a:tabLst>
                <a:tab pos="914400" algn="l"/>
              </a:tabLst>
            </a:pP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Mesopotamia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khoảng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3000 TCN):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đầu</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xuất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thương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800100" lvl="1" indent="-342900">
              <a:lnSpc>
                <a:spcPct val="115000"/>
              </a:lnSpc>
              <a:spcAft>
                <a:spcPts val="800"/>
              </a:spcAft>
              <a:buSzPct val="100000"/>
              <a:buFont typeface="Wingdings" panose="05000000000000000000" pitchFamily="2" charset="2"/>
              <a:buChar char="v"/>
              <a:tabLst>
                <a:tab pos="914400" algn="l"/>
              </a:tabLst>
            </a:pP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Hy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Lạp</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La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Mã</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cổ</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đại</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lữ</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thương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trên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đường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800100" lvl="1" indent="-342900">
              <a:lnSpc>
                <a:spcPct val="115000"/>
              </a:lnSpc>
              <a:spcAft>
                <a:spcPts val="800"/>
              </a:spcAft>
              <a:buSzPct val="100000"/>
              <a:buFont typeface="Wingdings" panose="05000000000000000000" pitchFamily="2" charset="2"/>
              <a:buChar char="v"/>
              <a:tabLst>
                <a:tab pos="9144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Mốc</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nghỉ</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xung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con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đường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thương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mại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lớn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553720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543381-FB92-6513-3251-81BC63E0065B}"/>
              </a:ext>
            </a:extLst>
          </p:cNvPr>
          <p:cNvSpPr txBox="1"/>
          <p:nvPr/>
        </p:nvSpPr>
        <p:spPr>
          <a:xfrm>
            <a:off x="253139" y="1145711"/>
            <a:ext cx="11685722" cy="2910861"/>
          </a:xfrm>
          <a:prstGeom prst="rect">
            <a:avLst/>
          </a:prstGeom>
          <a:noFill/>
        </p:spPr>
        <p:txBody>
          <a:bodyPr wrap="square">
            <a:spAutoFit/>
          </a:bodyPr>
          <a:lstStyle/>
          <a:p>
            <a:pPr marL="342900" indent="-342900">
              <a:lnSpc>
                <a:spcPct val="115000"/>
              </a:lnSpc>
              <a:spcAft>
                <a:spcPts val="800"/>
              </a:spcAft>
              <a:buFont typeface="Wingdings" panose="05000000000000000000" pitchFamily="2" charset="2"/>
              <a:buChar char="q"/>
            </a:pP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kỳ</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trung</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cổ</a:t>
            </a:r>
            <a:r>
              <a:rPr lang="en-US" sz="2400" kern="100"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quán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nSpc>
                <a:spcPct val="115000"/>
              </a:lnSpc>
              <a:spcAft>
                <a:spcPts val="800"/>
              </a:spcAft>
              <a:buSzPct val="100000"/>
              <a:buFont typeface="Wingdings" panose="05000000000000000000" pitchFamily="2" charset="2"/>
              <a:buChar char="v"/>
              <a:tabLst>
                <a:tab pos="9144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Thế</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kỷ</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5-15:</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quán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ở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châu</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Âu</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800100" lvl="1" indent="-342900">
              <a:lnSpc>
                <a:spcPct val="115000"/>
              </a:lnSpc>
              <a:spcAft>
                <a:spcPts val="800"/>
              </a:spcAft>
              <a:buSzPct val="100000"/>
              <a:buFont typeface="Wingdings" panose="05000000000000000000" pitchFamily="2" charset="2"/>
              <a:buChar char="v"/>
              <a:tabLst>
                <a:tab pos="914400" algn="l"/>
              </a:tabLst>
            </a:pP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Thành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phố</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lớn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trở</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thành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nơi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nghỉ</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chân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hương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thương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800100" lvl="1" indent="-342900">
              <a:lnSpc>
                <a:spcPct val="115000"/>
              </a:lnSpc>
              <a:spcAft>
                <a:spcPts val="800"/>
              </a:spcAft>
              <a:buSzPct val="100000"/>
              <a:buFont typeface="Wingdings" panose="05000000000000000000" pitchFamily="2" charset="2"/>
              <a:buChar char="v"/>
              <a:tabLst>
                <a:tab pos="9144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Mốc</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Thành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lập</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đồng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thương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mại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kiểm</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soát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chất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
        <p:nvSpPr>
          <p:cNvPr id="5" name="TextBox 4">
            <a:extLst>
              <a:ext uri="{FF2B5EF4-FFF2-40B4-BE49-F238E27FC236}">
                <a16:creationId xmlns:a16="http://schemas.microsoft.com/office/drawing/2014/main" id="{D3B22226-47DB-E1DE-3D31-9083B20A1FD7}"/>
              </a:ext>
            </a:extLst>
          </p:cNvPr>
          <p:cNvSpPr txBox="1"/>
          <p:nvPr/>
        </p:nvSpPr>
        <p:spPr>
          <a:xfrm>
            <a:off x="410157" y="4186883"/>
            <a:ext cx="11938861" cy="2031325"/>
          </a:xfrm>
          <a:prstGeom prst="rect">
            <a:avLst/>
          </a:prstGeom>
          <a:noFill/>
        </p:spPr>
        <p:txBody>
          <a:bodyPr wrap="square">
            <a:spAutoFit/>
          </a:bodyPr>
          <a:lstStyle/>
          <a:p>
            <a:pPr marL="342900" indent="-342900">
              <a:spcBef>
                <a:spcPts val="1200"/>
              </a:spcBef>
              <a:buFont typeface="Wingdings" panose="05000000000000000000" pitchFamily="2" charset="2"/>
              <a:buChar char="q"/>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Thời kỳ phục h</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ư</a:t>
            </a: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Thế kỷ 16-17:</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đầu tiên xuất hiện ở Anh và Pháp.</a:t>
            </a:r>
          </a:p>
          <a:p>
            <a:pPr marL="800100" lvl="1" indent="-342900">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Chất lượng dịch vụ:</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Sự nâng cao trong tiêu chuẩn dịch vụ và tiện nghi.</a:t>
            </a:r>
          </a:p>
          <a:p>
            <a:pPr marL="800100" lvl="1" indent="-342900">
              <a:spcBef>
                <a:spcPts val="1200"/>
              </a:spcBef>
              <a:buFont typeface="Wingdings" panose="05000000000000000000" pitchFamily="2" charset="2"/>
              <a:buChar char="v"/>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Mốc quan trọng:</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Khách sạn The Grand ở London và Hotel de Henry IV ở Paris.</a:t>
            </a:r>
          </a:p>
        </p:txBody>
      </p:sp>
    </p:spTree>
    <p:extLst>
      <p:ext uri="{BB962C8B-B14F-4D97-AF65-F5344CB8AC3E}">
        <p14:creationId xmlns:p14="http://schemas.microsoft.com/office/powerpoint/2010/main" val="2055785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33B2DC-2AA2-919D-EE9E-7CE114D4997D}"/>
              </a:ext>
            </a:extLst>
          </p:cNvPr>
          <p:cNvSpPr txBox="1"/>
          <p:nvPr/>
        </p:nvSpPr>
        <p:spPr>
          <a:xfrm>
            <a:off x="219952" y="1124055"/>
            <a:ext cx="11561736" cy="2677656"/>
          </a:xfrm>
          <a:prstGeom prst="rect">
            <a:avLst/>
          </a:prstGeom>
          <a:noFill/>
        </p:spPr>
        <p:txBody>
          <a:bodyPr wrap="square">
            <a:spAutoFit/>
          </a:bodyPr>
          <a:lstStyle/>
          <a:p>
            <a:pPr marL="342900" indent="-342900">
              <a:buFont typeface="Wingdings" panose="05000000000000000000" pitchFamily="2" charset="2"/>
              <a:buChar char="q"/>
            </a:pP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Thế</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kỷ</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18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và</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19</a:t>
            </a:r>
            <a:r>
              <a:rPr lang="en-US" sz="2400"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s</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ự</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bùng</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nổ</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của</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ngành</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khách</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sạn</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a:t>
            </a:r>
            <a:endParaRPr lang="en-US" sz="2400"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endParaRPr>
          </a:p>
          <a:p>
            <a:pPr marL="800100" lvl="1" indent="-342900">
              <a:buSzPct val="100000"/>
              <a:buFont typeface="Wingdings" panose="05000000000000000000" pitchFamily="2" charset="2"/>
              <a:buChar char="v"/>
              <a:tabLst>
                <a:tab pos="914400" algn="l"/>
              </a:tabLst>
            </a:pP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Cách</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mạng</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công</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nghiệp</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Sự</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phát</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triển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của</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các</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tuyến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đường</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sắt</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và</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giao</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thông</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vận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tải</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a:t>
            </a:r>
          </a:p>
          <a:p>
            <a:pPr marL="800100" lvl="1" indent="-342900">
              <a:buSzPct val="100000"/>
              <a:buFont typeface="Wingdings" panose="05000000000000000000" pitchFamily="2" charset="2"/>
              <a:buChar char="v"/>
              <a:tabLst>
                <a:tab pos="914400" algn="l"/>
              </a:tabLst>
            </a:pP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Khách</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sạn</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hạng</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sang:</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Xuất</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hiện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các</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khách</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sạn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hạng</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sang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phục</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vụ</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cho</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giới</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thượng</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lưu</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a:t>
            </a:r>
          </a:p>
          <a:p>
            <a:pPr marL="800100" lvl="1" indent="-342900">
              <a:buSzPct val="100000"/>
              <a:buFont typeface="Wingdings" panose="05000000000000000000" pitchFamily="2" charset="2"/>
              <a:buChar char="v"/>
              <a:tabLst>
                <a:tab pos="914400" algn="l"/>
              </a:tabLst>
            </a:pP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Mốc</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quan</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trọng</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Khách</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sạn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Ritz-Carlton (1895 ở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Pháp</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và</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Waldorf Astoria (1893 ở  New York).</a:t>
            </a:r>
          </a:p>
        </p:txBody>
      </p:sp>
      <p:sp>
        <p:nvSpPr>
          <p:cNvPr id="5" name="TextBox 4">
            <a:extLst>
              <a:ext uri="{FF2B5EF4-FFF2-40B4-BE49-F238E27FC236}">
                <a16:creationId xmlns:a16="http://schemas.microsoft.com/office/drawing/2014/main" id="{04699E0E-4170-57C3-CC0D-51BF5F98CEC2}"/>
              </a:ext>
            </a:extLst>
          </p:cNvPr>
          <p:cNvSpPr txBox="1"/>
          <p:nvPr/>
        </p:nvSpPr>
        <p:spPr>
          <a:xfrm>
            <a:off x="366794" y="3963263"/>
            <a:ext cx="11825206" cy="1938992"/>
          </a:xfrm>
          <a:prstGeom prst="rect">
            <a:avLst/>
          </a:prstGeom>
          <a:noFill/>
        </p:spPr>
        <p:txBody>
          <a:bodyPr wrap="square">
            <a:spAutoFit/>
          </a:bodyPr>
          <a:lstStyle/>
          <a:p>
            <a:pPr marL="341313" indent="-341313">
              <a:buFont typeface="Wingdings" panose="05000000000000000000" pitchFamily="2" charset="2"/>
              <a:buChar char="q"/>
            </a:pP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Thế</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kỷ</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20</a:t>
            </a:r>
            <a:r>
              <a:rPr lang="en-US" sz="2400"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Phát</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triển</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toàn</a:t>
            </a:r>
            <a:r>
              <a:rPr lang="en-US" sz="2400" b="1" kern="100" dirty="0">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highlight>
                  <a:srgbClr val="FFFF00"/>
                </a:highlight>
                <a:latin typeface="Times New Roman" panose="02020603050405020304" pitchFamily="18" charset="0"/>
                <a:ea typeface="Microsoft Sans Serif" panose="020B0604020202020204" pitchFamily="34" charset="0"/>
                <a:cs typeface="Times New Roman" panose="02020603050405020304" pitchFamily="18" charset="0"/>
              </a:rPr>
              <a:t>cầu</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a:t>
            </a:r>
            <a:endPar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endParaRPr>
          </a:p>
          <a:p>
            <a:pPr marL="800100" lvl="1" indent="-342900">
              <a:buSzPct val="100000"/>
              <a:buFont typeface="Wingdings" panose="05000000000000000000" pitchFamily="2" charset="2"/>
              <a:buChar char="v"/>
              <a:tabLst>
                <a:tab pos="914400" algn="l"/>
              </a:tabLst>
            </a:pP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Thế</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kỷ</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20:</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Ngành</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khách</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sạn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phát</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triển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mạnh</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mẽ</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trên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toàn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cầu</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a:t>
            </a:r>
          </a:p>
          <a:p>
            <a:pPr marL="800100" lvl="1" indent="-342900">
              <a:buSzPct val="100000"/>
              <a:buFont typeface="Wingdings" panose="05000000000000000000" pitchFamily="2" charset="2"/>
              <a:buChar char="v"/>
              <a:tabLst>
                <a:tab pos="914400" algn="l"/>
              </a:tabLst>
            </a:pP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Chuỗi</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khách</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sạn</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Sự</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ra</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đời</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của</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các</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chuỗi</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khách</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sạn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quốc</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tế</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như</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Hilton, Marriott, InterContinental.</a:t>
            </a:r>
          </a:p>
          <a:p>
            <a:pPr marL="800100" lvl="1" indent="-342900">
              <a:buSzPct val="100000"/>
              <a:buFont typeface="Wingdings" panose="05000000000000000000" pitchFamily="2" charset="2"/>
              <a:buChar char="v"/>
              <a:tabLst>
                <a:tab pos="914400" algn="l"/>
              </a:tabLst>
            </a:pP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Mốc</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quan</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trọng</a:t>
            </a:r>
            <a:r>
              <a:rPr lang="en-US" sz="2400" b="1"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Khách</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sạn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Hilton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đầu</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tiên</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mở</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cửa</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tại</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Texas,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Mỹ</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vào</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kern="100"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năm</a:t>
            </a:r>
            <a:r>
              <a:rPr lang="en-US" sz="2400" kern="100" dirty="0">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 1925</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a:t>
            </a:r>
          </a:p>
        </p:txBody>
      </p:sp>
    </p:spTree>
    <p:extLst>
      <p:ext uri="{BB962C8B-B14F-4D97-AF65-F5344CB8AC3E}">
        <p14:creationId xmlns:p14="http://schemas.microsoft.com/office/powerpoint/2010/main" val="2316206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B51BB3-60A9-FD13-16AA-26EB79673D3C}"/>
              </a:ext>
            </a:extLst>
          </p:cNvPr>
          <p:cNvSpPr txBox="1"/>
          <p:nvPr/>
        </p:nvSpPr>
        <p:spPr>
          <a:xfrm>
            <a:off x="387809" y="1592405"/>
            <a:ext cx="10914681" cy="3335593"/>
          </a:xfrm>
          <a:prstGeom prst="rect">
            <a:avLst/>
          </a:prstGeom>
          <a:noFill/>
        </p:spPr>
        <p:txBody>
          <a:bodyPr wrap="square">
            <a:spAutoFit/>
          </a:bodyPr>
          <a:lstStyle/>
          <a:p>
            <a:pPr marL="279400" indent="-279400">
              <a:lnSpc>
                <a:spcPct val="115000"/>
              </a:lnSpc>
              <a:spcAft>
                <a:spcPts val="800"/>
              </a:spcAft>
              <a:buFont typeface="Wingdings" panose="05000000000000000000" pitchFamily="2" charset="2"/>
              <a:buChar char="q"/>
            </a:pP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Thế</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kỷ</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21 :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đại</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hóa</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nSpc>
                <a:spcPct val="115000"/>
              </a:lnSpc>
              <a:spcAft>
                <a:spcPts val="800"/>
              </a:spcAft>
              <a:buSzPct val="100000"/>
              <a:buFont typeface="Wingdings" panose="05000000000000000000" pitchFamily="2" charset="2"/>
              <a:buChar char="v"/>
              <a:tabLst>
                <a:tab pos="9144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áp</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(booking online,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bằng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phần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mềm</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800100" lvl="1" indent="-342900">
              <a:lnSpc>
                <a:spcPct val="115000"/>
              </a:lnSpc>
              <a:spcAft>
                <a:spcPts val="800"/>
              </a:spcAft>
              <a:buSzPct val="100000"/>
              <a:buFont typeface="Wingdings" panose="05000000000000000000" pitchFamily="2" charset="2"/>
              <a:buChar char="v"/>
              <a:tabLst>
                <a:tab pos="914400" algn="l"/>
              </a:tabLst>
            </a:pP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Xu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hướng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thông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minh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xanh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bền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vững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800100" lvl="1" indent="-342900">
              <a:lnSpc>
                <a:spcPct val="115000"/>
              </a:lnSpc>
              <a:spcAft>
                <a:spcPts val="800"/>
              </a:spcAft>
              <a:buSzPct val="100000"/>
              <a:buFont typeface="Wingdings" panose="05000000000000000000" pitchFamily="2" charset="2"/>
              <a:buChar char="v"/>
              <a:tabLst>
                <a:tab pos="914400" algn="l"/>
              </a:tabLst>
            </a:pP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Mốc</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xuất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nền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tảng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đặt</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trực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tuyến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Airbnb, Booking.com.</a:t>
            </a:r>
          </a:p>
        </p:txBody>
      </p:sp>
    </p:spTree>
    <p:extLst>
      <p:ext uri="{BB962C8B-B14F-4D97-AF65-F5344CB8AC3E}">
        <p14:creationId xmlns:p14="http://schemas.microsoft.com/office/powerpoint/2010/main" val="1524812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B51BB3-60A9-FD13-16AA-26EB79673D3C}"/>
              </a:ext>
            </a:extLst>
          </p:cNvPr>
          <p:cNvSpPr txBox="1"/>
          <p:nvPr/>
        </p:nvSpPr>
        <p:spPr>
          <a:xfrm>
            <a:off x="477864" y="1535008"/>
            <a:ext cx="10914681" cy="4945778"/>
          </a:xfrm>
          <a:prstGeom prst="rect">
            <a:avLst/>
          </a:prstGeom>
          <a:noFill/>
        </p:spPr>
        <p:txBody>
          <a:bodyPr wrap="square">
            <a:spAutoFit/>
          </a:bodyPr>
          <a:lstStyle/>
          <a:p>
            <a:pPr marL="279400" indent="-279400">
              <a:lnSpc>
                <a:spcPct val="115000"/>
              </a:lnSpc>
              <a:spcAft>
                <a:spcPts val="800"/>
              </a:spcAft>
              <a:buFont typeface="Wingdings" panose="05000000000000000000" pitchFamily="2" charset="2"/>
              <a:buChar char="q"/>
            </a:pP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Thế</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kỷ</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21 :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đại</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hóa</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b="1" kern="100"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115000"/>
              </a:lnSpc>
              <a:spcAft>
                <a:spcPts val="800"/>
              </a:spcAft>
            </a:pPr>
            <a:r>
              <a:rPr lang="vi-VN" sz="2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Công nghệ thay đổi ngành khách sạn:</a:t>
            </a:r>
            <a:endParaRPr lang="vi-VN" sz="22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1200"/>
              </a:spcBef>
              <a:buFont typeface="Wingdings" panose="05000000000000000000" pitchFamily="2" charset="2"/>
              <a:buChar char="v"/>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 nghệ trở thành yếu tố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cốt lõi</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trong quản lý và vận hành khách sạn.</a:t>
            </a:r>
          </a:p>
          <a:p>
            <a:pPr marL="342900" indent="-342900">
              <a:spcBef>
                <a:spcPts val="1200"/>
              </a:spcBef>
              <a:buFont typeface="Wingdings" panose="05000000000000000000" pitchFamily="2" charset="2"/>
              <a:buChar char="v"/>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Ứng dụng các công cụ như:</a:t>
            </a:r>
          </a:p>
          <a:p>
            <a:pPr marL="800100" lvl="1" indent="-342900">
              <a:spcBef>
                <a:spcPts val="1200"/>
              </a:spcBef>
              <a:buFont typeface="Wingdings" panose="05000000000000000000" pitchFamily="2" charset="2"/>
              <a:buChar char="ü"/>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Đặt phòng trực tuyến (booking online)</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spcBef>
                <a:spcPts val="1200"/>
              </a:spcBef>
              <a:buFont typeface="Wingdings" panose="05000000000000000000" pitchFamily="2" charset="2"/>
              <a:buChar char="ü"/>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Phần mềm quản lý khách sạn (PMS – Property Management System)</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spcBef>
                <a:spcPts val="1200"/>
              </a:spcBef>
              <a:buFont typeface="Wingdings" panose="05000000000000000000" pitchFamily="2" charset="2"/>
              <a:buChar char="ü"/>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Check-in/check-out tự động</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spcBef>
                <a:spcPts val="1200"/>
              </a:spcBef>
              <a:buFont typeface="Wingdings" panose="05000000000000000000" pitchFamily="2" charset="2"/>
              <a:buChar char="ü"/>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Chìa khóa điện tử, AI, chatbot,…</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1200"/>
              </a:spcBef>
              <a:buFont typeface="Wingdings" panose="05000000000000000000" pitchFamily="2" charset="2"/>
              <a:buChar char="v"/>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 nghệ giúp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nâng cao trải nghiệm khách hàng</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đồng thời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giảm chi phí vận hành</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lnSpc>
                <a:spcPct val="115000"/>
              </a:lnSpc>
              <a:spcAft>
                <a:spcPts val="800"/>
              </a:spcAft>
            </a:pPr>
            <a:endParaRPr lang="en-US" sz="2400"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604402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014AA4-05D6-845A-49F5-8A0055C566B4}"/>
              </a:ext>
            </a:extLst>
          </p:cNvPr>
          <p:cNvSpPr txBox="1"/>
          <p:nvPr/>
        </p:nvSpPr>
        <p:spPr>
          <a:xfrm>
            <a:off x="184727" y="1205868"/>
            <a:ext cx="5394036" cy="4955203"/>
          </a:xfrm>
          <a:prstGeom prst="rect">
            <a:avLst/>
          </a:prstGeom>
          <a:noFill/>
        </p:spPr>
        <p:txBody>
          <a:bodyPr wrap="square">
            <a:spAutoFit/>
          </a:bodyPr>
          <a:lstStyle/>
          <a:p>
            <a:pPr>
              <a:buNone/>
            </a:pPr>
            <a:r>
              <a:rPr lang="vi-VN" sz="2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Xu hướng mới trong ngành khách sạn</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buFont typeface="Wingdings" panose="05000000000000000000" pitchFamily="2" charset="2"/>
              <a:buChar char="v"/>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sạn thông minh (smart hotels):</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spcBef>
                <a:spcPts val="600"/>
              </a:spcBef>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Tích hợp Internet of Things (IoT), điều khiển bằng giọng nói, cá nhân hóa phòng theo sở thích của khách.</a:t>
            </a:r>
          </a:p>
          <a:p>
            <a:pPr marL="342900" indent="-342900" algn="just">
              <a:spcBef>
                <a:spcPts val="600"/>
              </a:spcBef>
              <a:buFont typeface="Wingdings" panose="05000000000000000000" pitchFamily="2" charset="2"/>
              <a:buChar char="v"/>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sạn xanh – bền vững:</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spcBef>
                <a:spcPts val="600"/>
              </a:spcBef>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Tiết kiệm năng lượng, sử dụng nguyên liệu thân thiện môi trường, giảm thiểu rác thải nhựa.</a:t>
            </a:r>
          </a:p>
          <a:p>
            <a:pPr marL="342900" indent="-342900" algn="just">
              <a:spcBef>
                <a:spcPts val="600"/>
              </a:spcBef>
              <a:buFont typeface="Wingdings" panose="05000000000000000000" pitchFamily="2" charset="2"/>
              <a:buChar char="v"/>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 nhân hóa dịch vụ khách hàng:</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spcBef>
                <a:spcPts val="600"/>
              </a:spcBef>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Dựa trên dữ liệu hành vi, lịch sử lưu trú để cung cấp trải nghiệm “đúng người – đúng nhu cầu”.</a:t>
            </a:r>
          </a:p>
        </p:txBody>
      </p:sp>
      <p:sp>
        <p:nvSpPr>
          <p:cNvPr id="7" name="TextBox 6">
            <a:extLst>
              <a:ext uri="{FF2B5EF4-FFF2-40B4-BE49-F238E27FC236}">
                <a16:creationId xmlns:a16="http://schemas.microsoft.com/office/drawing/2014/main" id="{D6464214-C945-67F4-F042-514FA3B0566E}"/>
              </a:ext>
            </a:extLst>
          </p:cNvPr>
          <p:cNvSpPr txBox="1"/>
          <p:nvPr/>
        </p:nvSpPr>
        <p:spPr>
          <a:xfrm>
            <a:off x="6391564" y="1205868"/>
            <a:ext cx="5486400" cy="4955203"/>
          </a:xfrm>
          <a:prstGeom prst="rect">
            <a:avLst/>
          </a:prstGeom>
          <a:noFill/>
        </p:spPr>
        <p:txBody>
          <a:bodyPr wrap="square">
            <a:spAutoFit/>
          </a:bodyPr>
          <a:lstStyle/>
          <a:p>
            <a:pPr>
              <a:buNone/>
            </a:pPr>
            <a:r>
              <a:rPr lang="vi-VN" sz="2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Mốc quan trọng – Nền tảng đặt phòng trực tuyến:</a:t>
            </a:r>
            <a:endParaRPr lang="vi-VN" sz="2200"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spcBef>
                <a:spcPts val="600"/>
              </a:spcBef>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Sự xuất hiện và phát triển mạnh mẽ của:</a:t>
            </a:r>
          </a:p>
          <a:p>
            <a:pPr marL="742950" lvl="1" indent="-285750" algn="just">
              <a:spcBef>
                <a:spcPts val="600"/>
              </a:spcBef>
              <a:buFont typeface="Arial" panose="020B0604020202020204" pitchFamily="34" charset="0"/>
              <a:buChar char="•"/>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Airbnb</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(chia sẻ lưu trú cá nhân, bắt đầu năm 2008)</a:t>
            </a:r>
          </a:p>
          <a:p>
            <a:pPr marL="742950" lvl="1" indent="-285750" algn="just">
              <a:spcBef>
                <a:spcPts val="600"/>
              </a:spcBef>
              <a:buFont typeface="Arial" panose="020B0604020202020204" pitchFamily="34" charset="0"/>
              <a:buChar char="•"/>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Booking.com</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Agoda</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Expedia</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algn="just">
              <a:spcBef>
                <a:spcPts val="600"/>
              </a:spcBef>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Những nền tảng này làm thay đổi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mô hình kinh doanh khách sạn truyền thống</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742950" lvl="1" indent="-285750" algn="just">
              <a:spcBef>
                <a:spcPts val="600"/>
              </a:spcBef>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Người tiêu dùng có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nhiều lựa chọn hơn</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đặt phòng tiện lợi hơn.</a:t>
            </a:r>
          </a:p>
          <a:p>
            <a:pPr marL="742950" lvl="1" indent="-285750" algn="just">
              <a:spcBef>
                <a:spcPts val="600"/>
              </a:spcBef>
              <a:buFont typeface="Arial" panose="020B0604020202020204" pitchFamily="34" charset="0"/>
              <a:buChar char="•"/>
            </a:pP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áp lực cạnh tranh mạnh mẽ</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thúc đẩy các khách sạn phải </a:t>
            </a: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đổi mới và linh hoạt</a:t>
            </a:r>
            <a:r>
              <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hơn.</a:t>
            </a:r>
          </a:p>
        </p:txBody>
      </p:sp>
    </p:spTree>
    <p:extLst>
      <p:ext uri="{BB962C8B-B14F-4D97-AF65-F5344CB8AC3E}">
        <p14:creationId xmlns:p14="http://schemas.microsoft.com/office/powerpoint/2010/main" val="2848555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5623A2-73C2-4BCA-C0A6-DD51D01DF1FB}"/>
              </a:ext>
            </a:extLst>
          </p:cNvPr>
          <p:cNvSpPr txBox="1"/>
          <p:nvPr/>
        </p:nvSpPr>
        <p:spPr>
          <a:xfrm>
            <a:off x="552588" y="1176026"/>
            <a:ext cx="7226084" cy="626838"/>
          </a:xfrm>
          <a:prstGeom prst="rect">
            <a:avLst/>
          </a:prstGeom>
          <a:noFill/>
        </p:spPr>
        <p:txBody>
          <a:bodyPr wrap="square">
            <a:spAutoFit/>
          </a:bodyPr>
          <a:lstStyle/>
          <a:p>
            <a:pPr lvl="0">
              <a:lnSpc>
                <a:spcPct val="115000"/>
              </a:lnSpc>
              <a:spcAft>
                <a:spcPts val="800"/>
              </a:spcAft>
              <a:tabLst>
                <a:tab pos="457200" algn="l"/>
              </a:tabLst>
            </a:pPr>
            <a:r>
              <a:rPr lang="en-US" sz="3200" b="1" kern="100" dirty="0">
                <a:solidFill>
                  <a:srgbClr val="FF000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2. CÁC KHÁI NIỆM CƠ BẢN:</a:t>
            </a:r>
            <a:endParaRPr lang="en-US" sz="3200" kern="100" dirty="0">
              <a:solidFill>
                <a:srgbClr val="FF000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56DF6DC2-D2B9-3EEB-4456-38998D11FB93}"/>
              </a:ext>
            </a:extLst>
          </p:cNvPr>
          <p:cNvSpPr txBox="1"/>
          <p:nvPr/>
        </p:nvSpPr>
        <p:spPr>
          <a:xfrm>
            <a:off x="421960" y="1720519"/>
            <a:ext cx="10899182" cy="1708481"/>
          </a:xfrm>
          <a:prstGeom prst="rect">
            <a:avLst/>
          </a:prstGeom>
          <a:noFill/>
        </p:spPr>
        <p:txBody>
          <a:bodyPr wrap="square">
            <a:spAutoFit/>
          </a:bodyPr>
          <a:lstStyle/>
          <a:p>
            <a:endParaRPr lang="en-US" dirty="0">
              <a:effectLst/>
            </a:endParaRPr>
          </a:p>
          <a:p>
            <a:pPr marL="279400" lvl="1" indent="-279400">
              <a:lnSpc>
                <a:spcPct val="115000"/>
              </a:lnSpc>
              <a:spcAft>
                <a:spcPts val="800"/>
              </a:spcAft>
              <a:buSzPct val="100000"/>
              <a:buFont typeface="Wingdings" panose="05000000000000000000" pitchFamily="2" charset="2"/>
              <a:buChar char="q"/>
              <a:tabLst>
                <a:tab pos="914400" algn="l"/>
              </a:tabLst>
            </a:pP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Khái</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sản</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p>
          <a:p>
            <a:pPr lvl="1">
              <a:lnSpc>
                <a:spcPct val="115000"/>
              </a:lnSpc>
              <a:spcAft>
                <a:spcPts val="800"/>
              </a:spcAft>
              <a:buSzPct val="100000"/>
              <a:tabLst>
                <a:tab pos="914400" algn="l"/>
              </a:tabLst>
            </a:pP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không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mà</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còn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bao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gồm</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kèm</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uống</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trí</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nghị</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1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
        <p:nvSpPr>
          <p:cNvPr id="7" name="TextBox 6">
            <a:extLst>
              <a:ext uri="{FF2B5EF4-FFF2-40B4-BE49-F238E27FC236}">
                <a16:creationId xmlns:a16="http://schemas.microsoft.com/office/drawing/2014/main" id="{8C022E92-9C41-8073-776D-F6CCFECBB6D5}"/>
              </a:ext>
            </a:extLst>
          </p:cNvPr>
          <p:cNvSpPr txBox="1"/>
          <p:nvPr/>
        </p:nvSpPr>
        <p:spPr>
          <a:xfrm>
            <a:off x="421959" y="3584936"/>
            <a:ext cx="10899181" cy="3116046"/>
          </a:xfrm>
          <a:prstGeom prst="rect">
            <a:avLst/>
          </a:prstGeom>
          <a:noFill/>
        </p:spPr>
        <p:txBody>
          <a:bodyPr wrap="square">
            <a:spAutoFit/>
          </a:bodyPr>
          <a:lstStyle/>
          <a:p>
            <a:pPr marL="285750" indent="-285750">
              <a:lnSpc>
                <a:spcPct val="115000"/>
              </a:lnSpc>
              <a:spcAft>
                <a:spcPts val="800"/>
              </a:spcAft>
              <a:buFont typeface="Wingdings" panose="05000000000000000000" pitchFamily="2" charset="2"/>
              <a:buChar char="q"/>
            </a:pP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đi</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kèm</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914400" lvl="0" indent="-279400">
              <a:lnSpc>
                <a:spcPct val="115000"/>
              </a:lnSpc>
              <a:spcAft>
                <a:spcPts val="800"/>
              </a:spcAft>
              <a:buSzPct val="100000"/>
              <a:buFont typeface="Wingdings" panose="05000000000000000000" pitchFamily="2" charset="2"/>
              <a:buChar char="v"/>
              <a:tabLst>
                <a:tab pos="457200" algn="l"/>
              </a:tabLst>
            </a:pP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Cung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nghỉ</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914400" lvl="0" indent="-279400">
              <a:lnSpc>
                <a:spcPct val="115000"/>
              </a:lnSpc>
              <a:spcAft>
                <a:spcPts val="800"/>
              </a:spcAft>
              <a:buSzPct val="100000"/>
              <a:buFont typeface="Wingdings" panose="05000000000000000000" pitchFamily="2" charset="2"/>
              <a:buChar char="v"/>
              <a:tabLst>
                <a:tab pos="457200" algn="l"/>
              </a:tabLst>
            </a:pP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uống</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quán</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bar,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914400" lvl="0" indent="-279400">
              <a:lnSpc>
                <a:spcPct val="115000"/>
              </a:lnSpc>
              <a:spcAft>
                <a:spcPts val="800"/>
              </a:spcAft>
              <a:buSzPct val="100000"/>
              <a:buFont typeface="Wingdings" panose="05000000000000000000" pitchFamily="2" charset="2"/>
              <a:buChar char="v"/>
              <a:tabLst>
                <a:tab pos="457200" algn="l"/>
              </a:tabLst>
            </a:pP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trí</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Spa,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bể</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bơi</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gym,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trí</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914400" lvl="0" indent="-279400">
              <a:lnSpc>
                <a:spcPct val="115000"/>
              </a:lnSpc>
              <a:spcAft>
                <a:spcPts val="800"/>
              </a:spcAft>
              <a:buSzPct val="100000"/>
              <a:buFont typeface="Wingdings" panose="05000000000000000000" pitchFamily="2" charset="2"/>
              <a:buChar char="v"/>
              <a:tabLst>
                <a:tab pos="457200" algn="l"/>
              </a:tabLst>
            </a:pP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nghị</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lang="en-US" sz="24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họp</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tiệc</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kern="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cưới</a:t>
            </a:r>
            <a:r>
              <a:rPr lang="en-US" sz="24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115000"/>
              </a:lnSpc>
              <a:spcAft>
                <a:spcPts val="800"/>
              </a:spcAft>
            </a:pPr>
            <a:endParaRPr lang="en-US" sz="2400" b="1" kern="1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393261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BC658C-27DE-EA16-1CD3-777B7C2C7EB7}"/>
              </a:ext>
            </a:extLst>
          </p:cNvPr>
          <p:cNvSpPr txBox="1"/>
          <p:nvPr/>
        </p:nvSpPr>
        <p:spPr>
          <a:xfrm>
            <a:off x="463883" y="1081062"/>
            <a:ext cx="10678334" cy="820930"/>
          </a:xfrm>
          <a:prstGeom prst="rect">
            <a:avLst/>
          </a:prstGeom>
          <a:noFill/>
        </p:spPr>
        <p:txBody>
          <a:bodyPr wrap="square">
            <a:spAutoFit/>
          </a:bodyPr>
          <a:lstStyle/>
          <a:p>
            <a:endParaRPr lang="en-US" dirty="0">
              <a:solidFill>
                <a:srgbClr val="002060"/>
              </a:solidFill>
              <a:effectLst/>
            </a:endParaRPr>
          </a:p>
          <a:p>
            <a:pPr marL="279400" lvl="1" indent="-279400">
              <a:lnSpc>
                <a:spcPct val="115000"/>
              </a:lnSpc>
              <a:spcAft>
                <a:spcPts val="800"/>
              </a:spcAft>
              <a:buSzPct val="100000"/>
              <a:buFont typeface="Wingdings" panose="05000000000000000000" pitchFamily="2" charset="2"/>
              <a:buChar char="q"/>
              <a:tabLst>
                <a:tab pos="914400" algn="l"/>
              </a:tabLst>
            </a:pPr>
            <a:r>
              <a:rPr lang="en-US" sz="28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lang="en-US" sz="28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điểm</a:t>
            </a:r>
            <a:r>
              <a:rPr lang="en-US" sz="28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8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sản</a:t>
            </a:r>
            <a:r>
              <a:rPr lang="en-US" sz="28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phẩm</a:t>
            </a:r>
            <a:r>
              <a:rPr lang="en-US" sz="28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8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kern="100"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800" b="1"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800" kern="10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8A1061D3-8645-192B-7ED9-20CF67725B07}"/>
              </a:ext>
            </a:extLst>
          </p:cNvPr>
          <p:cNvSpPr txBox="1"/>
          <p:nvPr/>
        </p:nvSpPr>
        <p:spPr>
          <a:xfrm>
            <a:off x="463884" y="2275259"/>
            <a:ext cx="10933790" cy="1800493"/>
          </a:xfrm>
          <a:prstGeom prst="rect">
            <a:avLst/>
          </a:prstGeom>
          <a:noFill/>
        </p:spPr>
        <p:txBody>
          <a:bodyPr wrap="square">
            <a:spAutoFit/>
          </a:bodyPr>
          <a:lstStyle/>
          <a:p>
            <a:pPr>
              <a:spcBef>
                <a:spcPts val="1800"/>
              </a:spcBef>
            </a:pP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1. </a:t>
            </a: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SẢN PHẨM CỦA KHÁCH SẠN MANG ĐẶC THÙ CỦA SẢN PHẨM DỊCH VỤ</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p>
          <a:p>
            <a:pPr>
              <a:spcBef>
                <a:spcPts val="1800"/>
              </a:spcBef>
              <a:tabLst>
                <a:tab pos="55563" algn="l"/>
                <a:tab pos="111125" algn="l"/>
              </a:tabLst>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 phẩm dịch vụ của khách sạn có tính vô hình, không thể nhìn thấy hay </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chạm vào trước khi mua. Khách hàng thường dựa vào danh tiếng, đánh giá </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từ khách hàng khác hoặc các yếu tố bên ngoài để quyết định.</a:t>
            </a:r>
          </a:p>
        </p:txBody>
      </p:sp>
      <p:sp>
        <p:nvSpPr>
          <p:cNvPr id="4" name="TextBox 3">
            <a:extLst>
              <a:ext uri="{FF2B5EF4-FFF2-40B4-BE49-F238E27FC236}">
                <a16:creationId xmlns:a16="http://schemas.microsoft.com/office/drawing/2014/main" id="{EACE47BA-2E7B-8DAB-322F-C5FBF9DC03D1}"/>
              </a:ext>
            </a:extLst>
          </p:cNvPr>
          <p:cNvSpPr txBox="1"/>
          <p:nvPr/>
        </p:nvSpPr>
        <p:spPr>
          <a:xfrm>
            <a:off x="463883" y="4202829"/>
            <a:ext cx="11183172" cy="1431161"/>
          </a:xfrm>
          <a:prstGeom prst="rect">
            <a:avLst/>
          </a:prstGeom>
          <a:noFill/>
        </p:spPr>
        <p:txBody>
          <a:bodyPr wrap="square">
            <a:spAutoFit/>
          </a:bodyPr>
          <a:lstStyle/>
          <a:p>
            <a:pPr algn="just">
              <a:spcBef>
                <a:spcPts val="18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2. SẢN PHẨM ĐƯỢC SẢN XUẤT VÀ TIÊU DÙNG ĐỒNG THỜI</a:t>
            </a:r>
          </a:p>
          <a:p>
            <a:pPr algn="just">
              <a:spcBef>
                <a:spcPts val="1800"/>
              </a:spcBef>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khách sạn được sản xuất và tiêu dùng cùng một lúc, tức là không có khoảng thời gian giữa việc tạo ra và sử dụng dịch vụ.</a:t>
            </a:r>
          </a:p>
        </p:txBody>
      </p:sp>
    </p:spTree>
    <p:extLst>
      <p:ext uri="{BB962C8B-B14F-4D97-AF65-F5344CB8AC3E}">
        <p14:creationId xmlns:p14="http://schemas.microsoft.com/office/powerpoint/2010/main" val="115972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D79CE1-B36F-27D3-386B-474CEE1C16D8}"/>
              </a:ext>
            </a:extLst>
          </p:cNvPr>
          <p:cNvSpPr txBox="1"/>
          <p:nvPr/>
        </p:nvSpPr>
        <p:spPr>
          <a:xfrm>
            <a:off x="474695" y="1531397"/>
            <a:ext cx="11242610" cy="3795206"/>
          </a:xfrm>
          <a:prstGeom prst="rect">
            <a:avLst/>
          </a:prstGeom>
          <a:noFill/>
        </p:spPr>
        <p:txBody>
          <a:bodyPr wrap="square">
            <a:spAutoFit/>
          </a:bodyPr>
          <a:lstStyle/>
          <a:p>
            <a:pPr lvl="0" algn="just">
              <a:lnSpc>
                <a:spcPct val="115000"/>
              </a:lnSpc>
              <a:spcAft>
                <a:spcPts val="800"/>
              </a:spcAft>
            </a:pP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3. SỰ THAM GIA CỦA KHÁCH HÀNG TRONG QUÁ TRÌNH TẠO RA DỊCH VỤ</a:t>
            </a:r>
            <a:r>
              <a:rPr lang="vi-VN" sz="2400" b="1" kern="100"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hàng đóng vai trò tích cực trong quá trình cung cấp dịch vụ, ảnh hưởng đến chất lượng và trải nghiệm dịch vụ.</a:t>
            </a:r>
            <a:r>
              <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algn="just">
              <a:spcBef>
                <a:spcPts val="18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 SẢN PHẨM CỦA KHÁCH SẠN THƯỜNG ĐƯỢC CUNG CẤP THEO GÓI DỊCH VỤ</a:t>
            </a:r>
          </a:p>
          <a:p>
            <a:pPr algn="just">
              <a:spcBef>
                <a:spcPts val="1800"/>
              </a:spcBef>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 sạn thường cung cấp một loạt các dịch vụ kết hợp, từ chỗ ở, ăn uống đến các tiện ích giải trí, tạo nên một gói dịch vụ tổng thể.</a:t>
            </a:r>
          </a:p>
          <a:p>
            <a:pPr lvl="0" algn="just">
              <a:lnSpc>
                <a:spcPct val="115000"/>
              </a:lnSpc>
              <a:spcAft>
                <a:spcPts val="800"/>
              </a:spcAft>
            </a:pPr>
            <a:endParaRPr lang="en-US" sz="24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038941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9D00CA-B30A-7D7A-8AA1-FD4B8EE4A6CD}"/>
              </a:ext>
            </a:extLst>
          </p:cNvPr>
          <p:cNvSpPr txBox="1"/>
          <p:nvPr/>
        </p:nvSpPr>
        <p:spPr>
          <a:xfrm>
            <a:off x="424873" y="1006038"/>
            <a:ext cx="9970983" cy="584775"/>
          </a:xfrm>
          <a:prstGeom prst="rect">
            <a:avLst/>
          </a:prstGeom>
          <a:noFill/>
        </p:spPr>
        <p:txBody>
          <a:bodyPr wrap="square">
            <a:spAutoFit/>
          </a:bodyPr>
          <a:lstStyle/>
          <a:p>
            <a:r>
              <a:rPr lang="nl-NL"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3. PHÂN LOẠI VÀ XẾP HẠNG KHÁCH SẠN</a:t>
            </a:r>
            <a:endPar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771D00B4-BD6A-E877-8EA9-DCD10A2F7D9C}"/>
              </a:ext>
            </a:extLst>
          </p:cNvPr>
          <p:cNvSpPr txBox="1"/>
          <p:nvPr/>
        </p:nvSpPr>
        <p:spPr>
          <a:xfrm>
            <a:off x="785091" y="2364667"/>
            <a:ext cx="10534401" cy="2308324"/>
          </a:xfrm>
          <a:prstGeom prst="rect">
            <a:avLst/>
          </a:prstGeom>
          <a:noFill/>
        </p:spPr>
        <p:txBody>
          <a:bodyPr wrap="square">
            <a:spAutoFit/>
          </a:bodyPr>
          <a:lstStyle/>
          <a:p>
            <a:pPr marL="342900" indent="-34290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theo quy mô</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theo vị trí địa lý</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theo thị trường mục tiêu</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theo mức độ cung ứng dịch vụ</a:t>
            </a:r>
          </a:p>
          <a:p>
            <a:pPr marL="342900" indent="-34290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theo hình thức sở hữu</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theo hình thức liên kết</a:t>
            </a:r>
          </a:p>
        </p:txBody>
      </p:sp>
      <p:sp>
        <p:nvSpPr>
          <p:cNvPr id="7" name="TextBox 6">
            <a:extLst>
              <a:ext uri="{FF2B5EF4-FFF2-40B4-BE49-F238E27FC236}">
                <a16:creationId xmlns:a16="http://schemas.microsoft.com/office/drawing/2014/main" id="{A5A875B8-9E4C-25D3-321B-C983C5499C38}"/>
              </a:ext>
            </a:extLst>
          </p:cNvPr>
          <p:cNvSpPr txBox="1"/>
          <p:nvPr/>
        </p:nvSpPr>
        <p:spPr>
          <a:xfrm>
            <a:off x="581891" y="1562242"/>
            <a:ext cx="7730835" cy="830997"/>
          </a:xfrm>
          <a:prstGeom prst="rect">
            <a:avLst/>
          </a:prstGeom>
          <a:noFill/>
        </p:spPr>
        <p:txBody>
          <a:bodyPr wrap="square">
            <a:spAutoFit/>
          </a:bodyPr>
          <a:lstStyle/>
          <a:p>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CÁCH PHÂN LOẠI KHÁCH CỦA KHÁCH SẠN, </a:t>
            </a:r>
            <a:endPar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 KHÁC NHAU </a:t>
            </a:r>
            <a:r>
              <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VỀ </a:t>
            </a:r>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CÁCH PHÂN LOẠI </a:t>
            </a:r>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254523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BD0E8F-4092-C5C8-44B7-705B7E5B6808}"/>
              </a:ext>
            </a:extLst>
          </p:cNvPr>
          <p:cNvSpPr txBox="1"/>
          <p:nvPr/>
        </p:nvSpPr>
        <p:spPr>
          <a:xfrm>
            <a:off x="516610" y="1466037"/>
            <a:ext cx="11158779" cy="4339650"/>
          </a:xfrm>
          <a:prstGeom prst="rect">
            <a:avLst/>
          </a:prstGeom>
          <a:noFill/>
        </p:spPr>
        <p:txBody>
          <a:bodyPr wrap="square">
            <a:spAutoFit/>
          </a:bodyPr>
          <a:lstStyle/>
          <a:p>
            <a:pPr>
              <a:spcBef>
                <a:spcPts val="18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 KHÁC NHAU TRONG CÁCH PHÂN LOẠI:</a:t>
            </a:r>
            <a:endParaRPr lang="vi-VN" sz="2400"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8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KINH DOANH: Phân loại theo thị trường mục tiêu giúp xác định đối tượng khách hàng và các dịch vụ cần cung cấp.</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8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VỊ TRÍ: Phân loại theo vị trí địa lý giúp khách sạn tối ưu hóa chiến lược marketing và dịch vụ phù hợp với khách hàng.</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800"/>
              </a:spcBef>
              <a:buFont typeface="Wingdings" panose="05000000000000000000" pitchFamily="2" charset="2"/>
              <a:buChar char="q"/>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IỆN NGHI VÀ DỊCH VỤ: Phân loại theo mức độ cung ứng dịch vụ giúp khách hàng dễ dàng lựa chọn khách sạn phù hợp với nhu cầu và ngân sách.</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8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HÌNH THỨC SỞ HỮU VÀ LIÊN KẾT: Phân loại này giúp xác định mô hình quản lý và chiến lược kinh doanh của khách sạn.</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607921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3A2177-92F8-9DE6-560A-60DACCA54996}"/>
              </a:ext>
            </a:extLst>
          </p:cNvPr>
          <p:cNvSpPr txBox="1"/>
          <p:nvPr/>
        </p:nvSpPr>
        <p:spPr>
          <a:xfrm>
            <a:off x="232382" y="1058175"/>
            <a:ext cx="11488563" cy="954107"/>
          </a:xfrm>
          <a:prstGeom prst="rect">
            <a:avLst/>
          </a:prstGeom>
          <a:noFill/>
        </p:spPr>
        <p:txBody>
          <a:bodyPr wrap="square">
            <a:spAutoFit/>
          </a:bodyPr>
          <a:lstStyle/>
          <a:p>
            <a:pPr algn="ctr"/>
            <a:r>
              <a:rPr lang="vi-VN"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THỦ TỤC XẾP HẠNG CƠ SỞ LƯU TRÚ DU LỊCH TỪ 1 ĐẾN 5 SAO TẠI VIỆT NAM:</a:t>
            </a:r>
          </a:p>
        </p:txBody>
      </p:sp>
      <p:sp>
        <p:nvSpPr>
          <p:cNvPr id="5" name="TextBox 4">
            <a:extLst>
              <a:ext uri="{FF2B5EF4-FFF2-40B4-BE49-F238E27FC236}">
                <a16:creationId xmlns:a16="http://schemas.microsoft.com/office/drawing/2014/main" id="{0FF25F55-DD54-A6D7-9067-11A791A45C5B}"/>
              </a:ext>
            </a:extLst>
          </p:cNvPr>
          <p:cNvSpPr txBox="1"/>
          <p:nvPr/>
        </p:nvSpPr>
        <p:spPr>
          <a:xfrm>
            <a:off x="232382" y="2121139"/>
            <a:ext cx="11727236" cy="4401205"/>
          </a:xfrm>
          <a:prstGeom prst="rect">
            <a:avLst/>
          </a:prstGeom>
          <a:noFill/>
        </p:spPr>
        <p:txBody>
          <a:bodyPr wrap="square">
            <a:spAutoFit/>
          </a:bodyPr>
          <a:lstStyle/>
          <a:p>
            <a:pPr algn="just">
              <a:spcBef>
                <a:spcPts val="1200"/>
              </a:spcBef>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 xếp hạng cơ sở lưu trú du lịch tại Việt Nam được thực hiện theo quy định của Tổng cục Du lịch. Các bước thủ tục cơ bản bao gồm:</a:t>
            </a:r>
          </a:p>
          <a:p>
            <a:pPr algn="just">
              <a:spcBef>
                <a:spcPts val="1200"/>
              </a:spcBef>
              <a:buFont typeface="+mj-lt"/>
              <a:buAutoNum type="arabicPeriod"/>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Nộp hồ sơ đề nghị xếp hạng: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Hồ sơ bao gồm đơn đề nghị, giấy phép kinh doanh, sơ đồ mặt bằng và thiết kế nội thất, danh sách trang thiết bị và dịch vụ cung cấp, v.v.</a:t>
            </a:r>
          </a:p>
          <a:p>
            <a:pPr algn="just">
              <a:spcBef>
                <a:spcPts val="1200"/>
              </a:spcBef>
              <a:buFont typeface="+mj-lt"/>
              <a:buAutoNum type="arabicPeriod"/>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Thẩm định tại chỗ:</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 quan có thẩm quyền sẽ tiến hành kiểm tra thực tế tại cơ sở lưu trú để đánh giá chất lượng dịch vụ và cơ sở vật chất.</a:t>
            </a:r>
          </a:p>
          <a:p>
            <a:pPr algn="just">
              <a:spcBef>
                <a:spcPts val="1200"/>
              </a:spcBef>
              <a:buFont typeface="+mj-lt"/>
              <a:buAutoNum type="arabicPeriod"/>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Ra quyết định xếp hạng: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Dựa trên kết quả thẩm định, cơ quan chức năng sẽ ra quyết định công nhận và cấp giấy chứng nhận xếp hạng sao cho cơ sở lưu trú.</a:t>
            </a:r>
          </a:p>
          <a:p>
            <a:pPr algn="just">
              <a:spcBef>
                <a:spcPts val="1200"/>
              </a:spcBef>
              <a:buFont typeface="+mj-lt"/>
              <a:buAutoNum type="arabicPeriod"/>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 bố xếp hạng: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Sau khi có quyết định xếp hạng, cơ sở lưu trú sẽ công bố xếp hạng sao trên các phương tiện truyền thông và trong hoạt động kinh doanh.</a:t>
            </a:r>
            <a:endParaRPr lang="vi-VN"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438932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17046D-2BBD-F7F2-A69B-05B675070010}"/>
              </a:ext>
            </a:extLst>
          </p:cNvPr>
          <p:cNvSpPr txBox="1"/>
          <p:nvPr/>
        </p:nvSpPr>
        <p:spPr>
          <a:xfrm>
            <a:off x="346128" y="1856510"/>
            <a:ext cx="5749872" cy="4416594"/>
          </a:xfrm>
          <a:prstGeom prst="rect">
            <a:avLst/>
          </a:prstGeom>
          <a:noFill/>
        </p:spPr>
        <p:txBody>
          <a:bodyPr wrap="square">
            <a:spAutoFit/>
          </a:bodyPr>
          <a:lstStyle/>
          <a:p>
            <a:pPr marL="342900" indent="-342900" algn="just">
              <a:lnSpc>
                <a:spcPct val="106000"/>
              </a:lnSpc>
              <a:spcBef>
                <a:spcPts val="600"/>
              </a:spcBef>
              <a:spcAft>
                <a:spcPts val="600"/>
              </a:spcAft>
              <a:buFont typeface="Wingdings" panose="05000000000000000000" pitchFamily="2" charset="2"/>
              <a:buChar char="q"/>
            </a:pPr>
            <a:r>
              <a:rPr lang="vi-VN" sz="20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VỊ TRÍ: </a:t>
            </a:r>
            <a:r>
              <a:rPr lang="vi-VN" sz="20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xây dựng cách bệnh viện, trường học ít nhất 100 mét căn cứ vào ranh giới giữa hai cơ sở; không được nằm trong hoặc liền kề khu vực quốc phòng, an ninh và các mục tiêu cần được bảo vệ theo quy định hiện hành. </a:t>
            </a:r>
            <a:endParaRPr lang="en-US" sz="20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600"/>
              </a:spcBef>
              <a:buFont typeface="Wingdings" panose="05000000000000000000" pitchFamily="2" charset="2"/>
              <a:buChar char="q"/>
            </a:pPr>
            <a:r>
              <a:rPr lang="vi-VN" sz="2000" b="1"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 KẾ KIẾN TRÚC</a:t>
            </a:r>
            <a:r>
              <a:rPr lang="vi-VN" sz="20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phù hợp với yêu cầu kinh doanh, các khu vực dịch vụ được bố trí hợp lý, thuận tiện</a:t>
            </a:r>
            <a:endParaRPr lang="en-US" sz="2000" kern="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600"/>
              </a:spcBef>
              <a:buFont typeface="Wingdings" panose="05000000000000000000" pitchFamily="2" charset="2"/>
              <a:buChar char="q"/>
            </a:pPr>
            <a:r>
              <a:rPr lang="vi-VN" sz="20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 THỐNG ĐIỆN</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độ chiếu sáng đảm bảo theo yêu cầu của từng khu vực; đèn cấp cứu để đề phòng khi có sự cố xảy ra; cung cấp điện đầy đủ 24/24 giờ cho sinh hoạt và phục vụ. </a:t>
            </a:r>
          </a:p>
        </p:txBody>
      </p:sp>
      <p:sp>
        <p:nvSpPr>
          <p:cNvPr id="6" name="TextBox 5">
            <a:extLst>
              <a:ext uri="{FF2B5EF4-FFF2-40B4-BE49-F238E27FC236}">
                <a16:creationId xmlns:a16="http://schemas.microsoft.com/office/drawing/2014/main" id="{6FE05B60-980E-E801-9027-3217F6F70453}"/>
              </a:ext>
            </a:extLst>
          </p:cNvPr>
          <p:cNvSpPr txBox="1"/>
          <p:nvPr/>
        </p:nvSpPr>
        <p:spPr>
          <a:xfrm>
            <a:off x="474543" y="1116801"/>
            <a:ext cx="10079157" cy="523220"/>
          </a:xfrm>
          <a:prstGeom prst="rect">
            <a:avLst/>
          </a:prstGeom>
          <a:noFill/>
        </p:spPr>
        <p:txBody>
          <a:bodyPr wrap="square" rtlCol="0">
            <a:spAutoFit/>
          </a:bodyPr>
          <a:lstStyle/>
          <a:p>
            <a:r>
              <a:rPr lang="en-US" sz="28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NỘI DUNG THẨM ĐỊNH CHI TIẾT NHƯ SAU:</a:t>
            </a:r>
          </a:p>
        </p:txBody>
      </p:sp>
      <p:sp>
        <p:nvSpPr>
          <p:cNvPr id="8" name="TextBox 7">
            <a:extLst>
              <a:ext uri="{FF2B5EF4-FFF2-40B4-BE49-F238E27FC236}">
                <a16:creationId xmlns:a16="http://schemas.microsoft.com/office/drawing/2014/main" id="{4E5B2430-1135-D685-3F21-F4566FDC58C0}"/>
              </a:ext>
            </a:extLst>
          </p:cNvPr>
          <p:cNvSpPr txBox="1"/>
          <p:nvPr/>
        </p:nvSpPr>
        <p:spPr>
          <a:xfrm>
            <a:off x="6297481" y="1856510"/>
            <a:ext cx="5548391" cy="4785926"/>
          </a:xfrm>
          <a:prstGeom prst="rect">
            <a:avLst/>
          </a:prstGeom>
          <a:noFill/>
        </p:spPr>
        <p:txBody>
          <a:bodyPr wrap="square">
            <a:spAutoFit/>
          </a:bodyPr>
          <a:lstStyle/>
          <a:p>
            <a:pPr marL="342900" indent="-342900" algn="just">
              <a:spcBef>
                <a:spcPts val="600"/>
              </a:spcBef>
              <a:buFont typeface="Wingdings" panose="05000000000000000000" pitchFamily="2" charset="2"/>
              <a:buChar char="q"/>
            </a:pPr>
            <a:r>
              <a:rPr lang="vi-VN" sz="2000" b="1" kern="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 THỐNG NƯỚC</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nước đủ cho sinh hoạt và phòng cháy, chữa cháy 24/24</a:t>
            </a:r>
            <a:r>
              <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giờ; cấp nước nóng: 24/24 giờ; hệ thống xử lý nước thải và chất thải, đảm bảo tiêu chuẩn về vệ sinh môi trường. </a:t>
            </a:r>
            <a:endPar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buFont typeface="Wingdings" panose="05000000000000000000" pitchFamily="2" charset="2"/>
              <a:buChar char="q"/>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TRANG THIẾT BỊ PHÒNG CHÁY, CHỮA CHÁY</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Có hệ thống báo cứu hỏa và phương tiện phòng cháy, chữa cháy. </a:t>
            </a:r>
          </a:p>
          <a:p>
            <a:pPr marL="342900" indent="-342900" algn="just">
              <a:spcBef>
                <a:spcPts val="600"/>
              </a:spcBef>
              <a:buFont typeface="Wingdings" panose="05000000000000000000" pitchFamily="2" charset="2"/>
              <a:buChar char="q"/>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 VỆ SINH CÔNG CỘNG</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có trang bị máy hơ tay, hoặc khăn tay, giấy lau tay. </a:t>
            </a:r>
          </a:p>
          <a:p>
            <a:pPr marL="342900" indent="-342900" algn="just">
              <a:spcBef>
                <a:spcPts val="600"/>
              </a:spcBef>
              <a:buFont typeface="Wingdings" panose="05000000000000000000" pitchFamily="2" charset="2"/>
              <a:buChar char="q"/>
            </a:pP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 VỤ VÀ MỨC ĐỘ PHỤC VỤ: </a:t>
            </a:r>
          </a:p>
          <a:p>
            <a:pPr marL="279400">
              <a:spcBef>
                <a:spcPts val="600"/>
              </a:spcBef>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dịch vụ được quy định theo từng hạng khách sạn và phải luôn sẵn sàng phục vụ. </a:t>
            </a:r>
          </a:p>
          <a:p>
            <a:pPr>
              <a:spcBef>
                <a:spcPts val="600"/>
              </a:spcBef>
            </a:pPr>
            <a:endParaRPr lang="vi-VN" sz="2000" u="sng"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174563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B300AE0-79B7-A963-9243-577632B1AAD1}"/>
              </a:ext>
            </a:extLst>
          </p:cNvPr>
          <p:cNvSpPr txBox="1"/>
          <p:nvPr/>
        </p:nvSpPr>
        <p:spPr>
          <a:xfrm>
            <a:off x="359875" y="1353690"/>
            <a:ext cx="11472250" cy="4893647"/>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q"/>
            </a:pPr>
            <a:r>
              <a:rPr lang="vi-VN" sz="22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 NGHIỆP VỤ: </a:t>
            </a:r>
            <a:r>
              <a:rPr lang="vi-VN"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 người quản lý khách sạn và nhân viên phục vụ phải qua đào tạo và bố trí theo đúng nghiệp vụ chuyên môn. </a:t>
            </a:r>
            <a:endParaRPr lang="en-US"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spcAft>
                <a:spcPts val="600"/>
              </a:spcAft>
              <a:buFont typeface="Wingdings" panose="05000000000000000000" pitchFamily="2" charset="2"/>
              <a:buChar char="q"/>
            </a:pPr>
            <a:r>
              <a:rPr lang="vi-VN" sz="22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 SỨC KHỎE</a:t>
            </a:r>
            <a:r>
              <a:rPr lang="vi-VN"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những nhân viên phục vụ phải qua kiểm tra sức khỏe (có </a:t>
            </a:r>
            <a:r>
              <a:rPr lang="en-US"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GCN</a:t>
            </a:r>
            <a:r>
              <a:rPr lang="vi-VN"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spcAft>
                <a:spcPts val="600"/>
              </a:spcAft>
              <a:buFont typeface="Wingdings" panose="05000000000000000000" pitchFamily="2" charset="2"/>
              <a:buChar char="q"/>
            </a:pPr>
            <a:r>
              <a:rPr lang="vi-VN" sz="22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 TRANG PHỤC</a:t>
            </a:r>
            <a:r>
              <a:rPr lang="vi-VN"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những người quản lý khách sạn và nhân viên phục vụ phải mặc đồng phục đúng theo quy định của khách sạn đối với từng chức danh và từng bộ phận dịch vụ trong thời gian làm việc tại khách sạn. </a:t>
            </a:r>
            <a:endParaRPr lang="en-US"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spcAft>
                <a:spcPts val="600"/>
              </a:spcAft>
              <a:buFont typeface="Wingdings" panose="05000000000000000000" pitchFamily="2" charset="2"/>
              <a:buChar char="q"/>
            </a:pPr>
            <a:r>
              <a:rPr lang="vi-VN" sz="22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 SINH MÔI TRƯỜNG, </a:t>
            </a:r>
            <a:r>
              <a:rPr lang="vi-VN"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cảnh quan xung quanh khách sạn. </a:t>
            </a:r>
            <a:endParaRPr lang="en-US"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spcAft>
                <a:spcPts val="600"/>
              </a:spcAft>
              <a:buFont typeface="Wingdings" panose="05000000000000000000" pitchFamily="2" charset="2"/>
              <a:buChar char="q"/>
            </a:pPr>
            <a:r>
              <a:rPr lang="vi-VN" sz="22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 SINH CÁC KHU VỰC </a:t>
            </a:r>
            <a:r>
              <a:rPr lang="vi-VN"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 khách sạn. </a:t>
            </a:r>
            <a:endParaRPr lang="en-US"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spcAft>
                <a:spcPts val="600"/>
              </a:spcAft>
              <a:buFont typeface="Wingdings" panose="05000000000000000000" pitchFamily="2" charset="2"/>
              <a:buChar char="q"/>
            </a:pPr>
            <a:r>
              <a:rPr lang="vi-VN" sz="22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 SINH TRANG THIẾT BỊ, </a:t>
            </a:r>
            <a:r>
              <a:rPr lang="vi-VN"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dụng cụ phục vụ khách. </a:t>
            </a:r>
            <a:endParaRPr lang="en-US"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spcAft>
                <a:spcPts val="600"/>
              </a:spcAft>
              <a:buFont typeface="Wingdings" panose="05000000000000000000" pitchFamily="2" charset="2"/>
              <a:buChar char="q"/>
            </a:pPr>
            <a:r>
              <a:rPr lang="vi-VN" sz="22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 SINH THỰC PHẨM</a:t>
            </a:r>
            <a:r>
              <a:rPr lang="vi-VN"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spcAft>
                <a:spcPts val="600"/>
              </a:spcAft>
              <a:buFont typeface="Wingdings" panose="05000000000000000000" pitchFamily="2" charset="2"/>
              <a:buChar char="q"/>
            </a:pPr>
            <a:r>
              <a:rPr lang="vi-VN" sz="22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 SINH CÁ NHÂN </a:t>
            </a:r>
            <a:r>
              <a:rPr lang="vi-VN"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(đối với nhân viên phục vụ).</a:t>
            </a:r>
            <a:endParaRPr lang="en-US" sz="22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566092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284F3F-9BAE-BAC0-9A1E-B97C43676ABE}"/>
              </a:ext>
            </a:extLst>
          </p:cNvPr>
          <p:cNvSpPr txBox="1"/>
          <p:nvPr/>
        </p:nvSpPr>
        <p:spPr>
          <a:xfrm>
            <a:off x="304800" y="1075166"/>
            <a:ext cx="11563927" cy="830997"/>
          </a:xfrm>
          <a:prstGeom prst="rect">
            <a:avLst/>
          </a:prstGeom>
          <a:noFill/>
        </p:spPr>
        <p:txBody>
          <a:bodyPr wrap="square">
            <a:spAutoFit/>
          </a:bodyPr>
          <a:lstStyle/>
          <a:p>
            <a:pPr algn="ctr"/>
            <a:r>
              <a:rPr lang="en-US"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YÊU CẦU CHUNG ĐỂ XẾP HẠNG KHÁCH SẠN THEO TIÊU CHUẨN XẾP HẠNG KHÁCH SẠN VIỆT NAM (TCVN 4391:2015):</a:t>
            </a:r>
            <a:endParaRPr lang="vi-VN" sz="2400" b="1" dirty="0">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Rectangle 2">
            <a:extLst>
              <a:ext uri="{FF2B5EF4-FFF2-40B4-BE49-F238E27FC236}">
                <a16:creationId xmlns:a16="http://schemas.microsoft.com/office/drawing/2014/main" id="{992141BE-1934-394F-3289-C73056D59535}"/>
              </a:ext>
            </a:extLst>
          </p:cNvPr>
          <p:cNvSpPr>
            <a:spLocks noChangeArrowheads="1"/>
          </p:cNvSpPr>
          <p:nvPr/>
        </p:nvSpPr>
        <p:spPr bwMode="auto">
          <a:xfrm>
            <a:off x="185981" y="2160032"/>
            <a:ext cx="506093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sở</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chất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eaLnBrk="0" fontAlgn="base" hangingPunct="0">
              <a:spcAft>
                <a:spcPct val="0"/>
              </a:spcAft>
              <a:buFontTx/>
              <a:buChar char="•"/>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mô</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chất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ngủ</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lvl="1" eaLnBrk="0" fontAlgn="base" hangingPunct="0">
              <a:spcAft>
                <a:spcPct val="0"/>
              </a:spcAft>
              <a:buFontTx/>
              <a:buChar char="•"/>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ích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hòa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tv, internet.</a:t>
            </a:r>
          </a:p>
          <a:p>
            <a:pPr marL="342900" marR="0" lvl="0" indent="-342900" algn="l" defTabSz="914400" rtl="0" eaLnBrk="0" fontAlgn="base" latinLnBrk="0" hangingPunct="0">
              <a:lnSpc>
                <a:spcPct val="100000"/>
              </a:lnSpc>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eaLnBrk="0" fontAlgn="base" hangingPunct="0">
              <a:spcAft>
                <a:spcPct val="0"/>
              </a:spcAft>
              <a:buFontTx/>
              <a:buChar char="•"/>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lễ</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hỗ</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lvl="1" eaLnBrk="0" fontAlgn="base" hangingPunct="0">
              <a:spcAft>
                <a:spcPct val="0"/>
              </a:spcAft>
              <a:buFontTx/>
              <a:buChar char="•"/>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ứng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yêu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
        <p:nvSpPr>
          <p:cNvPr id="7" name="TextBox 6">
            <a:extLst>
              <a:ext uri="{FF2B5EF4-FFF2-40B4-BE49-F238E27FC236}">
                <a16:creationId xmlns:a16="http://schemas.microsoft.com/office/drawing/2014/main" id="{41858B0F-5BC2-1227-572A-7FE2087E6658}"/>
              </a:ext>
            </a:extLst>
          </p:cNvPr>
          <p:cNvSpPr txBox="1"/>
          <p:nvPr/>
        </p:nvSpPr>
        <p:spPr>
          <a:xfrm>
            <a:off x="5137134" y="2087744"/>
            <a:ext cx="6868885" cy="4154984"/>
          </a:xfrm>
          <a:prstGeom prst="rect">
            <a:avLst/>
          </a:prstGeom>
          <a:noFill/>
        </p:spPr>
        <p:txBody>
          <a:bodyPr wrap="square">
            <a:spAutoFit/>
          </a:bodyPr>
          <a:lstStyle/>
          <a:p>
            <a:pPr marL="342900" marR="0" lvl="0" indent="-342900" algn="just" defTabSz="914400" rtl="0" eaLnBrk="0" fontAlgn="base" latinLnBrk="0" hangingPunct="0">
              <a:lnSpc>
                <a:spcPct val="100000"/>
              </a:lnSpc>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eaLnBrk="0" fontAlgn="base" hangingPunct="0">
              <a:spcAft>
                <a:spcPct val="0"/>
              </a:spcAft>
              <a:buFontTx/>
              <a:buChar char="•"/>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chuyên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môn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ngũ</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lvl="1" algn="just" eaLnBrk="0" fontAlgn="base" hangingPunct="0">
              <a:spcAft>
                <a:spcPct val="0"/>
              </a:spcAft>
              <a:buFontTx/>
              <a:buChar char="•"/>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Chất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toàn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an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ninh</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cháy</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chữa</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cháy</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biện</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pháp</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bảo</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an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toàn</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altLang="en-US" sz="2400"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Aft>
                <a:spcPct val="0"/>
              </a:spcAft>
              <a:buClrTx/>
              <a:buSzTx/>
              <a:buFont typeface="Wingdings" panose="05000000000000000000" pitchFamily="2" charset="2"/>
              <a:buChar char="q"/>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eaLnBrk="0" fontAlgn="base" hangingPunct="0">
              <a:spcAft>
                <a:spcPct val="0"/>
              </a:spcAft>
              <a:buFontTx/>
              <a:buChar char="•"/>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KS</a:t>
            </a:r>
            <a:endPar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eaLnBrk="0" fontAlgn="base" hangingPunct="0">
              <a:spcAft>
                <a:spcPct val="0"/>
              </a:spcAft>
              <a:buFontTx/>
              <a:buChar char="•"/>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môi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trường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vững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2082746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569F90-4531-D6A8-C098-3BD3B9419D34}"/>
              </a:ext>
            </a:extLst>
          </p:cNvPr>
          <p:cNvSpPr txBox="1"/>
          <p:nvPr/>
        </p:nvSpPr>
        <p:spPr>
          <a:xfrm>
            <a:off x="286256" y="1073804"/>
            <a:ext cx="9171489" cy="584775"/>
          </a:xfrm>
          <a:prstGeom prst="rect">
            <a:avLst/>
          </a:prstGeom>
          <a:noFill/>
        </p:spPr>
        <p:txBody>
          <a:bodyPr wrap="square">
            <a:spAutoFit/>
          </a:bodyPr>
          <a:lstStyle/>
          <a:p>
            <a:r>
              <a:rPr lang="nl-NL" sz="3200" b="1" dirty="0">
                <a:solidFill>
                  <a:srgbClr val="FF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 CƠ CẤU TỔ CHỨC CỦA KHÁCH SẠN</a:t>
            </a:r>
            <a:endParaRPr lang="vi-VN"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0BE9A298-9896-4B4D-B948-A8FBED5F7B13}"/>
              </a:ext>
            </a:extLst>
          </p:cNvPr>
          <p:cNvSpPr txBox="1"/>
          <p:nvPr/>
        </p:nvSpPr>
        <p:spPr>
          <a:xfrm>
            <a:off x="331276" y="1759310"/>
            <a:ext cx="10217257" cy="461665"/>
          </a:xfrm>
          <a:prstGeom prst="rect">
            <a:avLst/>
          </a:prstGeom>
          <a:noFill/>
        </p:spPr>
        <p:txBody>
          <a:bodyPr wrap="square">
            <a:spAutoFit/>
          </a:bodyPr>
          <a:lstStyle/>
          <a:p>
            <a:r>
              <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4.1. </a:t>
            </a:r>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ĐẶC ĐIỂM KINH DOANH KHÁCH SẠN </a:t>
            </a:r>
            <a:endParaRPr lang="nl-NL"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43FF18A1-C99C-ABC0-B982-14D811E52481}"/>
              </a:ext>
            </a:extLst>
          </p:cNvPr>
          <p:cNvSpPr txBox="1"/>
          <p:nvPr/>
        </p:nvSpPr>
        <p:spPr>
          <a:xfrm>
            <a:off x="314209" y="2483991"/>
            <a:ext cx="11529448" cy="2893100"/>
          </a:xfrm>
          <a:prstGeom prst="rect">
            <a:avLst/>
          </a:prstGeom>
          <a:noFill/>
        </p:spPr>
        <p:txBody>
          <a:bodyPr wrap="square">
            <a:spAutoFit/>
          </a:bodyPr>
          <a:lstStyle/>
          <a:p>
            <a:pPr marL="342900" indent="-342900" algn="just">
              <a:spcBef>
                <a:spcPts val="1200"/>
              </a:spcBef>
              <a:buFont typeface="Wingdings" panose="05000000000000000000" pitchFamily="2" charset="2"/>
              <a:buChar char="q"/>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PHỤ THUỘC VÀO TÀI NGUYÊN DU LỊCH</a:t>
            </a:r>
            <a:endPar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ĐÒI HỎI DUNG LƯỢNG VỐN ĐẦU TƯ LỚN</a:t>
            </a:r>
            <a:endPar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ĐÒI HỎI DUNG LƯỢNG LAO ĐỘNG TRỰC TIẾP TƯƠNG ĐỐI LỚN</a:t>
            </a:r>
            <a:endPar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MANG TÍNH CHU KỲ VÀ THỜI VỤ</a:t>
            </a:r>
            <a:endPar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CÓ TÍNH TỔNG HỢP CAO</a:t>
            </a:r>
            <a:endParaRPr lang="en-US"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vi-VN" sz="2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ĐỐI TƯỢNG KHÁCH HÀNG ĐA DẠNG</a:t>
            </a:r>
            <a:endParaRPr lang="vi-VN" sz="2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504241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379A63-CD27-AD7D-89D6-697A3BF6D498}"/>
              </a:ext>
            </a:extLst>
          </p:cNvPr>
          <p:cNvSpPr txBox="1"/>
          <p:nvPr/>
        </p:nvSpPr>
        <p:spPr>
          <a:xfrm>
            <a:off x="422143" y="1464963"/>
            <a:ext cx="1038423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4.2. PHÂN TÍCH </a:t>
            </a:r>
            <a:r>
              <a:rPr kumimoji="0" lang="vi-VN"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Ý NGHĨA KINH DOANH KHÁCH SẠN</a:t>
            </a:r>
            <a:endParaRPr kumimoji="0" lang="en-US"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96C2B6D4-945E-97B2-09EA-832BC7ED2531}"/>
              </a:ext>
            </a:extLst>
          </p:cNvPr>
          <p:cNvSpPr txBox="1"/>
          <p:nvPr/>
        </p:nvSpPr>
        <p:spPr>
          <a:xfrm>
            <a:off x="422143" y="2204827"/>
            <a:ext cx="11023170" cy="3914213"/>
          </a:xfrm>
          <a:prstGeom prst="rect">
            <a:avLst/>
          </a:prstGeom>
          <a:noFill/>
        </p:spPr>
        <p:txBody>
          <a:bodyPr wrap="square">
            <a:spAutoFit/>
          </a:bodyPr>
          <a:lstStyle/>
          <a:p>
            <a:pPr marL="403225" indent="-403225" algn="just">
              <a:lnSpc>
                <a:spcPct val="115000"/>
              </a:lnSpc>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 sở vật chất kỹ thuật của khách sạn giữ vị trí quan trọng của ngành du lịch</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03225" indent="-403225" algn="just">
              <a:lnSpc>
                <a:spcPct val="115000"/>
              </a:lnSpc>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Phát triển kinh doanh khách sạn góp phần khai thác các tài nguyên du lịch và góp phần thúc đẩy kinh tế địa phương phát triển</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03225" indent="-403225" algn="just">
              <a:lnSpc>
                <a:spcPct val="115000"/>
              </a:lnSpc>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Sự phát triển kinh doanh khách sạn thúc đẩy các ngành kinh tế và góp phần thúc đẩy tăng trưởng GDP</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03225" indent="-403225" algn="just">
              <a:lnSpc>
                <a:spcPct val="115000"/>
              </a:lnSpc>
              <a:spcBef>
                <a:spcPts val="12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Kinh doanh khách sạn còn tạo điều kiện thuận lợi cho sự gặp gỡ giao lưu giữa mọi người từ mọi nơi, mọi quốc gia khác nhau trên thế giới. Điều này làm tăng ý nghĩa vì mục đích hòa bình hữu nghị và tính đại đoàn kết giữa các dân tộc</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539664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34097B-F659-9469-285B-104A94E4FE7F}"/>
              </a:ext>
            </a:extLst>
          </p:cNvPr>
          <p:cNvSpPr txBox="1"/>
          <p:nvPr/>
        </p:nvSpPr>
        <p:spPr>
          <a:xfrm>
            <a:off x="359748" y="1151553"/>
            <a:ext cx="9299642" cy="461665"/>
          </a:xfrm>
          <a:prstGeom prst="rect">
            <a:avLst/>
          </a:prstGeom>
          <a:noFill/>
        </p:spPr>
        <p:txBody>
          <a:bodyPr wrap="square">
            <a:spAutoFit/>
          </a:bodyPr>
          <a:lstStyle/>
          <a:p>
            <a:r>
              <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4.3. </a:t>
            </a:r>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CÁC LĨNH VỰC KINH DOANH TRONG KHÁCH SẠN</a:t>
            </a:r>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aphicFrame>
        <p:nvGraphicFramePr>
          <p:cNvPr id="7" name="Table 6">
            <a:extLst>
              <a:ext uri="{FF2B5EF4-FFF2-40B4-BE49-F238E27FC236}">
                <a16:creationId xmlns:a16="http://schemas.microsoft.com/office/drawing/2014/main" id="{3A35961A-9137-FC26-1C42-C0FDDE4EEDAE}"/>
              </a:ext>
            </a:extLst>
          </p:cNvPr>
          <p:cNvGraphicFramePr>
            <a:graphicFrameLocks noGrp="1"/>
          </p:cNvGraphicFramePr>
          <p:nvPr>
            <p:extLst>
              <p:ext uri="{D42A27DB-BD31-4B8C-83A1-F6EECF244321}">
                <p14:modId xmlns:p14="http://schemas.microsoft.com/office/powerpoint/2010/main" val="501317416"/>
              </p:ext>
            </p:extLst>
          </p:nvPr>
        </p:nvGraphicFramePr>
        <p:xfrm>
          <a:off x="719497" y="2065600"/>
          <a:ext cx="11251301" cy="2726800"/>
        </p:xfrm>
        <a:graphic>
          <a:graphicData uri="http://schemas.openxmlformats.org/drawingml/2006/table">
            <a:tbl>
              <a:tblPr firstRow="1" firstCol="1" bandRow="1"/>
              <a:tblGrid>
                <a:gridCol w="11251301">
                  <a:extLst>
                    <a:ext uri="{9D8B030D-6E8A-4147-A177-3AD203B41FA5}">
                      <a16:colId xmlns:a16="http://schemas.microsoft.com/office/drawing/2014/main" val="1705342123"/>
                    </a:ext>
                  </a:extLst>
                </a:gridCol>
              </a:tblGrid>
              <a:tr h="2224738">
                <a:tc>
                  <a:txBody>
                    <a:bodyPr/>
                    <a:lstStyle/>
                    <a:p>
                      <a:pPr marL="457200" indent="-457200">
                        <a:lnSpc>
                          <a:spcPct val="130000"/>
                        </a:lnSpc>
                        <a:spcBef>
                          <a:spcPts val="300"/>
                        </a:spcBef>
                        <a:buFont typeface="Wingdings" panose="05000000000000000000" pitchFamily="2" charset="2"/>
                        <a:buChar char="q"/>
                      </a:pPr>
                      <a:r>
                        <a:rPr lang="vi-VN"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 DOANH LƯU TRÚ</a:t>
                      </a:r>
                      <a:endParaRPr lang="en-US" sz="24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indent="-514350">
                        <a:lnSpc>
                          <a:spcPct val="130000"/>
                        </a:lnSpc>
                        <a:spcBef>
                          <a:spcPts val="300"/>
                        </a:spcBef>
                        <a:buFont typeface="Wingdings" panose="05000000000000000000" pitchFamily="2" charset="2"/>
                        <a:buChar char="q"/>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 DOANH DỊCH VỤ BỔ SUNG</a:t>
                      </a:r>
                      <a:endParaRPr lang="en-US"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marR="0" lvl="0" indent="-514350" algn="l" defTabSz="914400" rtl="0" eaLnBrk="1" fontAlgn="auto" latinLnBrk="0" hangingPunct="1">
                        <a:lnSpc>
                          <a:spcPct val="130000"/>
                        </a:lnSpc>
                        <a:spcBef>
                          <a:spcPts val="300"/>
                        </a:spcBef>
                        <a:spcAft>
                          <a:spcPts val="0"/>
                        </a:spcAft>
                        <a:buClrTx/>
                        <a:buSzTx/>
                        <a:buFont typeface="Wingdings" panose="05000000000000000000" pitchFamily="2" charset="2"/>
                        <a:buChar char="q"/>
                        <a:tabLst/>
                        <a:defRPr/>
                      </a:pPr>
                      <a:r>
                        <a:rPr lang="vi-VN" sz="2800" b="1"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 DOANH ĂN UỐNG:</a:t>
                      </a:r>
                      <a:endParaRPr lang="en-US" sz="32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14350" indent="-514350">
                        <a:lnSpc>
                          <a:spcPct val="130000"/>
                        </a:lnSpc>
                        <a:spcBef>
                          <a:spcPts val="300"/>
                        </a:spcBef>
                        <a:buAutoNum type="arabicPeriod"/>
                      </a:pPr>
                      <a:endParaRPr lang="en-US" sz="2800" kern="100" dirty="0">
                        <a:solidFill>
                          <a:srgbClr val="FF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891675970"/>
                  </a:ext>
                </a:extLst>
              </a:tr>
              <a:tr h="502062">
                <a:tc>
                  <a:txBody>
                    <a:bodyPr/>
                    <a:lstStyle/>
                    <a:p>
                      <a:pPr marL="0" indent="0">
                        <a:lnSpc>
                          <a:spcPct val="130000"/>
                        </a:lnSpc>
                        <a:spcBef>
                          <a:spcPts val="300"/>
                        </a:spcBef>
                        <a:buFont typeface="Wingdings" panose="05000000000000000000" pitchFamily="2" charset="2"/>
                        <a:buNone/>
                      </a:pPr>
                      <a:endParaRPr lang="en-US" sz="2800"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1147629354"/>
                  </a:ext>
                </a:extLst>
              </a:tr>
            </a:tbl>
          </a:graphicData>
        </a:graphic>
      </p:graphicFrame>
    </p:spTree>
    <p:extLst>
      <p:ext uri="{BB962C8B-B14F-4D97-AF65-F5344CB8AC3E}">
        <p14:creationId xmlns:p14="http://schemas.microsoft.com/office/powerpoint/2010/main" val="124379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DD1B89-CF74-6FB5-9C65-D45879433EFF}"/>
              </a:ext>
            </a:extLst>
          </p:cNvPr>
          <p:cNvSpPr txBox="1"/>
          <p:nvPr/>
        </p:nvSpPr>
        <p:spPr>
          <a:xfrm>
            <a:off x="399903" y="1173596"/>
            <a:ext cx="6222569" cy="461665"/>
          </a:xfrm>
          <a:prstGeom prst="rect">
            <a:avLst/>
          </a:prstGeom>
          <a:noFill/>
        </p:spPr>
        <p:txBody>
          <a:bodyPr wrap="square">
            <a:spAutoFit/>
          </a:bodyPr>
          <a:lstStyle/>
          <a:p>
            <a:r>
              <a:rPr lang="nl-NL"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4.4. CƠ CẤU TỔ CHỨC CỦA KHÁCH SẠN </a:t>
            </a:r>
            <a:endPar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5" name="Picture 4">
            <a:extLst>
              <a:ext uri="{FF2B5EF4-FFF2-40B4-BE49-F238E27FC236}">
                <a16:creationId xmlns:a16="http://schemas.microsoft.com/office/drawing/2014/main" id="{3EAE3F9D-66B0-B0A5-2D92-F8977A0AE351}"/>
              </a:ext>
            </a:extLst>
          </p:cNvPr>
          <p:cNvPicPr>
            <a:picLocks noChangeAspect="1"/>
          </p:cNvPicPr>
          <p:nvPr/>
        </p:nvPicPr>
        <p:blipFill>
          <a:blip r:embed="rId2"/>
          <a:stretch>
            <a:fillRect/>
          </a:stretch>
        </p:blipFill>
        <p:spPr>
          <a:xfrm>
            <a:off x="399904" y="2724727"/>
            <a:ext cx="5287103" cy="3066473"/>
          </a:xfrm>
          <a:prstGeom prst="rect">
            <a:avLst/>
          </a:prstGeom>
        </p:spPr>
      </p:pic>
      <p:sp>
        <p:nvSpPr>
          <p:cNvPr id="7" name="TextBox 6">
            <a:extLst>
              <a:ext uri="{FF2B5EF4-FFF2-40B4-BE49-F238E27FC236}">
                <a16:creationId xmlns:a16="http://schemas.microsoft.com/office/drawing/2014/main" id="{D2EFA5AB-783A-65C1-C925-0FA7569A637D}"/>
              </a:ext>
            </a:extLst>
          </p:cNvPr>
          <p:cNvSpPr txBox="1"/>
          <p:nvPr/>
        </p:nvSpPr>
        <p:spPr>
          <a:xfrm>
            <a:off x="399904" y="1916606"/>
            <a:ext cx="4966423" cy="461665"/>
          </a:xfrm>
          <a:prstGeom prst="rect">
            <a:avLst/>
          </a:prstGeom>
          <a:noFill/>
        </p:spPr>
        <p:txBody>
          <a:bodyPr wrap="square">
            <a:spAutoFit/>
          </a:bodyPr>
          <a:lstStyle/>
          <a:p>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KHÁCH SẠN CÓ QUY MÔ NHỎ</a:t>
            </a:r>
            <a:endParaRPr lang="en-US" sz="2400" dirty="0"/>
          </a:p>
        </p:txBody>
      </p:sp>
      <p:sp>
        <p:nvSpPr>
          <p:cNvPr id="9" name="TextBox 8">
            <a:extLst>
              <a:ext uri="{FF2B5EF4-FFF2-40B4-BE49-F238E27FC236}">
                <a16:creationId xmlns:a16="http://schemas.microsoft.com/office/drawing/2014/main" id="{95D95A51-BEA2-9890-D189-C3EDF05B3B99}"/>
              </a:ext>
            </a:extLst>
          </p:cNvPr>
          <p:cNvSpPr txBox="1"/>
          <p:nvPr/>
        </p:nvSpPr>
        <p:spPr>
          <a:xfrm>
            <a:off x="5929745" y="1992669"/>
            <a:ext cx="5862350" cy="4170372"/>
          </a:xfrm>
          <a:prstGeom prst="rect">
            <a:avLst/>
          </a:prstGeom>
          <a:noFill/>
        </p:spPr>
        <p:txBody>
          <a:bodyPr wrap="square">
            <a:spAutoFit/>
          </a:bodyPr>
          <a:lstStyle/>
          <a:p>
            <a:pPr marL="465138" marR="0" lvl="0" indent="-465138" algn="just" defTabSz="914400" rtl="0" eaLnBrk="1" fontAlgn="auto" latinLnBrk="0" hangingPunct="1">
              <a:lnSpc>
                <a:spcPct val="100000"/>
              </a:lnSpc>
              <a:spcBef>
                <a:spcPts val="1800"/>
              </a:spcBef>
              <a:spcAft>
                <a:spcPts val="0"/>
              </a:spcAft>
              <a:buClrTx/>
              <a:buSzTx/>
              <a:buFont typeface="+mj-lt"/>
              <a:buAutoNum type="arabicPeriod"/>
              <a:tabLst/>
              <a:defRPr/>
            </a:pPr>
            <a:r>
              <a:rPr kumimoji="0" lang="vi-VN" sz="20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Giám đốc điều hành</a:t>
            </a:r>
            <a:r>
              <a:rPr kumimoji="0" lang="vi-VN" sz="20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Đứng đầu tổ chức, quản lý hoạt động chung của khách sạn.</a:t>
            </a:r>
          </a:p>
          <a:p>
            <a:pPr marL="465138" marR="0" lvl="0" indent="-465138" algn="just" defTabSz="914400" rtl="0" eaLnBrk="1" fontAlgn="auto" latinLnBrk="0" hangingPunct="1">
              <a:lnSpc>
                <a:spcPct val="100000"/>
              </a:lnSpc>
              <a:spcBef>
                <a:spcPts val="1800"/>
              </a:spcBef>
              <a:spcAft>
                <a:spcPts val="0"/>
              </a:spcAft>
              <a:buClrTx/>
              <a:buSzTx/>
              <a:buFont typeface="+mj-lt"/>
              <a:buAutoNum type="arabicPeriod"/>
              <a:tabLst/>
              <a:defRPr/>
            </a:pPr>
            <a:r>
              <a:rPr kumimoji="0" lang="vi-VN" sz="20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Giám đốc phụ trách bộ phận phục vụ ăn uống</a:t>
            </a:r>
            <a:r>
              <a:rPr kumimoji="0" lang="vi-VN" sz="20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Quản lý các hoạt động liên quan đến ẩm thực bao gồm đầu bếp trưởng, trưởng nhóm phục vụ bàn và nhân viên.</a:t>
            </a:r>
          </a:p>
          <a:p>
            <a:pPr marL="465138" marR="0" lvl="0" indent="-465138" algn="just" defTabSz="914400" rtl="0" eaLnBrk="1" fontAlgn="auto" latinLnBrk="0" hangingPunct="1">
              <a:lnSpc>
                <a:spcPct val="100000"/>
              </a:lnSpc>
              <a:spcBef>
                <a:spcPts val="1800"/>
              </a:spcBef>
              <a:spcAft>
                <a:spcPts val="0"/>
              </a:spcAft>
              <a:buClrTx/>
              <a:buSzTx/>
              <a:buFont typeface="+mj-lt"/>
              <a:buAutoNum type="arabicPeriod"/>
              <a:tabLst/>
              <a:defRPr/>
            </a:pPr>
            <a:r>
              <a:rPr kumimoji="0" lang="vi-VN" sz="20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Trưởng bộ phận lễ tân</a:t>
            </a:r>
            <a:r>
              <a:rPr kumimoji="0" lang="vi-VN" sz="20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Quản lý hoạt động của bộ phận lễ tân và quầy lễ tân đặt tại buồng.</a:t>
            </a:r>
          </a:p>
          <a:p>
            <a:pPr marL="465138" marR="0" lvl="0" indent="-465138" algn="just" defTabSz="914400" rtl="0" eaLnBrk="1" fontAlgn="auto" latinLnBrk="0" hangingPunct="1">
              <a:lnSpc>
                <a:spcPct val="100000"/>
              </a:lnSpc>
              <a:spcBef>
                <a:spcPts val="1800"/>
              </a:spcBef>
              <a:spcAft>
                <a:spcPts val="0"/>
              </a:spcAft>
              <a:buClrTx/>
              <a:buSzTx/>
              <a:buFont typeface="+mj-lt"/>
              <a:buAutoNum type="arabicPeriod"/>
              <a:tabLst/>
              <a:defRPr/>
            </a:pPr>
            <a:r>
              <a:rPr kumimoji="0" lang="vi-VN" sz="2000" b="1"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Trưởng bộ phục vụ buồng</a:t>
            </a:r>
            <a:r>
              <a:rPr kumimoji="0" lang="vi-VN" sz="2000" b="0" i="0" u="none" strike="noStrike" kern="1200" cap="none" spc="0" normalizeH="0" baseline="0" noProof="0" dirty="0">
                <a:ln>
                  <a:noFill/>
                </a:ln>
                <a:solidFill>
                  <a:srgbClr val="002060"/>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rPr>
              <a:t>: Quản lý các nhân viên phục vụ buồng và đảm bảo vệ sinh và sắp xếp phòng cho khách.</a:t>
            </a:r>
          </a:p>
        </p:txBody>
      </p:sp>
    </p:spTree>
    <p:extLst>
      <p:ext uri="{BB962C8B-B14F-4D97-AF65-F5344CB8AC3E}">
        <p14:creationId xmlns:p14="http://schemas.microsoft.com/office/powerpoint/2010/main" val="1841950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88DBC5-962D-7B3A-4E31-79D355443BBC}"/>
              </a:ext>
            </a:extLst>
          </p:cNvPr>
          <p:cNvPicPr>
            <a:picLocks noChangeAspect="1"/>
          </p:cNvPicPr>
          <p:nvPr/>
        </p:nvPicPr>
        <p:blipFill>
          <a:blip r:embed="rId2"/>
          <a:stretch>
            <a:fillRect/>
          </a:stretch>
        </p:blipFill>
        <p:spPr>
          <a:xfrm>
            <a:off x="236519" y="2197245"/>
            <a:ext cx="5536208" cy="3981883"/>
          </a:xfrm>
          <a:prstGeom prst="rect">
            <a:avLst/>
          </a:prstGeom>
          <a:noFill/>
        </p:spPr>
      </p:pic>
      <p:sp>
        <p:nvSpPr>
          <p:cNvPr id="5" name="TextBox 4">
            <a:extLst>
              <a:ext uri="{FF2B5EF4-FFF2-40B4-BE49-F238E27FC236}">
                <a16:creationId xmlns:a16="http://schemas.microsoft.com/office/drawing/2014/main" id="{7F9308DD-9866-B3CC-3C4A-144DFCC0B453}"/>
              </a:ext>
            </a:extLst>
          </p:cNvPr>
          <p:cNvSpPr txBox="1"/>
          <p:nvPr/>
        </p:nvSpPr>
        <p:spPr>
          <a:xfrm>
            <a:off x="338118" y="1307022"/>
            <a:ext cx="476035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 SẠN CÓ QUY MÔ </a:t>
            </a:r>
            <a:r>
              <a:rPr kumimoji="0" lang="en-US"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VỪA</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TextBox 6">
            <a:extLst>
              <a:ext uri="{FF2B5EF4-FFF2-40B4-BE49-F238E27FC236}">
                <a16:creationId xmlns:a16="http://schemas.microsoft.com/office/drawing/2014/main" id="{7CBAD478-7C8A-EA41-19F7-71AE556786E0}"/>
              </a:ext>
            </a:extLst>
          </p:cNvPr>
          <p:cNvSpPr txBox="1"/>
          <p:nvPr/>
        </p:nvSpPr>
        <p:spPr>
          <a:xfrm>
            <a:off x="6197603" y="1307022"/>
            <a:ext cx="5536208" cy="5078313"/>
          </a:xfrm>
          <a:prstGeom prst="rect">
            <a:avLst/>
          </a:prstGeom>
          <a:noFill/>
        </p:spPr>
        <p:txBody>
          <a:bodyPr wrap="square">
            <a:spAutoFit/>
          </a:bodyPr>
          <a:lstStyle/>
          <a:p>
            <a:pPr marL="403225" marR="0" lvl="0" indent="-403225" algn="just" defTabSz="914400" rtl="0" eaLnBrk="1" fontAlgn="auto" latinLnBrk="0" hangingPunct="1">
              <a:lnSpc>
                <a:spcPct val="100000"/>
              </a:lnSpc>
              <a:spcAft>
                <a:spcPts val="0"/>
              </a:spcAft>
              <a:buClrTx/>
              <a:buSzTx/>
              <a:buFont typeface="+mj-lt"/>
              <a:buAutoNum type="arabicPeriod"/>
              <a:tabLst/>
              <a:defRPr/>
            </a:pPr>
            <a:r>
              <a:rPr kumimoji="0" lang="vi-VN" b="1"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Giám đốc</a:t>
            </a:r>
            <a:r>
              <a:rPr kumimoji="0" lang="vi-VN"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Là người đứng đầu, có trách nhiệm quản lý toàn bộ hoạt động của khách sạn,</a:t>
            </a:r>
          </a:p>
          <a:p>
            <a:pPr marL="403225" marR="0" lvl="0" indent="-403225" algn="just" defTabSz="914400" rtl="0" eaLnBrk="1" fontAlgn="auto" latinLnBrk="0" hangingPunct="1">
              <a:lnSpc>
                <a:spcPct val="100000"/>
              </a:lnSpc>
              <a:spcAft>
                <a:spcPts val="0"/>
              </a:spcAft>
              <a:buClrTx/>
              <a:buSzTx/>
              <a:buFont typeface="+mj-lt"/>
              <a:buAutoNum type="arabicPeriod"/>
              <a:tabLst/>
              <a:defRPr/>
            </a:pPr>
            <a:r>
              <a:rPr kumimoji="0" lang="vi-VN" b="1"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Thư ký</a:t>
            </a:r>
            <a:r>
              <a:rPr kumimoji="0" lang="vi-VN"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Hỗ trợ giám đốc trong việc quản lý thông tin, tài liệu và các công việc hành chính khác.</a:t>
            </a:r>
          </a:p>
          <a:p>
            <a:pPr marL="403225" marR="0" lvl="0" indent="-403225" algn="just" defTabSz="914400" rtl="0" eaLnBrk="1" fontAlgn="auto" latinLnBrk="0" hangingPunct="1">
              <a:lnSpc>
                <a:spcPct val="100000"/>
              </a:lnSpc>
              <a:spcAft>
                <a:spcPts val="0"/>
              </a:spcAft>
              <a:buClrTx/>
              <a:buSzTx/>
              <a:buFont typeface="+mj-lt"/>
              <a:buAutoNum type="arabicPeriod"/>
              <a:tabLst/>
              <a:defRPr/>
            </a:pPr>
            <a:r>
              <a:rPr kumimoji="0" lang="vi-VN" b="1"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 phận lễ tân</a:t>
            </a:r>
            <a:r>
              <a:rPr kumimoji="0" lang="vi-VN"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Chịu trách nhiệm tiếp đón khách, quản lý đặt phòng, giải quyết các yêu cầu của khách và cung cấp thông tin </a:t>
            </a:r>
            <a:r>
              <a:rPr lang="en-US" dirty="0" err="1">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khi</a:t>
            </a:r>
            <a:r>
              <a:rPr lang="en-US"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vi-VN"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cần </a:t>
            </a:r>
          </a:p>
          <a:p>
            <a:pPr marL="403225" marR="0" lvl="0" indent="-403225" algn="just" defTabSz="914400" rtl="0" eaLnBrk="1" fontAlgn="auto" latinLnBrk="0" hangingPunct="1">
              <a:lnSpc>
                <a:spcPct val="100000"/>
              </a:lnSpc>
              <a:spcAft>
                <a:spcPts val="0"/>
              </a:spcAft>
              <a:buClrTx/>
              <a:buSzTx/>
              <a:buFont typeface="+mj-lt"/>
              <a:buAutoNum type="arabicPeriod"/>
              <a:tabLst/>
              <a:defRPr/>
            </a:pPr>
            <a:r>
              <a:rPr kumimoji="0" lang="vi-VN" b="1"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 phận buồng</a:t>
            </a:r>
            <a:r>
              <a:rPr kumimoji="0" lang="vi-VN"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Đảm bảo rằng các phòng khách luôn sạch sẽ và được bảo trì tốt. </a:t>
            </a:r>
            <a:endParaRPr kumimoji="0" lang="en-US"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03225" marR="0" lvl="0" indent="-403225" algn="just" defTabSz="914400" rtl="0" eaLnBrk="1" fontAlgn="auto" latinLnBrk="0" hangingPunct="1">
              <a:lnSpc>
                <a:spcPct val="100000"/>
              </a:lnSpc>
              <a:spcAft>
                <a:spcPts val="0"/>
              </a:spcAft>
              <a:buClrTx/>
              <a:buSzTx/>
              <a:buFont typeface="+mj-lt"/>
              <a:buAutoNum type="arabicPeriod"/>
              <a:tabLst/>
              <a:defRPr/>
            </a:pPr>
            <a:r>
              <a:rPr lang="vi-VN"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ăn uống</a:t>
            </a:r>
            <a:r>
              <a:rPr lang="vi-VN"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Quản lý nhà hàng và quầy bar, cung cấp dịch vụ ăn uống cho khách. </a:t>
            </a:r>
          </a:p>
          <a:p>
            <a:pPr marL="403225" marR="0" lvl="0" indent="-403225" algn="just" defTabSz="914400" rtl="0" eaLnBrk="1" fontAlgn="auto" latinLnBrk="0" hangingPunct="1">
              <a:lnSpc>
                <a:spcPct val="100000"/>
              </a:lnSpc>
              <a:spcAft>
                <a:spcPts val="0"/>
              </a:spcAft>
              <a:buClrTx/>
              <a:buSzTx/>
              <a:buFont typeface="+mj-lt"/>
              <a:buAutoNum type="arabicPeriod"/>
              <a:tabLst/>
              <a:defRPr/>
            </a:pPr>
            <a:r>
              <a:rPr lang="vi-VN"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nhân sự: </a:t>
            </a:r>
            <a:r>
              <a:rPr lang="vi-VN"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nguồn nhân lực, tuyển dụng, đào tạo và phát triển nhân viên, </a:t>
            </a:r>
          </a:p>
          <a:p>
            <a:pPr marL="403225" marR="0" lvl="0" indent="-403225" algn="just" defTabSz="914400" rtl="0" eaLnBrk="1" fontAlgn="auto" latinLnBrk="0" hangingPunct="1">
              <a:lnSpc>
                <a:spcPct val="100000"/>
              </a:lnSpc>
              <a:spcAft>
                <a:spcPts val="0"/>
              </a:spcAft>
              <a:buClrTx/>
              <a:buSzTx/>
              <a:buFont typeface="+mj-lt"/>
              <a:buAutoNum type="arabicPeriod"/>
              <a:tabLst/>
              <a:defRPr/>
            </a:pPr>
            <a:r>
              <a:rPr lang="vi-VN"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kế toán</a:t>
            </a:r>
            <a:r>
              <a:rPr lang="vi-VN"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Chịu trách nhiệm về tài chính, bao gồm thu chi, lập báo cáo tài chính và quản lý ngân sách.</a:t>
            </a:r>
          </a:p>
          <a:p>
            <a:pPr marL="403225" marR="0" lvl="0" indent="-403225" algn="just" defTabSz="914400" rtl="0" eaLnBrk="1" fontAlgn="auto" latinLnBrk="0" hangingPunct="1">
              <a:lnSpc>
                <a:spcPct val="100000"/>
              </a:lnSpc>
              <a:spcAft>
                <a:spcPts val="0"/>
              </a:spcAft>
              <a:buClrTx/>
              <a:buSzTx/>
              <a:buFont typeface="+mj-lt"/>
              <a:buAutoNum type="arabicPeriod"/>
              <a:tabLst/>
              <a:defRPr/>
            </a:pPr>
            <a:r>
              <a:rPr lang="vi-VN"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bếp</a:t>
            </a:r>
            <a:r>
              <a:rPr lang="vi-VN"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Chịu trách nhiệm chế biến món ăn, đảm bảo chất lượng và an toàn thực phẩm.</a:t>
            </a:r>
          </a:p>
        </p:txBody>
      </p:sp>
    </p:spTree>
    <p:extLst>
      <p:ext uri="{BB962C8B-B14F-4D97-AF65-F5344CB8AC3E}">
        <p14:creationId xmlns:p14="http://schemas.microsoft.com/office/powerpoint/2010/main" val="588353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ECBD5C-ED35-5BFB-6B05-3AB4236FDA13}"/>
              </a:ext>
            </a:extLst>
          </p:cNvPr>
          <p:cNvSpPr txBox="1"/>
          <p:nvPr/>
        </p:nvSpPr>
        <p:spPr>
          <a:xfrm>
            <a:off x="709047" y="1043731"/>
            <a:ext cx="10713204" cy="3508653"/>
          </a:xfrm>
          <a:prstGeom prst="rect">
            <a:avLst/>
          </a:prstGeom>
          <a:noFill/>
        </p:spPr>
        <p:txBody>
          <a:bodyPr wrap="square">
            <a:spAutoFit/>
          </a:bodyPr>
          <a:lstStyle/>
          <a:p>
            <a:pPr marL="465138" indent="-465138" algn="just">
              <a:spcBef>
                <a:spcPts val="1200"/>
              </a:spcBef>
              <a:buFont typeface="+mj-lt"/>
              <a:buAutoNum type="arabicPeriod" startAt="5"/>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Bộ phận ăn uống</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Quản lý nhà hàng và quầy bar, cung cấp dịch vụ ăn uống cho khách. </a:t>
            </a:r>
          </a:p>
          <a:p>
            <a:pPr marL="465138" indent="-465138" algn="just">
              <a:spcBef>
                <a:spcPts val="1200"/>
              </a:spcBef>
              <a:buFont typeface="+mj-lt"/>
              <a:buAutoNum type="arabicPeriod" startAt="5"/>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Bộ phận nhân sự</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Quản lý nguồn nhân lực, tuyển dụng, đào tạo và phát triển nhân viên, </a:t>
            </a:r>
            <a:endPar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65138" indent="-465138" algn="just">
              <a:spcBef>
                <a:spcPts val="1200"/>
              </a:spcBef>
              <a:buFont typeface="+mj-lt"/>
              <a:buAutoNum type="arabicPeriod" startAt="5"/>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Bộ phận kế toán</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Chịu trách nhiệm về tài chính, bao gồm thu chi, lập báo cáo tài chính và quản lý ngân sách.</a:t>
            </a:r>
          </a:p>
          <a:p>
            <a:pPr marL="465138" indent="-465138" algn="just">
              <a:spcBef>
                <a:spcPts val="1200"/>
              </a:spcBef>
              <a:buFont typeface="+mj-lt"/>
              <a:buAutoNum type="arabicPeriod" startAt="5"/>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Bộ phận bếp</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Chịu trách nhiệm chế biến món ăn, đảm bảo chất lượng và an toàn thực phẩm.</a:t>
            </a:r>
          </a:p>
        </p:txBody>
      </p:sp>
    </p:spTree>
    <p:extLst>
      <p:ext uri="{BB962C8B-B14F-4D97-AF65-F5344CB8AC3E}">
        <p14:creationId xmlns:p14="http://schemas.microsoft.com/office/powerpoint/2010/main" val="3124627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EC4704-A832-9058-97A9-A21D3EE75701}"/>
              </a:ext>
            </a:extLst>
          </p:cNvPr>
          <p:cNvPicPr>
            <a:picLocks noChangeAspect="1"/>
          </p:cNvPicPr>
          <p:nvPr/>
        </p:nvPicPr>
        <p:blipFill>
          <a:blip r:embed="rId2"/>
          <a:stretch>
            <a:fillRect/>
          </a:stretch>
        </p:blipFill>
        <p:spPr>
          <a:xfrm>
            <a:off x="2429164" y="1334579"/>
            <a:ext cx="8536928" cy="5056576"/>
          </a:xfrm>
          <a:prstGeom prst="rect">
            <a:avLst/>
          </a:prstGeom>
        </p:spPr>
      </p:pic>
      <p:sp>
        <p:nvSpPr>
          <p:cNvPr id="9" name="TextBox 8">
            <a:extLst>
              <a:ext uri="{FF2B5EF4-FFF2-40B4-BE49-F238E27FC236}">
                <a16:creationId xmlns:a16="http://schemas.microsoft.com/office/drawing/2014/main" id="{B2DBA970-AABE-1527-AB53-C7C1564875CD}"/>
              </a:ext>
            </a:extLst>
          </p:cNvPr>
          <p:cNvSpPr txBox="1"/>
          <p:nvPr/>
        </p:nvSpPr>
        <p:spPr>
          <a:xfrm>
            <a:off x="498764" y="1168477"/>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2400" b="1" i="0" u="none" strike="noStrike" kern="1200" cap="none" spc="0" normalizeH="0" baseline="0" noProof="0" dirty="0">
                <a:ln>
                  <a:noFill/>
                </a:ln>
                <a:solidFill>
                  <a:srgbClr val="002060"/>
                </a:solidFill>
                <a:effectLst/>
                <a:highlight>
                  <a:srgbClr val="FFFF00"/>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KHÁCH SẠN CÓ QUY MÔ </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LỚN</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80045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9B2D2C-6480-06B0-8560-0C1E22457A0A}"/>
              </a:ext>
            </a:extLst>
          </p:cNvPr>
          <p:cNvSpPr txBox="1"/>
          <p:nvPr/>
        </p:nvSpPr>
        <p:spPr>
          <a:xfrm>
            <a:off x="174556" y="1177358"/>
            <a:ext cx="5921444" cy="5324535"/>
          </a:xfrm>
          <a:prstGeom prst="rect">
            <a:avLst/>
          </a:prstGeom>
          <a:noFill/>
        </p:spPr>
        <p:txBody>
          <a:bodyPr wrap="square">
            <a:spAutoFit/>
          </a:bodyPr>
          <a:lstStyle/>
          <a:p>
            <a:pPr marL="465138" indent="-465138" algn="just">
              <a:buFont typeface="+mj-lt"/>
              <a:buAutoNum type="arabicPeriod"/>
            </a:pPr>
            <a:r>
              <a:rPr lang="vi-VN" sz="2000" b="1" i="0" dirty="0">
                <a:solidFill>
                  <a:srgbClr val="FF000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Tổng Giám Đốc</a:t>
            </a:r>
            <a:r>
              <a:rPr lang="vi-VN" sz="20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Là người đứng đầu khách sạn, có trách nhiệm quản lý toàn bộ hoạt động</a:t>
            </a:r>
          </a:p>
          <a:p>
            <a:pPr marL="465138" indent="-465138" algn="just">
              <a:buFont typeface="+mj-lt"/>
              <a:buAutoNum type="arabicPeriod"/>
            </a:pPr>
            <a:r>
              <a:rPr lang="vi-VN" sz="2000" b="1" i="0" dirty="0">
                <a:solidFill>
                  <a:srgbClr val="FF000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Thư Ký</a:t>
            </a:r>
            <a:r>
              <a:rPr lang="vi-VN" sz="2000" b="0" i="0" dirty="0">
                <a:solidFill>
                  <a:srgbClr val="FF000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Hỗ trợ Tổng Giám Đốc trong việc quản lý thông tin, tài liệu và các công việc hành chính.</a:t>
            </a:r>
          </a:p>
          <a:p>
            <a:pPr marL="465138" indent="-465138" algn="just">
              <a:buFont typeface="+mj-lt"/>
              <a:buAutoNum type="arabicPeriod"/>
            </a:pPr>
            <a:r>
              <a:rPr lang="vi-VN" sz="2000" b="1" i="0" dirty="0">
                <a:solidFill>
                  <a:srgbClr val="FF000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Trợ lý Giám Đốc</a:t>
            </a:r>
            <a:r>
              <a:rPr lang="vi-VN" sz="20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Hỗ trợ Tổng Giám Đốc trong quản lý hàng ngày và điều phối giữa các bộ phận.</a:t>
            </a:r>
          </a:p>
          <a:p>
            <a:pPr marL="465138" indent="-465138" algn="just">
              <a:buFont typeface="+mj-lt"/>
              <a:buAutoNum type="arabicPeriod"/>
            </a:pPr>
            <a:r>
              <a:rPr lang="vi-VN" sz="2000" b="1" i="0" dirty="0">
                <a:solidFill>
                  <a:srgbClr val="FF000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Giám Đốc Tài Chính</a:t>
            </a:r>
            <a:r>
              <a:rPr lang="vi-VN" sz="20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Chịu trách nhiệm về các vấn đề tài chính, lập ngân sách, báo cáo tài chính và quản lý chi phí.</a:t>
            </a:r>
          </a:p>
          <a:p>
            <a:pPr marL="465138" indent="-465138" algn="just">
              <a:buFont typeface="+mj-lt"/>
              <a:buAutoNum type="arabicPeriod"/>
            </a:pPr>
            <a:r>
              <a:rPr lang="vi-VN" sz="2000" b="1" i="0" dirty="0">
                <a:solidFill>
                  <a:srgbClr val="FF000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Giám Đốc An Ninh</a:t>
            </a:r>
            <a:r>
              <a:rPr lang="vi-VN" sz="20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Đảm bảo an toàn cho khách và tài sản của khách sạn, quản lý các vấn đề liên quan đến an ninh.</a:t>
            </a:r>
          </a:p>
          <a:p>
            <a:pPr marL="465138" indent="-465138" algn="just">
              <a:buFont typeface="+mj-lt"/>
              <a:buAutoNum type="arabicPeriod"/>
            </a:pPr>
            <a:r>
              <a:rPr lang="vi-VN" sz="2000" b="1" i="0" dirty="0">
                <a:solidFill>
                  <a:srgbClr val="FF000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Giám Đốc Bộ Phận Buồng</a:t>
            </a:r>
            <a:r>
              <a:rPr lang="vi-VN" sz="20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Quản lý bộ phận buồng, đảm bảo các phòng luôn sạch sẽ và được bảo trì tốt.</a:t>
            </a:r>
          </a:p>
        </p:txBody>
      </p:sp>
      <p:sp>
        <p:nvSpPr>
          <p:cNvPr id="4" name="TextBox 3">
            <a:extLst>
              <a:ext uri="{FF2B5EF4-FFF2-40B4-BE49-F238E27FC236}">
                <a16:creationId xmlns:a16="http://schemas.microsoft.com/office/drawing/2014/main" id="{0071A1D2-019B-2B70-575C-E51C46AE9D9E}"/>
              </a:ext>
            </a:extLst>
          </p:cNvPr>
          <p:cNvSpPr txBox="1"/>
          <p:nvPr/>
        </p:nvSpPr>
        <p:spPr>
          <a:xfrm>
            <a:off x="6188363" y="1177358"/>
            <a:ext cx="5652655" cy="5632311"/>
          </a:xfrm>
          <a:prstGeom prst="rect">
            <a:avLst/>
          </a:prstGeom>
          <a:noFill/>
        </p:spPr>
        <p:txBody>
          <a:bodyPr wrap="square">
            <a:spAutoFit/>
          </a:bodyPr>
          <a:lstStyle/>
          <a:p>
            <a:pPr marL="465138" marR="0" lvl="0" indent="-465138" algn="just" defTabSz="914400" rtl="0" eaLnBrk="1" fontAlgn="auto" latinLnBrk="0" hangingPunct="1">
              <a:lnSpc>
                <a:spcPct val="100000"/>
              </a:lnSpc>
              <a:spcBef>
                <a:spcPts val="0"/>
              </a:spcBef>
              <a:spcAft>
                <a:spcPts val="0"/>
              </a:spcAft>
              <a:buClrTx/>
              <a:buSzTx/>
              <a:buFont typeface="+mj-lt"/>
              <a:buAutoNum type="arabicPeriod" startAt="7"/>
              <a:tabLst/>
              <a:defRPr/>
            </a:pPr>
            <a:r>
              <a:rPr kumimoji="0" lang="vi-VN" sz="2000" b="1" i="0" u="none" strike="noStrike" kern="1200" cap="none" spc="0" normalizeH="0" baseline="0" noProof="0" dirty="0">
                <a:ln>
                  <a:noFill/>
                </a:ln>
                <a:solidFill>
                  <a:srgbClr val="FF000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Giám Đốc Bộ Phận Lễ Tân</a:t>
            </a:r>
            <a:r>
              <a:rPr kumimoji="0" lang="vi-VN" sz="2000" b="0" i="0" u="none" strike="noStrike" kern="1200" cap="none" spc="0" normalizeH="0" baseline="0" noProof="0" dirty="0">
                <a:ln>
                  <a:noFill/>
                </a:ln>
                <a:solidFill>
                  <a:srgbClr val="FF000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vi-VN" sz="2000"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Chịu trách nhiệm về việc tiếp đón khách, quản lý đặt phòng và giải quyết các yêu cầu của khách.</a:t>
            </a:r>
            <a:endParaRPr kumimoji="0" lang="en-US" sz="2000"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marR="0" lvl="0" indent="-457200" algn="just" defTabSz="914400" rtl="0" eaLnBrk="1" fontAlgn="auto" latinLnBrk="0" hangingPunct="1">
              <a:lnSpc>
                <a:spcPct val="100000"/>
              </a:lnSpc>
              <a:spcBef>
                <a:spcPts val="1200"/>
              </a:spcBef>
              <a:spcAft>
                <a:spcPts val="0"/>
              </a:spcAft>
              <a:buClrTx/>
              <a:buSzTx/>
              <a:buFont typeface="+mj-lt"/>
              <a:buAutoNum type="arabicPeriod" startAt="7"/>
              <a:tabLst/>
              <a:defRPr/>
            </a:pPr>
            <a:r>
              <a:rPr kumimoji="0" lang="vi-VN" sz="2000" b="1" i="0" u="none" strike="noStrike" kern="1200" cap="none" spc="0" normalizeH="0" baseline="0" noProof="0" dirty="0">
                <a:ln>
                  <a:noFill/>
                </a:ln>
                <a:solidFill>
                  <a:srgbClr val="FF000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Giám Đốc Bộ Phận Nhà Hàng</a:t>
            </a:r>
            <a:r>
              <a:rPr kumimoji="0" lang="vi-VN" sz="2000"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Quản lý hoạt động của nhà hàng, quầy bar, đảm bảo chất lượng dịch vụ ăn uống.</a:t>
            </a:r>
          </a:p>
          <a:p>
            <a:pPr marL="457200" marR="0" lvl="0" indent="-457200" algn="just" defTabSz="914400" rtl="0" eaLnBrk="1" fontAlgn="auto" latinLnBrk="0" hangingPunct="1">
              <a:lnSpc>
                <a:spcPct val="100000"/>
              </a:lnSpc>
              <a:spcBef>
                <a:spcPts val="1200"/>
              </a:spcBef>
              <a:spcAft>
                <a:spcPts val="0"/>
              </a:spcAft>
              <a:buClrTx/>
              <a:buSzTx/>
              <a:buFont typeface="+mj-lt"/>
              <a:buAutoNum type="arabicPeriod" startAt="7"/>
              <a:tabLst/>
              <a:defRPr/>
            </a:pPr>
            <a:r>
              <a:rPr kumimoji="0" lang="vi-VN" sz="2000" b="1" i="0" u="none" strike="noStrike" kern="1200" cap="none" spc="0" normalizeH="0" baseline="0" noProof="0" dirty="0">
                <a:ln>
                  <a:noFill/>
                </a:ln>
                <a:solidFill>
                  <a:srgbClr val="FF000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Giám Đốc Bộ Phận Bếp</a:t>
            </a:r>
            <a:r>
              <a:rPr kumimoji="0" lang="vi-VN" sz="2000"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Chịu trách nhiệm về chế biến món ăn, quản lý nhân viên bếp và đảm bảo an toàn thực phẩm.</a:t>
            </a:r>
          </a:p>
          <a:p>
            <a:pPr marL="457200" marR="0" lvl="0" indent="-457200" algn="just" defTabSz="914400" rtl="0" eaLnBrk="1" fontAlgn="auto" latinLnBrk="0" hangingPunct="1">
              <a:lnSpc>
                <a:spcPct val="100000"/>
              </a:lnSpc>
              <a:spcBef>
                <a:spcPts val="1200"/>
              </a:spcBef>
              <a:spcAft>
                <a:spcPts val="0"/>
              </a:spcAft>
              <a:buClrTx/>
              <a:buSzTx/>
              <a:buFont typeface="+mj-lt"/>
              <a:buAutoNum type="arabicPeriod" startAt="7"/>
              <a:tabLst/>
              <a:defRPr/>
            </a:pPr>
            <a:r>
              <a:rPr kumimoji="0" lang="vi-VN" sz="2000" b="1" i="0" u="none" strike="noStrike" kern="1200" cap="none" spc="0" normalizeH="0" baseline="0" noProof="0" dirty="0">
                <a:ln>
                  <a:noFill/>
                </a:ln>
                <a:solidFill>
                  <a:srgbClr val="FF000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Kỹ Sư Trưởng</a:t>
            </a:r>
            <a:r>
              <a:rPr kumimoji="0" lang="vi-VN" sz="2000"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Quản lý các vấn đề kỹ thuật, bảo trì cơ sở vật chất và thiết bị trong khách sạn.</a:t>
            </a:r>
          </a:p>
          <a:p>
            <a:pPr marL="457200" marR="0" lvl="0" indent="-457200" algn="just" defTabSz="914400" rtl="0" eaLnBrk="1" fontAlgn="auto" latinLnBrk="0" hangingPunct="1">
              <a:lnSpc>
                <a:spcPct val="100000"/>
              </a:lnSpc>
              <a:spcBef>
                <a:spcPts val="1200"/>
              </a:spcBef>
              <a:spcAft>
                <a:spcPts val="0"/>
              </a:spcAft>
              <a:buClrTx/>
              <a:buSzTx/>
              <a:buFont typeface="+mj-lt"/>
              <a:buAutoNum type="arabicPeriod" startAt="7"/>
              <a:tabLst/>
              <a:defRPr/>
            </a:pPr>
            <a:r>
              <a:rPr kumimoji="0" lang="vi-VN" sz="2000" b="1" i="0" u="none" strike="noStrike" kern="1200" cap="none" spc="0" normalizeH="0" baseline="0" noProof="0" dirty="0">
                <a:ln>
                  <a:noFill/>
                </a:ln>
                <a:solidFill>
                  <a:srgbClr val="FF000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Bộ Phận Kinh Doanh</a:t>
            </a:r>
            <a:r>
              <a:rPr kumimoji="0" lang="vi-VN" sz="2000"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rPr>
              <a:t>: Chịu trách nhiệm về marketing, phát triển khách hàng và quản lý các mối quan hệ với khách hàng.</a:t>
            </a:r>
          </a:p>
          <a:p>
            <a:pPr marL="465138" marR="0" lvl="0" indent="-465138" algn="just" defTabSz="914400" rtl="0" eaLnBrk="1" fontAlgn="auto" latinLnBrk="0" hangingPunct="1">
              <a:lnSpc>
                <a:spcPct val="100000"/>
              </a:lnSpc>
              <a:spcBef>
                <a:spcPts val="0"/>
              </a:spcBef>
              <a:spcAft>
                <a:spcPts val="0"/>
              </a:spcAft>
              <a:buClrTx/>
              <a:buSzTx/>
              <a:buFont typeface="+mj-lt"/>
              <a:buAutoNum type="arabicPeriod" startAt="7"/>
              <a:tabLst/>
              <a:defRPr/>
            </a:pPr>
            <a:endParaRPr kumimoji="0" lang="vi-VN" sz="2000" b="0" i="0" u="none" strike="noStrike" kern="1200" cap="none" spc="0" normalizeH="0" baseline="0" noProof="0" dirty="0">
              <a:ln>
                <a:noFill/>
              </a:ln>
              <a:solidFill>
                <a:srgbClr val="002060"/>
              </a:solidFill>
              <a:effectLst/>
              <a:highlight>
                <a:srgbClr val="FFFFFF"/>
              </a:highligh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9486137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661A8-002A-7A66-BA71-F3EBC1887E2A}"/>
              </a:ext>
            </a:extLst>
          </p:cNvPr>
          <p:cNvSpPr>
            <a:spLocks noGrp="1"/>
          </p:cNvSpPr>
          <p:nvPr>
            <p:ph type="title"/>
          </p:nvPr>
        </p:nvSpPr>
        <p:spPr>
          <a:xfrm>
            <a:off x="316302" y="1079489"/>
            <a:ext cx="10732698" cy="808067"/>
          </a:xfrm>
        </p:spPr>
        <p:txBody>
          <a:bodyPr/>
          <a:lstStyle/>
          <a:p>
            <a:r>
              <a:rPr lang="en-US"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4.5. BỘ PHẬN NHÂN SỰ </a:t>
            </a:r>
            <a:r>
              <a:rPr lang="vi-VN" sz="28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TRONG KHÁCH SẠN</a:t>
            </a:r>
          </a:p>
        </p:txBody>
      </p:sp>
      <p:pic>
        <p:nvPicPr>
          <p:cNvPr id="4" name="Picture 3" descr="A diagram of a company&#10;&#10;Description automatically generated">
            <a:extLst>
              <a:ext uri="{FF2B5EF4-FFF2-40B4-BE49-F238E27FC236}">
                <a16:creationId xmlns:a16="http://schemas.microsoft.com/office/drawing/2014/main" id="{0D96BFBB-FB0E-9E55-E505-D2094FBCE8D9}"/>
              </a:ext>
            </a:extLst>
          </p:cNvPr>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60928" y="2475520"/>
            <a:ext cx="4045527" cy="3309541"/>
          </a:xfrm>
          <a:prstGeom prst="rect">
            <a:avLst/>
          </a:prstGeom>
        </p:spPr>
      </p:pic>
      <p:sp>
        <p:nvSpPr>
          <p:cNvPr id="5" name="TextBox 4">
            <a:extLst>
              <a:ext uri="{FF2B5EF4-FFF2-40B4-BE49-F238E27FC236}">
                <a16:creationId xmlns:a16="http://schemas.microsoft.com/office/drawing/2014/main" id="{688F498F-3A34-C76C-544D-8933E60766A3}"/>
              </a:ext>
            </a:extLst>
          </p:cNvPr>
          <p:cNvSpPr txBox="1"/>
          <p:nvPr/>
        </p:nvSpPr>
        <p:spPr>
          <a:xfrm>
            <a:off x="4876800" y="2412533"/>
            <a:ext cx="7054272" cy="4205190"/>
          </a:xfrm>
          <a:prstGeom prst="rect">
            <a:avLst/>
          </a:prstGeom>
          <a:noFill/>
        </p:spPr>
        <p:txBody>
          <a:bodyPr wrap="square">
            <a:spAutoFit/>
          </a:bodyPr>
          <a:lstStyle/>
          <a:p>
            <a:pPr marL="342900" indent="-342900" algn="just">
              <a:lnSpc>
                <a:spcPct val="115000"/>
              </a:lnSpc>
              <a:buFont typeface="Wingdings" panose="05000000000000000000" pitchFamily="2" charset="2"/>
              <a:buChar char="§"/>
            </a:pPr>
            <a:r>
              <a:rPr lang="vi-VN"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Xác định mô hình tổ chức bộ máy của khách sạn</a:t>
            </a:r>
            <a:endParaRPr lang="en-US" kern="1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15000"/>
              </a:lnSpc>
              <a:buFont typeface="Wingdings" panose="05000000000000000000" pitchFamily="2" charset="2"/>
              <a:buChar char="§"/>
            </a:pPr>
            <a:r>
              <a:rPr lang="vi-VN"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Xác định định biên lao động ở các bộ phận trong khách sạn</a:t>
            </a:r>
            <a:endParaRPr lang="en-US" kern="1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15000"/>
              </a:lnSpc>
              <a:buFont typeface="Wingdings" panose="05000000000000000000" pitchFamily="2" charset="2"/>
              <a:buChar char="§"/>
            </a:pPr>
            <a:r>
              <a:rPr lang="vi-VN"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 mưu, thực hiện việc tuyển dụng nhân sự</a:t>
            </a:r>
            <a:endParaRPr lang="en-US" kern="1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15000"/>
              </a:lnSpc>
              <a:buFont typeface="Wingdings" panose="05000000000000000000" pitchFamily="2" charset="2"/>
              <a:buChar char="§"/>
            </a:pPr>
            <a:r>
              <a:rPr lang="vi-VN"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Duy trì, đào tạo và phát triển nguồn nhân lực trong khách sạn</a:t>
            </a:r>
            <a:endParaRPr lang="en-US" kern="1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15000"/>
              </a:lnSpc>
              <a:buFont typeface="Wingdings" panose="05000000000000000000" pitchFamily="2" charset="2"/>
              <a:buChar char="§"/>
            </a:pPr>
            <a:r>
              <a:rPr lang="vi-VN"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Phối hợp với các bộ phận khác xây dựng chức trách cho từng chức danh, quy định chuẩn hóa</a:t>
            </a:r>
            <a:endParaRPr lang="en-US" kern="1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15000"/>
              </a:lnSpc>
              <a:buFont typeface="Wingdings" panose="05000000000000000000" pitchFamily="2" charset="2"/>
              <a:buChar char="§"/>
            </a:pPr>
            <a:r>
              <a:rPr lang="vi-VN"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 chức điều chuyển nhân lực, đào tạo và phát triển đội ngũ nhân viên.</a:t>
            </a:r>
            <a:endParaRPr lang="en-US" kern="1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15000"/>
              </a:lnSpc>
              <a:buFont typeface="Wingdings" panose="05000000000000000000" pitchFamily="2" charset="2"/>
              <a:buChar char="§"/>
            </a:pPr>
            <a:r>
              <a:rPr lang="vi-VN"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 hiện các công tác về quan hệ lao động, lương, thưởng, phụ cấp, phúc lợi</a:t>
            </a:r>
            <a:endParaRPr lang="en-US" kern="1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15000"/>
              </a:lnSpc>
              <a:buFont typeface="Wingdings" panose="05000000000000000000" pitchFamily="2" charset="2"/>
              <a:buChar char="§"/>
            </a:pPr>
            <a:r>
              <a:rPr lang="vi-VN"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 vệ quyền lợi và an toàn lao động cho nhân viên</a:t>
            </a:r>
            <a:endParaRPr lang="en-US" kern="1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15000"/>
              </a:lnSpc>
              <a:buFont typeface="Wingdings" panose="05000000000000000000" pitchFamily="2" charset="2"/>
              <a:buChar char="§"/>
            </a:pPr>
            <a:r>
              <a:rPr lang="vi-VN"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 định chế độ và thực hiện đánh giá công việc</a:t>
            </a:r>
            <a:endParaRPr lang="en-US" kern="1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lnSpc>
                <a:spcPct val="115000"/>
              </a:lnSpc>
              <a:buFont typeface="Wingdings" panose="05000000000000000000" pitchFamily="2" charset="2"/>
              <a:buChar char="§"/>
            </a:pPr>
            <a:r>
              <a:rPr lang="vi-VN" kern="1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Đề ra và chấp hành chế độ quản lý người lao động</a:t>
            </a:r>
            <a:endParaRPr lang="en-US" kern="1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0" name="TextBox 9">
            <a:extLst>
              <a:ext uri="{FF2B5EF4-FFF2-40B4-BE49-F238E27FC236}">
                <a16:creationId xmlns:a16="http://schemas.microsoft.com/office/drawing/2014/main" id="{9A549C2D-717F-9F5F-CD7A-755D94F5E65D}"/>
              </a:ext>
            </a:extLst>
          </p:cNvPr>
          <p:cNvSpPr txBox="1"/>
          <p:nvPr/>
        </p:nvSpPr>
        <p:spPr>
          <a:xfrm>
            <a:off x="5061528" y="1815245"/>
            <a:ext cx="7315200" cy="455317"/>
          </a:xfrm>
          <a:prstGeom prst="rect">
            <a:avLst/>
          </a:prstGeom>
          <a:noFill/>
        </p:spPr>
        <p:txBody>
          <a:bodyPr wrap="square">
            <a:spAutoFit/>
          </a:bodyPr>
          <a:lstStyle/>
          <a:p>
            <a:pPr algn="just">
              <a:lnSpc>
                <a:spcPct val="150000"/>
              </a:lnSpc>
            </a:pP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2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1" name="TextBox 10">
            <a:extLst>
              <a:ext uri="{FF2B5EF4-FFF2-40B4-BE49-F238E27FC236}">
                <a16:creationId xmlns:a16="http://schemas.microsoft.com/office/drawing/2014/main" id="{723AFCE9-55C4-1B58-7CAA-A8BB1A678355}"/>
              </a:ext>
            </a:extLst>
          </p:cNvPr>
          <p:cNvSpPr txBox="1"/>
          <p:nvPr/>
        </p:nvSpPr>
        <p:spPr>
          <a:xfrm>
            <a:off x="260928" y="1815246"/>
            <a:ext cx="1764144" cy="455317"/>
          </a:xfrm>
          <a:prstGeom prst="rect">
            <a:avLst/>
          </a:prstGeom>
          <a:noFill/>
        </p:spPr>
        <p:txBody>
          <a:bodyPr wrap="square">
            <a:spAutoFit/>
          </a:bodyPr>
          <a:lstStyle/>
          <a:p>
            <a:pPr algn="just">
              <a:lnSpc>
                <a:spcPct val="150000"/>
              </a:lnSpc>
            </a:pP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Sơ</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đồ</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GB" sz="1800" b="1" dirty="0" err="1">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GB" sz="18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12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966076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10F443-D051-43A1-6DA0-DDA8B2DF28B5}"/>
              </a:ext>
            </a:extLst>
          </p:cNvPr>
          <p:cNvSpPr txBox="1"/>
          <p:nvPr/>
        </p:nvSpPr>
        <p:spPr>
          <a:xfrm>
            <a:off x="92363" y="1043248"/>
            <a:ext cx="11748655" cy="523220"/>
          </a:xfrm>
          <a:prstGeom prst="rect">
            <a:avLst/>
          </a:prstGeom>
          <a:solidFill>
            <a:schemeClr val="bg1"/>
          </a:solidFill>
        </p:spPr>
        <p:txBody>
          <a:bodyPr wrap="square">
            <a:spAutoFit/>
          </a:bodyPr>
          <a:lstStyle/>
          <a:p>
            <a:pPr algn="ctr"/>
            <a:r>
              <a:rPr lang="en-US" sz="28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5. X</a:t>
            </a:r>
            <a:r>
              <a:rPr lang="vi-VN" sz="28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U HƯỚNG PHÁT TRIỂN CỦA NGÀNH KINH DOANH KHÁCH SẠN</a:t>
            </a:r>
          </a:p>
        </p:txBody>
      </p:sp>
      <p:sp>
        <p:nvSpPr>
          <p:cNvPr id="6" name="Rectangle 1">
            <a:extLst>
              <a:ext uri="{FF2B5EF4-FFF2-40B4-BE49-F238E27FC236}">
                <a16:creationId xmlns:a16="http://schemas.microsoft.com/office/drawing/2014/main" id="{B9B42C2C-B0D7-FB90-33B4-0FE22D6174EC}"/>
              </a:ext>
            </a:extLst>
          </p:cNvPr>
          <p:cNvSpPr>
            <a:spLocks noChangeArrowheads="1"/>
          </p:cNvSpPr>
          <p:nvPr/>
        </p:nvSpPr>
        <p:spPr bwMode="auto">
          <a:xfrm>
            <a:off x="197169" y="1700188"/>
            <a:ext cx="11643849"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ứng</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dụng</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áp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giúp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nâng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Các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ứng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check-in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trở</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phổ</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cạnh</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tranh</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đang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tìm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hút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bối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cảnh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cạnh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từ</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Xu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hướng</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du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bền</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vững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đang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chuyển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hướng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sang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vững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xanh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chế</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nghiêm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ngặt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môi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trường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cạnh</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tranh</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từ</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kumimoji="0" lang="en-US" altLang="en-US" sz="2400" b="1" i="0" u="none" strike="noStrike" cap="none" normalizeH="0" baseline="0" dirty="0">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chemeClr val="accent2">
                    <a:lumMod val="75000"/>
                  </a:schemeClr>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Airbnb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đang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truyền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bằng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lựa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chọn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20919854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B2D6C1-66B3-01B0-2C17-F8FC759621FB}"/>
              </a:ext>
            </a:extLst>
          </p:cNvPr>
          <p:cNvSpPr>
            <a:spLocks noChangeArrowheads="1"/>
          </p:cNvSpPr>
          <p:nvPr/>
        </p:nvSpPr>
        <p:spPr bwMode="auto">
          <a:xfrm>
            <a:off x="300730" y="1200810"/>
            <a:ext cx="11540288"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Ví</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dụ</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alt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2900" algn="just" defTabSz="914400" rtl="0" eaLnBrk="0" fontAlgn="base" latinLnBrk="0" hangingPunct="0">
              <a:lnSpc>
                <a:spcPct val="100000"/>
              </a:lnSpc>
              <a:spcBef>
                <a:spcPts val="1200"/>
              </a:spcBef>
              <a:spcAft>
                <a:spcPct val="0"/>
              </a:spcAft>
              <a:buClrTx/>
              <a:buSzTx/>
              <a:buFont typeface="Wingdings" panose="05000000000000000000" pitchFamily="2" charset="2"/>
              <a:buChar char="q"/>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Hilton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khai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"Digital Key"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phép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thoại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minh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mở</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check-in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quầy</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lễ</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Bef>
                <a:spcPts val="1200"/>
              </a:spcBef>
              <a:spcAft>
                <a:spcPct val="0"/>
              </a:spcAft>
              <a:buClrTx/>
              <a:buSzTx/>
              <a:buFont typeface="Wingdings" panose="05000000000000000000" pitchFamily="2" charset="2"/>
              <a:buChar char="q"/>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Marriott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mở</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đồng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Marriott Bonvoy,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tích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điểm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thưởng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trên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toàn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thống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Bef>
                <a:spcPts val="1200"/>
              </a:spcBef>
              <a:spcAft>
                <a:spcPct val="0"/>
              </a:spcAft>
              <a:buClrTx/>
              <a:buSzTx/>
              <a:buFont typeface="Wingdings" panose="05000000000000000000" pitchFamily="2" charset="2"/>
              <a:buChar char="q"/>
              <a:tabLst/>
            </a:pP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Hyatt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chủ</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sử</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nguồn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tái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giảm</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thiểu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thải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nhựa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đồng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nâng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nhận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môi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trường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thông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qua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2900" algn="just" defTabSz="914400" rtl="0" eaLnBrk="0" fontAlgn="base" latinLnBrk="0" hangingPunct="0">
              <a:lnSpc>
                <a:spcPct val="100000"/>
              </a:lnSpc>
              <a:spcBef>
                <a:spcPts val="120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Airbnb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đã</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xu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hướng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ngành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bằng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lựa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chọn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dạng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từ</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căn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sang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1387916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A5A893-25F3-8011-A66F-351164FFD9F8}"/>
              </a:ext>
            </a:extLst>
          </p:cNvPr>
          <p:cNvSpPr txBox="1"/>
          <p:nvPr/>
        </p:nvSpPr>
        <p:spPr>
          <a:xfrm>
            <a:off x="358849" y="1377298"/>
            <a:ext cx="8930898" cy="584775"/>
          </a:xfrm>
          <a:prstGeom prst="rect">
            <a:avLst/>
          </a:prstGeom>
          <a:noFill/>
        </p:spPr>
        <p:txBody>
          <a:bodyPr wrap="square">
            <a:spAutoFit/>
          </a:bodyPr>
          <a:lstStyle/>
          <a:p>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kết</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bài</a:t>
            </a:r>
            <a:r>
              <a:rPr lang="en-US"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vi-VN" sz="32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Rectangle 1">
            <a:extLst>
              <a:ext uri="{FF2B5EF4-FFF2-40B4-BE49-F238E27FC236}">
                <a16:creationId xmlns:a16="http://schemas.microsoft.com/office/drawing/2014/main" id="{BA897E5D-001E-8C48-7CC1-F1E2EC441CE8}"/>
              </a:ext>
            </a:extLst>
          </p:cNvPr>
          <p:cNvSpPr>
            <a:spLocks noChangeArrowheads="1"/>
          </p:cNvSpPr>
          <p:nvPr/>
        </p:nvSpPr>
        <p:spPr bwMode="auto">
          <a:xfrm>
            <a:off x="282198" y="2214973"/>
            <a:ext cx="11627604"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sử</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thành</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đã</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từ</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nơi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thành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phức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tạp</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đa</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dạng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tiện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khái</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niệm</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Hiểu</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rõ</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định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nghĩa</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mà</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xếp</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hạng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mô</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vị</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trí</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địa</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thị</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trường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mục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mức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ứng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sở</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hữu</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liên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kết</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Xếp</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hạng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thường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dựa</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vào</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chuẩn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chất</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tiện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thường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bao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gồm</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nhiều</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như</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Mỗi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suôn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sẻ</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Xu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hướng</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Ngành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đang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thay</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đổi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áp</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dụng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nghệ</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mới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chú</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vào</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xu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hướng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bền</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vững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đáp</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ứng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nhu</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ngày</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càng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000" b="0"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000" b="0"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Tree>
    <p:extLst>
      <p:ext uri="{BB962C8B-B14F-4D97-AF65-F5344CB8AC3E}">
        <p14:creationId xmlns:p14="http://schemas.microsoft.com/office/powerpoint/2010/main" val="678550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green card with white text&#10;&#10;Description automatically generated">
            <a:extLst>
              <a:ext uri="{FF2B5EF4-FFF2-40B4-BE49-F238E27FC236}">
                <a16:creationId xmlns:a16="http://schemas.microsoft.com/office/drawing/2014/main" id="{BDAC93D2-CC72-E8C6-567E-B4E8E971F2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01113866"/>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2f88751-7a4c-4305-b696-e789f7de0265">
      <Terms xmlns="http://schemas.microsoft.com/office/infopath/2007/PartnerControls"/>
    </lcf76f155ced4ddcb4097134ff3c332f>
    <TaxCatchAll xmlns="baa60a88-59d3-42bb-a655-7426b553620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18724E1BB90574C8A6F10327B0CE2D5" ma:contentTypeVersion="18" ma:contentTypeDescription="Create a new document." ma:contentTypeScope="" ma:versionID="b6bfdbd4fddbe3799e331734638140a2">
  <xsd:schema xmlns:xsd="http://www.w3.org/2001/XMLSchema" xmlns:xs="http://www.w3.org/2001/XMLSchema" xmlns:p="http://schemas.microsoft.com/office/2006/metadata/properties" xmlns:ns2="c2f88751-7a4c-4305-b696-e789f7de0265" xmlns:ns3="baa60a88-59d3-42bb-a655-7426b553620a" targetNamespace="http://schemas.microsoft.com/office/2006/metadata/properties" ma:root="true" ma:fieldsID="43b38f7050eb2d8f92c18b5696e202d3" ns2:_="" ns3:_="">
    <xsd:import namespace="c2f88751-7a4c-4305-b696-e789f7de0265"/>
    <xsd:import namespace="baa60a88-59d3-42bb-a655-7426b553620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f88751-7a4c-4305-b696-e789f7de02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3097a73-77bc-4157-a05a-33c0e637898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a60a88-59d3-42bb-a655-7426b553620a"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c5fb41d-7605-4eb9-be18-2595a3359afa}" ma:internalName="TaxCatchAll" ma:showField="CatchAllData" ma:web="baa60a88-59d3-42bb-a655-7426b55362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49FFEFF-5E3B-4F5E-A677-A3AE9A5F705F}">
  <ds:schemaRefs>
    <ds:schemaRef ds:uri="http://schemas.microsoft.com/sharepoint/v3/contenttype/forms"/>
  </ds:schemaRefs>
</ds:datastoreItem>
</file>

<file path=customXml/itemProps2.xml><?xml version="1.0" encoding="utf-8"?>
<ds:datastoreItem xmlns:ds="http://schemas.openxmlformats.org/officeDocument/2006/customXml" ds:itemID="{3F7FE58E-13C6-47C7-88A5-1D53FF307E73}">
  <ds:schemaRefs>
    <ds:schemaRef ds:uri="http://schemas.microsoft.com/office/2006/metadata/properties"/>
    <ds:schemaRef ds:uri="http://schemas.microsoft.com/office/infopath/2007/PartnerControls"/>
    <ds:schemaRef ds:uri="c2f88751-7a4c-4305-b696-e789f7de0265"/>
    <ds:schemaRef ds:uri="baa60a88-59d3-42bb-a655-7426b553620a"/>
  </ds:schemaRefs>
</ds:datastoreItem>
</file>

<file path=customXml/itemProps3.xml><?xml version="1.0" encoding="utf-8"?>
<ds:datastoreItem xmlns:ds="http://schemas.openxmlformats.org/officeDocument/2006/customXml" ds:itemID="{BC2172D7-7F8D-4436-B7A2-270A479E37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f88751-7a4c-4305-b696-e789f7de0265"/>
    <ds:schemaRef ds:uri="baa60a88-59d3-42bb-a655-7426b55362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1206</TotalTime>
  <Words>4346</Words>
  <Application>Microsoft Office PowerPoint</Application>
  <PresentationFormat>Widescreen</PresentationFormat>
  <Paragraphs>283</Paragraphs>
  <Slides>36</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Calibri Light</vt:lpstr>
      <vt:lpstr>Microsoft Sans Serif</vt:lpstr>
      <vt:lpstr>Times New Roman</vt:lpstr>
      <vt:lpstr>Wingdings</vt:lpstr>
      <vt:lpstr>Custom Design</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4.5. BỘ PHẬN NHÂN SỰ TRONG KHÁCH SẠN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HHO DungDV</dc:creator>
  <cp:lastModifiedBy>VHU ThanhLL</cp:lastModifiedBy>
  <cp:revision>54</cp:revision>
  <dcterms:created xsi:type="dcterms:W3CDTF">2023-09-09T11:03:54Z</dcterms:created>
  <dcterms:modified xsi:type="dcterms:W3CDTF">2025-09-02T15:48:51Z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0x010100718724E1BB90574C8A6F10327B0CE2D5</vt:lpwstr>
  </property>
  <property fmtid="{D5CDD505-2E9C-101B-9397-08002B2CF9AE}" pid="3" name="MediaServiceImageTags">
    <vt:lpwstr/>
  </property>
</Properties>
</file>