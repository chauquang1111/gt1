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3"/>
  </p:notesMasterIdLst>
  <p:sldIdLst>
    <p:sldId id="402" r:id="rId2"/>
    <p:sldId id="257" r:id="rId3"/>
    <p:sldId id="313" r:id="rId4"/>
    <p:sldId id="403" r:id="rId5"/>
    <p:sldId id="315" r:id="rId6"/>
    <p:sldId id="381" r:id="rId7"/>
    <p:sldId id="356" r:id="rId8"/>
    <p:sldId id="317" r:id="rId9"/>
    <p:sldId id="318" r:id="rId10"/>
    <p:sldId id="357" r:id="rId11"/>
    <p:sldId id="358" r:id="rId12"/>
    <p:sldId id="359" r:id="rId13"/>
    <p:sldId id="360" r:id="rId14"/>
    <p:sldId id="362" r:id="rId15"/>
    <p:sldId id="405" r:id="rId16"/>
    <p:sldId id="393" r:id="rId17"/>
    <p:sldId id="365" r:id="rId18"/>
    <p:sldId id="366" r:id="rId19"/>
    <p:sldId id="367" r:id="rId20"/>
    <p:sldId id="404" r:id="rId21"/>
    <p:sldId id="368" r:id="rId22"/>
    <p:sldId id="406" r:id="rId23"/>
    <p:sldId id="369" r:id="rId24"/>
    <p:sldId id="370" r:id="rId25"/>
    <p:sldId id="394" r:id="rId26"/>
    <p:sldId id="395" r:id="rId27"/>
    <p:sldId id="396" r:id="rId28"/>
    <p:sldId id="397" r:id="rId29"/>
    <p:sldId id="371" r:id="rId30"/>
    <p:sldId id="372" r:id="rId31"/>
    <p:sldId id="373" r:id="rId32"/>
    <p:sldId id="375" r:id="rId33"/>
    <p:sldId id="374" r:id="rId34"/>
    <p:sldId id="376" r:id="rId35"/>
    <p:sldId id="377" r:id="rId36"/>
    <p:sldId id="378" r:id="rId37"/>
    <p:sldId id="398" r:id="rId38"/>
    <p:sldId id="399" r:id="rId39"/>
    <p:sldId id="400" r:id="rId40"/>
    <p:sldId id="379" r:id="rId41"/>
    <p:sldId id="401" r:id="rId4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0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413DF93-9B7E-43A0-B407-D74BE9B9E4CD}" type="datetimeFigureOut">
              <a:rPr lang="en-US" smtClean="0"/>
              <a:t>27-Sep-25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54FF7B3-E761-4FFC-BFFB-D99BE1EF9CDB}" type="slidenum">
              <a:rPr lang="en-US" smtClean="0"/>
              <a:t>‹#›</a:t>
            </a:fld>
            <a:endParaRPr lang="en-US"/>
          </a:p>
        </p:txBody>
      </p:sp>
    </p:spTree>
    <p:extLst>
      <p:ext uri="{BB962C8B-B14F-4D97-AF65-F5344CB8AC3E}">
        <p14:creationId xmlns:p14="http://schemas.microsoft.com/office/powerpoint/2010/main" val="42930234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7195703-381E-4D13-9EA2-BC83D76C341E}" type="slidenum">
              <a:rPr lang="en-US" smtClean="0"/>
              <a:t>1</a:t>
            </a:fld>
            <a:endParaRPr lang="en-US"/>
          </a:p>
        </p:txBody>
      </p:sp>
    </p:spTree>
    <p:extLst>
      <p:ext uri="{BB962C8B-B14F-4D97-AF65-F5344CB8AC3E}">
        <p14:creationId xmlns:p14="http://schemas.microsoft.com/office/powerpoint/2010/main" val="3106498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dirty="0"/>
          </a:p>
        </p:txBody>
      </p:sp>
      <p:sp>
        <p:nvSpPr>
          <p:cNvPr id="4" name="Slide Number Placeholder 3"/>
          <p:cNvSpPr>
            <a:spLocks noGrp="1"/>
          </p:cNvSpPr>
          <p:nvPr>
            <p:ph type="sldNum" sz="quarter" idx="5"/>
          </p:nvPr>
        </p:nvSpPr>
        <p:spPr/>
        <p:txBody>
          <a:bodyPr/>
          <a:lstStyle/>
          <a:p>
            <a:fld id="{5EB86FC3-F7B5-4324-A3F3-E8DADC879DC2}" type="slidenum">
              <a:rPr lang="vi-VN" smtClean="0"/>
              <a:t>16</a:t>
            </a:fld>
            <a:endParaRPr lang="vi-VN"/>
          </a:p>
        </p:txBody>
      </p:sp>
    </p:spTree>
    <p:extLst>
      <p:ext uri="{BB962C8B-B14F-4D97-AF65-F5344CB8AC3E}">
        <p14:creationId xmlns:p14="http://schemas.microsoft.com/office/powerpoint/2010/main" val="37746502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dirty="0"/>
          </a:p>
        </p:txBody>
      </p:sp>
      <p:sp>
        <p:nvSpPr>
          <p:cNvPr id="4" name="Slide Number Placeholder 3"/>
          <p:cNvSpPr>
            <a:spLocks noGrp="1"/>
          </p:cNvSpPr>
          <p:nvPr>
            <p:ph type="sldNum" sz="quarter" idx="5"/>
          </p:nvPr>
        </p:nvSpPr>
        <p:spPr/>
        <p:txBody>
          <a:bodyPr/>
          <a:lstStyle/>
          <a:p>
            <a:fld id="{5EB86FC3-F7B5-4324-A3F3-E8DADC879DC2}" type="slidenum">
              <a:rPr lang="vi-VN" smtClean="0"/>
              <a:t>32</a:t>
            </a:fld>
            <a:endParaRPr lang="vi-VN"/>
          </a:p>
        </p:txBody>
      </p:sp>
    </p:spTree>
    <p:extLst>
      <p:ext uri="{BB962C8B-B14F-4D97-AF65-F5344CB8AC3E}">
        <p14:creationId xmlns:p14="http://schemas.microsoft.com/office/powerpoint/2010/main" val="23191343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5FADDBA6-7898-4A7E-81D8-4315F9153EB6}" type="datetimeFigureOut">
              <a:rPr lang="en-US" smtClean="0"/>
              <a:t>27-Sep-25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6E2A7F9-E658-489E-9D02-A8C67FB1B49C}" type="slidenum">
              <a:rPr lang="en-US" smtClean="0"/>
              <a:t>‹#›</a:t>
            </a:fld>
            <a:endParaRPr lang="en-US"/>
          </a:p>
        </p:txBody>
      </p:sp>
    </p:spTree>
    <p:extLst>
      <p:ext uri="{BB962C8B-B14F-4D97-AF65-F5344CB8AC3E}">
        <p14:creationId xmlns:p14="http://schemas.microsoft.com/office/powerpoint/2010/main" val="20808007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FADDBA6-7898-4A7E-81D8-4315F9153EB6}" type="datetimeFigureOut">
              <a:rPr lang="en-US" smtClean="0"/>
              <a:t>27-Sep-25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6E2A7F9-E658-489E-9D02-A8C67FB1B49C}" type="slidenum">
              <a:rPr lang="en-US" smtClean="0"/>
              <a:t>‹#›</a:t>
            </a:fld>
            <a:endParaRPr lang="en-US"/>
          </a:p>
        </p:txBody>
      </p:sp>
    </p:spTree>
    <p:extLst>
      <p:ext uri="{BB962C8B-B14F-4D97-AF65-F5344CB8AC3E}">
        <p14:creationId xmlns:p14="http://schemas.microsoft.com/office/powerpoint/2010/main" val="13582776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FADDBA6-7898-4A7E-81D8-4315F9153EB6}" type="datetimeFigureOut">
              <a:rPr lang="en-US" smtClean="0"/>
              <a:t>27-Sep-25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6E2A7F9-E658-489E-9D02-A8C67FB1B49C}" type="slidenum">
              <a:rPr lang="en-US" smtClean="0"/>
              <a:t>‹#›</a:t>
            </a:fld>
            <a:endParaRPr lang="en-US"/>
          </a:p>
        </p:txBody>
      </p:sp>
    </p:spTree>
    <p:extLst>
      <p:ext uri="{BB962C8B-B14F-4D97-AF65-F5344CB8AC3E}">
        <p14:creationId xmlns:p14="http://schemas.microsoft.com/office/powerpoint/2010/main" val="22130837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FADDBA6-7898-4A7E-81D8-4315F9153EB6}" type="datetimeFigureOut">
              <a:rPr lang="en-US" smtClean="0"/>
              <a:t>27-Sep-25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6E2A7F9-E658-489E-9D02-A8C67FB1B49C}" type="slidenum">
              <a:rPr lang="en-US" smtClean="0"/>
              <a:t>‹#›</a:t>
            </a:fld>
            <a:endParaRPr lang="en-US"/>
          </a:p>
        </p:txBody>
      </p:sp>
    </p:spTree>
    <p:extLst>
      <p:ext uri="{BB962C8B-B14F-4D97-AF65-F5344CB8AC3E}">
        <p14:creationId xmlns:p14="http://schemas.microsoft.com/office/powerpoint/2010/main" val="12087988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FADDBA6-7898-4A7E-81D8-4315F9153EB6}" type="datetimeFigureOut">
              <a:rPr lang="en-US" smtClean="0"/>
              <a:t>27-Sep-25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6E2A7F9-E658-489E-9D02-A8C67FB1B49C}" type="slidenum">
              <a:rPr lang="en-US" smtClean="0"/>
              <a:t>‹#›</a:t>
            </a:fld>
            <a:endParaRPr lang="en-US"/>
          </a:p>
        </p:txBody>
      </p:sp>
    </p:spTree>
    <p:extLst>
      <p:ext uri="{BB962C8B-B14F-4D97-AF65-F5344CB8AC3E}">
        <p14:creationId xmlns:p14="http://schemas.microsoft.com/office/powerpoint/2010/main" val="20707206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FADDBA6-7898-4A7E-81D8-4315F9153EB6}" type="datetimeFigureOut">
              <a:rPr lang="en-US" smtClean="0"/>
              <a:t>27-Sep-25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6E2A7F9-E658-489E-9D02-A8C67FB1B49C}" type="slidenum">
              <a:rPr lang="en-US" smtClean="0"/>
              <a:t>‹#›</a:t>
            </a:fld>
            <a:endParaRPr lang="en-US"/>
          </a:p>
        </p:txBody>
      </p:sp>
    </p:spTree>
    <p:extLst>
      <p:ext uri="{BB962C8B-B14F-4D97-AF65-F5344CB8AC3E}">
        <p14:creationId xmlns:p14="http://schemas.microsoft.com/office/powerpoint/2010/main" val="39157004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FADDBA6-7898-4A7E-81D8-4315F9153EB6}" type="datetimeFigureOut">
              <a:rPr lang="en-US" smtClean="0"/>
              <a:t>27-Sep-25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6E2A7F9-E658-489E-9D02-A8C67FB1B49C}" type="slidenum">
              <a:rPr lang="en-US" smtClean="0"/>
              <a:t>‹#›</a:t>
            </a:fld>
            <a:endParaRPr lang="en-US"/>
          </a:p>
        </p:txBody>
      </p:sp>
    </p:spTree>
    <p:extLst>
      <p:ext uri="{BB962C8B-B14F-4D97-AF65-F5344CB8AC3E}">
        <p14:creationId xmlns:p14="http://schemas.microsoft.com/office/powerpoint/2010/main" val="31675670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FADDBA6-7898-4A7E-81D8-4315F9153EB6}" type="datetimeFigureOut">
              <a:rPr lang="en-US" smtClean="0"/>
              <a:t>27-Sep-25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6E2A7F9-E658-489E-9D02-A8C67FB1B49C}" type="slidenum">
              <a:rPr lang="en-US" smtClean="0"/>
              <a:t>‹#›</a:t>
            </a:fld>
            <a:endParaRPr lang="en-US"/>
          </a:p>
        </p:txBody>
      </p:sp>
    </p:spTree>
    <p:extLst>
      <p:ext uri="{BB962C8B-B14F-4D97-AF65-F5344CB8AC3E}">
        <p14:creationId xmlns:p14="http://schemas.microsoft.com/office/powerpoint/2010/main" val="18906973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FADDBA6-7898-4A7E-81D8-4315F9153EB6}" type="datetimeFigureOut">
              <a:rPr lang="en-US" smtClean="0"/>
              <a:t>27-Sep-25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6E2A7F9-E658-489E-9D02-A8C67FB1B49C}" type="slidenum">
              <a:rPr lang="en-US" smtClean="0"/>
              <a:t>‹#›</a:t>
            </a:fld>
            <a:endParaRPr lang="en-US"/>
          </a:p>
        </p:txBody>
      </p:sp>
    </p:spTree>
    <p:extLst>
      <p:ext uri="{BB962C8B-B14F-4D97-AF65-F5344CB8AC3E}">
        <p14:creationId xmlns:p14="http://schemas.microsoft.com/office/powerpoint/2010/main" val="42448622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FADDBA6-7898-4A7E-81D8-4315F9153EB6}" type="datetimeFigureOut">
              <a:rPr lang="en-US" smtClean="0"/>
              <a:t>27-Sep-25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6E2A7F9-E658-489E-9D02-A8C67FB1B49C}" type="slidenum">
              <a:rPr lang="en-US" smtClean="0"/>
              <a:t>‹#›</a:t>
            </a:fld>
            <a:endParaRPr lang="en-US"/>
          </a:p>
        </p:txBody>
      </p:sp>
    </p:spTree>
    <p:extLst>
      <p:ext uri="{BB962C8B-B14F-4D97-AF65-F5344CB8AC3E}">
        <p14:creationId xmlns:p14="http://schemas.microsoft.com/office/powerpoint/2010/main" val="41992872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838200" y="6356350"/>
            <a:ext cx="2743200" cy="365125"/>
          </a:xfrm>
          <a:prstGeom prst="rect">
            <a:avLst/>
          </a:prstGeom>
        </p:spPr>
        <p:txBody>
          <a:bodyPr/>
          <a:lstStyle/>
          <a:p>
            <a:fld id="{B5D40311-D2C8-4007-B8EC-A7E1A9E8CEE2}" type="datetimeFigureOut">
              <a:rPr lang="en-US" smtClean="0"/>
              <a:t>27-Sep-25</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466D83D6-630B-4019-815A-F2FC81903338}" type="slidenum">
              <a:rPr lang="en-US" smtClean="0"/>
              <a:t>‹#›</a:t>
            </a:fld>
            <a:endParaRPr lang="en-US"/>
          </a:p>
        </p:txBody>
      </p:sp>
      <p:pic>
        <p:nvPicPr>
          <p:cNvPr id="3" name="Picture 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62" y="428"/>
            <a:ext cx="12190476" cy="6857143"/>
          </a:xfrm>
          <a:prstGeom prst="rect">
            <a:avLst/>
          </a:prstGeom>
        </p:spPr>
      </p:pic>
    </p:spTree>
    <p:extLst>
      <p:ext uri="{BB962C8B-B14F-4D97-AF65-F5344CB8AC3E}">
        <p14:creationId xmlns:p14="http://schemas.microsoft.com/office/powerpoint/2010/main" val="289441843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B5D40311-D2C8-4007-B8EC-A7E1A9E8CEE2}" type="datetimeFigureOut">
              <a:rPr lang="en-US" smtClean="0"/>
              <a:t>27-Sep-25</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466D83D6-630B-4019-815A-F2FC81903338}" type="slidenum">
              <a:rPr lang="en-US" smtClean="0"/>
              <a:t>‹#›</a:t>
            </a:fld>
            <a:endParaRPr lang="en-US"/>
          </a:p>
        </p:txBody>
      </p:sp>
    </p:spTree>
    <p:extLst>
      <p:ext uri="{BB962C8B-B14F-4D97-AF65-F5344CB8AC3E}">
        <p14:creationId xmlns:p14="http://schemas.microsoft.com/office/powerpoint/2010/main" val="377277258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Tree>
    <p:extLst>
      <p:ext uri="{BB962C8B-B14F-4D97-AF65-F5344CB8AC3E}">
        <p14:creationId xmlns:p14="http://schemas.microsoft.com/office/powerpoint/2010/main" val="382034068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Tree>
    <p:extLst>
      <p:ext uri="{BB962C8B-B14F-4D97-AF65-F5344CB8AC3E}">
        <p14:creationId xmlns:p14="http://schemas.microsoft.com/office/powerpoint/2010/main" val="6476917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6">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FADDBA6-7898-4A7E-81D8-4315F9153EB6}" type="datetimeFigureOut">
              <a:rPr lang="en-US" smtClean="0"/>
              <a:t>27-Sep-25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6E2A7F9-E658-489E-9D02-A8C67FB1B49C}" type="slidenum">
              <a:rPr lang="en-US" smtClean="0"/>
              <a:t>‹#›</a:t>
            </a:fld>
            <a:endParaRPr lang="en-US"/>
          </a:p>
        </p:txBody>
      </p:sp>
    </p:spTree>
    <p:extLst>
      <p:ext uri="{BB962C8B-B14F-4D97-AF65-F5344CB8AC3E}">
        <p14:creationId xmlns:p14="http://schemas.microsoft.com/office/powerpoint/2010/main" val="95018327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1.xml"/><Relationship Id="rId5" Type="http://schemas.openxmlformats.org/officeDocument/2006/relationships/image" Target="../media/image5.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6.pn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12.xml"/><Relationship Id="rId4" Type="http://schemas.openxmlformats.org/officeDocument/2006/relationships/image" Target="../media/image13.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2.xml"/><Relationship Id="rId5" Type="http://schemas.openxmlformats.org/officeDocument/2006/relationships/image" Target="../media/image18.png"/><Relationship Id="rId4" Type="http://schemas.openxmlformats.org/officeDocument/2006/relationships/image" Target="../media/image17.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12.xml"/><Relationship Id="rId4" Type="http://schemas.openxmlformats.org/officeDocument/2006/relationships/image" Target="../media/image21.png"/></Relationships>
</file>

<file path=ppt/slides/_rels/slide4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rtboard 1"/>
          <p:cNvPicPr>
            <a:picLocks noChangeAspect="1"/>
          </p:cNvPicPr>
          <p:nvPr/>
        </p:nvPicPr>
        <p:blipFill>
          <a:blip r:embed="rId3"/>
          <a:stretch>
            <a:fillRect/>
          </a:stretch>
        </p:blipFill>
        <p:spPr>
          <a:xfrm>
            <a:off x="0" y="-9413"/>
            <a:ext cx="12190730" cy="6857365"/>
          </a:xfrm>
          <a:prstGeom prst="rect">
            <a:avLst/>
          </a:prstGeom>
        </p:spPr>
      </p:pic>
      <p:sp>
        <p:nvSpPr>
          <p:cNvPr id="5" name="TextBox 6"/>
          <p:cNvSpPr txBox="1"/>
          <p:nvPr/>
        </p:nvSpPr>
        <p:spPr>
          <a:xfrm>
            <a:off x="6941584" y="4196532"/>
            <a:ext cx="4562946" cy="958660"/>
          </a:xfrm>
          <a:prstGeom prst="rect">
            <a:avLst/>
          </a:prstGeom>
          <a:noFill/>
        </p:spPr>
        <p:txBody>
          <a:bodyPr wrap="square" rtlCol="0">
            <a:spAutoFit/>
          </a:bodyPr>
          <a:lstStyle/>
          <a:p>
            <a:pPr lvl="0">
              <a:lnSpc>
                <a:spcPct val="150000"/>
              </a:lnSpc>
              <a:defRPr/>
            </a:pPr>
            <a:r>
              <a:rPr lang="en-US" sz="2000" b="1" dirty="0" err="1">
                <a:solidFill>
                  <a:prstClr val="white"/>
                </a:solidFill>
                <a:latin typeface="Arial" panose="020B0604020202020204" pitchFamily="34" charset="0"/>
                <a:cs typeface="Arial" panose="020B0604020202020204" pitchFamily="34" charset="0"/>
              </a:rPr>
              <a:t>Giảng</a:t>
            </a:r>
            <a:r>
              <a:rPr lang="en-US" sz="2000" b="1" dirty="0">
                <a:solidFill>
                  <a:prstClr val="white"/>
                </a:solidFill>
                <a:latin typeface="Arial" panose="020B0604020202020204" pitchFamily="34" charset="0"/>
                <a:cs typeface="Arial" panose="020B0604020202020204" pitchFamily="34" charset="0"/>
              </a:rPr>
              <a:t> </a:t>
            </a:r>
            <a:r>
              <a:rPr lang="en-US" sz="2000" b="1" dirty="0" err="1">
                <a:solidFill>
                  <a:prstClr val="white"/>
                </a:solidFill>
                <a:latin typeface="Arial" panose="020B0604020202020204" pitchFamily="34" charset="0"/>
                <a:cs typeface="Arial" panose="020B0604020202020204" pitchFamily="34" charset="0"/>
              </a:rPr>
              <a:t>viên</a:t>
            </a:r>
            <a:r>
              <a:rPr lang="en-US" sz="2000" b="1" dirty="0">
                <a:solidFill>
                  <a:prstClr val="white"/>
                </a:solidFill>
                <a:latin typeface="Arial" panose="020B0604020202020204" pitchFamily="34" charset="0"/>
                <a:cs typeface="Arial" panose="020B0604020202020204" pitchFamily="34" charset="0"/>
              </a:rPr>
              <a:t>: </a:t>
            </a:r>
            <a:r>
              <a:rPr lang="en-US" sz="2000" b="1" dirty="0" err="1">
                <a:solidFill>
                  <a:prstClr val="white"/>
                </a:solidFill>
                <a:latin typeface="Arial" panose="020B0604020202020204" pitchFamily="34" charset="0"/>
                <a:cs typeface="Arial" panose="020B0604020202020204" pitchFamily="34" charset="0"/>
              </a:rPr>
              <a:t>ThS</a:t>
            </a:r>
            <a:r>
              <a:rPr lang="en-US" sz="2000" b="1" dirty="0">
                <a:solidFill>
                  <a:prstClr val="white"/>
                </a:solidFill>
                <a:latin typeface="Arial" panose="020B0604020202020204" pitchFamily="34" charset="0"/>
                <a:cs typeface="Arial" panose="020B0604020202020204" pitchFamily="34" charset="0"/>
              </a:rPr>
              <a:t>. Lý Liệt Thanh </a:t>
            </a:r>
          </a:p>
          <a:p>
            <a:pPr lvl="0">
              <a:lnSpc>
                <a:spcPct val="150000"/>
              </a:lnSpc>
              <a:defRPr/>
            </a:pPr>
            <a:r>
              <a:rPr lang="en-US" sz="2000" b="1" dirty="0" err="1">
                <a:solidFill>
                  <a:prstClr val="white"/>
                </a:solidFill>
                <a:latin typeface="Arial" panose="020B0604020202020204" pitchFamily="34" charset="0"/>
                <a:cs typeface="Arial" panose="020B0604020202020204" pitchFamily="34" charset="0"/>
              </a:rPr>
              <a:t>Thời</a:t>
            </a:r>
            <a:r>
              <a:rPr lang="en-US" sz="2000" b="1" dirty="0">
                <a:solidFill>
                  <a:prstClr val="white"/>
                </a:solidFill>
                <a:latin typeface="Arial" panose="020B0604020202020204" pitchFamily="34" charset="0"/>
                <a:cs typeface="Arial" panose="020B0604020202020204" pitchFamily="34" charset="0"/>
              </a:rPr>
              <a:t> </a:t>
            </a:r>
            <a:r>
              <a:rPr lang="en-US" sz="2000" b="1" dirty="0" err="1">
                <a:solidFill>
                  <a:prstClr val="white"/>
                </a:solidFill>
                <a:latin typeface="Arial" panose="020B0604020202020204" pitchFamily="34" charset="0"/>
                <a:cs typeface="Arial" panose="020B0604020202020204" pitchFamily="34" charset="0"/>
              </a:rPr>
              <a:t>lượng</a:t>
            </a:r>
            <a:r>
              <a:rPr lang="en-US" sz="2000" b="1" dirty="0">
                <a:solidFill>
                  <a:prstClr val="white"/>
                </a:solidFill>
                <a:latin typeface="Arial" panose="020B0604020202020204" pitchFamily="34" charset="0"/>
                <a:cs typeface="Arial" panose="020B0604020202020204" pitchFamily="34" charset="0"/>
              </a:rPr>
              <a:t>: 30 </a:t>
            </a:r>
            <a:r>
              <a:rPr lang="en-US" sz="2000" b="1" dirty="0" err="1">
                <a:solidFill>
                  <a:prstClr val="white"/>
                </a:solidFill>
                <a:latin typeface="Arial" panose="020B0604020202020204" pitchFamily="34" charset="0"/>
                <a:cs typeface="Arial" panose="020B0604020202020204" pitchFamily="34" charset="0"/>
              </a:rPr>
              <a:t>tiết</a:t>
            </a:r>
            <a:endParaRPr lang="vi-VN" sz="2000" b="1" dirty="0">
              <a:solidFill>
                <a:prstClr val="white"/>
              </a:solidFill>
              <a:cs typeface="Arial" panose="020B0604020202020204" pitchFamily="34" charset="0"/>
            </a:endParaRPr>
          </a:p>
        </p:txBody>
      </p:sp>
      <p:pic>
        <p:nvPicPr>
          <p:cNvPr id="9" name="Picture 8" descr="Untitled-4"/>
          <p:cNvPicPr>
            <a:picLocks noChangeAspect="1"/>
          </p:cNvPicPr>
          <p:nvPr/>
        </p:nvPicPr>
        <p:blipFill>
          <a:blip r:embed="rId4"/>
          <a:stretch>
            <a:fillRect/>
          </a:stretch>
        </p:blipFill>
        <p:spPr>
          <a:xfrm>
            <a:off x="6790055" y="985520"/>
            <a:ext cx="4866005" cy="1176020"/>
          </a:xfrm>
          <a:prstGeom prst="rect">
            <a:avLst/>
          </a:prstGeom>
        </p:spPr>
      </p:pic>
      <p:sp>
        <p:nvSpPr>
          <p:cNvPr id="7" name="TextBox 16">
            <a:extLst>
              <a:ext uri="{FF2B5EF4-FFF2-40B4-BE49-F238E27FC236}">
                <a16:creationId xmlns:a16="http://schemas.microsoft.com/office/drawing/2014/main" id="{F4DAA269-80D9-0965-13FC-31B6B3CE4AAD}"/>
              </a:ext>
            </a:extLst>
          </p:cNvPr>
          <p:cNvSpPr txBox="1"/>
          <p:nvPr/>
        </p:nvSpPr>
        <p:spPr>
          <a:xfrm>
            <a:off x="5561474" y="2703065"/>
            <a:ext cx="7017816" cy="95410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FFC000"/>
                </a:solidFill>
                <a:effectLst/>
                <a:uLnTx/>
                <a:uFillTx/>
                <a:latin typeface="Times New Roman" panose="02020603050405020304" pitchFamily="18" charset="0"/>
                <a:ea typeface="+mn-ea"/>
                <a:cs typeface="Times New Roman" panose="02020603050405020304" pitchFamily="18" charset="0"/>
              </a:rPr>
              <a:t>TỔNG QUAN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FFC000"/>
                </a:solidFill>
                <a:effectLst/>
                <a:uLnTx/>
                <a:uFillTx/>
                <a:latin typeface="Times New Roman" panose="02020603050405020304" pitchFamily="18" charset="0"/>
                <a:ea typeface="+mn-ea"/>
                <a:cs typeface="Times New Roman" panose="02020603050405020304" pitchFamily="18" charset="0"/>
              </a:rPr>
              <a:t>QUẢN TRỊ KHÁCH SẠN </a:t>
            </a:r>
          </a:p>
        </p:txBody>
      </p:sp>
      <p:pic>
        <p:nvPicPr>
          <p:cNvPr id="8" name="Picture 7">
            <a:extLst>
              <a:ext uri="{FF2B5EF4-FFF2-40B4-BE49-F238E27FC236}">
                <a16:creationId xmlns:a16="http://schemas.microsoft.com/office/drawing/2014/main" id="{6813C165-78AF-FA6C-0ECE-9DFD5530E5D5}"/>
              </a:ext>
            </a:extLst>
          </p:cNvPr>
          <p:cNvPicPr>
            <a:picLocks noChangeAspect="1"/>
          </p:cNvPicPr>
          <p:nvPr/>
        </p:nvPicPr>
        <p:blipFill>
          <a:blip r:embed="rId5"/>
          <a:stretch>
            <a:fillRect/>
          </a:stretch>
        </p:blipFill>
        <p:spPr>
          <a:xfrm>
            <a:off x="0" y="-153600"/>
            <a:ext cx="12192000" cy="7011600"/>
          </a:xfrm>
          <a:prstGeom prst="rect">
            <a:avLst/>
          </a:prstGeom>
        </p:spPr>
      </p:pic>
    </p:spTree>
    <p:extLst>
      <p:ext uri="{BB962C8B-B14F-4D97-AF65-F5344CB8AC3E}">
        <p14:creationId xmlns:p14="http://schemas.microsoft.com/office/powerpoint/2010/main" val="37568934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37CE89D-F5E8-E54B-7E31-EB19AA8EB20B}"/>
              </a:ext>
            </a:extLst>
          </p:cNvPr>
          <p:cNvSpPr txBox="1"/>
          <p:nvPr/>
        </p:nvSpPr>
        <p:spPr>
          <a:xfrm>
            <a:off x="1066800" y="2092269"/>
            <a:ext cx="10058400" cy="2123658"/>
          </a:xfrm>
          <a:prstGeom prst="rect">
            <a:avLst/>
          </a:prstGeom>
          <a:noFill/>
        </p:spPr>
        <p:txBody>
          <a:bodyPr wrap="square" rtlCol="0">
            <a:spAutoFit/>
          </a:bodyPr>
          <a:lstStyle/>
          <a:p>
            <a:pPr algn="ctr"/>
            <a:r>
              <a:rPr lang="en-US" sz="66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TỔNG QUAN </a:t>
            </a:r>
          </a:p>
          <a:p>
            <a:pPr algn="ctr"/>
            <a:r>
              <a:rPr lang="en-US" sz="66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QUẢN TRỊ KHÁCH SẠN </a:t>
            </a:r>
            <a:endParaRPr lang="vi-VN" sz="66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spTree>
    <p:extLst>
      <p:ext uri="{BB962C8B-B14F-4D97-AF65-F5344CB8AC3E}">
        <p14:creationId xmlns:p14="http://schemas.microsoft.com/office/powerpoint/2010/main" val="13971189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D967845-BD81-70EA-7817-C87B727B0981}"/>
              </a:ext>
            </a:extLst>
          </p:cNvPr>
          <p:cNvSpPr txBox="1"/>
          <p:nvPr/>
        </p:nvSpPr>
        <p:spPr>
          <a:xfrm>
            <a:off x="423620" y="1445599"/>
            <a:ext cx="6400800" cy="584775"/>
          </a:xfrm>
          <a:prstGeom prst="rect">
            <a:avLst/>
          </a:prstGeom>
          <a:solidFill>
            <a:schemeClr val="accent2"/>
          </a:solidFill>
        </p:spPr>
        <p:txBody>
          <a:bodyPr wrap="square" rtlCol="0">
            <a:spAutoFit/>
          </a:bodyPr>
          <a:lstStyle/>
          <a:p>
            <a:r>
              <a:rPr lang="en-US" sz="3200" b="1" dirty="0">
                <a:solidFill>
                  <a:srgbClr val="FFFF00"/>
                </a:solidFill>
                <a:latin typeface="Microsoft Sans Serif" panose="020B0604020202020204" pitchFamily="34" charset="0"/>
                <a:ea typeface="Microsoft Sans Serif" panose="020B0604020202020204" pitchFamily="34" charset="0"/>
                <a:cs typeface="Microsoft Sans Serif" panose="020B0604020202020204" pitchFamily="34" charset="0"/>
              </a:rPr>
              <a:t>MỤC TIÊU  MÔN HỌC </a:t>
            </a:r>
            <a:endParaRPr lang="vi-VN" sz="3200" b="1" dirty="0">
              <a:solidFill>
                <a:srgbClr val="FFFF0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sp>
        <p:nvSpPr>
          <p:cNvPr id="4" name="TextBox 3">
            <a:extLst>
              <a:ext uri="{FF2B5EF4-FFF2-40B4-BE49-F238E27FC236}">
                <a16:creationId xmlns:a16="http://schemas.microsoft.com/office/drawing/2014/main" id="{02C6DCF9-2315-620C-C476-599EC479915E}"/>
              </a:ext>
            </a:extLst>
          </p:cNvPr>
          <p:cNvSpPr txBox="1"/>
          <p:nvPr/>
        </p:nvSpPr>
        <p:spPr>
          <a:xfrm>
            <a:off x="423620" y="2420790"/>
            <a:ext cx="11344760" cy="3604898"/>
          </a:xfrm>
          <a:prstGeom prst="rect">
            <a:avLst/>
          </a:prstGeom>
          <a:noFill/>
        </p:spPr>
        <p:txBody>
          <a:bodyPr wrap="square">
            <a:spAutoFit/>
          </a:bodyPr>
          <a:lstStyle/>
          <a:p>
            <a:pPr marL="285750" indent="-285750" algn="just">
              <a:lnSpc>
                <a:spcPct val="115000"/>
              </a:lnSpc>
              <a:spcBef>
                <a:spcPts val="1200"/>
              </a:spcBef>
              <a:spcAft>
                <a:spcPts val="300"/>
              </a:spcAft>
              <a:buFont typeface="Wingdings" panose="05000000000000000000" pitchFamily="2" charset="2"/>
              <a:buChar char="q"/>
            </a:pP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Cung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cấp</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cho</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người</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học</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những</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kiến</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thức</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chung</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về</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cơ</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cấu</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tổ</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chức</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và</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phân</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công</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lao</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động</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trong</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sạn</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vai</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trò</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và</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nhiệm</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vụ</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của</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các</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bộ</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phận</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trong</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sạn</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p>
          <a:p>
            <a:pPr marL="285750" indent="-285750" algn="just">
              <a:lnSpc>
                <a:spcPct val="115000"/>
              </a:lnSpc>
              <a:spcBef>
                <a:spcPts val="1200"/>
              </a:spcBef>
              <a:spcAft>
                <a:spcPts val="300"/>
              </a:spcAft>
              <a:buFont typeface="Wingdings" panose="05000000000000000000" pitchFamily="2" charset="2"/>
              <a:buChar char="q"/>
            </a:pP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Trang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bị</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kiến</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thức</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về</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quản</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lý</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hoạt</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động</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của</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các</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bộ</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phận</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trong</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sạn</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và</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mối</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quan</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hệ</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giữa</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các</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bộ</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phận</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trong</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sạn</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p>
          <a:p>
            <a:pPr marL="285750" indent="-285750" algn="just">
              <a:lnSpc>
                <a:spcPct val="115000"/>
              </a:lnSpc>
              <a:spcBef>
                <a:spcPts val="1200"/>
              </a:spcBef>
              <a:spcAft>
                <a:spcPts val="300"/>
              </a:spcAft>
              <a:buFont typeface="Wingdings" panose="05000000000000000000" pitchFamily="2" charset="2"/>
              <a:buChar char="q"/>
            </a:pP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Phát</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triển</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việc</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giao</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tiếp</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hiệu</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quả</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giữa</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các</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bộ</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phận</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trong</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sạn</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và</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xây</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dựng</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mối</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quan</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hệ</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giữa</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các</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bộ</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phận</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trong</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sạn</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p>
          <a:p>
            <a:pPr marL="285750" indent="-285750" algn="just">
              <a:lnSpc>
                <a:spcPct val="115000"/>
              </a:lnSpc>
              <a:spcBef>
                <a:spcPts val="1200"/>
              </a:spcBef>
              <a:spcAft>
                <a:spcPts val="300"/>
              </a:spcAft>
              <a:buFont typeface="Wingdings" panose="05000000000000000000" pitchFamily="2" charset="2"/>
              <a:buChar char="q"/>
            </a:pP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Phát</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triển</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kỹ</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năng</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phân</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tích</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lập</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luận</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và</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thuyết</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trình</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hiệu</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quả</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p>
        </p:txBody>
      </p:sp>
    </p:spTree>
    <p:extLst>
      <p:ext uri="{BB962C8B-B14F-4D97-AF65-F5344CB8AC3E}">
        <p14:creationId xmlns:p14="http://schemas.microsoft.com/office/powerpoint/2010/main" val="23088176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E344ED3-5042-BBEE-12C1-34C48731D4BA}"/>
              </a:ext>
            </a:extLst>
          </p:cNvPr>
          <p:cNvSpPr txBox="1"/>
          <p:nvPr/>
        </p:nvSpPr>
        <p:spPr>
          <a:xfrm>
            <a:off x="5366657" y="238499"/>
            <a:ext cx="6507996" cy="523220"/>
          </a:xfrm>
          <a:prstGeom prst="rect">
            <a:avLst/>
          </a:prstGeom>
          <a:noFill/>
        </p:spPr>
        <p:txBody>
          <a:bodyPr wrap="square" rtlCol="0">
            <a:spAutoFit/>
          </a:bodyPr>
          <a:lstStyle/>
          <a:p>
            <a:pPr algn="ctr"/>
            <a:r>
              <a:rPr lang="en-US" sz="2800" b="1" dirty="0">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a:t>NỘI DUNG CHƯƠNG TRÌNH  </a:t>
            </a:r>
            <a:endParaRPr lang="vi-VN" sz="2800" b="1" dirty="0">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graphicFrame>
        <p:nvGraphicFramePr>
          <p:cNvPr id="4" name="Table 3">
            <a:extLst>
              <a:ext uri="{FF2B5EF4-FFF2-40B4-BE49-F238E27FC236}">
                <a16:creationId xmlns:a16="http://schemas.microsoft.com/office/drawing/2014/main" id="{5C02EC93-EA35-C460-37CD-2B7687E052C0}"/>
              </a:ext>
            </a:extLst>
          </p:cNvPr>
          <p:cNvGraphicFramePr>
            <a:graphicFrameLocks noGrp="1"/>
          </p:cNvGraphicFramePr>
          <p:nvPr/>
        </p:nvGraphicFramePr>
        <p:xfrm>
          <a:off x="294468" y="1064125"/>
          <a:ext cx="10879810" cy="1820802"/>
        </p:xfrm>
        <a:graphic>
          <a:graphicData uri="http://schemas.openxmlformats.org/drawingml/2006/table">
            <a:tbl>
              <a:tblPr>
                <a:tableStyleId>{5C22544A-7EE6-4342-B048-85BDC9FD1C3A}</a:tableStyleId>
              </a:tblPr>
              <a:tblGrid>
                <a:gridCol w="1789205">
                  <a:extLst>
                    <a:ext uri="{9D8B030D-6E8A-4147-A177-3AD203B41FA5}">
                      <a16:colId xmlns:a16="http://schemas.microsoft.com/office/drawing/2014/main" val="2368574806"/>
                    </a:ext>
                  </a:extLst>
                </a:gridCol>
                <a:gridCol w="9090605">
                  <a:extLst>
                    <a:ext uri="{9D8B030D-6E8A-4147-A177-3AD203B41FA5}">
                      <a16:colId xmlns:a16="http://schemas.microsoft.com/office/drawing/2014/main" val="470480153"/>
                    </a:ext>
                  </a:extLst>
                </a:gridCol>
              </a:tblGrid>
              <a:tr h="0">
                <a:tc>
                  <a:txBody>
                    <a:bodyPr/>
                    <a:lstStyle/>
                    <a:p>
                      <a:pPr algn="ctr">
                        <a:lnSpc>
                          <a:spcPct val="115000"/>
                        </a:lnSpc>
                        <a:spcAft>
                          <a:spcPts val="300"/>
                        </a:spcAft>
                      </a:pPr>
                      <a:r>
                        <a:rPr lang="nl-NL" sz="19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Chương</a:t>
                      </a:r>
                      <a:r>
                        <a:rPr lang="en-US" sz="19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1</a:t>
                      </a:r>
                    </a:p>
                  </a:txBody>
                  <a:tcPr marL="66299" marR="66299" marT="0" marB="0" anchor="ctr"/>
                </a:tc>
                <a:tc>
                  <a:txBody>
                    <a:bodyPr/>
                    <a:lstStyle/>
                    <a:p>
                      <a:r>
                        <a:rPr lang="en-US" sz="19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Tổng</a:t>
                      </a:r>
                      <a:r>
                        <a:rPr lang="en-US" sz="19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quan</a:t>
                      </a:r>
                      <a:r>
                        <a:rPr lang="en-US" sz="19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về</a:t>
                      </a:r>
                      <a:r>
                        <a:rPr lang="en-US" sz="19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lang="en-US" sz="19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sạn</a:t>
                      </a:r>
                      <a:endParaRPr lang="en-US" sz="19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marL="66299" marR="66299" marT="0" marB="0"/>
                </a:tc>
                <a:extLst>
                  <a:ext uri="{0D108BD9-81ED-4DB2-BD59-A6C34878D82A}">
                    <a16:rowId xmlns:a16="http://schemas.microsoft.com/office/drawing/2014/main" val="476048800"/>
                  </a:ext>
                </a:extLst>
              </a:tr>
              <a:tr h="202581">
                <a:tc>
                  <a:txBody>
                    <a:bodyPr/>
                    <a:lstStyle/>
                    <a:p>
                      <a:pPr algn="ctr">
                        <a:lnSpc>
                          <a:spcPct val="115000"/>
                        </a:lnSpc>
                        <a:spcAft>
                          <a:spcPts val="300"/>
                        </a:spcAft>
                      </a:pPr>
                      <a:r>
                        <a:rPr lang="nl-NL" sz="19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1.1.</a:t>
                      </a:r>
                      <a:endParaRPr lang="en-US" sz="19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marL="66299" marR="66299" marT="0" marB="0" anchor="ctr"/>
                </a:tc>
                <a:tc>
                  <a:txBody>
                    <a:bodyPr/>
                    <a:lstStyle/>
                    <a:p>
                      <a:r>
                        <a:rPr lang="nl-NL" sz="19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Lịch sử hình thành và phát triển của ngành kinh doanh khách sạn</a:t>
                      </a:r>
                      <a:endParaRPr lang="en-US" sz="19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marL="66299" marR="66299" marT="0" marB="0"/>
                </a:tc>
                <a:extLst>
                  <a:ext uri="{0D108BD9-81ED-4DB2-BD59-A6C34878D82A}">
                    <a16:rowId xmlns:a16="http://schemas.microsoft.com/office/drawing/2014/main" val="3460742267"/>
                  </a:ext>
                </a:extLst>
              </a:tr>
              <a:tr h="202581">
                <a:tc>
                  <a:txBody>
                    <a:bodyPr/>
                    <a:lstStyle/>
                    <a:p>
                      <a:pPr algn="ctr">
                        <a:lnSpc>
                          <a:spcPct val="115000"/>
                        </a:lnSpc>
                        <a:spcAft>
                          <a:spcPts val="300"/>
                        </a:spcAft>
                      </a:pPr>
                      <a:r>
                        <a:rPr lang="nl-NL" sz="190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1.2.</a:t>
                      </a:r>
                      <a:endParaRPr lang="en-US" sz="190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marL="66299" marR="66299" marT="0" marB="0" anchor="ctr"/>
                </a:tc>
                <a:tc>
                  <a:txBody>
                    <a:bodyPr/>
                    <a:lstStyle/>
                    <a:p>
                      <a:r>
                        <a:rPr lang="vi-VN" sz="19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Các khái niệm cơ bản</a:t>
                      </a:r>
                      <a:endParaRPr lang="en-US" sz="19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marL="66299" marR="66299" marT="0" marB="0"/>
                </a:tc>
                <a:extLst>
                  <a:ext uri="{0D108BD9-81ED-4DB2-BD59-A6C34878D82A}">
                    <a16:rowId xmlns:a16="http://schemas.microsoft.com/office/drawing/2014/main" val="1411431812"/>
                  </a:ext>
                </a:extLst>
              </a:tr>
              <a:tr h="202581">
                <a:tc>
                  <a:txBody>
                    <a:bodyPr/>
                    <a:lstStyle/>
                    <a:p>
                      <a:pPr algn="ctr">
                        <a:lnSpc>
                          <a:spcPct val="115000"/>
                        </a:lnSpc>
                        <a:spcAft>
                          <a:spcPts val="300"/>
                        </a:spcAft>
                      </a:pPr>
                      <a:r>
                        <a:rPr lang="nl-NL" sz="190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1.3.</a:t>
                      </a:r>
                      <a:endParaRPr lang="en-US" sz="190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marL="66299" marR="66299" marT="0" marB="0" anchor="ctr"/>
                </a:tc>
                <a:tc>
                  <a:txBody>
                    <a:bodyPr/>
                    <a:lstStyle/>
                    <a:p>
                      <a:r>
                        <a:rPr lang="nl-NL" sz="19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Phân loại và xếp hạng khách sạn</a:t>
                      </a:r>
                      <a:endParaRPr lang="en-US" sz="19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marL="66299" marR="66299" marT="0" marB="0"/>
                </a:tc>
                <a:extLst>
                  <a:ext uri="{0D108BD9-81ED-4DB2-BD59-A6C34878D82A}">
                    <a16:rowId xmlns:a16="http://schemas.microsoft.com/office/drawing/2014/main" val="3615906"/>
                  </a:ext>
                </a:extLst>
              </a:tr>
              <a:tr h="202581">
                <a:tc>
                  <a:txBody>
                    <a:bodyPr/>
                    <a:lstStyle/>
                    <a:p>
                      <a:pPr algn="ctr">
                        <a:lnSpc>
                          <a:spcPct val="115000"/>
                        </a:lnSpc>
                        <a:spcAft>
                          <a:spcPts val="300"/>
                        </a:spcAft>
                      </a:pPr>
                      <a:r>
                        <a:rPr lang="nl-NL" sz="190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1.4.</a:t>
                      </a:r>
                      <a:endParaRPr lang="en-US" sz="190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marL="66299" marR="66299" marT="0" marB="0" anchor="ctr"/>
                </a:tc>
                <a:tc>
                  <a:txBody>
                    <a:bodyPr/>
                    <a:lstStyle/>
                    <a:p>
                      <a:r>
                        <a:rPr lang="nl-NL" sz="19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Cơ cấu tổ chức của khách sạn</a:t>
                      </a:r>
                      <a:endParaRPr lang="en-US" sz="19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marL="66299" marR="66299" marT="0" marB="0"/>
                </a:tc>
                <a:extLst>
                  <a:ext uri="{0D108BD9-81ED-4DB2-BD59-A6C34878D82A}">
                    <a16:rowId xmlns:a16="http://schemas.microsoft.com/office/drawing/2014/main" val="3973927035"/>
                  </a:ext>
                </a:extLst>
              </a:tr>
              <a:tr h="202581">
                <a:tc>
                  <a:txBody>
                    <a:bodyPr/>
                    <a:lstStyle/>
                    <a:p>
                      <a:pPr algn="ctr">
                        <a:lnSpc>
                          <a:spcPct val="115000"/>
                        </a:lnSpc>
                        <a:spcAft>
                          <a:spcPts val="300"/>
                        </a:spcAft>
                      </a:pPr>
                      <a:r>
                        <a:rPr lang="nl-NL" sz="190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1.5.</a:t>
                      </a:r>
                      <a:endParaRPr lang="en-US" sz="190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marL="66299" marR="66299" marT="0" marB="0" anchor="ctr"/>
                </a:tc>
                <a:tc>
                  <a:txBody>
                    <a:bodyPr/>
                    <a:lstStyle/>
                    <a:p>
                      <a:r>
                        <a:rPr lang="nl-NL" sz="19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Xu hướng phát triển của ngành kinh doanh khách sạn</a:t>
                      </a:r>
                      <a:endParaRPr lang="en-US" sz="19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marL="66299" marR="66299" marT="0" marB="0"/>
                </a:tc>
                <a:extLst>
                  <a:ext uri="{0D108BD9-81ED-4DB2-BD59-A6C34878D82A}">
                    <a16:rowId xmlns:a16="http://schemas.microsoft.com/office/drawing/2014/main" val="94786579"/>
                  </a:ext>
                </a:extLst>
              </a:tr>
            </a:tbl>
          </a:graphicData>
        </a:graphic>
      </p:graphicFrame>
      <p:graphicFrame>
        <p:nvGraphicFramePr>
          <p:cNvPr id="5" name="Table 4">
            <a:extLst>
              <a:ext uri="{FF2B5EF4-FFF2-40B4-BE49-F238E27FC236}">
                <a16:creationId xmlns:a16="http://schemas.microsoft.com/office/drawing/2014/main" id="{AB456307-816C-D06D-B254-47B52FD6CFAC}"/>
              </a:ext>
            </a:extLst>
          </p:cNvPr>
          <p:cNvGraphicFramePr>
            <a:graphicFrameLocks noGrp="1"/>
          </p:cNvGraphicFramePr>
          <p:nvPr/>
        </p:nvGraphicFramePr>
        <p:xfrm>
          <a:off x="282474" y="2966519"/>
          <a:ext cx="10864312" cy="1820802"/>
        </p:xfrm>
        <a:graphic>
          <a:graphicData uri="http://schemas.openxmlformats.org/drawingml/2006/table">
            <a:tbl>
              <a:tblPr>
                <a:tableStyleId>{5C22544A-7EE6-4342-B048-85BDC9FD1C3A}</a:tableStyleId>
              </a:tblPr>
              <a:tblGrid>
                <a:gridCol w="1768609">
                  <a:extLst>
                    <a:ext uri="{9D8B030D-6E8A-4147-A177-3AD203B41FA5}">
                      <a16:colId xmlns:a16="http://schemas.microsoft.com/office/drawing/2014/main" val="2865336541"/>
                    </a:ext>
                  </a:extLst>
                </a:gridCol>
                <a:gridCol w="9095703">
                  <a:extLst>
                    <a:ext uri="{9D8B030D-6E8A-4147-A177-3AD203B41FA5}">
                      <a16:colId xmlns:a16="http://schemas.microsoft.com/office/drawing/2014/main" val="2930767451"/>
                    </a:ext>
                  </a:extLst>
                </a:gridCol>
              </a:tblGrid>
              <a:tr h="202581">
                <a:tc>
                  <a:txBody>
                    <a:bodyPr/>
                    <a:lstStyle/>
                    <a:p>
                      <a:pPr marL="0" algn="ctr" defTabSz="914400" rtl="0" eaLnBrk="1" latinLnBrk="0" hangingPunct="1">
                        <a:lnSpc>
                          <a:spcPct val="115000"/>
                        </a:lnSpc>
                        <a:spcAft>
                          <a:spcPts val="300"/>
                        </a:spcAft>
                      </a:pPr>
                      <a:r>
                        <a:rPr lang="nl-NL"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Chương</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2</a:t>
                      </a:r>
                    </a:p>
                  </a:txBody>
                  <a:tcPr marL="66299" marR="66299" marT="0" marB="0" anchor="ctr"/>
                </a:tc>
                <a:tc>
                  <a:txBody>
                    <a:bodyPr/>
                    <a:lstStyle/>
                    <a:p>
                      <a:pPr marL="0" algn="l" defTabSz="914400" rtl="0" eaLnBrk="1" latinLnBrk="0" hangingPunct="1">
                        <a:lnSpc>
                          <a:spcPct val="115000"/>
                        </a:lnSpc>
                        <a:spcAft>
                          <a:spcPts val="300"/>
                        </a:spcAft>
                      </a:pP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Quản</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lý</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hoạt</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động</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của</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bộ</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phận</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tiền</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sảnh</a:t>
                      </a:r>
                      <a:endPar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marL="66299" marR="66299" marT="0" marB="0" anchor="ctr"/>
                </a:tc>
                <a:extLst>
                  <a:ext uri="{0D108BD9-81ED-4DB2-BD59-A6C34878D82A}">
                    <a16:rowId xmlns:a16="http://schemas.microsoft.com/office/drawing/2014/main" val="3622322330"/>
                  </a:ext>
                </a:extLst>
              </a:tr>
              <a:tr h="202581">
                <a:tc>
                  <a:txBody>
                    <a:bodyPr/>
                    <a:lstStyle/>
                    <a:p>
                      <a:pPr marL="0" algn="ctr" defTabSz="914400" rtl="0" eaLnBrk="1" latinLnBrk="0" hangingPunct="1">
                        <a:lnSpc>
                          <a:spcPct val="115000"/>
                        </a:lnSpc>
                        <a:spcAft>
                          <a:spcPts val="300"/>
                        </a:spcAft>
                      </a:pPr>
                      <a:r>
                        <a:rPr lang="vi-VN"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2</a:t>
                      </a:r>
                      <a:r>
                        <a:rPr lang="nl-NL"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.1.</a:t>
                      </a:r>
                      <a:endPar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marL="66299" marR="66299" marT="0" marB="0" anchor="ctr"/>
                </a:tc>
                <a:tc>
                  <a:txBody>
                    <a:bodyPr/>
                    <a:lstStyle/>
                    <a:p>
                      <a:pPr marL="0" algn="l" defTabSz="914400" rtl="0" eaLnBrk="1" latinLnBrk="0" hangingPunct="1">
                        <a:lnSpc>
                          <a:spcPct val="115000"/>
                        </a:lnSpc>
                        <a:spcAft>
                          <a:spcPts val="300"/>
                        </a:spcAft>
                      </a:pPr>
                      <a:r>
                        <a:rPr lang="nl-NL"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Vai trò, nhiệm vụ của bộ phận tiền sảnh</a:t>
                      </a:r>
                      <a:endPar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marL="66299" marR="66299" marT="0" marB="0" anchor="ctr"/>
                </a:tc>
                <a:extLst>
                  <a:ext uri="{0D108BD9-81ED-4DB2-BD59-A6C34878D82A}">
                    <a16:rowId xmlns:a16="http://schemas.microsoft.com/office/drawing/2014/main" val="3816642246"/>
                  </a:ext>
                </a:extLst>
              </a:tr>
              <a:tr h="202581">
                <a:tc>
                  <a:txBody>
                    <a:bodyPr/>
                    <a:lstStyle/>
                    <a:p>
                      <a:pPr marL="0" algn="ctr" defTabSz="914400" rtl="0" eaLnBrk="1" latinLnBrk="0" hangingPunct="1">
                        <a:lnSpc>
                          <a:spcPct val="115000"/>
                        </a:lnSpc>
                        <a:spcAft>
                          <a:spcPts val="300"/>
                        </a:spcAft>
                      </a:pPr>
                      <a:r>
                        <a:rPr lang="vi-VN"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2</a:t>
                      </a:r>
                      <a:r>
                        <a:rPr lang="nl-NL"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.2.</a:t>
                      </a:r>
                      <a:endPar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marL="66299" marR="66299" marT="0" marB="0" anchor="ctr"/>
                </a:tc>
                <a:tc>
                  <a:txBody>
                    <a:bodyPr/>
                    <a:lstStyle/>
                    <a:p>
                      <a:pPr marL="0" algn="l" defTabSz="914400" rtl="0" eaLnBrk="1" latinLnBrk="0" hangingPunct="1">
                        <a:lnSpc>
                          <a:spcPct val="115000"/>
                        </a:lnSpc>
                        <a:spcAft>
                          <a:spcPts val="300"/>
                        </a:spcAft>
                      </a:pP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Cơ</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cấu</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tổ</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chức</a:t>
                      </a:r>
                      <a:endPar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marL="66299" marR="66299" marT="0" marB="0" anchor="ctr"/>
                </a:tc>
                <a:extLst>
                  <a:ext uri="{0D108BD9-81ED-4DB2-BD59-A6C34878D82A}">
                    <a16:rowId xmlns:a16="http://schemas.microsoft.com/office/drawing/2014/main" val="397162349"/>
                  </a:ext>
                </a:extLst>
              </a:tr>
              <a:tr h="202581">
                <a:tc>
                  <a:txBody>
                    <a:bodyPr/>
                    <a:lstStyle/>
                    <a:p>
                      <a:pPr marL="0" algn="ctr" defTabSz="914400" rtl="0" eaLnBrk="1" latinLnBrk="0" hangingPunct="1">
                        <a:lnSpc>
                          <a:spcPct val="115000"/>
                        </a:lnSpc>
                        <a:spcAft>
                          <a:spcPts val="300"/>
                        </a:spcAft>
                      </a:pP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2.3.</a:t>
                      </a:r>
                    </a:p>
                  </a:txBody>
                  <a:tcPr marL="66299" marR="66299" marT="0" marB="0" anchor="ctr"/>
                </a:tc>
                <a:tc>
                  <a:txBody>
                    <a:bodyPr/>
                    <a:lstStyle/>
                    <a:p>
                      <a:pPr marL="0" algn="l" defTabSz="914400" rtl="0" eaLnBrk="1" latinLnBrk="0" hangingPunct="1">
                        <a:lnSpc>
                          <a:spcPct val="115000"/>
                        </a:lnSpc>
                        <a:spcAft>
                          <a:spcPts val="300"/>
                        </a:spcAft>
                      </a:pP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Mối</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quan</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hệ</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với</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các</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bộ</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phận</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khác</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trong</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sạn</a:t>
                      </a:r>
                      <a:endPar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marL="66299" marR="66299" marT="0" marB="0" anchor="ctr"/>
                </a:tc>
                <a:extLst>
                  <a:ext uri="{0D108BD9-81ED-4DB2-BD59-A6C34878D82A}">
                    <a16:rowId xmlns:a16="http://schemas.microsoft.com/office/drawing/2014/main" val="815115883"/>
                  </a:ext>
                </a:extLst>
              </a:tr>
              <a:tr h="202581">
                <a:tc>
                  <a:txBody>
                    <a:bodyPr/>
                    <a:lstStyle/>
                    <a:p>
                      <a:pPr marL="0" algn="ctr" defTabSz="914400" rtl="0" eaLnBrk="1" latinLnBrk="0" hangingPunct="1">
                        <a:lnSpc>
                          <a:spcPct val="115000"/>
                        </a:lnSpc>
                        <a:spcAft>
                          <a:spcPts val="300"/>
                        </a:spcAft>
                      </a:pP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2.4.</a:t>
                      </a:r>
                    </a:p>
                  </a:txBody>
                  <a:tcPr marL="66299" marR="66299" marT="0" marB="0" anchor="ctr"/>
                </a:tc>
                <a:tc>
                  <a:txBody>
                    <a:bodyPr/>
                    <a:lstStyle/>
                    <a:p>
                      <a:pPr marL="0" algn="l" defTabSz="914400" rtl="0" eaLnBrk="1" latinLnBrk="0" hangingPunct="1">
                        <a:lnSpc>
                          <a:spcPct val="115000"/>
                        </a:lnSpc>
                        <a:spcAft>
                          <a:spcPts val="300"/>
                        </a:spcAft>
                      </a:pP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Tổ</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chức</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và</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quản</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lý</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hoạt</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động</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của</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bộ</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phận</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tiền</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sảnh</a:t>
                      </a:r>
                      <a:endPar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marL="66299" marR="66299" marT="0" marB="0" anchor="ctr"/>
                </a:tc>
                <a:extLst>
                  <a:ext uri="{0D108BD9-81ED-4DB2-BD59-A6C34878D82A}">
                    <a16:rowId xmlns:a16="http://schemas.microsoft.com/office/drawing/2014/main" val="3268459174"/>
                  </a:ext>
                </a:extLst>
              </a:tr>
              <a:tr h="202581">
                <a:tc>
                  <a:txBody>
                    <a:bodyPr/>
                    <a:lstStyle/>
                    <a:p>
                      <a:pPr marL="0" algn="ctr" defTabSz="914400" rtl="0" eaLnBrk="1" latinLnBrk="0" hangingPunct="1">
                        <a:lnSpc>
                          <a:spcPct val="115000"/>
                        </a:lnSpc>
                        <a:spcAft>
                          <a:spcPts val="300"/>
                        </a:spcAft>
                      </a:pP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2.5.</a:t>
                      </a:r>
                    </a:p>
                  </a:txBody>
                  <a:tcPr marL="66299" marR="66299" marT="0" marB="0" anchor="ctr"/>
                </a:tc>
                <a:tc>
                  <a:txBody>
                    <a:bodyPr/>
                    <a:lstStyle/>
                    <a:p>
                      <a:pPr marL="0" algn="l" defTabSz="914400" rtl="0" eaLnBrk="1" latinLnBrk="0" hangingPunct="1">
                        <a:lnSpc>
                          <a:spcPct val="115000"/>
                        </a:lnSpc>
                        <a:spcAft>
                          <a:spcPts val="300"/>
                        </a:spcAft>
                      </a:pP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Quản</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trị</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doanh</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thu</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và</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một</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số</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chỉ</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tiêu</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đánh</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giá</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hoạt</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động</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lưu</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trú</a:t>
                      </a:r>
                      <a:endPar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marL="66299" marR="66299" marT="0" marB="0" anchor="ctr"/>
                </a:tc>
                <a:extLst>
                  <a:ext uri="{0D108BD9-81ED-4DB2-BD59-A6C34878D82A}">
                    <a16:rowId xmlns:a16="http://schemas.microsoft.com/office/drawing/2014/main" val="598625922"/>
                  </a:ext>
                </a:extLst>
              </a:tr>
            </a:tbl>
          </a:graphicData>
        </a:graphic>
      </p:graphicFrame>
      <p:graphicFrame>
        <p:nvGraphicFramePr>
          <p:cNvPr id="6" name="Table 5">
            <a:extLst>
              <a:ext uri="{FF2B5EF4-FFF2-40B4-BE49-F238E27FC236}">
                <a16:creationId xmlns:a16="http://schemas.microsoft.com/office/drawing/2014/main" id="{984F8D1D-637F-34F3-59F8-5195603D0825}"/>
              </a:ext>
            </a:extLst>
          </p:cNvPr>
          <p:cNvGraphicFramePr>
            <a:graphicFrameLocks noGrp="1"/>
          </p:cNvGraphicFramePr>
          <p:nvPr/>
        </p:nvGraphicFramePr>
        <p:xfrm>
          <a:off x="294468" y="4862436"/>
          <a:ext cx="10864312" cy="1652775"/>
        </p:xfrm>
        <a:graphic>
          <a:graphicData uri="http://schemas.openxmlformats.org/drawingml/2006/table">
            <a:tbl>
              <a:tblPr>
                <a:tableStyleId>{5C22544A-7EE6-4342-B048-85BDC9FD1C3A}</a:tableStyleId>
              </a:tblPr>
              <a:tblGrid>
                <a:gridCol w="1840797">
                  <a:extLst>
                    <a:ext uri="{9D8B030D-6E8A-4147-A177-3AD203B41FA5}">
                      <a16:colId xmlns:a16="http://schemas.microsoft.com/office/drawing/2014/main" val="854789265"/>
                    </a:ext>
                  </a:extLst>
                </a:gridCol>
                <a:gridCol w="9023515">
                  <a:extLst>
                    <a:ext uri="{9D8B030D-6E8A-4147-A177-3AD203B41FA5}">
                      <a16:colId xmlns:a16="http://schemas.microsoft.com/office/drawing/2014/main" val="3956250642"/>
                    </a:ext>
                  </a:extLst>
                </a:gridCol>
              </a:tblGrid>
              <a:tr h="438907">
                <a:tc>
                  <a:txBody>
                    <a:bodyPr/>
                    <a:lstStyle/>
                    <a:p>
                      <a:pPr marL="0" algn="ctr" defTabSz="914400" rtl="0" eaLnBrk="1" latinLnBrk="0" hangingPunct="1">
                        <a:lnSpc>
                          <a:spcPct val="115000"/>
                        </a:lnSpc>
                        <a:spcAft>
                          <a:spcPts val="300"/>
                        </a:spcAft>
                      </a:pPr>
                      <a:r>
                        <a:rPr lang="nl-NL"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Chương</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3</a:t>
                      </a:r>
                    </a:p>
                  </a:txBody>
                  <a:tcPr marL="66299" marR="66299" marT="0" marB="0" anchor="ctr"/>
                </a:tc>
                <a:tc>
                  <a:txBody>
                    <a:bodyPr/>
                    <a:lstStyle/>
                    <a:p>
                      <a:pPr marL="0" algn="l" defTabSz="914400" rtl="0" eaLnBrk="1" latinLnBrk="0" hangingPunct="1">
                        <a:lnSpc>
                          <a:spcPct val="115000"/>
                        </a:lnSpc>
                        <a:spcAft>
                          <a:spcPts val="300"/>
                        </a:spcAft>
                      </a:pP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Quản</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lý</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hoạt</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động</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của</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bộ</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phận</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buồng</a:t>
                      </a:r>
                      <a:endPar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marL="66299" marR="66299" marT="0" marB="0" anchor="ctr"/>
                </a:tc>
                <a:extLst>
                  <a:ext uri="{0D108BD9-81ED-4DB2-BD59-A6C34878D82A}">
                    <a16:rowId xmlns:a16="http://schemas.microsoft.com/office/drawing/2014/main" val="1421414538"/>
                  </a:ext>
                </a:extLst>
              </a:tr>
              <a:tr h="202581">
                <a:tc>
                  <a:txBody>
                    <a:bodyPr/>
                    <a:lstStyle/>
                    <a:p>
                      <a:pPr marL="0" algn="ctr" defTabSz="914400" rtl="0" eaLnBrk="1" latinLnBrk="0" hangingPunct="1">
                        <a:lnSpc>
                          <a:spcPct val="115000"/>
                        </a:lnSpc>
                        <a:spcAft>
                          <a:spcPts val="300"/>
                        </a:spcAft>
                      </a:pP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3.1.</a:t>
                      </a:r>
                    </a:p>
                  </a:txBody>
                  <a:tcPr marL="66299" marR="66299" marT="0" marB="0" anchor="ctr"/>
                </a:tc>
                <a:tc>
                  <a:txBody>
                    <a:bodyPr/>
                    <a:lstStyle/>
                    <a:p>
                      <a:pPr marL="0" algn="l" defTabSz="914400" rtl="0" eaLnBrk="1" latinLnBrk="0" hangingPunct="1">
                        <a:lnSpc>
                          <a:spcPct val="115000"/>
                        </a:lnSpc>
                        <a:spcAft>
                          <a:spcPts val="300"/>
                        </a:spcAft>
                      </a:pP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Vai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trò</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và</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nhiệm</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vụ</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của</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bộ</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phận</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buồng</a:t>
                      </a:r>
                      <a:endPar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marL="66299" marR="66299" marT="0" marB="0" anchor="ctr"/>
                </a:tc>
                <a:extLst>
                  <a:ext uri="{0D108BD9-81ED-4DB2-BD59-A6C34878D82A}">
                    <a16:rowId xmlns:a16="http://schemas.microsoft.com/office/drawing/2014/main" val="1860183992"/>
                  </a:ext>
                </a:extLst>
              </a:tr>
              <a:tr h="202581">
                <a:tc>
                  <a:txBody>
                    <a:bodyPr/>
                    <a:lstStyle/>
                    <a:p>
                      <a:pPr marL="0" algn="ctr" defTabSz="914400" rtl="0" eaLnBrk="1" latinLnBrk="0" hangingPunct="1">
                        <a:lnSpc>
                          <a:spcPct val="115000"/>
                        </a:lnSpc>
                        <a:spcAft>
                          <a:spcPts val="300"/>
                        </a:spcAft>
                      </a:pPr>
                      <a:r>
                        <a:rPr lang="en-US" sz="1900" kern="120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3.2.</a:t>
                      </a:r>
                    </a:p>
                  </a:txBody>
                  <a:tcPr marL="66299" marR="66299" marT="0" marB="0" anchor="ctr"/>
                </a:tc>
                <a:tc>
                  <a:txBody>
                    <a:bodyPr/>
                    <a:lstStyle/>
                    <a:p>
                      <a:pPr marL="0" algn="l" defTabSz="914400" rtl="0" eaLnBrk="1" latinLnBrk="0" hangingPunct="1">
                        <a:lnSpc>
                          <a:spcPct val="115000"/>
                        </a:lnSpc>
                        <a:spcAft>
                          <a:spcPts val="300"/>
                        </a:spcAft>
                      </a:pP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Cơ</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cấu</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tổ</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chức</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của</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bộ</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phận</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buồng</a:t>
                      </a:r>
                      <a:endPar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marL="66299" marR="66299" marT="0" marB="0" anchor="ctr"/>
                </a:tc>
                <a:extLst>
                  <a:ext uri="{0D108BD9-81ED-4DB2-BD59-A6C34878D82A}">
                    <a16:rowId xmlns:a16="http://schemas.microsoft.com/office/drawing/2014/main" val="2108601257"/>
                  </a:ext>
                </a:extLst>
              </a:tr>
              <a:tr h="202581">
                <a:tc>
                  <a:txBody>
                    <a:bodyPr/>
                    <a:lstStyle/>
                    <a:p>
                      <a:pPr marL="0" algn="ctr" defTabSz="914400" rtl="0" eaLnBrk="1" latinLnBrk="0" hangingPunct="1">
                        <a:lnSpc>
                          <a:spcPct val="115000"/>
                        </a:lnSpc>
                        <a:spcAft>
                          <a:spcPts val="300"/>
                        </a:spcAft>
                      </a:pPr>
                      <a:r>
                        <a:rPr lang="en-US" sz="1900" kern="120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3.3.</a:t>
                      </a:r>
                    </a:p>
                  </a:txBody>
                  <a:tcPr marL="66299" marR="66299" marT="0" marB="0" anchor="ctr"/>
                </a:tc>
                <a:tc>
                  <a:txBody>
                    <a:bodyPr/>
                    <a:lstStyle/>
                    <a:p>
                      <a:pPr marL="0" algn="l" defTabSz="914400" rtl="0" eaLnBrk="1" latinLnBrk="0" hangingPunct="1">
                        <a:lnSpc>
                          <a:spcPct val="115000"/>
                        </a:lnSpc>
                        <a:spcAft>
                          <a:spcPts val="300"/>
                        </a:spcAft>
                      </a:pP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Mối</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quan</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hệ</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với</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các</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bộ</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phận</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khác</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trong</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sạn</a:t>
                      </a:r>
                      <a:endPar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marL="66299" marR="66299" marT="0" marB="0" anchor="ctr"/>
                </a:tc>
                <a:extLst>
                  <a:ext uri="{0D108BD9-81ED-4DB2-BD59-A6C34878D82A}">
                    <a16:rowId xmlns:a16="http://schemas.microsoft.com/office/drawing/2014/main" val="436790897"/>
                  </a:ext>
                </a:extLst>
              </a:tr>
              <a:tr h="202581">
                <a:tc>
                  <a:txBody>
                    <a:bodyPr/>
                    <a:lstStyle/>
                    <a:p>
                      <a:pPr marL="0" algn="ctr" defTabSz="914400" rtl="0" eaLnBrk="1" latinLnBrk="0" hangingPunct="1">
                        <a:lnSpc>
                          <a:spcPct val="115000"/>
                        </a:lnSpc>
                        <a:spcAft>
                          <a:spcPts val="300"/>
                        </a:spcAft>
                      </a:pPr>
                      <a:r>
                        <a:rPr lang="en-US" sz="1900" kern="120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3.4.</a:t>
                      </a:r>
                    </a:p>
                  </a:txBody>
                  <a:tcPr marL="66299" marR="66299" marT="0" marB="0" anchor="ctr"/>
                </a:tc>
                <a:tc>
                  <a:txBody>
                    <a:bodyPr/>
                    <a:lstStyle/>
                    <a:p>
                      <a:pPr marL="0" algn="l" defTabSz="914400" rtl="0" eaLnBrk="1" latinLnBrk="0" hangingPunct="1">
                        <a:lnSpc>
                          <a:spcPct val="115000"/>
                        </a:lnSpc>
                        <a:spcAft>
                          <a:spcPts val="300"/>
                        </a:spcAft>
                      </a:pP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Tổ</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chức</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và</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quản</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lý</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hoạt</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động</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của</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bộ</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phận</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buồng</a:t>
                      </a:r>
                      <a:endPar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marL="66299" marR="66299" marT="0" marB="0" anchor="ctr"/>
                </a:tc>
                <a:extLst>
                  <a:ext uri="{0D108BD9-81ED-4DB2-BD59-A6C34878D82A}">
                    <a16:rowId xmlns:a16="http://schemas.microsoft.com/office/drawing/2014/main" val="261867572"/>
                  </a:ext>
                </a:extLst>
              </a:tr>
            </a:tbl>
          </a:graphicData>
        </a:graphic>
      </p:graphicFrame>
    </p:spTree>
    <p:extLst>
      <p:ext uri="{BB962C8B-B14F-4D97-AF65-F5344CB8AC3E}">
        <p14:creationId xmlns:p14="http://schemas.microsoft.com/office/powerpoint/2010/main" val="35380283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8959A0C7-29CF-59A1-87D6-891D77B6B41D}"/>
              </a:ext>
            </a:extLst>
          </p:cNvPr>
          <p:cNvGraphicFramePr>
            <a:graphicFrameLocks noGrp="1"/>
          </p:cNvGraphicFramePr>
          <p:nvPr/>
        </p:nvGraphicFramePr>
        <p:xfrm>
          <a:off x="539120" y="1204126"/>
          <a:ext cx="10515600" cy="1517335"/>
        </p:xfrm>
        <a:graphic>
          <a:graphicData uri="http://schemas.openxmlformats.org/drawingml/2006/table">
            <a:tbl>
              <a:tblPr>
                <a:tableStyleId>{5C22544A-7EE6-4342-B048-85BDC9FD1C3A}</a:tableStyleId>
              </a:tblPr>
              <a:tblGrid>
                <a:gridCol w="1885964">
                  <a:extLst>
                    <a:ext uri="{9D8B030D-6E8A-4147-A177-3AD203B41FA5}">
                      <a16:colId xmlns:a16="http://schemas.microsoft.com/office/drawing/2014/main" val="1106697701"/>
                    </a:ext>
                  </a:extLst>
                </a:gridCol>
                <a:gridCol w="8629636">
                  <a:extLst>
                    <a:ext uri="{9D8B030D-6E8A-4147-A177-3AD203B41FA5}">
                      <a16:colId xmlns:a16="http://schemas.microsoft.com/office/drawing/2014/main" val="3632730796"/>
                    </a:ext>
                  </a:extLst>
                </a:gridCol>
              </a:tblGrid>
              <a:tr h="202581">
                <a:tc>
                  <a:txBody>
                    <a:bodyPr/>
                    <a:lstStyle/>
                    <a:p>
                      <a:pPr algn="ctr">
                        <a:lnSpc>
                          <a:spcPct val="115000"/>
                        </a:lnSpc>
                        <a:spcAft>
                          <a:spcPts val="300"/>
                        </a:spcAft>
                      </a:pPr>
                      <a:r>
                        <a:rPr lang="nl-NL"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Chương</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4</a:t>
                      </a:r>
                    </a:p>
                  </a:txBody>
                  <a:tcPr marL="66299" marR="66299" marT="0" marB="0" anchor="ctr"/>
                </a:tc>
                <a:tc>
                  <a:txBody>
                    <a:bodyPr/>
                    <a:lstStyle/>
                    <a:p>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Quản</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lý</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hoạt</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động</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của</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bộ</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phận</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ẩm</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thực</a:t>
                      </a:r>
                      <a:endPar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marL="66299" marR="66299" marT="0" marB="0" anchor="ctr"/>
                </a:tc>
                <a:extLst>
                  <a:ext uri="{0D108BD9-81ED-4DB2-BD59-A6C34878D82A}">
                    <a16:rowId xmlns:a16="http://schemas.microsoft.com/office/drawing/2014/main" val="3169803711"/>
                  </a:ext>
                </a:extLst>
              </a:tr>
              <a:tr h="202581">
                <a:tc>
                  <a:txBody>
                    <a:bodyPr/>
                    <a:lstStyle/>
                    <a:p>
                      <a:pPr algn="ctr">
                        <a:lnSpc>
                          <a:spcPct val="115000"/>
                        </a:lnSpc>
                        <a:spcAft>
                          <a:spcPts val="300"/>
                        </a:spcAft>
                      </a:pP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4.1.</a:t>
                      </a:r>
                    </a:p>
                  </a:txBody>
                  <a:tcPr marL="66299" marR="66299" marT="0" marB="0" anchor="ctr"/>
                </a:tc>
                <a:tc>
                  <a:txBody>
                    <a:bodyPr/>
                    <a:lstStyle/>
                    <a:p>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Vai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trò</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nhiệm</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vụ</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của</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bộ</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phận</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ẩm</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thực</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trong</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sạn</a:t>
                      </a:r>
                      <a:endPar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marL="66299" marR="66299" marT="0" marB="0" anchor="ctr"/>
                </a:tc>
                <a:extLst>
                  <a:ext uri="{0D108BD9-81ED-4DB2-BD59-A6C34878D82A}">
                    <a16:rowId xmlns:a16="http://schemas.microsoft.com/office/drawing/2014/main" val="4210564237"/>
                  </a:ext>
                </a:extLst>
              </a:tr>
              <a:tr h="202581">
                <a:tc>
                  <a:txBody>
                    <a:bodyPr/>
                    <a:lstStyle/>
                    <a:p>
                      <a:pPr algn="ctr">
                        <a:lnSpc>
                          <a:spcPct val="115000"/>
                        </a:lnSpc>
                        <a:spcAft>
                          <a:spcPts val="300"/>
                        </a:spcAft>
                      </a:pPr>
                      <a:r>
                        <a:rPr lang="en-US" sz="190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4.2.</a:t>
                      </a:r>
                    </a:p>
                  </a:txBody>
                  <a:tcPr marL="66299" marR="66299" marT="0" marB="0" anchor="ctr"/>
                </a:tc>
                <a:tc>
                  <a:txBody>
                    <a:bodyPr/>
                    <a:lstStyle/>
                    <a:p>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Cơ</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cấu</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tổ</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chức</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của</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bộ</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phận</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F&amp;B</a:t>
                      </a:r>
                    </a:p>
                  </a:txBody>
                  <a:tcPr marL="66299" marR="66299" marT="0" marB="0" anchor="ctr"/>
                </a:tc>
                <a:extLst>
                  <a:ext uri="{0D108BD9-81ED-4DB2-BD59-A6C34878D82A}">
                    <a16:rowId xmlns:a16="http://schemas.microsoft.com/office/drawing/2014/main" val="2371487698"/>
                  </a:ext>
                </a:extLst>
              </a:tr>
              <a:tr h="202581">
                <a:tc>
                  <a:txBody>
                    <a:bodyPr/>
                    <a:lstStyle/>
                    <a:p>
                      <a:pPr algn="ctr">
                        <a:lnSpc>
                          <a:spcPct val="115000"/>
                        </a:lnSpc>
                        <a:spcAft>
                          <a:spcPts val="300"/>
                        </a:spcAft>
                      </a:pPr>
                      <a:r>
                        <a:rPr lang="en-US" sz="190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4.3.</a:t>
                      </a:r>
                    </a:p>
                  </a:txBody>
                  <a:tcPr marL="66299" marR="66299" marT="0" marB="0" anchor="ctr"/>
                </a:tc>
                <a:tc>
                  <a:txBody>
                    <a:bodyPr/>
                    <a:lstStyle/>
                    <a:p>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Tổ</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chức</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và</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quản</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lý</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hoạt</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động</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bộ</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phận</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ẩm</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thực</a:t>
                      </a:r>
                      <a:endPar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marL="66299" marR="66299" marT="0" marB="0" anchor="ctr"/>
                </a:tc>
                <a:extLst>
                  <a:ext uri="{0D108BD9-81ED-4DB2-BD59-A6C34878D82A}">
                    <a16:rowId xmlns:a16="http://schemas.microsoft.com/office/drawing/2014/main" val="3584694603"/>
                  </a:ext>
                </a:extLst>
              </a:tr>
              <a:tr h="202581">
                <a:tc>
                  <a:txBody>
                    <a:bodyPr/>
                    <a:lstStyle/>
                    <a:p>
                      <a:pPr algn="ctr">
                        <a:lnSpc>
                          <a:spcPct val="115000"/>
                        </a:lnSpc>
                        <a:spcAft>
                          <a:spcPts val="300"/>
                        </a:spcAft>
                      </a:pPr>
                      <a:r>
                        <a:rPr lang="en-US" sz="190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4.4.</a:t>
                      </a:r>
                    </a:p>
                  </a:txBody>
                  <a:tcPr marL="66299" marR="66299" marT="0" marB="0" anchor="ctr"/>
                </a:tc>
                <a:tc>
                  <a:txBody>
                    <a:bodyPr/>
                    <a:lstStyle/>
                    <a:p>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Quản</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trị</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doanh</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thu</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nhà</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hàng</a:t>
                      </a:r>
                      <a:endPar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marL="66299" marR="66299" marT="0" marB="0" anchor="ctr"/>
                </a:tc>
                <a:extLst>
                  <a:ext uri="{0D108BD9-81ED-4DB2-BD59-A6C34878D82A}">
                    <a16:rowId xmlns:a16="http://schemas.microsoft.com/office/drawing/2014/main" val="3723191977"/>
                  </a:ext>
                </a:extLst>
              </a:tr>
            </a:tbl>
          </a:graphicData>
        </a:graphic>
      </p:graphicFrame>
      <p:graphicFrame>
        <p:nvGraphicFramePr>
          <p:cNvPr id="3" name="Table 2">
            <a:extLst>
              <a:ext uri="{FF2B5EF4-FFF2-40B4-BE49-F238E27FC236}">
                <a16:creationId xmlns:a16="http://schemas.microsoft.com/office/drawing/2014/main" id="{B464C6B4-70F7-3FB2-26DA-6951DE608222}"/>
              </a:ext>
            </a:extLst>
          </p:cNvPr>
          <p:cNvGraphicFramePr>
            <a:graphicFrameLocks noGrp="1"/>
          </p:cNvGraphicFramePr>
          <p:nvPr/>
        </p:nvGraphicFramePr>
        <p:xfrm>
          <a:off x="539120" y="2962388"/>
          <a:ext cx="10515600" cy="933223"/>
        </p:xfrm>
        <a:graphic>
          <a:graphicData uri="http://schemas.openxmlformats.org/drawingml/2006/table">
            <a:tbl>
              <a:tblPr>
                <a:tableStyleId>{5C22544A-7EE6-4342-B048-85BDC9FD1C3A}</a:tableStyleId>
              </a:tblPr>
              <a:tblGrid>
                <a:gridCol w="1885964">
                  <a:extLst>
                    <a:ext uri="{9D8B030D-6E8A-4147-A177-3AD203B41FA5}">
                      <a16:colId xmlns:a16="http://schemas.microsoft.com/office/drawing/2014/main" val="755161747"/>
                    </a:ext>
                  </a:extLst>
                </a:gridCol>
                <a:gridCol w="8629636">
                  <a:extLst>
                    <a:ext uri="{9D8B030D-6E8A-4147-A177-3AD203B41FA5}">
                      <a16:colId xmlns:a16="http://schemas.microsoft.com/office/drawing/2014/main" val="3531639564"/>
                    </a:ext>
                  </a:extLst>
                </a:gridCol>
              </a:tblGrid>
              <a:tr h="202581">
                <a:tc>
                  <a:txBody>
                    <a:bodyPr/>
                    <a:lstStyle/>
                    <a:p>
                      <a:pPr algn="ctr">
                        <a:lnSpc>
                          <a:spcPct val="115000"/>
                        </a:lnSpc>
                        <a:spcAft>
                          <a:spcPts val="300"/>
                        </a:spcAft>
                      </a:pPr>
                      <a:r>
                        <a:rPr lang="nl-NL" sz="190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Chương</a:t>
                      </a:r>
                      <a:r>
                        <a:rPr lang="en-US" sz="190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5</a:t>
                      </a:r>
                    </a:p>
                  </a:txBody>
                  <a:tcPr marL="66299" marR="66299" marT="0" marB="0" anchor="ctr"/>
                </a:tc>
                <a:tc>
                  <a:txBody>
                    <a:bodyPr/>
                    <a:lstStyle/>
                    <a:p>
                      <a:pPr>
                        <a:lnSpc>
                          <a:spcPct val="115000"/>
                        </a:lnSpc>
                        <a:spcAft>
                          <a:spcPts val="300"/>
                        </a:spcAft>
                      </a:pP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Quản</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lý</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dịch</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vụ</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bổ</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sung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trong</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sạn</a:t>
                      </a:r>
                      <a:endPar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marL="66299" marR="66299" marT="0" marB="0" anchor="ctr"/>
                </a:tc>
                <a:extLst>
                  <a:ext uri="{0D108BD9-81ED-4DB2-BD59-A6C34878D82A}">
                    <a16:rowId xmlns:a16="http://schemas.microsoft.com/office/drawing/2014/main" val="2978253117"/>
                  </a:ext>
                </a:extLst>
              </a:tr>
              <a:tr h="202581">
                <a:tc>
                  <a:txBody>
                    <a:bodyPr/>
                    <a:lstStyle/>
                    <a:p>
                      <a:pPr algn="ctr">
                        <a:lnSpc>
                          <a:spcPct val="115000"/>
                        </a:lnSpc>
                        <a:spcAft>
                          <a:spcPts val="300"/>
                        </a:spcAft>
                      </a:pPr>
                      <a:r>
                        <a:rPr lang="en-US" sz="190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5.1.</a:t>
                      </a:r>
                    </a:p>
                  </a:txBody>
                  <a:tcPr marL="66299" marR="66299" marT="0" marB="0" anchor="ctr"/>
                </a:tc>
                <a:tc>
                  <a:txBody>
                    <a:bodyPr/>
                    <a:lstStyle/>
                    <a:p>
                      <a:pPr>
                        <a:lnSpc>
                          <a:spcPct val="115000"/>
                        </a:lnSpc>
                        <a:spcAft>
                          <a:spcPts val="300"/>
                        </a:spcAft>
                      </a:pPr>
                      <a:r>
                        <a:rPr lang="fr-FR" sz="190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Tổng quan về dịch vụ bổ sung trong kinh doanh khách sạn</a:t>
                      </a:r>
                      <a:endParaRPr lang="en-US" sz="190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marL="66299" marR="66299" marT="0" marB="0" anchor="ctr"/>
                </a:tc>
                <a:extLst>
                  <a:ext uri="{0D108BD9-81ED-4DB2-BD59-A6C34878D82A}">
                    <a16:rowId xmlns:a16="http://schemas.microsoft.com/office/drawing/2014/main" val="95552319"/>
                  </a:ext>
                </a:extLst>
              </a:tr>
              <a:tr h="326289">
                <a:tc>
                  <a:txBody>
                    <a:bodyPr/>
                    <a:lstStyle/>
                    <a:p>
                      <a:pPr algn="ctr">
                        <a:lnSpc>
                          <a:spcPct val="115000"/>
                        </a:lnSpc>
                        <a:spcAft>
                          <a:spcPts val="300"/>
                        </a:spcAft>
                      </a:pPr>
                      <a:r>
                        <a:rPr lang="en-US" sz="190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5.2.</a:t>
                      </a:r>
                    </a:p>
                  </a:txBody>
                  <a:tcPr marL="66299" marR="66299" marT="0" marB="0" anchor="ctr"/>
                </a:tc>
                <a:tc>
                  <a:txBody>
                    <a:bodyPr/>
                    <a:lstStyle/>
                    <a:p>
                      <a:pPr>
                        <a:lnSpc>
                          <a:spcPct val="115000"/>
                        </a:lnSpc>
                        <a:spcAft>
                          <a:spcPts val="300"/>
                        </a:spcAft>
                      </a:pPr>
                      <a:r>
                        <a:rPr lang="fr-FR"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Một</a:t>
                      </a:r>
                      <a:r>
                        <a:rPr lang="fr-FR"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fr-FR"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số</a:t>
                      </a:r>
                      <a:r>
                        <a:rPr lang="fr-FR"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fr-FR"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loại</a:t>
                      </a:r>
                      <a:r>
                        <a:rPr lang="fr-FR"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fr-FR"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hình</a:t>
                      </a:r>
                      <a:r>
                        <a:rPr lang="fr-FR"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fr-FR"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dịch</a:t>
                      </a:r>
                      <a:r>
                        <a:rPr lang="fr-FR"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fr-FR"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vụ</a:t>
                      </a:r>
                      <a:r>
                        <a:rPr lang="fr-FR"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fr-FR"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bổ</a:t>
                      </a:r>
                      <a:r>
                        <a:rPr lang="fr-FR"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fr-FR"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sung</a:t>
                      </a:r>
                      <a:r>
                        <a:rPr lang="fr-FR"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fr-FR"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trong</a:t>
                      </a:r>
                      <a:r>
                        <a:rPr lang="fr-FR"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fr-FR"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lang="fr-FR"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fr-FR"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sạn</a:t>
                      </a:r>
                      <a:endPar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marL="66299" marR="66299" marT="0" marB="0" anchor="ctr"/>
                </a:tc>
                <a:extLst>
                  <a:ext uri="{0D108BD9-81ED-4DB2-BD59-A6C34878D82A}">
                    <a16:rowId xmlns:a16="http://schemas.microsoft.com/office/drawing/2014/main" val="3563458410"/>
                  </a:ext>
                </a:extLst>
              </a:tr>
            </a:tbl>
          </a:graphicData>
        </a:graphic>
      </p:graphicFrame>
      <p:graphicFrame>
        <p:nvGraphicFramePr>
          <p:cNvPr id="4" name="Table 3">
            <a:extLst>
              <a:ext uri="{FF2B5EF4-FFF2-40B4-BE49-F238E27FC236}">
                <a16:creationId xmlns:a16="http://schemas.microsoft.com/office/drawing/2014/main" id="{306905C3-CFCB-DEEE-0C8A-DDCC89F69DE1}"/>
              </a:ext>
            </a:extLst>
          </p:cNvPr>
          <p:cNvGraphicFramePr>
            <a:graphicFrameLocks noGrp="1"/>
          </p:cNvGraphicFramePr>
          <p:nvPr/>
        </p:nvGraphicFramePr>
        <p:xfrm>
          <a:off x="539120" y="4136538"/>
          <a:ext cx="10515600" cy="1827334"/>
        </p:xfrm>
        <a:graphic>
          <a:graphicData uri="http://schemas.openxmlformats.org/drawingml/2006/table">
            <a:tbl>
              <a:tblPr>
                <a:tableStyleId>{5C22544A-7EE6-4342-B048-85BDC9FD1C3A}</a:tableStyleId>
              </a:tblPr>
              <a:tblGrid>
                <a:gridCol w="1885964">
                  <a:extLst>
                    <a:ext uri="{9D8B030D-6E8A-4147-A177-3AD203B41FA5}">
                      <a16:colId xmlns:a16="http://schemas.microsoft.com/office/drawing/2014/main" val="398876781"/>
                    </a:ext>
                  </a:extLst>
                </a:gridCol>
                <a:gridCol w="8629636">
                  <a:extLst>
                    <a:ext uri="{9D8B030D-6E8A-4147-A177-3AD203B41FA5}">
                      <a16:colId xmlns:a16="http://schemas.microsoft.com/office/drawing/2014/main" val="2654551777"/>
                    </a:ext>
                  </a:extLst>
                </a:gridCol>
              </a:tblGrid>
              <a:tr h="202581">
                <a:tc>
                  <a:txBody>
                    <a:bodyPr/>
                    <a:lstStyle/>
                    <a:p>
                      <a:pPr algn="ctr">
                        <a:lnSpc>
                          <a:spcPct val="115000"/>
                        </a:lnSpc>
                        <a:spcAft>
                          <a:spcPts val="300"/>
                        </a:spcAft>
                      </a:pPr>
                      <a:r>
                        <a:rPr lang="nl-NL" sz="190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Chương</a:t>
                      </a:r>
                      <a:r>
                        <a:rPr lang="en-US" sz="190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6</a:t>
                      </a:r>
                    </a:p>
                  </a:txBody>
                  <a:tcPr marL="66299" marR="66299" marT="0" marB="0" anchor="ctr"/>
                </a:tc>
                <a:tc>
                  <a:txBody>
                    <a:bodyPr/>
                    <a:lstStyle/>
                    <a:p>
                      <a:r>
                        <a:rPr lang="en-US" sz="190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Tổ chức sự kiện trong khách sạn</a:t>
                      </a:r>
                    </a:p>
                  </a:txBody>
                  <a:tcPr marL="66299" marR="66299" marT="0" marB="0" anchor="ctr"/>
                </a:tc>
                <a:extLst>
                  <a:ext uri="{0D108BD9-81ED-4DB2-BD59-A6C34878D82A}">
                    <a16:rowId xmlns:a16="http://schemas.microsoft.com/office/drawing/2014/main" val="2364313024"/>
                  </a:ext>
                </a:extLst>
              </a:tr>
              <a:tr h="202581">
                <a:tc>
                  <a:txBody>
                    <a:bodyPr/>
                    <a:lstStyle/>
                    <a:p>
                      <a:pPr algn="ctr">
                        <a:lnSpc>
                          <a:spcPct val="115000"/>
                        </a:lnSpc>
                        <a:spcAft>
                          <a:spcPts val="300"/>
                        </a:spcAft>
                      </a:pPr>
                      <a:r>
                        <a:rPr lang="en-US" sz="190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6.1.</a:t>
                      </a:r>
                    </a:p>
                  </a:txBody>
                  <a:tcPr marL="66299" marR="66299" marT="0" marB="0" anchor="ctr"/>
                </a:tc>
                <a:tc>
                  <a:txBody>
                    <a:bodyPr/>
                    <a:lstStyle/>
                    <a:p>
                      <a:r>
                        <a:rPr lang="en-US" sz="190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Tổng quan về tổ chức sự kiện trong khách sạn</a:t>
                      </a:r>
                    </a:p>
                  </a:txBody>
                  <a:tcPr marL="66299" marR="66299" marT="0" marB="0" anchor="ctr"/>
                </a:tc>
                <a:extLst>
                  <a:ext uri="{0D108BD9-81ED-4DB2-BD59-A6C34878D82A}">
                    <a16:rowId xmlns:a16="http://schemas.microsoft.com/office/drawing/2014/main" val="973537183"/>
                  </a:ext>
                </a:extLst>
              </a:tr>
              <a:tr h="305100">
                <a:tc>
                  <a:txBody>
                    <a:bodyPr/>
                    <a:lstStyle/>
                    <a:p>
                      <a:pPr algn="ctr">
                        <a:lnSpc>
                          <a:spcPct val="115000"/>
                        </a:lnSpc>
                        <a:spcAft>
                          <a:spcPts val="300"/>
                        </a:spcAft>
                      </a:pPr>
                      <a:r>
                        <a:rPr lang="en-US" sz="190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6.2.</a:t>
                      </a:r>
                    </a:p>
                  </a:txBody>
                  <a:tcPr marL="66299" marR="66299" marT="0" marB="0" anchor="ctr"/>
                </a:tc>
                <a:tc>
                  <a:txBody>
                    <a:bodyPr/>
                    <a:lstStyle/>
                    <a:p>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Vai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trò</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của</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tổ</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chức</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sư</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kiện</a:t>
                      </a:r>
                      <a:endPar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marL="66299" marR="66299" marT="0" marB="0" anchor="ctr"/>
                </a:tc>
                <a:extLst>
                  <a:ext uri="{0D108BD9-81ED-4DB2-BD59-A6C34878D82A}">
                    <a16:rowId xmlns:a16="http://schemas.microsoft.com/office/drawing/2014/main" val="3707355642"/>
                  </a:ext>
                </a:extLst>
              </a:tr>
              <a:tr h="305100">
                <a:tc>
                  <a:txBody>
                    <a:bodyPr/>
                    <a:lstStyle/>
                    <a:p>
                      <a:pPr algn="ctr">
                        <a:lnSpc>
                          <a:spcPct val="115000"/>
                        </a:lnSpc>
                        <a:spcAft>
                          <a:spcPts val="300"/>
                        </a:spcAft>
                      </a:pPr>
                      <a:r>
                        <a:rPr lang="en-US" sz="190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6.3.</a:t>
                      </a:r>
                    </a:p>
                  </a:txBody>
                  <a:tcPr marL="66299" marR="66299" marT="0" marB="0" anchor="ctr"/>
                </a:tc>
                <a:tc>
                  <a:txBody>
                    <a:bodyPr/>
                    <a:lstStyle/>
                    <a:p>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Các</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thành</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phần</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tham</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gia</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trong</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sư</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kiện</a:t>
                      </a:r>
                      <a:endPar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marL="66299" marR="66299" marT="0" marB="0" anchor="ctr"/>
                </a:tc>
                <a:extLst>
                  <a:ext uri="{0D108BD9-81ED-4DB2-BD59-A6C34878D82A}">
                    <a16:rowId xmlns:a16="http://schemas.microsoft.com/office/drawing/2014/main" val="1716912530"/>
                  </a:ext>
                </a:extLst>
              </a:tr>
              <a:tr h="305100">
                <a:tc>
                  <a:txBody>
                    <a:bodyPr/>
                    <a:lstStyle/>
                    <a:p>
                      <a:pPr algn="ctr">
                        <a:lnSpc>
                          <a:spcPct val="115000"/>
                        </a:lnSpc>
                        <a:spcAft>
                          <a:spcPts val="300"/>
                        </a:spcAft>
                      </a:pPr>
                      <a:r>
                        <a:rPr lang="en-US" sz="190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6.4.</a:t>
                      </a:r>
                    </a:p>
                  </a:txBody>
                  <a:tcPr marL="66299" marR="66299" marT="0" marB="0" anchor="ctr"/>
                </a:tc>
                <a:tc>
                  <a:txBody>
                    <a:bodyPr/>
                    <a:lstStyle/>
                    <a:p>
                      <a:r>
                        <a:rPr lang="en-US" sz="190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Các thành phần trong ban tổ chức sự kiện</a:t>
                      </a:r>
                    </a:p>
                  </a:txBody>
                  <a:tcPr marL="66299" marR="66299" marT="0" marB="0" anchor="ctr"/>
                </a:tc>
                <a:extLst>
                  <a:ext uri="{0D108BD9-81ED-4DB2-BD59-A6C34878D82A}">
                    <a16:rowId xmlns:a16="http://schemas.microsoft.com/office/drawing/2014/main" val="333648669"/>
                  </a:ext>
                </a:extLst>
              </a:tr>
              <a:tr h="305100">
                <a:tc>
                  <a:txBody>
                    <a:bodyPr/>
                    <a:lstStyle/>
                    <a:p>
                      <a:pPr algn="ctr">
                        <a:lnSpc>
                          <a:spcPct val="115000"/>
                        </a:lnSpc>
                        <a:spcAft>
                          <a:spcPts val="300"/>
                        </a:spcAft>
                      </a:pPr>
                      <a:r>
                        <a:rPr lang="en-US" sz="190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6.5.</a:t>
                      </a:r>
                    </a:p>
                  </a:txBody>
                  <a:tcPr marL="66299" marR="66299" marT="0" marB="0" anchor="ctr"/>
                </a:tc>
                <a:tc>
                  <a:txBody>
                    <a:bodyPr/>
                    <a:lstStyle/>
                    <a:p>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Quy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trình</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tổ</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chức</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sự</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kiện</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trong</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sạn</a:t>
                      </a:r>
                      <a:endPar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marL="66299" marR="66299" marT="0" marB="0" anchor="ctr"/>
                </a:tc>
                <a:extLst>
                  <a:ext uri="{0D108BD9-81ED-4DB2-BD59-A6C34878D82A}">
                    <a16:rowId xmlns:a16="http://schemas.microsoft.com/office/drawing/2014/main" val="957633178"/>
                  </a:ext>
                </a:extLst>
              </a:tr>
            </a:tbl>
          </a:graphicData>
        </a:graphic>
      </p:graphicFrame>
    </p:spTree>
    <p:extLst>
      <p:ext uri="{BB962C8B-B14F-4D97-AF65-F5344CB8AC3E}">
        <p14:creationId xmlns:p14="http://schemas.microsoft.com/office/powerpoint/2010/main" val="25262041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5C8C1CB-E887-ECF7-6125-537F06A05485}"/>
              </a:ext>
            </a:extLst>
          </p:cNvPr>
          <p:cNvSpPr txBox="1"/>
          <p:nvPr/>
        </p:nvSpPr>
        <p:spPr>
          <a:xfrm>
            <a:off x="449451" y="2035111"/>
            <a:ext cx="4850969" cy="584775"/>
          </a:xfrm>
          <a:prstGeom prst="rect">
            <a:avLst/>
          </a:prstGeom>
          <a:noFill/>
        </p:spPr>
        <p:txBody>
          <a:bodyPr wrap="square" rtlCol="0">
            <a:spAutoFit/>
          </a:bodyPr>
          <a:lstStyle/>
          <a:p>
            <a:r>
              <a:rPr lang="en-US" sz="32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TÀI LIỆU THAM KHẢO </a:t>
            </a:r>
            <a:endParaRPr lang="vi-VN" sz="32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sp>
        <p:nvSpPr>
          <p:cNvPr id="4" name="TextBox 3">
            <a:extLst>
              <a:ext uri="{FF2B5EF4-FFF2-40B4-BE49-F238E27FC236}">
                <a16:creationId xmlns:a16="http://schemas.microsoft.com/office/drawing/2014/main" id="{99A60FD1-86A1-7739-A279-033C5F439FDA}"/>
              </a:ext>
            </a:extLst>
          </p:cNvPr>
          <p:cNvSpPr txBox="1"/>
          <p:nvPr/>
        </p:nvSpPr>
        <p:spPr>
          <a:xfrm>
            <a:off x="449451" y="2785527"/>
            <a:ext cx="11344759" cy="2718501"/>
          </a:xfrm>
          <a:prstGeom prst="rect">
            <a:avLst/>
          </a:prstGeom>
          <a:noFill/>
        </p:spPr>
        <p:txBody>
          <a:bodyPr wrap="square">
            <a:spAutoFit/>
          </a:bodyPr>
          <a:lstStyle/>
          <a:p>
            <a:pPr>
              <a:lnSpc>
                <a:spcPct val="115000"/>
              </a:lnSpc>
              <a:spcAft>
                <a:spcPts val="300"/>
              </a:spcAft>
            </a:pPr>
            <a:r>
              <a:rPr lang="vi-VN" sz="2400" b="1" dirty="0">
                <a:solidFill>
                  <a:srgbClr val="FF000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Tài liệu chính</a:t>
            </a:r>
            <a:endParaRPr lang="en-US" sz="2400" b="1" dirty="0">
              <a:solidFill>
                <a:srgbClr val="FF0000"/>
              </a:solidFill>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457200" algn="just">
              <a:lnSpc>
                <a:spcPct val="115000"/>
              </a:lnSpc>
              <a:spcAft>
                <a:spcPts val="300"/>
              </a:spcAft>
              <a:tabLst>
                <a:tab pos="685800" algn="l"/>
              </a:tabLst>
            </a:pPr>
            <a:r>
              <a:rPr lang="vi-VN"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Phạm Xuân Hậu (chủ biên), (2019), </a:t>
            </a:r>
            <a:r>
              <a:rPr lang="vi-VN" sz="2400" b="1" i="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Giáo trình Tổng quan Quản trị khách sạn,</a:t>
            </a:r>
            <a:r>
              <a:rPr lang="vi-VN"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NXB.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Kinh</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tế</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TP.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Hồ</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Chí Minh.</a:t>
            </a:r>
          </a:p>
          <a:p>
            <a:pPr>
              <a:lnSpc>
                <a:spcPct val="115000"/>
              </a:lnSpc>
              <a:spcAft>
                <a:spcPts val="300"/>
              </a:spcAft>
            </a:pPr>
            <a:r>
              <a:rPr lang="vi-VN"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vi-VN" sz="2400" b="1" dirty="0">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a:t>Tài liệu </a:t>
            </a:r>
            <a:r>
              <a:rPr lang="en-US" sz="2400" b="1" dirty="0" err="1">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a:t>tham</a:t>
            </a:r>
            <a:r>
              <a:rPr lang="en-US" sz="2400" b="1" dirty="0">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a:t>khảo</a:t>
            </a:r>
            <a:endParaRPr lang="en-US" sz="2400" b="1" dirty="0">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lvl="0" algn="just">
              <a:lnSpc>
                <a:spcPct val="115000"/>
              </a:lnSpc>
              <a:spcAft>
                <a:spcPts val="300"/>
              </a:spcAft>
              <a:tabLst>
                <a:tab pos="457200" algn="l"/>
              </a:tabLst>
            </a:pP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vi-VN"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Bài giảng Tổng quan về Quản trị khách sạn (giảng viên cung cấp), Lưu hành nội bộ.</a:t>
            </a:r>
            <a:endPar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spTree>
    <p:extLst>
      <p:ext uri="{BB962C8B-B14F-4D97-AF65-F5344CB8AC3E}">
        <p14:creationId xmlns:p14="http://schemas.microsoft.com/office/powerpoint/2010/main" val="35433009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1D9B624-8E03-5FCE-EEA1-A0A25863C315}"/>
              </a:ext>
            </a:extLst>
          </p:cNvPr>
          <p:cNvSpPr txBox="1"/>
          <p:nvPr/>
        </p:nvSpPr>
        <p:spPr>
          <a:xfrm>
            <a:off x="527418" y="1923784"/>
            <a:ext cx="11438626" cy="2862322"/>
          </a:xfrm>
          <a:prstGeom prst="rect">
            <a:avLst/>
          </a:prstGeom>
          <a:noFill/>
        </p:spPr>
        <p:txBody>
          <a:bodyPr wrap="square">
            <a:spAutoFit/>
          </a:bodyPr>
          <a:lstStyle/>
          <a:p>
            <a:pPr algn="ctr"/>
            <a:r>
              <a:rPr lang="en-US" sz="6000" b="1" dirty="0">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a:t>CHƯƠNG 2: </a:t>
            </a:r>
          </a:p>
          <a:p>
            <a:pPr algn="ctr"/>
            <a:r>
              <a:rPr lang="en-US" sz="6000" b="1" kern="1200" dirty="0">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a:t>QUẢN LÝ HOẠT ĐỘNG CỦA </a:t>
            </a:r>
          </a:p>
          <a:p>
            <a:pPr algn="ctr"/>
            <a:r>
              <a:rPr lang="en-US" sz="6000" b="1" kern="1200" dirty="0">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a:t>BỘ PHẬN TIỀN SẢNH</a:t>
            </a:r>
            <a:endParaRPr lang="en-US" sz="1800" b="1" kern="1200" dirty="0">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spTree>
    <p:extLst>
      <p:ext uri="{BB962C8B-B14F-4D97-AF65-F5344CB8AC3E}">
        <p14:creationId xmlns:p14="http://schemas.microsoft.com/office/powerpoint/2010/main" val="26525128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AD884E1-BB6D-0B71-557A-F42083F691A0}"/>
              </a:ext>
            </a:extLst>
          </p:cNvPr>
          <p:cNvSpPr txBox="1"/>
          <p:nvPr/>
        </p:nvSpPr>
        <p:spPr>
          <a:xfrm>
            <a:off x="518277" y="1158834"/>
            <a:ext cx="10864312" cy="1569660"/>
          </a:xfrm>
          <a:prstGeom prst="rect">
            <a:avLst/>
          </a:prstGeom>
          <a:noFill/>
        </p:spPr>
        <p:txBody>
          <a:bodyPr wrap="square" rtlCol="0">
            <a:spAutoFit/>
          </a:bodyPr>
          <a:lstStyle/>
          <a:p>
            <a:pPr algn="ctr"/>
            <a:r>
              <a:rPr lang="en-US" sz="3200" b="1" dirty="0">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a:t>CHƯƠNG 2: </a:t>
            </a:r>
            <a:r>
              <a:rPr lang="en-US" sz="3200" b="1" kern="1200" dirty="0">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a:t>QUẢN LÝ HOẠT ĐỘNG CỦA </a:t>
            </a:r>
          </a:p>
          <a:p>
            <a:pPr algn="ctr"/>
            <a:r>
              <a:rPr lang="en-US" sz="3200" b="1" kern="1200" dirty="0">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a:t>BỘ PHẬN TIỀN SẢNH</a:t>
            </a:r>
          </a:p>
          <a:p>
            <a:pPr algn="ctr"/>
            <a:endParaRPr lang="en-US" sz="3200" b="1" dirty="0">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sp>
        <p:nvSpPr>
          <p:cNvPr id="4" name="TextBox 3">
            <a:extLst>
              <a:ext uri="{FF2B5EF4-FFF2-40B4-BE49-F238E27FC236}">
                <a16:creationId xmlns:a16="http://schemas.microsoft.com/office/drawing/2014/main" id="{9F5D0D1E-FAE5-4589-9ED6-5D677D704958}"/>
              </a:ext>
            </a:extLst>
          </p:cNvPr>
          <p:cNvSpPr txBox="1"/>
          <p:nvPr/>
        </p:nvSpPr>
        <p:spPr>
          <a:xfrm>
            <a:off x="807119" y="2266231"/>
            <a:ext cx="5960389" cy="584775"/>
          </a:xfrm>
          <a:prstGeom prst="rect">
            <a:avLst/>
          </a:prstGeom>
          <a:solidFill>
            <a:schemeClr val="accent2"/>
          </a:solidFill>
        </p:spPr>
        <p:txBody>
          <a:bodyPr wrap="square">
            <a:spAutoFit/>
          </a:bodyPr>
          <a:lstStyle/>
          <a:p>
            <a:r>
              <a:rPr lang="en-US" sz="3200" b="1" dirty="0">
                <a:solidFill>
                  <a:srgbClr val="FFFF00"/>
                </a:solidFill>
                <a:latin typeface="Microsoft Sans Serif" panose="020B0604020202020204" pitchFamily="34" charset="0"/>
                <a:ea typeface="Microsoft Sans Serif" panose="020B0604020202020204" pitchFamily="34" charset="0"/>
                <a:cs typeface="Microsoft Sans Serif" panose="020B0604020202020204" pitchFamily="34" charset="0"/>
              </a:rPr>
              <a:t>MỤC TIÊU BÀI HỌC </a:t>
            </a:r>
          </a:p>
        </p:txBody>
      </p:sp>
      <p:sp>
        <p:nvSpPr>
          <p:cNvPr id="5" name="TextBox 4">
            <a:extLst>
              <a:ext uri="{FF2B5EF4-FFF2-40B4-BE49-F238E27FC236}">
                <a16:creationId xmlns:a16="http://schemas.microsoft.com/office/drawing/2014/main" id="{03F26D59-D1C4-F2F2-1731-27329CCC2162}"/>
              </a:ext>
            </a:extLst>
          </p:cNvPr>
          <p:cNvSpPr txBox="1"/>
          <p:nvPr/>
        </p:nvSpPr>
        <p:spPr>
          <a:xfrm>
            <a:off x="807119" y="3144621"/>
            <a:ext cx="10148976" cy="2554545"/>
          </a:xfrm>
          <a:prstGeom prst="rect">
            <a:avLst/>
          </a:prstGeom>
          <a:noFill/>
        </p:spPr>
        <p:txBody>
          <a:bodyPr wrap="square">
            <a:spAutoFit/>
          </a:bodyPr>
          <a:lstStyle/>
          <a:p>
            <a:pPr marL="285750" indent="-285750">
              <a:spcBef>
                <a:spcPts val="1200"/>
              </a:spcBef>
              <a:buFont typeface="Wingdings" panose="05000000000000000000" pitchFamily="2" charset="2"/>
              <a:buChar char="q"/>
            </a:pP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Hiểu</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và</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Phân</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Tích</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Vai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Trò</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và</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Nhiệm</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Vụ</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của</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Bộ</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Phận</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Tiền</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Sảnh</a:t>
            </a:r>
            <a:endPar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285750" indent="-285750">
              <a:spcBef>
                <a:spcPts val="1200"/>
              </a:spcBef>
              <a:buFont typeface="Wingdings" panose="05000000000000000000" pitchFamily="2" charset="2"/>
              <a:buChar char="q"/>
            </a:pPr>
            <a:r>
              <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Xác Định và Giải Thích Cơ Cấu Tổ Chức Của Khách Sạn</a:t>
            </a:r>
            <a:endPar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285750" indent="-285750">
              <a:spcBef>
                <a:spcPts val="1200"/>
              </a:spcBef>
              <a:buFont typeface="Wingdings" panose="05000000000000000000" pitchFamily="2" charset="2"/>
              <a:buChar char="q"/>
            </a:pP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Hiểu</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Mối</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Quan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Hệ</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Giữa</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Bộ</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Phận</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Tiền</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Sảnh</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Và</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Các</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Bộ</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Phận</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Khác</a:t>
            </a:r>
            <a:endPar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285750" indent="-285750">
              <a:spcBef>
                <a:spcPts val="1200"/>
              </a:spcBef>
              <a:buFont typeface="Wingdings" panose="05000000000000000000" pitchFamily="2" charset="2"/>
              <a:buChar char="q"/>
            </a:pP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Tổ</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Chức</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và</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Quản</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Lý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Hoạt</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Động</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Của</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Bộ</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Phận</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Tiền</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Sảnh</a:t>
            </a:r>
            <a:endPar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285750" indent="-285750">
              <a:spcBef>
                <a:spcPts val="1200"/>
              </a:spcBef>
              <a:buFont typeface="Wingdings" panose="05000000000000000000" pitchFamily="2" charset="2"/>
              <a:buChar char="q"/>
            </a:pPr>
            <a:r>
              <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Quản Trị Doanh Thu và Đánh Giá Hoạt Động Lưu Trú</a:t>
            </a:r>
          </a:p>
        </p:txBody>
      </p:sp>
    </p:spTree>
    <p:extLst>
      <p:ext uri="{BB962C8B-B14F-4D97-AF65-F5344CB8AC3E}">
        <p14:creationId xmlns:p14="http://schemas.microsoft.com/office/powerpoint/2010/main" val="13155339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8B23574-926A-1A29-4F37-60E1F8F4EFED}"/>
              </a:ext>
            </a:extLst>
          </p:cNvPr>
          <p:cNvSpPr txBox="1"/>
          <p:nvPr/>
        </p:nvSpPr>
        <p:spPr>
          <a:xfrm>
            <a:off x="337474" y="1155521"/>
            <a:ext cx="11352362" cy="543931"/>
          </a:xfrm>
          <a:prstGeom prst="rect">
            <a:avLst/>
          </a:prstGeom>
          <a:solidFill>
            <a:schemeClr val="accent2"/>
          </a:solidFill>
        </p:spPr>
        <p:txBody>
          <a:bodyPr wrap="square">
            <a:spAutoFit/>
          </a:bodyPr>
          <a:lstStyle/>
          <a:p>
            <a:pPr marL="0" algn="l" defTabSz="914400" rtl="0" eaLnBrk="1" latinLnBrk="0" hangingPunct="1">
              <a:lnSpc>
                <a:spcPct val="115000"/>
              </a:lnSpc>
              <a:spcAft>
                <a:spcPts val="300"/>
              </a:spcAft>
            </a:pPr>
            <a:r>
              <a:rPr lang="nl-NL" sz="2800" b="1" kern="1200" dirty="0">
                <a:solidFill>
                  <a:srgbClr val="FFFF00"/>
                </a:solidFill>
                <a:latin typeface="Microsoft Sans Serif" panose="020B0604020202020204" pitchFamily="34" charset="0"/>
                <a:ea typeface="Microsoft Sans Serif" panose="020B0604020202020204" pitchFamily="34" charset="0"/>
                <a:cs typeface="Microsoft Sans Serif" panose="020B0604020202020204" pitchFamily="34" charset="0"/>
              </a:rPr>
              <a:t>1. VAI TRÒ, NHIỆM VỤ CỦA BỘ PHẬN TIỀN SẢNH</a:t>
            </a:r>
            <a:endParaRPr lang="en-US" sz="2800" b="1" kern="1200" dirty="0">
              <a:solidFill>
                <a:srgbClr val="FFFF0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sp>
        <p:nvSpPr>
          <p:cNvPr id="7" name="TextBox 6">
            <a:extLst>
              <a:ext uri="{FF2B5EF4-FFF2-40B4-BE49-F238E27FC236}">
                <a16:creationId xmlns:a16="http://schemas.microsoft.com/office/drawing/2014/main" id="{78548740-A0C1-8D40-C74D-99E448009ECD}"/>
              </a:ext>
            </a:extLst>
          </p:cNvPr>
          <p:cNvSpPr txBox="1"/>
          <p:nvPr/>
        </p:nvSpPr>
        <p:spPr>
          <a:xfrm>
            <a:off x="337474" y="1763957"/>
            <a:ext cx="11235094" cy="4023730"/>
          </a:xfrm>
          <a:prstGeom prst="rect">
            <a:avLst/>
          </a:prstGeom>
          <a:noFill/>
        </p:spPr>
        <p:txBody>
          <a:bodyPr wrap="square">
            <a:spAutoFit/>
          </a:bodyPr>
          <a:lstStyle/>
          <a:p>
            <a:pPr marL="342900" lvl="0" indent="-342900">
              <a:lnSpc>
                <a:spcPct val="115000"/>
              </a:lnSpc>
              <a:spcAft>
                <a:spcPts val="800"/>
              </a:spcAft>
              <a:buSzPts val="1000"/>
              <a:buFont typeface="Symbol" panose="05050102010706020507" pitchFamily="18" charset="2"/>
              <a:buChar char=""/>
              <a:tabLst>
                <a:tab pos="457200" algn="l"/>
              </a:tabLst>
            </a:pPr>
            <a:endParaRPr lang="en-US" sz="1800" b="1" kern="0" dirty="0">
              <a:solidFill>
                <a:srgbClr val="002060"/>
              </a:solidFill>
              <a:effectLst/>
              <a:latin typeface="Microsoft Sans Serif" panose="020B0604020202020204" pitchFamily="34" charset="0"/>
              <a:ea typeface="Times New Roman" panose="02020603050405020304" pitchFamily="18" charset="0"/>
              <a:cs typeface="Times New Roman" panose="02020603050405020304" pitchFamily="18" charset="0"/>
            </a:endParaRPr>
          </a:p>
          <a:p>
            <a:pPr lvl="0">
              <a:lnSpc>
                <a:spcPct val="115000"/>
              </a:lnSpc>
              <a:spcAft>
                <a:spcPts val="800"/>
              </a:spcAft>
              <a:buSzPts val="1000"/>
              <a:tabLst>
                <a:tab pos="457200" algn="l"/>
              </a:tabLst>
            </a:pPr>
            <a:r>
              <a:rPr lang="en-US" sz="2400" b="1" kern="0" dirty="0">
                <a:solidFill>
                  <a:srgbClr val="FF0000"/>
                </a:solidFill>
                <a:latin typeface="Microsoft Sans Serif" panose="020B0604020202020204" pitchFamily="34" charset="0"/>
                <a:ea typeface="Times New Roman" panose="02020603050405020304" pitchFamily="18" charset="0"/>
                <a:cs typeface="Times New Roman" panose="02020603050405020304" pitchFamily="18" charset="0"/>
              </a:rPr>
              <a:t>1.1. VAI TRÒ CỦA BỘ PHẬN TIỀN SẢNH </a:t>
            </a:r>
          </a:p>
          <a:p>
            <a:pPr marL="342900" lvl="0" indent="-342900">
              <a:lnSpc>
                <a:spcPct val="115000"/>
              </a:lnSpc>
              <a:spcBef>
                <a:spcPts val="1200"/>
              </a:spcBef>
              <a:buSzPct val="100000"/>
              <a:buFont typeface="Wingdings" panose="05000000000000000000" pitchFamily="2" charset="2"/>
              <a:buChar char="q"/>
              <a:tabLst>
                <a:tab pos="457200" algn="l"/>
              </a:tabLst>
            </a:pPr>
            <a:r>
              <a:rPr lang="en-US" sz="2400" b="1" kern="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Quản </a:t>
            </a:r>
            <a:r>
              <a:rPr lang="en-US" sz="2400" b="1" kern="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lý</a:t>
            </a:r>
            <a:r>
              <a:rPr lang="en-US" sz="2400" b="1" kern="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kern="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thông</a:t>
            </a:r>
            <a:r>
              <a:rPr lang="en-US" sz="2400" b="1" kern="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tin </a:t>
            </a:r>
            <a:r>
              <a:rPr lang="en-US" sz="2400" b="1" kern="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đặt</a:t>
            </a:r>
            <a:r>
              <a:rPr lang="en-US" sz="2400" b="1" kern="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kern="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phòng</a:t>
            </a:r>
            <a:r>
              <a:rPr lang="en-US" sz="2400" b="1" kern="1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kern="1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và</a:t>
            </a:r>
            <a:r>
              <a:rPr lang="en-US" sz="2400" b="1" kern="1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đ</a:t>
            </a:r>
            <a:r>
              <a:rPr lang="vi-VN" sz="2400" b="1" kern="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iều hành toàn bộ hoạt động tiền sảnh.</a:t>
            </a:r>
          </a:p>
          <a:p>
            <a:pPr marL="342900" indent="-342900">
              <a:buFont typeface="Wingdings" panose="05000000000000000000" pitchFamily="2" charset="2"/>
              <a:buChar char="q"/>
            </a:pPr>
            <a:r>
              <a:rPr lang="vi-VN" sz="2400" b="1" kern="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Quản lý nhân sự &amp; đào tạo.</a:t>
            </a:r>
          </a:p>
          <a:p>
            <a:pPr marL="342900" indent="-342900">
              <a:buFont typeface="Wingdings" panose="05000000000000000000" pitchFamily="2" charset="2"/>
              <a:buChar char="q"/>
            </a:pPr>
            <a:r>
              <a:rPr lang="vi-VN" sz="2400" b="1" kern="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Kiểm soát chất lượng dịch vụ</a:t>
            </a:r>
            <a:r>
              <a:rPr lang="en-US" sz="2400" b="1" kern="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kern="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vì</a:t>
            </a:r>
            <a:r>
              <a:rPr lang="en-US" sz="2400" b="1" kern="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kern="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nhân</a:t>
            </a:r>
            <a:r>
              <a:rPr lang="en-US" sz="2400" b="1" kern="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kern="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viên</a:t>
            </a:r>
            <a:r>
              <a:rPr lang="en-US" sz="2400" b="1" kern="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kern="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trực</a:t>
            </a:r>
            <a:r>
              <a:rPr lang="en-US" sz="2400" b="1" kern="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kern="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phòng</a:t>
            </a:r>
            <a:r>
              <a:rPr lang="en-US" sz="2400" b="1" kern="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kern="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có</a:t>
            </a:r>
            <a:r>
              <a:rPr lang="en-US" sz="2400" b="1" kern="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kern="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thể</a:t>
            </a:r>
            <a:r>
              <a:rPr lang="en-US" sz="2400" b="1" kern="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kern="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tiếp</a:t>
            </a:r>
            <a:r>
              <a:rPr lang="en-US" sz="2400" b="1" kern="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kern="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xúc</a:t>
            </a:r>
            <a:r>
              <a:rPr lang="en-US" sz="2400" b="1" kern="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kern="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chính</a:t>
            </a:r>
            <a:r>
              <a:rPr lang="en-US" sz="2400" b="1" kern="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kern="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với</a:t>
            </a:r>
            <a:r>
              <a:rPr lang="en-US" sz="2400" b="1" kern="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kern="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lang="en-US" sz="2400" b="1" kern="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hang</a:t>
            </a:r>
          </a:p>
          <a:p>
            <a:pPr marL="342900" indent="-342900">
              <a:buFont typeface="Wingdings" panose="05000000000000000000" pitchFamily="2" charset="2"/>
              <a:buChar char="q"/>
            </a:pPr>
            <a:r>
              <a:rPr lang="vi-VN" sz="2400" b="1" kern="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Giải quyết khiếu nại và </a:t>
            </a:r>
            <a:r>
              <a:rPr lang="en-US" sz="2400" b="1" kern="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các</a:t>
            </a:r>
            <a:r>
              <a:rPr lang="en-US" sz="2400" b="1" kern="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vi-VN" sz="2400" b="1" kern="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tình huống đặc biệt.</a:t>
            </a:r>
          </a:p>
          <a:p>
            <a:pPr marL="342900" indent="-342900">
              <a:buFont typeface="Wingdings" panose="05000000000000000000" pitchFamily="2" charset="2"/>
              <a:buChar char="q"/>
            </a:pPr>
            <a:r>
              <a:rPr lang="vi-VN" sz="2400" b="1" kern="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Quản lý doanh thu &amp; báo cáo kết quả.</a:t>
            </a:r>
          </a:p>
          <a:p>
            <a:pPr marL="342900" lvl="0" indent="-342900">
              <a:lnSpc>
                <a:spcPct val="115000"/>
              </a:lnSpc>
              <a:spcBef>
                <a:spcPts val="1200"/>
              </a:spcBef>
              <a:buSzPct val="100000"/>
              <a:buFont typeface="Wingdings" panose="05000000000000000000" pitchFamily="2" charset="2"/>
              <a:buChar char="q"/>
              <a:tabLst>
                <a:tab pos="457200" algn="l"/>
              </a:tabLst>
            </a:pPr>
            <a:endParaRPr lang="en-US" sz="2400"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13736748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876C5C4-52FF-50D9-C787-461A3F1D3048}"/>
              </a:ext>
            </a:extLst>
          </p:cNvPr>
          <p:cNvSpPr txBox="1"/>
          <p:nvPr/>
        </p:nvSpPr>
        <p:spPr>
          <a:xfrm>
            <a:off x="307862" y="994856"/>
            <a:ext cx="7746521" cy="461665"/>
          </a:xfrm>
          <a:prstGeom prst="rect">
            <a:avLst/>
          </a:prstGeom>
          <a:noFill/>
        </p:spPr>
        <p:txBody>
          <a:bodyPr wrap="square">
            <a:spAutoFit/>
          </a:bodyPr>
          <a:lstStyle/>
          <a:p>
            <a:r>
              <a:rPr lang="nl-NL" sz="2400" b="1" kern="1200" dirty="0">
                <a:solidFill>
                  <a:srgbClr val="FF0000"/>
                </a:solidFill>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1.2. NHIỆM VỤ CỦA BỘ PHẬN TIỀN SẢNH</a:t>
            </a:r>
            <a:endParaRPr lang="vi-VN" sz="2400" dirty="0">
              <a:highlight>
                <a:srgbClr val="FFFF00"/>
              </a:highlight>
            </a:endParaRPr>
          </a:p>
        </p:txBody>
      </p:sp>
      <p:sp>
        <p:nvSpPr>
          <p:cNvPr id="4" name="Rectangle 1">
            <a:extLst>
              <a:ext uri="{FF2B5EF4-FFF2-40B4-BE49-F238E27FC236}">
                <a16:creationId xmlns:a16="http://schemas.microsoft.com/office/drawing/2014/main" id="{B4A16947-140E-65ED-3CFB-6DF70606B15F}"/>
              </a:ext>
            </a:extLst>
          </p:cNvPr>
          <p:cNvSpPr>
            <a:spLocks noChangeArrowheads="1"/>
          </p:cNvSpPr>
          <p:nvPr/>
        </p:nvSpPr>
        <p:spPr bwMode="auto">
          <a:xfrm>
            <a:off x="138023" y="1456521"/>
            <a:ext cx="5957977" cy="54014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23838" marR="0" lvl="0" indent="-223838" algn="just" defTabSz="914400" rtl="0" eaLnBrk="0" fontAlgn="base" latinLnBrk="0" hangingPunct="0">
              <a:lnSpc>
                <a:spcPct val="100000"/>
              </a:lnSpc>
              <a:spcBef>
                <a:spcPts val="600"/>
              </a:spcBef>
              <a:spcAft>
                <a:spcPct val="0"/>
              </a:spcAft>
              <a:buClrTx/>
              <a:buSzTx/>
              <a:buFontTx/>
              <a:buAutoNum type="arabicPeriod"/>
              <a:tabLst/>
            </a:pP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Quảng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cáo</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bán</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phòng</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và</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các</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dịch</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vụ</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của</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sạn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Thu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hút</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và</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thuyết</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phục</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hàng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đặt</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phòng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và</a:t>
            </a:r>
            <a:r>
              <a:rPr lang="en-US" alt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các</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dịch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vụ</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khác</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p>
          <a:p>
            <a:pPr marL="223838" marR="0" lvl="0" indent="-223838" algn="just" defTabSz="914400" rtl="0" eaLnBrk="0" fontAlgn="base" latinLnBrk="0" hangingPunct="0">
              <a:lnSpc>
                <a:spcPct val="100000"/>
              </a:lnSpc>
              <a:spcBef>
                <a:spcPts val="600"/>
              </a:spcBef>
              <a:spcAft>
                <a:spcPct val="0"/>
              </a:spcAft>
              <a:buClrTx/>
              <a:buSzTx/>
              <a:buFontTx/>
              <a:buAutoNum type="arabicPeriod" startAt="2"/>
              <a:tabLst/>
            </a:pP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Cung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cấp</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thông</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tin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cho</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Giải</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đáp</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mọi</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thắc</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mắc</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của</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liên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quan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đến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dịch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vụ</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và</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alt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CSVC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của</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sạn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p>
          <a:p>
            <a:pPr marL="223838" marR="0" lvl="0" indent="-223838" algn="just" defTabSz="914400" rtl="0" eaLnBrk="0" fontAlgn="base" latinLnBrk="0" hangingPunct="0">
              <a:lnSpc>
                <a:spcPct val="100000"/>
              </a:lnSpc>
              <a:spcBef>
                <a:spcPts val="600"/>
              </a:spcBef>
              <a:spcAft>
                <a:spcPct val="0"/>
              </a:spcAft>
              <a:buClrTx/>
              <a:buSzTx/>
              <a:buFontTx/>
              <a:buAutoNum type="arabicPeriod" startAt="3"/>
              <a:tabLst/>
            </a:pP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Nhận</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đặt</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phòng</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và</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bố</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trí</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phòng</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cho</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Quản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lý</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đặt</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phòng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và</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sắp</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xếp</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chỗ</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ở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phù</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hợp</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cho</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p>
          <a:p>
            <a:pPr marL="223838" marR="0" lvl="0" indent="-223838" algn="just" defTabSz="914400" rtl="0" eaLnBrk="0" fontAlgn="base" latinLnBrk="0" hangingPunct="0">
              <a:lnSpc>
                <a:spcPct val="100000"/>
              </a:lnSpc>
              <a:spcBef>
                <a:spcPts val="600"/>
              </a:spcBef>
              <a:spcAft>
                <a:spcPct val="0"/>
              </a:spcAft>
              <a:buClrTx/>
              <a:buSzTx/>
              <a:buFontTx/>
              <a:buAutoNum type="arabicPeriod" startAt="4"/>
              <a:tabLst/>
            </a:pP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Phối</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hợp</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với</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các</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bộ</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phận</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khác</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phục</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vụ</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Đảm</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bảo</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các</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dịch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vụ</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được</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cung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cấp</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alt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suông</a:t>
            </a:r>
            <a:r>
              <a:rPr lang="en-US" alt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alt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sẽ</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và</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chuyên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nghiệp</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TextBox 5">
            <a:extLst>
              <a:ext uri="{FF2B5EF4-FFF2-40B4-BE49-F238E27FC236}">
                <a16:creationId xmlns:a16="http://schemas.microsoft.com/office/drawing/2014/main" id="{EE827CB7-FFB3-0671-DFB8-D6B51C4CECEB}"/>
              </a:ext>
            </a:extLst>
          </p:cNvPr>
          <p:cNvSpPr txBox="1"/>
          <p:nvPr/>
        </p:nvSpPr>
        <p:spPr>
          <a:xfrm>
            <a:off x="6348855" y="1456521"/>
            <a:ext cx="5535283" cy="4893647"/>
          </a:xfrm>
          <a:prstGeom prst="rect">
            <a:avLst/>
          </a:prstGeom>
          <a:noFill/>
        </p:spPr>
        <p:txBody>
          <a:bodyPr wrap="square">
            <a:spAutoFit/>
          </a:bodyPr>
          <a:lstStyle/>
          <a:p>
            <a:pPr marL="293688" marR="0" lvl="0" indent="-293688" algn="just" defTabSz="914400" rtl="0" eaLnBrk="0" fontAlgn="base" latinLnBrk="0" hangingPunct="0">
              <a:lnSpc>
                <a:spcPct val="100000"/>
              </a:lnSpc>
              <a:spcBef>
                <a:spcPct val="0"/>
              </a:spcBef>
              <a:spcAft>
                <a:spcPct val="0"/>
              </a:spcAft>
              <a:buClrTx/>
              <a:buSzTx/>
              <a:buFontTx/>
              <a:buAutoNum type="arabicPeriod" startAt="5"/>
              <a:tabLst/>
            </a:pP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Thanh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toán</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và</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tiễn</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Quản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lý</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các</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giao</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dịch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tài</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chính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và</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đảm</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bảo</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hài</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lòng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khi</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rời</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sạn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p>
          <a:p>
            <a:pPr marL="293688" marR="0" lvl="0" indent="-293688" algn="just" defTabSz="914400" rtl="0" eaLnBrk="0" fontAlgn="base" latinLnBrk="0" hangingPunct="0">
              <a:lnSpc>
                <a:spcPct val="100000"/>
              </a:lnSpc>
              <a:spcBef>
                <a:spcPct val="0"/>
              </a:spcBef>
              <a:spcAft>
                <a:spcPct val="0"/>
              </a:spcAft>
              <a:buClrTx/>
              <a:buSzTx/>
              <a:buFontTx/>
              <a:buAutoNum type="arabicPeriod" startAt="6"/>
              <a:tabLst/>
            </a:pP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Duy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trì</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số</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liệu</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thống</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kê</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chính</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xác</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về</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tình</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trạng</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phòng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Theo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dõi</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và</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cập</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nhật</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liên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tục</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tình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hình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phòng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p>
          <a:p>
            <a:pPr marL="293688" marR="0" lvl="0" indent="-293688" algn="just" defTabSz="914400" rtl="0" eaLnBrk="0" fontAlgn="base" latinLnBrk="0" hangingPunct="0">
              <a:lnSpc>
                <a:spcPct val="100000"/>
              </a:lnSpc>
              <a:spcBef>
                <a:spcPct val="0"/>
              </a:spcBef>
              <a:spcAft>
                <a:spcPct val="0"/>
              </a:spcAft>
              <a:buClrTx/>
              <a:buSzTx/>
              <a:buFontTx/>
              <a:buAutoNum type="arabicPeriod" startAt="7"/>
              <a:tabLst/>
            </a:pP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Duy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trì</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báo</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cáo</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tài</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khoản</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thanh</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toán</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của</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Xử</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lý</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các</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khoản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thanh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toán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và</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đảm</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bảo</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tính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minh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bạch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TC</a:t>
            </a:r>
          </a:p>
          <a:p>
            <a:pPr marL="293688" marR="0" lvl="0" indent="-293688" algn="just" defTabSz="914400" rtl="0" eaLnBrk="0" fontAlgn="base" latinLnBrk="0" hangingPunct="0">
              <a:lnSpc>
                <a:spcPct val="100000"/>
              </a:lnSpc>
              <a:spcBef>
                <a:spcPct val="0"/>
              </a:spcBef>
              <a:spcAft>
                <a:spcPct val="0"/>
              </a:spcAft>
              <a:buClrTx/>
              <a:buSzTx/>
              <a:buFontTx/>
              <a:buAutoNum type="arabicPeriod" startAt="8"/>
              <a:tabLst/>
            </a:pP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Tham</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gia</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vào</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công</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tác</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bán</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sản</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phẩm</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và</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hoạt</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động</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marketing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của</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sạn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Nâng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cao</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doanh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số</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và</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hình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ảnh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thương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hiệu</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sạn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p>
        </p:txBody>
      </p:sp>
    </p:spTree>
    <p:extLst>
      <p:ext uri="{BB962C8B-B14F-4D97-AF65-F5344CB8AC3E}">
        <p14:creationId xmlns:p14="http://schemas.microsoft.com/office/powerpoint/2010/main" val="10705349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09E0492-D0B4-2EDB-B345-5E17641602A4}"/>
              </a:ext>
            </a:extLst>
          </p:cNvPr>
          <p:cNvSpPr txBox="1"/>
          <p:nvPr/>
        </p:nvSpPr>
        <p:spPr>
          <a:xfrm>
            <a:off x="290150" y="1211557"/>
            <a:ext cx="8751498" cy="479427"/>
          </a:xfrm>
          <a:prstGeom prst="rect">
            <a:avLst/>
          </a:prstGeom>
          <a:noFill/>
        </p:spPr>
        <p:txBody>
          <a:bodyPr wrap="square">
            <a:spAutoFit/>
          </a:bodyPr>
          <a:lstStyle/>
          <a:p>
            <a:pPr lvl="0">
              <a:lnSpc>
                <a:spcPct val="115000"/>
              </a:lnSpc>
              <a:spcAft>
                <a:spcPts val="800"/>
              </a:spcAft>
              <a:buSzPts val="1000"/>
              <a:tabLst>
                <a:tab pos="457200" algn="l"/>
              </a:tabLst>
            </a:pPr>
            <a:r>
              <a:rPr lang="en-US" sz="2400" b="1" kern="0" dirty="0">
                <a:solidFill>
                  <a:srgbClr val="FF0000"/>
                </a:solidFill>
                <a:highlight>
                  <a:srgbClr val="FFFF00"/>
                </a:highlight>
                <a:latin typeface="Microsoft Sans Serif" panose="020B0604020202020204" pitchFamily="34" charset="0"/>
                <a:ea typeface="Times New Roman" panose="02020603050405020304" pitchFamily="18" charset="0"/>
                <a:cs typeface="Times New Roman" panose="02020603050405020304" pitchFamily="18" charset="0"/>
              </a:rPr>
              <a:t>1.3. VAI TRÒ CỦA  NGƯỜI QUẢN LÝ KHÁCH SẠN </a:t>
            </a:r>
          </a:p>
        </p:txBody>
      </p:sp>
      <p:sp>
        <p:nvSpPr>
          <p:cNvPr id="4" name="Rectangle 1">
            <a:extLst>
              <a:ext uri="{FF2B5EF4-FFF2-40B4-BE49-F238E27FC236}">
                <a16:creationId xmlns:a16="http://schemas.microsoft.com/office/drawing/2014/main" id="{474BED98-582C-9D69-1514-50D075368F46}"/>
              </a:ext>
            </a:extLst>
          </p:cNvPr>
          <p:cNvSpPr>
            <a:spLocks noChangeArrowheads="1"/>
          </p:cNvSpPr>
          <p:nvPr/>
        </p:nvSpPr>
        <p:spPr bwMode="auto">
          <a:xfrm>
            <a:off x="290150" y="2586926"/>
            <a:ext cx="11454384"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marR="0" lvl="0" indent="-457200" algn="just" defTabSz="914400" rtl="0" eaLnBrk="0" fontAlgn="base" latinLnBrk="0" hangingPunct="0">
              <a:lnSpc>
                <a:spcPct val="100000"/>
              </a:lnSpc>
              <a:spcBef>
                <a:spcPts val="1800"/>
              </a:spcBef>
              <a:spcAft>
                <a:spcPct val="0"/>
              </a:spcAft>
              <a:buClrTx/>
              <a:buSzTx/>
              <a:buFont typeface="+mj-lt"/>
              <a:buAutoNum type="arabicPeriod"/>
              <a:tabLst/>
            </a:pP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Xây</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dựng</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kế</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hoạch</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và</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hệ</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thống</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quản</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lý</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cho</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sạn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Người</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quản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lý</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phải</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lập</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kế</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hoạch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chiến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lược</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để</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phát</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triển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dịch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vụ</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và</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nâng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cao</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hiệu</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quả</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hoạt</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động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p>
          <a:p>
            <a:pPr marL="457200" marR="0" lvl="0" indent="-457200" algn="just" defTabSz="914400" rtl="0" eaLnBrk="0" fontAlgn="base" latinLnBrk="0" hangingPunct="0">
              <a:lnSpc>
                <a:spcPct val="100000"/>
              </a:lnSpc>
              <a:spcBef>
                <a:spcPts val="1800"/>
              </a:spcBef>
              <a:spcAft>
                <a:spcPct val="0"/>
              </a:spcAft>
              <a:buClrTx/>
              <a:buSzTx/>
              <a:buFont typeface="+mj-lt"/>
              <a:buAutoNum type="arabicPeriod"/>
              <a:tabLst/>
            </a:pP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Nhiệm</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vụ</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kinh</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doanh</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và</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tiếp</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thị</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Quản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lý</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phải</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đảm</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bảo</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rằng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sạn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luôn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thu</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hút</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hàng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mới</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và</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giữ</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chân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hàng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hiện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tại</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qua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các</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chiến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dịch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tiếp</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thị</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hiệu</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quả</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p>
          <a:p>
            <a:pPr marL="457200" marR="0" lvl="0" indent="-457200" algn="just" defTabSz="914400" rtl="0" eaLnBrk="0" fontAlgn="base" latinLnBrk="0" hangingPunct="0">
              <a:lnSpc>
                <a:spcPct val="100000"/>
              </a:lnSpc>
              <a:spcBef>
                <a:spcPts val="1800"/>
              </a:spcBef>
              <a:spcAft>
                <a:spcPct val="0"/>
              </a:spcAft>
              <a:buClrTx/>
              <a:buSzTx/>
              <a:buFont typeface="+mj-lt"/>
              <a:buAutoNum type="arabicPeriod"/>
              <a:tabLst/>
            </a:pP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Quản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lý</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tài</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chính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Bao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gồm</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việc</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giám</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sát</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ngân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sách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dòng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tiền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và</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các</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khoản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đầu</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tư</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để</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đảm</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bảo</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sự</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ổn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định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tài</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chính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cho</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sạn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p>
        </p:txBody>
      </p:sp>
    </p:spTree>
    <p:extLst>
      <p:ext uri="{BB962C8B-B14F-4D97-AF65-F5344CB8AC3E}">
        <p14:creationId xmlns:p14="http://schemas.microsoft.com/office/powerpoint/2010/main" val="8050831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A943A63-3FE0-88ED-BD92-98EDCA3C4B8D}"/>
              </a:ext>
            </a:extLst>
          </p:cNvPr>
          <p:cNvSpPr>
            <a:spLocks noChangeArrowheads="1"/>
          </p:cNvSpPr>
          <p:nvPr/>
        </p:nvSpPr>
        <p:spPr bwMode="auto">
          <a:xfrm>
            <a:off x="286619" y="1381456"/>
            <a:ext cx="11352362" cy="5078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marR="0" lvl="0" indent="-457200" algn="just" defTabSz="914400" rtl="0" eaLnBrk="0" fontAlgn="base" latinLnBrk="0" hangingPunct="0">
              <a:lnSpc>
                <a:spcPct val="100000"/>
              </a:lnSpc>
              <a:spcBef>
                <a:spcPts val="1800"/>
              </a:spcBef>
              <a:spcAft>
                <a:spcPct val="0"/>
              </a:spcAft>
              <a:buClrTx/>
              <a:buSzTx/>
              <a:buFont typeface="+mj-lt"/>
              <a:buAutoNum type="arabicPeriod" startAt="4"/>
              <a:tabLst/>
            </a:pP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Quản</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lý</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nhân</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sự</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sạn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Tuyển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dụng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đào</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tạo</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và</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giám</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sát</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nhân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viên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để</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đảm</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bảo</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họ</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có</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đủ</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năng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lực</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và</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hiệu</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suất</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làm</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việc</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cao</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p>
          <a:p>
            <a:pPr marL="457200" marR="0" lvl="0" indent="-457200" algn="just" defTabSz="914400" rtl="0" eaLnBrk="0" fontAlgn="base" latinLnBrk="0" hangingPunct="0">
              <a:lnSpc>
                <a:spcPct val="100000"/>
              </a:lnSpc>
              <a:spcBef>
                <a:spcPts val="1800"/>
              </a:spcBef>
              <a:spcAft>
                <a:spcPct val="0"/>
              </a:spcAft>
              <a:buClrTx/>
              <a:buSzTx/>
              <a:buFont typeface="+mj-lt"/>
              <a:buAutoNum type="arabicPeriod" startAt="4"/>
              <a:tabLst/>
            </a:pP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Quản</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lý</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tài</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sản</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và</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hàng</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hóa</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Bao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gồm</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việc</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mua</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sắm</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bảo</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trì</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và</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quản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lý</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hiệu</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quả</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các</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tài</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sản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của</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sạn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p>
          <a:p>
            <a:pPr marL="457200" marR="0" lvl="0" indent="-457200" algn="just" defTabSz="914400" rtl="0" eaLnBrk="0" fontAlgn="base" latinLnBrk="0" hangingPunct="0">
              <a:lnSpc>
                <a:spcPct val="100000"/>
              </a:lnSpc>
              <a:spcBef>
                <a:spcPts val="1800"/>
              </a:spcBef>
              <a:spcAft>
                <a:spcPct val="0"/>
              </a:spcAft>
              <a:buClrTx/>
              <a:buSzTx/>
              <a:buFont typeface="+mj-lt"/>
              <a:buAutoNum type="arabicPeriod" startAt="4"/>
              <a:tabLst/>
            </a:pP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Kiểm</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soát</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và</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điều</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hành</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mọi</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hoạt</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động</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của</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sạn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Đảm</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bảo</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tất</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cả</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các</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hoạt</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động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từ</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phòng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nghỉ</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đến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ẩm</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thực</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và</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sự</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kiện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được</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điều</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hành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trơn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tru</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an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toàn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và</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hiệu</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quả</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endPar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algn="just" eaLnBrk="0" fontAlgn="base" hangingPunct="0">
              <a:spcBef>
                <a:spcPts val="1800"/>
              </a:spcBef>
              <a:spcAft>
                <a:spcPct val="0"/>
              </a:spcAft>
            </a:pPr>
            <a:r>
              <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Các quản lý khách sạn thành công thường phải có tầm nhìn chiến lược, kỹ năng lãnh đạo tốt, và khả năng thích ứng với các thay đổi của thị trường để duy trì sự cạnh tranh của khách sạn.</a:t>
            </a:r>
          </a:p>
          <a:p>
            <a:pPr marL="457200" marR="0" lvl="0" indent="-457200" algn="just" defTabSz="914400" rtl="0" eaLnBrk="0" fontAlgn="base" latinLnBrk="0" hangingPunct="0">
              <a:lnSpc>
                <a:spcPct val="100000"/>
              </a:lnSpc>
              <a:spcBef>
                <a:spcPts val="1800"/>
              </a:spcBef>
              <a:spcAft>
                <a:spcPct val="0"/>
              </a:spcAft>
              <a:buClrTx/>
              <a:buSzTx/>
              <a:buFont typeface="+mj-lt"/>
              <a:buAutoNum type="arabicPeriod" startAt="4"/>
              <a:tabLst/>
            </a:pPr>
            <a:endPar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spTree>
    <p:extLst>
      <p:ext uri="{BB962C8B-B14F-4D97-AF65-F5344CB8AC3E}">
        <p14:creationId xmlns:p14="http://schemas.microsoft.com/office/powerpoint/2010/main" val="25374513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8BDDD2E-C493-075A-59D7-3D0BD50D2515}"/>
              </a:ext>
            </a:extLst>
          </p:cNvPr>
          <p:cNvSpPr txBox="1"/>
          <p:nvPr/>
        </p:nvSpPr>
        <p:spPr>
          <a:xfrm>
            <a:off x="286757" y="1186512"/>
            <a:ext cx="10304254" cy="543931"/>
          </a:xfrm>
          <a:prstGeom prst="rect">
            <a:avLst/>
          </a:prstGeom>
          <a:solidFill>
            <a:schemeClr val="accent2"/>
          </a:solidFill>
        </p:spPr>
        <p:txBody>
          <a:bodyPr wrap="square">
            <a:spAutoFit/>
          </a:bodyPr>
          <a:lstStyle/>
          <a:p>
            <a:pPr marL="0" algn="l" defTabSz="914400" rtl="0" eaLnBrk="1" latinLnBrk="0" hangingPunct="1">
              <a:lnSpc>
                <a:spcPct val="115000"/>
              </a:lnSpc>
              <a:spcAft>
                <a:spcPts val="300"/>
              </a:spcAft>
            </a:pPr>
            <a:r>
              <a:rPr lang="en-US" sz="2800" b="1" dirty="0">
                <a:solidFill>
                  <a:srgbClr val="FFFF00"/>
                </a:solidFill>
                <a:latin typeface="Microsoft Sans Serif" panose="020B0604020202020204" pitchFamily="34" charset="0"/>
                <a:ea typeface="Microsoft Sans Serif" panose="020B0604020202020204" pitchFamily="34" charset="0"/>
                <a:cs typeface="Microsoft Sans Serif" panose="020B0604020202020204" pitchFamily="34" charset="0"/>
              </a:rPr>
              <a:t>2. CƠ CẤU TỔ CHỨC CỦA BỘ PHẬN TIỀN SẢNH </a:t>
            </a:r>
          </a:p>
        </p:txBody>
      </p:sp>
      <p:pic>
        <p:nvPicPr>
          <p:cNvPr id="4" name="Picture 3" descr="A diagram of a company&#10;&#10;Description automatically generated">
            <a:extLst>
              <a:ext uri="{FF2B5EF4-FFF2-40B4-BE49-F238E27FC236}">
                <a16:creationId xmlns:a16="http://schemas.microsoft.com/office/drawing/2014/main" id="{39D7D6C6-3273-A3FF-F6FA-4F5AB4B5C977}"/>
              </a:ext>
            </a:extLst>
          </p:cNvPr>
          <p:cNvPicPr/>
          <p:nvPr/>
        </p:nvPicPr>
        <p:blipFill>
          <a:blip r:embed="rId2">
            <a:extLst>
              <a:ext uri="{BEBA8EAE-BF5A-486C-A8C5-ECC9F3942E4B}">
                <a14:imgProps xmlns:a14="http://schemas.microsoft.com/office/drawing/2010/main">
                  <a14:imgLayer r:embed="rId3">
                    <a14:imgEffect>
                      <a14:sharpenSoften amount="25000"/>
                    </a14:imgEffect>
                  </a14:imgLayer>
                </a14:imgProps>
              </a:ext>
            </a:extLst>
          </a:blip>
          <a:stretch>
            <a:fillRect/>
          </a:stretch>
        </p:blipFill>
        <p:spPr>
          <a:xfrm>
            <a:off x="358971" y="2532539"/>
            <a:ext cx="4449003" cy="3185652"/>
          </a:xfrm>
          <a:prstGeom prst="rect">
            <a:avLst/>
          </a:prstGeom>
        </p:spPr>
      </p:pic>
      <p:sp>
        <p:nvSpPr>
          <p:cNvPr id="2" name="TextBox 1">
            <a:extLst>
              <a:ext uri="{FF2B5EF4-FFF2-40B4-BE49-F238E27FC236}">
                <a16:creationId xmlns:a16="http://schemas.microsoft.com/office/drawing/2014/main" id="{E736BD84-AC88-DBC4-B9CF-49B5D7AE6D9A}"/>
              </a:ext>
            </a:extLst>
          </p:cNvPr>
          <p:cNvSpPr txBox="1"/>
          <p:nvPr/>
        </p:nvSpPr>
        <p:spPr>
          <a:xfrm>
            <a:off x="5319252" y="1970929"/>
            <a:ext cx="6597445" cy="4308872"/>
          </a:xfrm>
          <a:prstGeom prst="rect">
            <a:avLst/>
          </a:prstGeom>
          <a:noFill/>
        </p:spPr>
        <p:txBody>
          <a:bodyPr wrap="square">
            <a:spAutoFit/>
          </a:bodyPr>
          <a:lstStyle/>
          <a:p>
            <a:pPr algn="just">
              <a:spcBef>
                <a:spcPts val="600"/>
              </a:spcBef>
              <a:buFont typeface="+mj-lt"/>
              <a:buAutoNum type="arabicPeriod"/>
            </a:pPr>
            <a:r>
              <a:rPr lang="vi-VN" sz="2400" b="1" i="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Trưởng phòng Tiền sảnh:</a:t>
            </a:r>
            <a:r>
              <a:rPr lang="en-US" sz="2400" dirty="0">
                <a:solidFill>
                  <a:srgbClr val="002060"/>
                </a:solidFill>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vi-VN" sz="2400" b="0" i="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Quản lý toàn bộ hoạt động của bộ phận</a:t>
            </a:r>
            <a:r>
              <a:rPr lang="en-US" sz="2400" b="0" i="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 đ</a:t>
            </a:r>
            <a:r>
              <a:rPr lang="vi-VN" sz="2400" b="0" i="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ảm bảo chất lượng dịch vụ khách hàng</a:t>
            </a:r>
            <a:r>
              <a:rPr lang="en-US" sz="2400" dirty="0">
                <a:solidFill>
                  <a:srgbClr val="002060"/>
                </a:solidFill>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 l</a:t>
            </a:r>
            <a:r>
              <a:rPr lang="vi-VN" sz="2400" b="0" i="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ập kế hoạch và tổ chức công việc cho các nhân viên.</a:t>
            </a:r>
          </a:p>
          <a:p>
            <a:pPr algn="just">
              <a:spcBef>
                <a:spcPts val="600"/>
              </a:spcBef>
              <a:buFont typeface="+mj-lt"/>
              <a:buAutoNum type="arabicPeriod"/>
            </a:pPr>
            <a:r>
              <a:rPr lang="vi-VN" sz="2400" b="1" i="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Trợ lý Trưởng phòng Tiền sảnh:</a:t>
            </a:r>
            <a:r>
              <a:rPr lang="vi-VN" sz="2400" b="0" i="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Hỗ trợ Trưởng phòng trong việc quản lý và điều hành bộ phận</a:t>
            </a:r>
            <a:r>
              <a:rPr lang="en-US" sz="2400" dirty="0">
                <a:solidFill>
                  <a:srgbClr val="002060"/>
                </a:solidFill>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vi-VN" sz="2400" b="0" i="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thay thế Trưởng phòng khi cần.</a:t>
            </a:r>
          </a:p>
          <a:p>
            <a:pPr algn="l">
              <a:spcBef>
                <a:spcPts val="600"/>
              </a:spcBef>
              <a:buFont typeface="+mj-lt"/>
              <a:buAutoNum type="arabicPeriod"/>
            </a:pPr>
            <a:r>
              <a:rPr lang="vi-VN" sz="2400" b="1" i="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Giám sát Lễ tân:</a:t>
            </a:r>
            <a:r>
              <a:rPr lang="vi-VN" sz="2400" b="0" i="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Giám sát và điều phối công việc của nhân viên lễ tân</a:t>
            </a:r>
            <a:r>
              <a:rPr lang="en-US" sz="2400" b="0" i="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vi-VN" sz="2400" b="0" i="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diễn ra suôn sẻ</a:t>
            </a:r>
            <a:r>
              <a:rPr lang="en-US" sz="2400" dirty="0">
                <a:solidFill>
                  <a:srgbClr val="002060"/>
                </a:solidFill>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dirty="0" err="1">
                <a:solidFill>
                  <a:srgbClr val="002060"/>
                </a:solidFill>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và</a:t>
            </a:r>
            <a:r>
              <a:rPr lang="en-US" sz="2400" dirty="0">
                <a:solidFill>
                  <a:srgbClr val="002060"/>
                </a:solidFill>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 g</a:t>
            </a:r>
            <a:r>
              <a:rPr lang="vi-VN" sz="2400" b="0" i="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iải quyết các vấn đề phát sinh liên quan đến khách hàng.</a:t>
            </a:r>
          </a:p>
        </p:txBody>
      </p:sp>
    </p:spTree>
    <p:extLst>
      <p:ext uri="{BB962C8B-B14F-4D97-AF65-F5344CB8AC3E}">
        <p14:creationId xmlns:p14="http://schemas.microsoft.com/office/powerpoint/2010/main" val="14731921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DB89941-862D-8651-0B6F-BFA3BB5E5A0A}"/>
              </a:ext>
            </a:extLst>
          </p:cNvPr>
          <p:cNvSpPr txBox="1"/>
          <p:nvPr/>
        </p:nvSpPr>
        <p:spPr>
          <a:xfrm>
            <a:off x="451171" y="1394675"/>
            <a:ext cx="10610489" cy="4524315"/>
          </a:xfrm>
          <a:prstGeom prst="rect">
            <a:avLst/>
          </a:prstGeom>
          <a:noFill/>
        </p:spPr>
        <p:txBody>
          <a:bodyPr wrap="square">
            <a:spAutoFit/>
          </a:bodyPr>
          <a:lstStyle/>
          <a:p>
            <a:pPr marL="457200" indent="-457200" algn="just">
              <a:buFont typeface="+mj-lt"/>
              <a:buAutoNum type="arabicPeriod" startAt="4"/>
            </a:pPr>
            <a:r>
              <a:rPr lang="vi-VN" sz="2400" b="1" i="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Giám sát Trực đêm:</a:t>
            </a:r>
            <a:endParaRPr lang="vi-VN" sz="2400" b="0" i="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914400" lvl="1" indent="-457200" algn="just">
              <a:buFont typeface="Wingdings" panose="05000000000000000000" pitchFamily="2" charset="2"/>
              <a:buChar char="q"/>
            </a:pPr>
            <a:r>
              <a:rPr lang="vi-VN" sz="2400" b="0" i="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Quản lý hoạt động của bộ phận vào ban đêm.</a:t>
            </a:r>
          </a:p>
          <a:p>
            <a:pPr marL="914400" lvl="1" indent="-457200" algn="just">
              <a:buFont typeface="Wingdings" panose="05000000000000000000" pitchFamily="2" charset="2"/>
              <a:buChar char="q"/>
            </a:pPr>
            <a:r>
              <a:rPr lang="vi-VN" sz="2400" b="0" i="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Đảm bảo an ninh và an toàn cho khách và tài sản của khách sạn.</a:t>
            </a:r>
          </a:p>
          <a:p>
            <a:pPr marL="914400" lvl="1" indent="-457200" algn="just">
              <a:buFont typeface="Wingdings" panose="05000000000000000000" pitchFamily="2" charset="2"/>
              <a:buChar char="q"/>
            </a:pPr>
            <a:r>
              <a:rPr lang="vi-VN" sz="2400" b="0" i="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Thực hiện kiểm toán doanh thu vào cuối ca làm việc.</a:t>
            </a:r>
          </a:p>
          <a:p>
            <a:pPr marL="457200" indent="-457200" algn="just">
              <a:buFont typeface="+mj-lt"/>
              <a:buAutoNum type="arabicPeriod" startAt="4"/>
            </a:pPr>
            <a:r>
              <a:rPr lang="vi-VN" sz="2400" b="1" i="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Nhân viên Lễ tân:</a:t>
            </a:r>
            <a:endParaRPr lang="vi-VN" sz="2400" b="0" i="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914400" lvl="1" indent="-457200" algn="just">
              <a:buFont typeface="Wingdings" panose="05000000000000000000" pitchFamily="2" charset="2"/>
              <a:buChar char="q"/>
            </a:pPr>
            <a:r>
              <a:rPr lang="vi-VN" sz="2400" b="0" i="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Tiếp đón khách, thực hiện thủ tục check-in và check-out.</a:t>
            </a:r>
          </a:p>
          <a:p>
            <a:pPr marL="914400" lvl="1" indent="-457200" algn="just">
              <a:buFont typeface="Wingdings" panose="05000000000000000000" pitchFamily="2" charset="2"/>
              <a:buChar char="q"/>
            </a:pPr>
            <a:r>
              <a:rPr lang="vi-VN" sz="2400" b="0" i="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Cung cấp thông tin và hỗ trợ khách hàng trong suốt thời gian lưu trú.</a:t>
            </a:r>
          </a:p>
          <a:p>
            <a:pPr marL="914400" lvl="1" indent="-457200" algn="just">
              <a:buFont typeface="Wingdings" panose="05000000000000000000" pitchFamily="2" charset="2"/>
              <a:buChar char="q"/>
            </a:pPr>
            <a:r>
              <a:rPr lang="vi-VN" sz="2400" b="0" i="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Xử lý các yêu cầu và phàn nàn của khách.</a:t>
            </a:r>
          </a:p>
          <a:p>
            <a:pPr marL="457200" indent="-457200" algn="just">
              <a:buFont typeface="+mj-lt"/>
              <a:buAutoNum type="arabicPeriod" startAt="4"/>
            </a:pPr>
            <a:r>
              <a:rPr lang="vi-VN" sz="2400" b="1" i="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Nhân viên tổng đài:</a:t>
            </a:r>
            <a:endParaRPr lang="vi-VN" sz="2400" b="0" i="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914400" lvl="1" indent="-457200" algn="just">
              <a:buFont typeface="Wingdings" panose="05000000000000000000" pitchFamily="2" charset="2"/>
              <a:buChar char="q"/>
            </a:pPr>
            <a:r>
              <a:rPr lang="vi-VN" sz="2400" b="0" i="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Quản lý hệ thống điện thoại và các cuộc gọi đến/đi.</a:t>
            </a:r>
          </a:p>
          <a:p>
            <a:pPr marL="914400" lvl="1" indent="-457200" algn="just">
              <a:buFont typeface="Wingdings" panose="05000000000000000000" pitchFamily="2" charset="2"/>
              <a:buChar char="q"/>
            </a:pPr>
            <a:r>
              <a:rPr lang="vi-VN" sz="2400" b="0" i="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Cung cấp thông tin cho khách hàng qua điện thoại.</a:t>
            </a:r>
          </a:p>
          <a:p>
            <a:pPr marL="914400" lvl="1" indent="-457200" algn="just">
              <a:buFont typeface="Wingdings" panose="05000000000000000000" pitchFamily="2" charset="2"/>
              <a:buChar char="q"/>
            </a:pPr>
            <a:r>
              <a:rPr lang="vi-VN" sz="2400" b="0" i="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Hỗ trợ các bộ phận khác trong việc liên lạc.</a:t>
            </a:r>
          </a:p>
        </p:txBody>
      </p:sp>
    </p:spTree>
    <p:extLst>
      <p:ext uri="{BB962C8B-B14F-4D97-AF65-F5344CB8AC3E}">
        <p14:creationId xmlns:p14="http://schemas.microsoft.com/office/powerpoint/2010/main" val="36937977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F8DAE77-D33A-6DEC-C522-EC5FE8C4A249}"/>
              </a:ext>
            </a:extLst>
          </p:cNvPr>
          <p:cNvSpPr txBox="1"/>
          <p:nvPr/>
        </p:nvSpPr>
        <p:spPr>
          <a:xfrm>
            <a:off x="816078" y="1726690"/>
            <a:ext cx="6764594" cy="4154984"/>
          </a:xfrm>
          <a:prstGeom prst="rect">
            <a:avLst/>
          </a:prstGeom>
          <a:noFill/>
        </p:spPr>
        <p:txBody>
          <a:bodyPr wrap="square">
            <a:spAutoFit/>
          </a:bodyPr>
          <a:lstStyle/>
          <a:p>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Ngoài</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ra</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 </a:t>
            </a:r>
          </a:p>
          <a:p>
            <a:endPar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r>
              <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Nhiệm vụ Concierge &amp; Bellman</a:t>
            </a:r>
          </a:p>
          <a:p>
            <a:pPr>
              <a:buFont typeface="Arial" panose="020B0604020202020204" pitchFamily="34" charset="0"/>
              <a:buChar char="•"/>
            </a:pPr>
            <a:r>
              <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Concierge:</a:t>
            </a:r>
          </a:p>
          <a:p>
            <a:pPr marL="742950" lvl="1" indent="-285750">
              <a:buFont typeface="Arial" panose="020B0604020202020204" pitchFamily="34" charset="0"/>
              <a:buChar char="•"/>
            </a:pP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Tư vấn du lịch, đặt dịch vụ, gọi taxi.</a:t>
            </a:r>
          </a:p>
          <a:p>
            <a:pPr marL="742950" lvl="1" indent="-285750">
              <a:buFont typeface="Arial" panose="020B0604020202020204" pitchFamily="34" charset="0"/>
              <a:buChar char="•"/>
            </a:pP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Hỗ trợ khách VIP.</a:t>
            </a:r>
          </a:p>
          <a:p>
            <a:pPr>
              <a:buFont typeface="Arial" panose="020B0604020202020204" pitchFamily="34" charset="0"/>
              <a:buChar char="•"/>
            </a:pPr>
            <a:r>
              <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Bellman:</a:t>
            </a:r>
          </a:p>
          <a:p>
            <a:pPr marL="742950" lvl="1" indent="-285750">
              <a:buFont typeface="Arial" panose="020B0604020202020204" pitchFamily="34" charset="0"/>
              <a:buChar char="•"/>
            </a:pP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Hỗ trợ hành lý.</a:t>
            </a:r>
          </a:p>
          <a:p>
            <a:pPr marL="742950" lvl="1" indent="-285750">
              <a:buFont typeface="Arial" panose="020B0604020202020204" pitchFamily="34" charset="0"/>
              <a:buChar char="•"/>
            </a:pP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Hướng dẫn khách về phòng.</a:t>
            </a:r>
          </a:p>
          <a:p>
            <a:pPr marL="742950" lvl="1" indent="-285750">
              <a:buFont typeface="Arial" panose="020B0604020202020204" pitchFamily="34" charset="0"/>
              <a:buChar char="•"/>
            </a:pP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Chăm sóc dịch vụ cơ bản khi khách mới đến.</a:t>
            </a:r>
            <a:endParaRPr lang="vi-VN"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pic>
        <p:nvPicPr>
          <p:cNvPr id="7" name="Picture 6">
            <a:extLst>
              <a:ext uri="{FF2B5EF4-FFF2-40B4-BE49-F238E27FC236}">
                <a16:creationId xmlns:a16="http://schemas.microsoft.com/office/drawing/2014/main" id="{24B85B9F-4929-FF19-E93B-867C3593F70E}"/>
              </a:ext>
            </a:extLst>
          </p:cNvPr>
          <p:cNvPicPr>
            <a:picLocks noChangeAspect="1"/>
          </p:cNvPicPr>
          <p:nvPr/>
        </p:nvPicPr>
        <p:blipFill>
          <a:blip r:embed="rId2"/>
          <a:stretch>
            <a:fillRect/>
          </a:stretch>
        </p:blipFill>
        <p:spPr>
          <a:xfrm>
            <a:off x="7706178" y="1042218"/>
            <a:ext cx="4167196" cy="2577297"/>
          </a:xfrm>
          <a:prstGeom prst="rect">
            <a:avLst/>
          </a:prstGeom>
        </p:spPr>
      </p:pic>
      <p:pic>
        <p:nvPicPr>
          <p:cNvPr id="8" name="Picture 7">
            <a:extLst>
              <a:ext uri="{FF2B5EF4-FFF2-40B4-BE49-F238E27FC236}">
                <a16:creationId xmlns:a16="http://schemas.microsoft.com/office/drawing/2014/main" id="{7924F78C-FD81-DFF0-9E96-7DED65919E77}"/>
              </a:ext>
            </a:extLst>
          </p:cNvPr>
          <p:cNvPicPr>
            <a:picLocks noChangeAspect="1"/>
          </p:cNvPicPr>
          <p:nvPr/>
        </p:nvPicPr>
        <p:blipFill>
          <a:blip r:embed="rId3"/>
          <a:stretch>
            <a:fillRect/>
          </a:stretch>
        </p:blipFill>
        <p:spPr>
          <a:xfrm>
            <a:off x="7706178" y="3785419"/>
            <a:ext cx="4167195" cy="2708934"/>
          </a:xfrm>
          <a:prstGeom prst="rect">
            <a:avLst/>
          </a:prstGeom>
        </p:spPr>
      </p:pic>
    </p:spTree>
    <p:extLst>
      <p:ext uri="{BB962C8B-B14F-4D97-AF65-F5344CB8AC3E}">
        <p14:creationId xmlns:p14="http://schemas.microsoft.com/office/powerpoint/2010/main" val="642567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951F072-1AF4-2FB3-1505-150DE1B136AF}"/>
              </a:ext>
            </a:extLst>
          </p:cNvPr>
          <p:cNvSpPr txBox="1"/>
          <p:nvPr/>
        </p:nvSpPr>
        <p:spPr>
          <a:xfrm>
            <a:off x="1641987" y="1168660"/>
            <a:ext cx="8367252" cy="1077218"/>
          </a:xfrm>
          <a:prstGeom prst="rect">
            <a:avLst/>
          </a:prstGeom>
          <a:noFill/>
        </p:spPr>
        <p:txBody>
          <a:bodyPr wrap="square">
            <a:spAutoFit/>
          </a:bodyPr>
          <a:lstStyle/>
          <a:p>
            <a:pPr marL="225425" indent="-225425" algn="ctr">
              <a:tabLst>
                <a:tab pos="225425" algn="l"/>
              </a:tabLst>
            </a:pPr>
            <a:r>
              <a:rPr lang="en-US" sz="3200" b="1" dirty="0">
                <a:solidFill>
                  <a:srgbClr val="FF000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3. MỐI QUAN HỆ VỚI CÁC BỘ PHẬN KHÁC </a:t>
            </a:r>
          </a:p>
          <a:p>
            <a:pPr marL="225425" indent="-225425" algn="ctr">
              <a:tabLst>
                <a:tab pos="225425" algn="l"/>
              </a:tabLst>
            </a:pPr>
            <a:r>
              <a:rPr lang="en-US" sz="3200" b="1" dirty="0">
                <a:solidFill>
                  <a:srgbClr val="FF000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TRONG KHÁCH SẠN</a:t>
            </a:r>
            <a:endParaRPr lang="vi-VN" sz="3200" b="1" dirty="0">
              <a:solidFill>
                <a:srgbClr val="FF0000"/>
              </a:solidFill>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sp>
        <p:nvSpPr>
          <p:cNvPr id="6" name="TextBox 5">
            <a:extLst>
              <a:ext uri="{FF2B5EF4-FFF2-40B4-BE49-F238E27FC236}">
                <a16:creationId xmlns:a16="http://schemas.microsoft.com/office/drawing/2014/main" id="{2B570D86-449A-7D28-CF86-CDDCF5BEE2A3}"/>
              </a:ext>
            </a:extLst>
          </p:cNvPr>
          <p:cNvSpPr txBox="1"/>
          <p:nvPr/>
        </p:nvSpPr>
        <p:spPr>
          <a:xfrm>
            <a:off x="651341" y="2326311"/>
            <a:ext cx="9357898" cy="3062377"/>
          </a:xfrm>
          <a:prstGeom prst="rect">
            <a:avLst/>
          </a:prstGeom>
          <a:noFill/>
        </p:spPr>
        <p:txBody>
          <a:bodyPr wrap="square">
            <a:spAutoFit/>
          </a:bodyPr>
          <a:lstStyle/>
          <a:p>
            <a:pPr marL="457200" indent="-457200">
              <a:spcBef>
                <a:spcPts val="600"/>
              </a:spcBef>
              <a:buFont typeface="Wingdings" panose="05000000000000000000" pitchFamily="2" charset="2"/>
              <a:buChar char="q"/>
            </a:pPr>
            <a:r>
              <a:rPr lang="vi-VN" sz="2800" b="1"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VỚI BỘ PHẬN BUỒNG</a:t>
            </a:r>
            <a:endParaRPr lang="en-US" sz="2800" b="1"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457200" indent="-457200">
              <a:spcBef>
                <a:spcPts val="600"/>
              </a:spcBef>
              <a:buFont typeface="Wingdings" panose="05000000000000000000" pitchFamily="2" charset="2"/>
              <a:buChar char="q"/>
            </a:pPr>
            <a:r>
              <a:rPr lang="vi-VN" sz="2800" b="1" kern="100" spc="75"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VỚI BỘ PHẬN ẨM THỰC</a:t>
            </a:r>
            <a:endParaRPr lang="en-US" sz="2800" b="1" kern="100" spc="75"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457200" indent="-457200">
              <a:spcBef>
                <a:spcPts val="600"/>
              </a:spcBef>
              <a:buFont typeface="Wingdings" panose="05000000000000000000" pitchFamily="2" charset="2"/>
              <a:buChar char="q"/>
            </a:pPr>
            <a:r>
              <a:rPr lang="vi-VN" sz="2800" b="1"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VỚI B</a:t>
            </a:r>
            <a:r>
              <a:rPr lang="en-US" sz="2800" b="1"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a:t>
            </a:r>
            <a:r>
              <a:rPr lang="vi-VN" sz="2800" b="1"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K</a:t>
            </a:r>
            <a:r>
              <a:rPr lang="en-US" sz="2800" b="1"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r>
              <a:rPr lang="vi-VN" sz="2800" b="1"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THUẬT BẢO </a:t>
            </a:r>
            <a:r>
              <a:rPr lang="en-US" sz="2800" b="1"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TRÌ</a:t>
            </a:r>
          </a:p>
          <a:p>
            <a:pPr marL="457200" indent="-457200">
              <a:spcBef>
                <a:spcPts val="600"/>
              </a:spcBef>
              <a:buFont typeface="Wingdings" panose="05000000000000000000" pitchFamily="2" charset="2"/>
              <a:buChar char="q"/>
            </a:pPr>
            <a:r>
              <a:rPr lang="vi-VN" sz="2800" b="1"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VỚI BỘ PHẬN KẾ TOÁN</a:t>
            </a:r>
            <a:endParaRPr lang="en-US" sz="2800" b="1"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457200" indent="-457200">
              <a:spcBef>
                <a:spcPts val="600"/>
              </a:spcBef>
              <a:buFont typeface="Wingdings" panose="05000000000000000000" pitchFamily="2" charset="2"/>
              <a:buChar char="q"/>
            </a:pPr>
            <a:r>
              <a:rPr lang="vi-VN" sz="2800" b="1"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VỚI B</a:t>
            </a:r>
            <a:r>
              <a:rPr lang="en-US" sz="2800" b="1"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a:t>
            </a:r>
            <a:r>
              <a:rPr lang="vi-VN" sz="2800" b="1"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BÁN HÀNG </a:t>
            </a:r>
            <a:r>
              <a:rPr lang="en-US" sz="2800" b="1"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&amp;</a:t>
            </a:r>
            <a:r>
              <a:rPr lang="vi-VN" sz="2800" b="1"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T</a:t>
            </a:r>
            <a:r>
              <a:rPr lang="en-US" sz="2800" b="1"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a:t>
            </a:r>
          </a:p>
          <a:p>
            <a:pPr marL="457200" indent="-457200">
              <a:spcBef>
                <a:spcPts val="600"/>
              </a:spcBef>
              <a:buFont typeface="Wingdings" panose="05000000000000000000" pitchFamily="2" charset="2"/>
              <a:buChar char="q"/>
            </a:pPr>
            <a:r>
              <a:rPr lang="vi-VN" sz="2800" b="1"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VỚI BỘ PHẬN AN NIN</a:t>
            </a:r>
            <a:r>
              <a:rPr lang="en-US" sz="2800" b="1"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a:t>
            </a:r>
            <a:endParaRPr lang="en-US" sz="2800" b="1" kern="100" spc="75"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spTree>
    <p:extLst>
      <p:ext uri="{BB962C8B-B14F-4D97-AF65-F5344CB8AC3E}">
        <p14:creationId xmlns:p14="http://schemas.microsoft.com/office/powerpoint/2010/main" val="11382009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DF0FCD4-2EED-C5DE-1D56-03050932DFF6}"/>
              </a:ext>
            </a:extLst>
          </p:cNvPr>
          <p:cNvSpPr txBox="1"/>
          <p:nvPr/>
        </p:nvSpPr>
        <p:spPr>
          <a:xfrm>
            <a:off x="0" y="1133749"/>
            <a:ext cx="11714671" cy="584775"/>
          </a:xfrm>
          <a:prstGeom prst="rect">
            <a:avLst/>
          </a:prstGeom>
          <a:noFill/>
        </p:spPr>
        <p:txBody>
          <a:bodyPr wrap="square">
            <a:spAutoFit/>
          </a:bodyPr>
          <a:lstStyle/>
          <a:p>
            <a:pPr algn="ctr"/>
            <a:r>
              <a:rPr lang="en-US" sz="3200" b="1" kern="0" dirty="0">
                <a:solidFill>
                  <a:srgbClr val="FF0000"/>
                </a:solidFill>
                <a:highlight>
                  <a:srgbClr val="FFFF00"/>
                </a:highlight>
                <a:latin typeface="Microsoft Sans Serif" panose="020B0604020202020204" pitchFamily="34" charset="0"/>
                <a:cs typeface="Times New Roman" panose="02020603050405020304" pitchFamily="18" charset="0"/>
              </a:rPr>
              <a:t>4.TỔ</a:t>
            </a:r>
            <a:r>
              <a:rPr lang="en-US" sz="3200" dirty="0"/>
              <a:t> </a:t>
            </a:r>
            <a:r>
              <a:rPr lang="en-US" sz="3200" b="1" kern="0" dirty="0">
                <a:solidFill>
                  <a:srgbClr val="FF0000"/>
                </a:solidFill>
                <a:highlight>
                  <a:srgbClr val="FFFF00"/>
                </a:highlight>
                <a:latin typeface="Microsoft Sans Serif" panose="020B0604020202020204" pitchFamily="34" charset="0"/>
                <a:cs typeface="Times New Roman" panose="02020603050405020304" pitchFamily="18" charset="0"/>
              </a:rPr>
              <a:t>CHỨC VÀ QUẢN LÝ HOẠT ĐỘNG CỦA BP TIỀN SẢNH</a:t>
            </a:r>
            <a:endParaRPr lang="vi-VN" sz="3200" b="1" kern="0" dirty="0">
              <a:solidFill>
                <a:srgbClr val="FF0000"/>
              </a:solidFill>
              <a:highlight>
                <a:srgbClr val="FFFF00"/>
              </a:highlight>
              <a:latin typeface="Microsoft Sans Serif" panose="020B0604020202020204" pitchFamily="34" charset="0"/>
              <a:cs typeface="Times New Roman" panose="02020603050405020304" pitchFamily="18" charset="0"/>
            </a:endParaRPr>
          </a:p>
        </p:txBody>
      </p:sp>
      <p:sp>
        <p:nvSpPr>
          <p:cNvPr id="6" name="TextBox 5">
            <a:extLst>
              <a:ext uri="{FF2B5EF4-FFF2-40B4-BE49-F238E27FC236}">
                <a16:creationId xmlns:a16="http://schemas.microsoft.com/office/drawing/2014/main" id="{ECB587E0-E554-A3C6-F34F-428896D90B9F}"/>
              </a:ext>
            </a:extLst>
          </p:cNvPr>
          <p:cNvSpPr txBox="1"/>
          <p:nvPr/>
        </p:nvSpPr>
        <p:spPr>
          <a:xfrm>
            <a:off x="73763" y="1780079"/>
            <a:ext cx="11166894" cy="461665"/>
          </a:xfrm>
          <a:prstGeom prst="rect">
            <a:avLst/>
          </a:prstGeom>
          <a:noFill/>
        </p:spPr>
        <p:txBody>
          <a:bodyPr wrap="square">
            <a:spAutoFit/>
          </a:bodyPr>
          <a:lstStyle/>
          <a:p>
            <a:r>
              <a:rPr lang="en-US" sz="2400" b="1" dirty="0">
                <a:solidFill>
                  <a:srgbClr val="002060"/>
                </a:solidFill>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4.1. QUY TRÌNH ĐÓN TIẾP VÀ PHỤC VỤ KHÁCH TRONG KHÁCH SẠN</a:t>
            </a:r>
            <a:endParaRPr lang="vi-VN" sz="2400" b="1" dirty="0">
              <a:solidFill>
                <a:srgbClr val="002060"/>
              </a:solidFill>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sp>
        <p:nvSpPr>
          <p:cNvPr id="9" name="TextBox 8">
            <a:extLst>
              <a:ext uri="{FF2B5EF4-FFF2-40B4-BE49-F238E27FC236}">
                <a16:creationId xmlns:a16="http://schemas.microsoft.com/office/drawing/2014/main" id="{A94F3964-1524-42AE-1F16-CF44DAAB1CFF}"/>
              </a:ext>
            </a:extLst>
          </p:cNvPr>
          <p:cNvSpPr txBox="1"/>
          <p:nvPr/>
        </p:nvSpPr>
        <p:spPr>
          <a:xfrm>
            <a:off x="147484" y="2241744"/>
            <a:ext cx="11970753" cy="4524315"/>
          </a:xfrm>
          <a:prstGeom prst="rect">
            <a:avLst/>
          </a:prstGeom>
          <a:noFill/>
        </p:spPr>
        <p:txBody>
          <a:bodyPr wrap="square">
            <a:spAutoFit/>
          </a:bodyPr>
          <a:lstStyle/>
          <a:p>
            <a:r>
              <a:rPr lang="vi-VN" sz="2400" b="1" dirty="0">
                <a:solidFill>
                  <a:srgbClr val="002060"/>
                </a:solidFill>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Bước 1: Chào Đón Khách</a:t>
            </a:r>
          </a:p>
          <a:p>
            <a:pPr marL="685800" indent="-403225">
              <a:buFont typeface="Wingdings" panose="05000000000000000000" pitchFamily="2" charset="2"/>
              <a:buChar char="q"/>
            </a:pP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Nhân viên tiền sảnh chào đón khách ngay khi họ đến khách sạn với thái độ thân thiện và chuyên nghiệp.</a:t>
            </a:r>
          </a:p>
          <a:p>
            <a:pPr marL="685800" indent="-403225">
              <a:buFont typeface="Wingdings" panose="05000000000000000000" pitchFamily="2" charset="2"/>
              <a:buChar char="q"/>
            </a:pP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Tạo ấn tượng đầu tiên tốt đẹp và khiến khách cảm thấy được chào đón.</a:t>
            </a:r>
          </a:p>
          <a:p>
            <a:r>
              <a:rPr lang="vi-VN" sz="2400" b="1" dirty="0">
                <a:solidFill>
                  <a:srgbClr val="002060"/>
                </a:solidFill>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Bước 2: Xác Nhận Thông Tin Đặt Phòng</a:t>
            </a:r>
          </a:p>
          <a:p>
            <a:pPr marL="685800" indent="-403225">
              <a:buFont typeface="Wingdings" panose="05000000000000000000" pitchFamily="2" charset="2"/>
              <a:buChar char="q"/>
            </a:pP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Kiểm tra thông tin đặt phòng của khách thông qua hệ thống quản lý khách sạn hoặc hồ sơ đặt phòng.</a:t>
            </a:r>
          </a:p>
          <a:p>
            <a:pPr marL="685800" indent="-403225">
              <a:buFont typeface="Wingdings" panose="05000000000000000000" pitchFamily="2" charset="2"/>
              <a:buChar char="q"/>
            </a:pP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Đảm bảo rằng tất cả các thông tin đặt phòng của khách đều chính xác và đầy đủ.</a:t>
            </a:r>
          </a:p>
          <a:p>
            <a:r>
              <a:rPr lang="vi-VN" sz="2400" b="1" dirty="0">
                <a:solidFill>
                  <a:srgbClr val="002060"/>
                </a:solidFill>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Bước 3: Thực Hiện Thủ Tục Nhận Phòng (Check-in)</a:t>
            </a:r>
          </a:p>
          <a:p>
            <a:pPr marL="685800" indent="-403225">
              <a:buFont typeface="Wingdings" panose="05000000000000000000" pitchFamily="2" charset="2"/>
              <a:buChar char="q"/>
            </a:pP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Yêu cầu khách cung cấp giấy tờ tùy thân, ký vào sổ đăng ký, và cung cấp thẻ phòng.</a:t>
            </a:r>
          </a:p>
          <a:p>
            <a:pPr marL="685800" indent="-403225">
              <a:buFont typeface="Wingdings" panose="05000000000000000000" pitchFamily="2" charset="2"/>
              <a:buChar char="q"/>
            </a:pP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Hoàn tất quá trình nhận phòng một cách nhanh chóng và hiệu quả.</a:t>
            </a:r>
          </a:p>
        </p:txBody>
      </p:sp>
    </p:spTree>
    <p:extLst>
      <p:ext uri="{BB962C8B-B14F-4D97-AF65-F5344CB8AC3E}">
        <p14:creationId xmlns:p14="http://schemas.microsoft.com/office/powerpoint/2010/main" val="42939011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0E6ED37-DA35-7AB3-0233-D0BB78E20405}"/>
              </a:ext>
            </a:extLst>
          </p:cNvPr>
          <p:cNvSpPr txBox="1"/>
          <p:nvPr/>
        </p:nvSpPr>
        <p:spPr>
          <a:xfrm>
            <a:off x="230038" y="1103071"/>
            <a:ext cx="11961962" cy="5509200"/>
          </a:xfrm>
          <a:prstGeom prst="rect">
            <a:avLst/>
          </a:prstGeom>
          <a:noFill/>
        </p:spPr>
        <p:txBody>
          <a:bodyPr wrap="square">
            <a:spAutoFit/>
          </a:bodyPr>
          <a:lstStyle/>
          <a:p>
            <a:pPr indent="-517525">
              <a:spcBef>
                <a:spcPts val="600"/>
              </a:spcBef>
            </a:pPr>
            <a:r>
              <a:rPr lang="vi-VN" sz="2400" b="1" dirty="0">
                <a:solidFill>
                  <a:srgbClr val="002060"/>
                </a:solidFill>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Bước 4: Cung Cấp Thông Tin Cho Khách</a:t>
            </a:r>
          </a:p>
          <a:p>
            <a:pPr marL="804863" indent="-347663">
              <a:spcBef>
                <a:spcPts val="600"/>
              </a:spcBef>
              <a:buFont typeface="Wingdings" panose="05000000000000000000" pitchFamily="2" charset="2"/>
              <a:buChar char="q"/>
            </a:pP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Cung cấp thông tin về các dịch vụ và tiện ích của khách sạn, và các hoạt động giải trí.</a:t>
            </a:r>
          </a:p>
          <a:p>
            <a:pPr marL="804863" indent="-347663">
              <a:spcBef>
                <a:spcPts val="600"/>
              </a:spcBef>
              <a:buFont typeface="Wingdings" panose="05000000000000000000" pitchFamily="2" charset="2"/>
              <a:buChar char="q"/>
            </a:pP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Giúp khách nắm rõ các tiện ích và dịch vụ mà khách sạn cung cấp để tối ưu hóa trải nghiệm lưu trú.</a:t>
            </a:r>
          </a:p>
          <a:p>
            <a:pPr indent="-517525">
              <a:spcBef>
                <a:spcPts val="600"/>
              </a:spcBef>
            </a:pPr>
            <a:r>
              <a:rPr lang="vi-VN" sz="2400" b="1" dirty="0">
                <a:solidFill>
                  <a:srgbClr val="002060"/>
                </a:solidFill>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Bước 5: Xử Lý Yêu Cầu và Phản Hồi Của Khách</a:t>
            </a:r>
          </a:p>
          <a:p>
            <a:pPr marL="860425" indent="-403225">
              <a:spcBef>
                <a:spcPts val="600"/>
              </a:spcBef>
              <a:buFont typeface="Wingdings" panose="05000000000000000000" pitchFamily="2" charset="2"/>
              <a:buChar char="q"/>
            </a:pP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Nhận và xử lý các yêu cầu đặc biệt hoặc phàn nàn từ khách, đảm bảo mọi vấn đề được giải quyết kịp thời.</a:t>
            </a:r>
          </a:p>
          <a:p>
            <a:pPr marL="860425" indent="-403225">
              <a:spcBef>
                <a:spcPts val="600"/>
              </a:spcBef>
              <a:buFont typeface="Wingdings" panose="05000000000000000000" pitchFamily="2" charset="2"/>
              <a:buChar char="q"/>
            </a:pP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Đảm bảo sự hài lòng và duy trì chất lượng dịch vụ tốt nhất.</a:t>
            </a:r>
          </a:p>
          <a:p>
            <a:pPr indent="-517525">
              <a:spcBef>
                <a:spcPts val="600"/>
              </a:spcBef>
            </a:pPr>
            <a:r>
              <a:rPr lang="vi-VN" sz="2400" b="1" dirty="0">
                <a:solidFill>
                  <a:srgbClr val="002060"/>
                </a:solidFill>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Bước 6: Thủ Tục Trả Phòng (Check-out)</a:t>
            </a:r>
          </a:p>
          <a:p>
            <a:pPr marL="860425" indent="-403225">
              <a:spcBef>
                <a:spcPts val="600"/>
              </a:spcBef>
              <a:buFont typeface="Wingdings" panose="05000000000000000000" pitchFamily="2" charset="2"/>
              <a:buChar char="q"/>
            </a:pP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Kiểm tra lại hóa đơn của khách, thu hồi thẻ phòng, và cảm ơn khách vì đã lưu trú tại khách sạn.</a:t>
            </a:r>
          </a:p>
          <a:p>
            <a:pPr marL="860425" indent="-403225">
              <a:spcBef>
                <a:spcPts val="600"/>
              </a:spcBef>
              <a:buFont typeface="Wingdings" panose="05000000000000000000" pitchFamily="2" charset="2"/>
              <a:buChar char="q"/>
            </a:pP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Đảm bảo quá trình trả phòng diễn ra suôn sẻ và tạo ấn tượng tốt đẹp cho khách.</a:t>
            </a:r>
          </a:p>
        </p:txBody>
      </p:sp>
    </p:spTree>
    <p:extLst>
      <p:ext uri="{BB962C8B-B14F-4D97-AF65-F5344CB8AC3E}">
        <p14:creationId xmlns:p14="http://schemas.microsoft.com/office/powerpoint/2010/main" val="109116641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CF27F19-1537-41AA-14BF-8460757AB0A5}"/>
              </a:ext>
            </a:extLst>
          </p:cNvPr>
          <p:cNvSpPr txBox="1"/>
          <p:nvPr/>
        </p:nvSpPr>
        <p:spPr>
          <a:xfrm>
            <a:off x="247475" y="1999840"/>
            <a:ext cx="5592886" cy="4016484"/>
          </a:xfrm>
          <a:prstGeom prst="rect">
            <a:avLst/>
          </a:prstGeom>
          <a:noFill/>
        </p:spPr>
        <p:txBody>
          <a:bodyPr wrap="square">
            <a:spAutoFit/>
          </a:bodyPr>
          <a:lstStyle/>
          <a:p>
            <a:pPr marL="342900" indent="-342900" algn="just">
              <a:spcBef>
                <a:spcPts val="600"/>
              </a:spcBef>
              <a:buFont typeface="Wingdings" panose="05000000000000000000" pitchFamily="2" charset="2"/>
              <a:buChar char="q"/>
            </a:pPr>
            <a:r>
              <a:rPr lang="vi-VN" sz="2400" b="1" dirty="0">
                <a:solidFill>
                  <a:srgbClr val="002060"/>
                </a:solidFill>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Nguồn Khách Trực Tiếp:</a:t>
            </a:r>
            <a:r>
              <a:rPr lang="en-US" sz="2400" b="1" dirty="0">
                <a:solidFill>
                  <a:srgbClr val="002060"/>
                </a:solidFill>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  </a:t>
            </a:r>
          </a:p>
          <a:p>
            <a:pPr marL="344488" algn="just">
              <a:spcBef>
                <a:spcPts val="600"/>
              </a:spcBef>
            </a:pP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Khách đặt phòng thông qua các kênh truyền thống như gọi điện trực tiếp hoặc đến khách sạn để đặt phòng.</a:t>
            </a:r>
          </a:p>
          <a:p>
            <a:pPr marL="342900" indent="1588" algn="just">
              <a:spcBef>
                <a:spcPts val="600"/>
              </a:spcBef>
              <a:buFont typeface="Wingdings" panose="05000000000000000000" pitchFamily="2" charset="2"/>
              <a:buChar char="v"/>
            </a:pPr>
            <a:r>
              <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Ưu điểm:</a:t>
            </a: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tạo mối quan hệ trực tiếp với khách hàng và giảm chi phí hoa hồng cho bên thứ ba.</a:t>
            </a:r>
          </a:p>
          <a:p>
            <a:pPr marL="342900" indent="1588" algn="just">
              <a:spcBef>
                <a:spcPts val="600"/>
              </a:spcBef>
              <a:buFont typeface="Wingdings" panose="05000000000000000000" pitchFamily="2" charset="2"/>
              <a:buChar char="v"/>
            </a:pPr>
            <a:r>
              <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Thách thức:</a:t>
            </a: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phụ thuộc vào sự hiện diện vật lý và khả năng nhận diện thương hiệu.</a:t>
            </a:r>
          </a:p>
        </p:txBody>
      </p:sp>
      <p:sp>
        <p:nvSpPr>
          <p:cNvPr id="6" name="TextBox 5">
            <a:extLst>
              <a:ext uri="{FF2B5EF4-FFF2-40B4-BE49-F238E27FC236}">
                <a16:creationId xmlns:a16="http://schemas.microsoft.com/office/drawing/2014/main" id="{0E23E6A5-9E8B-7C40-1875-1519FCBF1E6B}"/>
              </a:ext>
            </a:extLst>
          </p:cNvPr>
          <p:cNvSpPr txBox="1"/>
          <p:nvPr/>
        </p:nvSpPr>
        <p:spPr>
          <a:xfrm>
            <a:off x="6243486" y="1999840"/>
            <a:ext cx="5701039" cy="4385816"/>
          </a:xfrm>
          <a:prstGeom prst="rect">
            <a:avLst/>
          </a:prstGeom>
          <a:noFill/>
        </p:spPr>
        <p:txBody>
          <a:bodyPr wrap="square">
            <a:spAutoFit/>
          </a:bodyPr>
          <a:lstStyle/>
          <a:p>
            <a:pPr marL="342900" marR="0" lvl="0" indent="-342900" algn="just" defTabSz="914400" rtl="0" eaLnBrk="1" fontAlgn="auto" latinLnBrk="0" hangingPunct="1">
              <a:lnSpc>
                <a:spcPct val="100000"/>
              </a:lnSpc>
              <a:spcBef>
                <a:spcPts val="600"/>
              </a:spcBef>
              <a:spcAft>
                <a:spcPts val="0"/>
              </a:spcAft>
              <a:buClrTx/>
              <a:buSzTx/>
              <a:buFont typeface="Wingdings" panose="05000000000000000000" pitchFamily="2" charset="2"/>
              <a:buChar char="q"/>
              <a:tabLst/>
              <a:defRPr/>
            </a:pPr>
            <a:r>
              <a:rPr kumimoji="0" lang="vi-VN" sz="2400" b="1" i="0" u="none" strike="noStrike" kern="1200" cap="none" spc="0" normalizeH="0" baseline="0" noProof="0" dirty="0">
                <a:ln>
                  <a:noFill/>
                </a:ln>
                <a:solidFill>
                  <a:srgbClr val="002060"/>
                </a:solidFill>
                <a:effectLst/>
                <a:highlight>
                  <a:srgbClr val="FFFF00"/>
                </a:highlight>
                <a:uLnTx/>
                <a:uFillTx/>
                <a:latin typeface="Microsoft Sans Serif" panose="020B0604020202020204" pitchFamily="34" charset="0"/>
                <a:ea typeface="Microsoft Sans Serif" panose="020B0604020202020204" pitchFamily="34" charset="0"/>
                <a:cs typeface="Microsoft Sans Serif" panose="020B0604020202020204" pitchFamily="34" charset="0"/>
              </a:rPr>
              <a:t>Nguồn Khách Qua OTA (Online Travel Agencies):</a:t>
            </a:r>
            <a:r>
              <a:rPr kumimoji="0" lang="en-US" sz="2400" b="1" i="0" u="none" strike="noStrike" kern="1200" cap="none" spc="0" normalizeH="0" baseline="0" noProof="0" dirty="0">
                <a:ln>
                  <a:noFill/>
                </a:ln>
                <a:solidFill>
                  <a:srgbClr val="002060"/>
                </a:solidFill>
                <a:effectLst/>
                <a:highlight>
                  <a:srgbClr val="FFFF00"/>
                </a:highligh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p>
          <a:p>
            <a:pPr marL="285750" marR="0" lvl="0" algn="just" defTabSz="914400" rtl="0" eaLnBrk="1" fontAlgn="auto" latinLnBrk="0" hangingPunct="1">
              <a:lnSpc>
                <a:spcPct val="100000"/>
              </a:lnSpc>
              <a:spcBef>
                <a:spcPts val="600"/>
              </a:spcBef>
              <a:spcAft>
                <a:spcPts val="0"/>
              </a:spcAft>
              <a:buClrTx/>
              <a:buSzTx/>
              <a:tabLst/>
              <a:defRPr/>
            </a:pPr>
            <a:r>
              <a:rPr kumimoji="0" lang="vi-VN" sz="2400" b="0"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Khách đặt phòng thông qua các trang web đặt phòng trực tuyến như Booking.com, Expedia, Agoda, v.v.</a:t>
            </a:r>
          </a:p>
          <a:p>
            <a:pPr marL="342900" marR="0" lvl="0" indent="1588" algn="just" defTabSz="914400" rtl="0" eaLnBrk="1" fontAlgn="auto" latinLnBrk="0" hangingPunct="1">
              <a:lnSpc>
                <a:spcPct val="100000"/>
              </a:lnSpc>
              <a:spcBef>
                <a:spcPts val="600"/>
              </a:spcBef>
              <a:spcAft>
                <a:spcPts val="0"/>
              </a:spcAft>
              <a:buClrTx/>
              <a:buSzTx/>
              <a:buFont typeface="Wingdings" panose="05000000000000000000" pitchFamily="2" charset="2"/>
              <a:buChar char="v"/>
              <a:tabLst/>
              <a:defRPr/>
            </a:pPr>
            <a:r>
              <a:rPr kumimoji="0" lang="vi-VN"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Ưu điểm:</a:t>
            </a:r>
            <a:r>
              <a:rPr kumimoji="0" lang="vi-VN" sz="2400" b="0"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tiếp cận được một lượng lớn khách hàng toàn cầu, tăng khả năng đặt phòng.</a:t>
            </a:r>
          </a:p>
          <a:p>
            <a:pPr marL="342900" marR="0" lvl="0" indent="1588" algn="just" defTabSz="914400" rtl="0" eaLnBrk="1" fontAlgn="auto" latinLnBrk="0" hangingPunct="1">
              <a:lnSpc>
                <a:spcPct val="100000"/>
              </a:lnSpc>
              <a:spcBef>
                <a:spcPts val="600"/>
              </a:spcBef>
              <a:spcAft>
                <a:spcPts val="0"/>
              </a:spcAft>
              <a:buClrTx/>
              <a:buSzTx/>
              <a:buFont typeface="Wingdings" panose="05000000000000000000" pitchFamily="2" charset="2"/>
              <a:buChar char="v"/>
              <a:tabLst/>
              <a:defRPr/>
            </a:pPr>
            <a:r>
              <a:rPr kumimoji="0" lang="vi-VN"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Thách thức:</a:t>
            </a:r>
            <a:r>
              <a:rPr kumimoji="0" lang="vi-VN" sz="2400" b="0"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chi phí hoa hồng cao và khách sạn có thể bị phụ thuộc vào các nền tảng này.</a:t>
            </a:r>
          </a:p>
        </p:txBody>
      </p:sp>
      <p:sp>
        <p:nvSpPr>
          <p:cNvPr id="8" name="TextBox 7">
            <a:extLst>
              <a:ext uri="{FF2B5EF4-FFF2-40B4-BE49-F238E27FC236}">
                <a16:creationId xmlns:a16="http://schemas.microsoft.com/office/drawing/2014/main" id="{3FF5D5A7-117D-3216-B41B-44B99A9E1FE0}"/>
              </a:ext>
            </a:extLst>
          </p:cNvPr>
          <p:cNvSpPr txBox="1"/>
          <p:nvPr/>
        </p:nvSpPr>
        <p:spPr>
          <a:xfrm>
            <a:off x="306469" y="1069173"/>
            <a:ext cx="10646666" cy="461665"/>
          </a:xfrm>
          <a:prstGeom prst="rect">
            <a:avLst/>
          </a:prstGeom>
          <a:noFill/>
        </p:spPr>
        <p:txBody>
          <a:bodyPr wrap="square">
            <a:spAutoFit/>
          </a:bodyPr>
          <a:lstStyle/>
          <a:p>
            <a:pPr marL="0" marR="0" lvl="0" indent="0" algn="just" defTabSz="914400" rtl="0" eaLnBrk="1" fontAlgn="auto" latinLnBrk="0" hangingPunct="1">
              <a:lnSpc>
                <a:spcPct val="100000"/>
              </a:lnSpc>
              <a:spcBef>
                <a:spcPts val="600"/>
              </a:spcBef>
              <a:spcAft>
                <a:spcPts val="0"/>
              </a:spcAft>
              <a:buClrTx/>
              <a:buSzTx/>
              <a:buFontTx/>
              <a:buNone/>
              <a:tabLst/>
              <a:defRPr/>
            </a:pPr>
            <a:r>
              <a:rPr kumimoji="0" lang="en-US" sz="2400" b="1" i="0" u="none" strike="noStrike" kern="1200" cap="none" spc="0" normalizeH="0" baseline="0" noProof="0" dirty="0">
                <a:ln>
                  <a:noFill/>
                </a:ln>
                <a:solidFill>
                  <a:srgbClr val="002060"/>
                </a:solidFill>
                <a:effectLst/>
                <a:highlight>
                  <a:srgbClr val="FFFF00"/>
                </a:highlight>
                <a:uLnTx/>
                <a:uFillTx/>
                <a:latin typeface="Microsoft Sans Serif" panose="020B0604020202020204" pitchFamily="34" charset="0"/>
                <a:ea typeface="Microsoft Sans Serif" panose="020B0604020202020204" pitchFamily="34" charset="0"/>
                <a:cs typeface="Microsoft Sans Serif" panose="020B0604020202020204" pitchFamily="34" charset="0"/>
              </a:rPr>
              <a:t>4.</a:t>
            </a:r>
            <a:r>
              <a:rPr kumimoji="0" lang="vi-VN" sz="2400" b="1" i="0" u="none" strike="noStrike" kern="1200" cap="none" spc="0" normalizeH="0" baseline="0" noProof="0" dirty="0">
                <a:ln>
                  <a:noFill/>
                </a:ln>
                <a:solidFill>
                  <a:srgbClr val="002060"/>
                </a:solidFill>
                <a:effectLst/>
                <a:highlight>
                  <a:srgbClr val="FFFF00"/>
                </a:highlight>
                <a:uLnTx/>
                <a:uFillTx/>
                <a:latin typeface="Microsoft Sans Serif" panose="020B0604020202020204" pitchFamily="34" charset="0"/>
                <a:ea typeface="Microsoft Sans Serif" panose="020B0604020202020204" pitchFamily="34" charset="0"/>
                <a:cs typeface="Microsoft Sans Serif" panose="020B0604020202020204" pitchFamily="34" charset="0"/>
              </a:rPr>
              <a:t>2. PHÂN TÍCH CÁC NGUỒN KHÁCH ĐẶT BUỒNG CỦA KHÁCH SẠN</a:t>
            </a:r>
          </a:p>
        </p:txBody>
      </p:sp>
    </p:spTree>
    <p:extLst>
      <p:ext uri="{BB962C8B-B14F-4D97-AF65-F5344CB8AC3E}">
        <p14:creationId xmlns:p14="http://schemas.microsoft.com/office/powerpoint/2010/main" val="321393494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4B471429-B3BF-ACE0-6725-901A512D97B8}"/>
              </a:ext>
            </a:extLst>
          </p:cNvPr>
          <p:cNvSpPr txBox="1"/>
          <p:nvPr/>
        </p:nvSpPr>
        <p:spPr>
          <a:xfrm>
            <a:off x="157316" y="1754510"/>
            <a:ext cx="5594555" cy="4016484"/>
          </a:xfrm>
          <a:prstGeom prst="rect">
            <a:avLst/>
          </a:prstGeom>
          <a:noFill/>
        </p:spPr>
        <p:txBody>
          <a:bodyPr wrap="square">
            <a:spAutoFit/>
          </a:bodyPr>
          <a:lstStyle/>
          <a:p>
            <a:pPr marL="342900" marR="0" lvl="0" indent="-342900" algn="just" defTabSz="914400" rtl="0" eaLnBrk="1" fontAlgn="auto" latinLnBrk="0" hangingPunct="1">
              <a:lnSpc>
                <a:spcPct val="100000"/>
              </a:lnSpc>
              <a:spcBef>
                <a:spcPts val="600"/>
              </a:spcBef>
              <a:spcAft>
                <a:spcPts val="0"/>
              </a:spcAft>
              <a:buClrTx/>
              <a:buSzTx/>
              <a:buFont typeface="Wingdings" panose="05000000000000000000" pitchFamily="2" charset="2"/>
              <a:buChar char="q"/>
              <a:tabLst/>
              <a:defRPr/>
            </a:pPr>
            <a:r>
              <a:rPr kumimoji="0" lang="vi-VN" sz="2400" b="1" i="0" u="none" strike="noStrike" kern="1200" cap="none" spc="0" normalizeH="0" baseline="0" noProof="0" dirty="0">
                <a:ln>
                  <a:noFill/>
                </a:ln>
                <a:solidFill>
                  <a:srgbClr val="002060"/>
                </a:solidFill>
                <a:effectLst/>
                <a:highlight>
                  <a:srgbClr val="FFFF00"/>
                </a:highlight>
                <a:uLnTx/>
                <a:uFillTx/>
                <a:latin typeface="Microsoft Sans Serif" panose="020B0604020202020204" pitchFamily="34" charset="0"/>
                <a:ea typeface="Microsoft Sans Serif" panose="020B0604020202020204" pitchFamily="34" charset="0"/>
                <a:cs typeface="Microsoft Sans Serif" panose="020B0604020202020204" pitchFamily="34" charset="0"/>
              </a:rPr>
              <a:t>Nguồn Khách Qua GDS (Global Distribution Systems):</a:t>
            </a:r>
            <a:r>
              <a:rPr kumimoji="0" lang="en-US" sz="2400" b="1" i="0" u="none" strike="noStrike" kern="1200" cap="none" spc="0" normalizeH="0" baseline="0" noProof="0" dirty="0">
                <a:ln>
                  <a:noFill/>
                </a:ln>
                <a:solidFill>
                  <a:srgbClr val="002060"/>
                </a:solidFill>
                <a:effectLst/>
                <a:highlight>
                  <a:srgbClr val="FFFF00"/>
                </a:highligh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p>
          <a:p>
            <a:pPr marL="344488" marR="0" lvl="0" algn="just" defTabSz="914400" rtl="0" eaLnBrk="1" fontAlgn="auto" latinLnBrk="0" hangingPunct="1">
              <a:lnSpc>
                <a:spcPct val="100000"/>
              </a:lnSpc>
              <a:spcBef>
                <a:spcPts val="600"/>
              </a:spcBef>
              <a:spcAft>
                <a:spcPts val="0"/>
              </a:spcAft>
              <a:buClrTx/>
              <a:buSzTx/>
              <a:tabLst/>
              <a:defRPr/>
            </a:pPr>
            <a:r>
              <a:rPr kumimoji="0" lang="vi-VN" sz="2400" b="0"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Hệ thống phân phối toàn cầu liên kết với các đại lý du lịch và công ty lữ hành để đặt phòng.</a:t>
            </a:r>
          </a:p>
          <a:p>
            <a:pPr marL="342900" marR="0" lvl="0" indent="122238" algn="just" defTabSz="914400" rtl="0" eaLnBrk="1" fontAlgn="auto" latinLnBrk="0" hangingPunct="1">
              <a:lnSpc>
                <a:spcPct val="100000"/>
              </a:lnSpc>
              <a:spcBef>
                <a:spcPts val="600"/>
              </a:spcBef>
              <a:spcAft>
                <a:spcPts val="0"/>
              </a:spcAft>
              <a:buClrTx/>
              <a:buSzTx/>
              <a:buFont typeface="Wingdings" panose="05000000000000000000" pitchFamily="2" charset="2"/>
              <a:buChar char="v"/>
              <a:tabLst/>
              <a:defRPr/>
            </a:pPr>
            <a:r>
              <a:rPr kumimoji="0" lang="vi-VN"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Ưu điểm:</a:t>
            </a:r>
            <a:r>
              <a:rPr kumimoji="0" lang="vi-VN" sz="2400" b="0"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0"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t</a:t>
            </a:r>
            <a:r>
              <a:rPr kumimoji="0" lang="vi-VN" sz="2400" b="0"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iếp cận các khách hàng doanh nghiệp và nhóm khách lớn.</a:t>
            </a:r>
          </a:p>
          <a:p>
            <a:pPr marL="342900" marR="0" lvl="0" indent="122238" algn="just" defTabSz="914400" rtl="0" eaLnBrk="1" fontAlgn="auto" latinLnBrk="0" hangingPunct="1">
              <a:lnSpc>
                <a:spcPct val="100000"/>
              </a:lnSpc>
              <a:spcBef>
                <a:spcPts val="600"/>
              </a:spcBef>
              <a:spcAft>
                <a:spcPts val="0"/>
              </a:spcAft>
              <a:buClrTx/>
              <a:buSzTx/>
              <a:buFont typeface="Wingdings" panose="05000000000000000000" pitchFamily="2" charset="2"/>
              <a:buChar char="v"/>
              <a:tabLst/>
              <a:defRPr/>
            </a:pPr>
            <a:r>
              <a:rPr kumimoji="0" lang="vi-VN"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Thách thức:</a:t>
            </a:r>
            <a:r>
              <a:rPr kumimoji="0" lang="vi-VN" sz="2400" b="0"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0"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c</a:t>
            </a:r>
            <a:r>
              <a:rPr kumimoji="0" lang="vi-VN" sz="2400" b="0"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ần quản lý tốt hệ thống để tránh sai sót trong việc phân bổ phòng.</a:t>
            </a:r>
          </a:p>
        </p:txBody>
      </p:sp>
      <p:sp>
        <p:nvSpPr>
          <p:cNvPr id="9" name="TextBox 8">
            <a:extLst>
              <a:ext uri="{FF2B5EF4-FFF2-40B4-BE49-F238E27FC236}">
                <a16:creationId xmlns:a16="http://schemas.microsoft.com/office/drawing/2014/main" id="{1340AA5F-2B03-A30A-6FE1-9568620CB843}"/>
              </a:ext>
            </a:extLst>
          </p:cNvPr>
          <p:cNvSpPr txBox="1"/>
          <p:nvPr/>
        </p:nvSpPr>
        <p:spPr>
          <a:xfrm>
            <a:off x="6331974" y="1625833"/>
            <a:ext cx="5476568" cy="4755148"/>
          </a:xfrm>
          <a:prstGeom prst="rect">
            <a:avLst/>
          </a:prstGeom>
          <a:noFill/>
        </p:spPr>
        <p:txBody>
          <a:bodyPr wrap="square">
            <a:spAutoFit/>
          </a:bodyPr>
          <a:lstStyle/>
          <a:p>
            <a:pPr marL="342900" marR="0" lvl="0" indent="-342900" algn="just" defTabSz="914400" rtl="0" eaLnBrk="1" fontAlgn="auto" latinLnBrk="0" hangingPunct="1">
              <a:lnSpc>
                <a:spcPct val="100000"/>
              </a:lnSpc>
              <a:spcBef>
                <a:spcPts val="600"/>
              </a:spcBef>
              <a:spcAft>
                <a:spcPts val="0"/>
              </a:spcAft>
              <a:buClrTx/>
              <a:buSzTx/>
              <a:buFont typeface="Wingdings" panose="05000000000000000000" pitchFamily="2" charset="2"/>
              <a:buChar char="q"/>
              <a:tabLst/>
              <a:defRPr/>
            </a:pPr>
            <a:r>
              <a:rPr kumimoji="0" lang="vi-VN" sz="2400" b="1" i="0" u="none" strike="noStrike" kern="1200" cap="none" spc="0" normalizeH="0" baseline="0" noProof="0" dirty="0">
                <a:ln>
                  <a:noFill/>
                </a:ln>
                <a:solidFill>
                  <a:srgbClr val="002060"/>
                </a:solidFill>
                <a:effectLst/>
                <a:highlight>
                  <a:srgbClr val="FFFF00"/>
                </a:highlight>
                <a:uLnTx/>
                <a:uFillTx/>
                <a:latin typeface="Microsoft Sans Serif" panose="020B0604020202020204" pitchFamily="34" charset="0"/>
                <a:ea typeface="Microsoft Sans Serif" panose="020B0604020202020204" pitchFamily="34" charset="0"/>
                <a:cs typeface="Microsoft Sans Serif" panose="020B0604020202020204" pitchFamily="34" charset="0"/>
              </a:rPr>
              <a:t>Nguồn Khách Qua Các Kênh Truyền Thông Xã Hội:</a:t>
            </a:r>
            <a:r>
              <a:rPr kumimoji="0" lang="en-US" sz="2400" b="1" i="0" u="none" strike="noStrike" kern="1200" cap="none" spc="0" normalizeH="0" baseline="0" noProof="0" dirty="0">
                <a:ln>
                  <a:noFill/>
                </a:ln>
                <a:solidFill>
                  <a:srgbClr val="002060"/>
                </a:solidFill>
                <a:effectLst/>
                <a:highlight>
                  <a:srgbClr val="FFFF00"/>
                </a:highligh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p>
          <a:p>
            <a:pPr marL="285750" marR="0" lvl="0" algn="just" defTabSz="914400" rtl="0" eaLnBrk="1" fontAlgn="auto" latinLnBrk="0" hangingPunct="1">
              <a:lnSpc>
                <a:spcPct val="100000"/>
              </a:lnSpc>
              <a:spcBef>
                <a:spcPts val="600"/>
              </a:spcBef>
              <a:spcAft>
                <a:spcPts val="0"/>
              </a:spcAft>
              <a:buClrTx/>
              <a:buSzTx/>
              <a:tabLst/>
              <a:defRPr/>
            </a:pPr>
            <a:r>
              <a:rPr kumimoji="0" lang="vi-VN" sz="2400" b="0"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Khách đặt phòng thông qua các chiến dịch quảng cáo và truyền thông trên các nền tảng như Facebook, Instagram.</a:t>
            </a:r>
          </a:p>
          <a:p>
            <a:pPr marL="342900" marR="0" lvl="0" indent="-49213" algn="just" defTabSz="914400" rtl="0" eaLnBrk="1" fontAlgn="auto" latinLnBrk="0" hangingPunct="1">
              <a:lnSpc>
                <a:spcPct val="100000"/>
              </a:lnSpc>
              <a:spcBef>
                <a:spcPts val="600"/>
              </a:spcBef>
              <a:spcAft>
                <a:spcPts val="0"/>
              </a:spcAft>
              <a:buClrTx/>
              <a:buSzTx/>
              <a:buFont typeface="Wingdings" panose="05000000000000000000" pitchFamily="2" charset="2"/>
              <a:buChar char="v"/>
              <a:tabLst/>
              <a:defRPr/>
            </a:pPr>
            <a:r>
              <a:rPr kumimoji="0" lang="vi-VN"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Ưu điểm:</a:t>
            </a:r>
            <a:r>
              <a:rPr kumimoji="0" lang="vi-VN" sz="2400" b="0"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tiếp cận nhóm khách hàng trẻ, năng động và tạo dựng thương hiệu.</a:t>
            </a:r>
          </a:p>
          <a:p>
            <a:pPr marL="342900" marR="0" lvl="0" indent="-49213" algn="just" defTabSz="914400" rtl="0" eaLnBrk="1" fontAlgn="auto" latinLnBrk="0" hangingPunct="1">
              <a:lnSpc>
                <a:spcPct val="100000"/>
              </a:lnSpc>
              <a:spcBef>
                <a:spcPts val="600"/>
              </a:spcBef>
              <a:spcAft>
                <a:spcPts val="0"/>
              </a:spcAft>
              <a:buClrTx/>
              <a:buSzTx/>
              <a:buFont typeface="Wingdings" panose="05000000000000000000" pitchFamily="2" charset="2"/>
              <a:buChar char="v"/>
              <a:tabLst/>
              <a:defRPr/>
            </a:pPr>
            <a:r>
              <a:rPr kumimoji="0" lang="vi-VN"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Thách thức</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 c</a:t>
            </a:r>
            <a:r>
              <a:rPr kumimoji="0" lang="vi-VN" sz="2400" b="0"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ần đầu tư vào chiến lược quảng cáo và quản lý hình ảnh trực tuyến.</a:t>
            </a:r>
          </a:p>
        </p:txBody>
      </p:sp>
    </p:spTree>
    <p:extLst>
      <p:ext uri="{BB962C8B-B14F-4D97-AF65-F5344CB8AC3E}">
        <p14:creationId xmlns:p14="http://schemas.microsoft.com/office/powerpoint/2010/main" val="186169182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9835BF9-4788-2449-C6D3-BD3E29252028}"/>
              </a:ext>
            </a:extLst>
          </p:cNvPr>
          <p:cNvSpPr txBox="1"/>
          <p:nvPr/>
        </p:nvSpPr>
        <p:spPr>
          <a:xfrm>
            <a:off x="757083" y="1760242"/>
            <a:ext cx="9684776" cy="2616101"/>
          </a:xfrm>
          <a:prstGeom prst="rect">
            <a:avLst/>
          </a:prstGeom>
          <a:noFill/>
        </p:spPr>
        <p:txBody>
          <a:bodyPr wrap="square">
            <a:spAutoFit/>
          </a:bodyPr>
          <a:lstStyle/>
          <a:p>
            <a:pPr marL="342900" indent="-342900" algn="just">
              <a:spcBef>
                <a:spcPts val="600"/>
              </a:spcBef>
              <a:buFont typeface="Wingdings" panose="05000000000000000000" pitchFamily="2" charset="2"/>
              <a:buChar char="q"/>
            </a:pPr>
            <a:r>
              <a:rPr lang="vi-VN" sz="2400" b="1" dirty="0">
                <a:solidFill>
                  <a:srgbClr val="002060"/>
                </a:solidFill>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Nguồn Khách Qua Đối Tác Doanh Nghiệp:</a:t>
            </a:r>
            <a:r>
              <a:rPr lang="en-US" sz="2400" b="1" dirty="0">
                <a:solidFill>
                  <a:srgbClr val="002060"/>
                </a:solidFill>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  </a:t>
            </a:r>
          </a:p>
          <a:p>
            <a:pPr marL="344488" algn="just">
              <a:spcBef>
                <a:spcPts val="1200"/>
              </a:spcBef>
            </a:pP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Khách hàng doanh nghiệp đặt phòng thông qua các hợp đồng hoặc thoả thuận hợp tác.</a:t>
            </a:r>
          </a:p>
          <a:p>
            <a:pPr marL="342900" indent="1588" algn="just">
              <a:spcBef>
                <a:spcPts val="600"/>
              </a:spcBef>
              <a:buFont typeface="Wingdings" panose="05000000000000000000" pitchFamily="2" charset="2"/>
              <a:buChar char="v"/>
            </a:pPr>
            <a:r>
              <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Ưu điểm:</a:t>
            </a: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đảm bảo doanh thu ổn định từ các hợp đồng dài hạn.</a:t>
            </a:r>
          </a:p>
          <a:p>
            <a:pPr marL="342900" indent="1588" algn="just">
              <a:spcBef>
                <a:spcPts val="600"/>
              </a:spcBef>
              <a:buFont typeface="Wingdings" panose="05000000000000000000" pitchFamily="2" charset="2"/>
              <a:buChar char="v"/>
            </a:pPr>
            <a:r>
              <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Thách thức:</a:t>
            </a: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cần duy trì mối quan hệ tốt và đáp ứng các yêu cầu đặc biệt từ đối tác.</a:t>
            </a:r>
          </a:p>
        </p:txBody>
      </p:sp>
    </p:spTree>
    <p:extLst>
      <p:ext uri="{BB962C8B-B14F-4D97-AF65-F5344CB8AC3E}">
        <p14:creationId xmlns:p14="http://schemas.microsoft.com/office/powerpoint/2010/main" val="212327139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EA6051C-F1FF-F7C5-81FF-B5B9BF272D66}"/>
              </a:ext>
            </a:extLst>
          </p:cNvPr>
          <p:cNvSpPr txBox="1"/>
          <p:nvPr/>
        </p:nvSpPr>
        <p:spPr>
          <a:xfrm>
            <a:off x="609600" y="1327355"/>
            <a:ext cx="9743768" cy="4185761"/>
          </a:xfrm>
          <a:prstGeom prst="rect">
            <a:avLst/>
          </a:prstGeom>
          <a:noFill/>
        </p:spPr>
        <p:txBody>
          <a:bodyPr wrap="square" rtlCol="0">
            <a:spAutoFit/>
          </a:bodyPr>
          <a:lstStyle/>
          <a:p>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Tóm</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lại</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 </a:t>
            </a:r>
          </a:p>
          <a:p>
            <a:endPar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r>
              <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Quản lý hoạt động bộ phận tiền sảnh</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bao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gồm</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endPar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403225">
              <a:spcBef>
                <a:spcPts val="1200"/>
              </a:spcBef>
              <a:buFont typeface="Wingdings" panose="05000000000000000000" pitchFamily="2" charset="2"/>
              <a:buChar char="q"/>
            </a:pP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Quản lý nhân sự (phân ca, đào tạo).</a:t>
            </a:r>
          </a:p>
          <a:p>
            <a:pPr marL="403225">
              <a:spcBef>
                <a:spcPts val="1200"/>
              </a:spcBef>
              <a:buFont typeface="Wingdings" panose="05000000000000000000" pitchFamily="2" charset="2"/>
              <a:buChar char="q"/>
            </a:pP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Quản lý chất lượng dịch vụ.</a:t>
            </a:r>
          </a:p>
          <a:p>
            <a:pPr marL="403225">
              <a:spcBef>
                <a:spcPts val="1200"/>
              </a:spcBef>
              <a:buFont typeface="Wingdings" panose="05000000000000000000" pitchFamily="2" charset="2"/>
              <a:buChar char="q"/>
            </a:pP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Kiểm soát quy trình làm việc.</a:t>
            </a:r>
          </a:p>
          <a:p>
            <a:pPr marL="403225">
              <a:spcBef>
                <a:spcPts val="1200"/>
              </a:spcBef>
              <a:buFont typeface="Wingdings" panose="05000000000000000000" pitchFamily="2" charset="2"/>
              <a:buChar char="q"/>
            </a:pP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Sử dụng công nghệ (PMS, CRM).</a:t>
            </a:r>
          </a:p>
          <a:p>
            <a:pPr marL="403225">
              <a:spcBef>
                <a:spcPts val="1200"/>
              </a:spcBef>
              <a:buFont typeface="Wingdings" panose="05000000000000000000" pitchFamily="2" charset="2"/>
              <a:buChar char="q"/>
            </a:pP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Quản lý sự cố &amp; tình huống khẩn cấp.</a:t>
            </a:r>
          </a:p>
          <a:p>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p>
        </p:txBody>
      </p:sp>
    </p:spTree>
    <p:extLst>
      <p:ext uri="{BB962C8B-B14F-4D97-AF65-F5344CB8AC3E}">
        <p14:creationId xmlns:p14="http://schemas.microsoft.com/office/powerpoint/2010/main" val="18137408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29C8B79-FD96-4270-BFF5-85261EF80987}"/>
              </a:ext>
            </a:extLst>
          </p:cNvPr>
          <p:cNvSpPr txBox="1"/>
          <p:nvPr/>
        </p:nvSpPr>
        <p:spPr>
          <a:xfrm>
            <a:off x="757084" y="1323193"/>
            <a:ext cx="10510684" cy="1077218"/>
          </a:xfrm>
          <a:prstGeom prst="rect">
            <a:avLst/>
          </a:prstGeom>
          <a:noFill/>
        </p:spPr>
        <p:txBody>
          <a:bodyPr wrap="square">
            <a:spAutoFit/>
          </a:bodyPr>
          <a:lstStyle/>
          <a:p>
            <a:pPr algn="ctr"/>
            <a:r>
              <a:rPr lang="en-US" sz="3200" b="1" kern="0" dirty="0">
                <a:solidFill>
                  <a:srgbClr val="FF0000"/>
                </a:solidFill>
                <a:highlight>
                  <a:srgbClr val="FFFF00"/>
                </a:highlight>
                <a:latin typeface="Microsoft Sans Serif" panose="020B0604020202020204" pitchFamily="34" charset="0"/>
                <a:cs typeface="Times New Roman" panose="02020603050405020304" pitchFamily="18" charset="0"/>
              </a:rPr>
              <a:t>5. QUẢN TRỊ DOANH THU VÀ MỘT SỐ CHỈ TIÊU ĐÁNH GIÁ HOẠT ĐỘNG LƯU TRÚ</a:t>
            </a:r>
            <a:endParaRPr lang="vi-VN" sz="3200" b="1" kern="0" dirty="0">
              <a:solidFill>
                <a:srgbClr val="FF0000"/>
              </a:solidFill>
              <a:highlight>
                <a:srgbClr val="FFFF00"/>
              </a:highlight>
              <a:latin typeface="Microsoft Sans Serif" panose="020B0604020202020204" pitchFamily="34" charset="0"/>
              <a:cs typeface="Times New Roman" panose="02020603050405020304" pitchFamily="18" charset="0"/>
            </a:endParaRPr>
          </a:p>
        </p:txBody>
      </p:sp>
      <p:sp>
        <p:nvSpPr>
          <p:cNvPr id="5" name="TextBox 4">
            <a:extLst>
              <a:ext uri="{FF2B5EF4-FFF2-40B4-BE49-F238E27FC236}">
                <a16:creationId xmlns:a16="http://schemas.microsoft.com/office/drawing/2014/main" id="{6981373B-083D-78B1-254B-0EEEC8940130}"/>
              </a:ext>
            </a:extLst>
          </p:cNvPr>
          <p:cNvSpPr txBox="1"/>
          <p:nvPr/>
        </p:nvSpPr>
        <p:spPr>
          <a:xfrm>
            <a:off x="625368" y="2937487"/>
            <a:ext cx="11055355" cy="2238370"/>
          </a:xfrm>
          <a:prstGeom prst="rect">
            <a:avLst/>
          </a:prstGeom>
          <a:noFill/>
        </p:spPr>
        <p:txBody>
          <a:bodyPr wrap="square">
            <a:spAutoFit/>
          </a:bodyPr>
          <a:lstStyle/>
          <a:p>
            <a:pPr algn="just">
              <a:lnSpc>
                <a:spcPct val="150000"/>
              </a:lnSpc>
              <a:spcBef>
                <a:spcPts val="1200"/>
              </a:spcBef>
              <a:spcAft>
                <a:spcPts val="1200"/>
              </a:spcAft>
            </a:pPr>
            <a:r>
              <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Quản trị doanh thu (Revenue Management) là một chiến lược quan trọng trong ngành khách sạn nhằm tối ưu hóa doanh thu từ việc bán phòng và các dịch vụ khác. Điều này đòi hỏi sự hiểu biết sâu sắc về nhu cầu thị trường, định giá linh hoạt, và quản lý hiệu quả nguồn lực.</a:t>
            </a:r>
          </a:p>
        </p:txBody>
      </p:sp>
    </p:spTree>
    <p:extLst>
      <p:ext uri="{BB962C8B-B14F-4D97-AF65-F5344CB8AC3E}">
        <p14:creationId xmlns:p14="http://schemas.microsoft.com/office/powerpoint/2010/main" val="310448070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7F2F13E-21D0-05BA-16EC-B1E60FAA95B1}"/>
              </a:ext>
            </a:extLst>
          </p:cNvPr>
          <p:cNvSpPr txBox="1"/>
          <p:nvPr/>
        </p:nvSpPr>
        <p:spPr>
          <a:xfrm>
            <a:off x="377892" y="1187824"/>
            <a:ext cx="10213675" cy="461665"/>
          </a:xfrm>
          <a:prstGeom prst="rect">
            <a:avLst/>
          </a:prstGeom>
          <a:noFill/>
        </p:spPr>
        <p:txBody>
          <a:bodyPr wrap="square">
            <a:spAutoFit/>
          </a:bodyPr>
          <a:lstStyle/>
          <a:p>
            <a:r>
              <a:rPr lang="en-US" sz="2400" b="1" dirty="0">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5.1. CÁC THÀNH PHẦN CỦA QUẢN TRỊ DOANH THU</a:t>
            </a:r>
            <a:endParaRPr lang="vi-VN" sz="2400" b="1" dirty="0">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sp>
        <p:nvSpPr>
          <p:cNvPr id="5" name="TextBox 4">
            <a:extLst>
              <a:ext uri="{FF2B5EF4-FFF2-40B4-BE49-F238E27FC236}">
                <a16:creationId xmlns:a16="http://schemas.microsoft.com/office/drawing/2014/main" id="{E863E75C-116C-093C-A531-95809E95FC25}"/>
              </a:ext>
            </a:extLst>
          </p:cNvPr>
          <p:cNvSpPr txBox="1"/>
          <p:nvPr/>
        </p:nvSpPr>
        <p:spPr>
          <a:xfrm>
            <a:off x="377892" y="1878193"/>
            <a:ext cx="5601419" cy="4154984"/>
          </a:xfrm>
          <a:prstGeom prst="rect">
            <a:avLst/>
          </a:prstGeom>
          <a:noFill/>
        </p:spPr>
        <p:txBody>
          <a:bodyPr wrap="square">
            <a:spAutoFit/>
          </a:bodyPr>
          <a:lstStyle/>
          <a:p>
            <a:pPr marL="342900" indent="-342900">
              <a:buFont typeface="Wingdings" panose="05000000000000000000" pitchFamily="2" charset="2"/>
              <a:buChar char="q"/>
            </a:pP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DỰ BÁO NHU CẦU</a:t>
            </a:r>
          </a:p>
          <a:p>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(DEMANDFORECASTING)</a:t>
            </a:r>
          </a:p>
          <a:p>
            <a:endPar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342900" indent="-342900">
              <a:buFont typeface="Wingdings" panose="05000000000000000000" pitchFamily="2" charset="2"/>
              <a:buChar char="q"/>
            </a:pP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ĐỊNH GIÁ LINH HOẠT </a:t>
            </a:r>
          </a:p>
          <a:p>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(DYNAMIC PRICING)</a:t>
            </a:r>
          </a:p>
          <a:p>
            <a:endPar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342900" indent="-342900">
              <a:buFont typeface="Wingdings" panose="05000000000000000000" pitchFamily="2" charset="2"/>
              <a:buChar char="q"/>
            </a:pPr>
            <a:r>
              <a:rPr lang="fr-FR"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QUẢN LÝ PHÂN PHỐI </a:t>
            </a:r>
          </a:p>
          <a:p>
            <a:r>
              <a:rPr lang="fr-FR"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(DISTRIBUTION MANAGEMENT)</a:t>
            </a:r>
          </a:p>
          <a:p>
            <a:pPr marL="342900" indent="-342900">
              <a:buFont typeface="Wingdings" panose="05000000000000000000" pitchFamily="2" charset="2"/>
              <a:buChar char="q"/>
            </a:pPr>
            <a:endPar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342900" indent="-342900">
              <a:buFont typeface="Wingdings" panose="05000000000000000000" pitchFamily="2" charset="2"/>
              <a:buChar char="q"/>
            </a:pP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QUẢN LÝ CÔNG SUẤT </a:t>
            </a:r>
          </a:p>
          <a:p>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(CAPACITY MANAGEMENT)</a:t>
            </a:r>
            <a:endParaRPr lang="vi-VN" sz="20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spTree>
    <p:extLst>
      <p:ext uri="{BB962C8B-B14F-4D97-AF65-F5344CB8AC3E}">
        <p14:creationId xmlns:p14="http://schemas.microsoft.com/office/powerpoint/2010/main" val="416153657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7F2F13E-21D0-05BA-16EC-B1E60FAA95B1}"/>
              </a:ext>
            </a:extLst>
          </p:cNvPr>
          <p:cNvSpPr txBox="1"/>
          <p:nvPr/>
        </p:nvSpPr>
        <p:spPr>
          <a:xfrm>
            <a:off x="220577" y="1251850"/>
            <a:ext cx="10213675" cy="461665"/>
          </a:xfrm>
          <a:prstGeom prst="rect">
            <a:avLst/>
          </a:prstGeom>
          <a:noFill/>
        </p:spPr>
        <p:txBody>
          <a:bodyPr wrap="square">
            <a:spAutoFit/>
          </a:bodyPr>
          <a:lstStyle/>
          <a:p>
            <a:r>
              <a:rPr lang="en-US" sz="2400" b="1" dirty="0">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5.1. CÁC THÀNH PHẦN CỦA QUẢN TRỊ DOANH THU</a:t>
            </a:r>
            <a:endParaRPr lang="vi-VN" sz="2400" b="1" dirty="0">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sp>
        <p:nvSpPr>
          <p:cNvPr id="5" name="TextBox 4">
            <a:extLst>
              <a:ext uri="{FF2B5EF4-FFF2-40B4-BE49-F238E27FC236}">
                <a16:creationId xmlns:a16="http://schemas.microsoft.com/office/drawing/2014/main" id="{E863E75C-116C-093C-A531-95809E95FC25}"/>
              </a:ext>
            </a:extLst>
          </p:cNvPr>
          <p:cNvSpPr txBox="1"/>
          <p:nvPr/>
        </p:nvSpPr>
        <p:spPr>
          <a:xfrm>
            <a:off x="362494" y="2166426"/>
            <a:ext cx="5601419" cy="4154984"/>
          </a:xfrm>
          <a:prstGeom prst="rect">
            <a:avLst/>
          </a:prstGeom>
          <a:noFill/>
        </p:spPr>
        <p:txBody>
          <a:bodyPr wrap="square">
            <a:spAutoFit/>
          </a:bodyPr>
          <a:lstStyle/>
          <a:p>
            <a:pPr marL="342900" indent="-342900">
              <a:buFont typeface="Wingdings" panose="05000000000000000000" pitchFamily="2" charset="2"/>
              <a:buChar char="q"/>
            </a:pP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DỰ BÁO NHU CẦU</a:t>
            </a:r>
          </a:p>
          <a:p>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(DEMANDFORECASTING)</a:t>
            </a:r>
          </a:p>
          <a:p>
            <a:endPar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342900" indent="-342900">
              <a:buFont typeface="Wingdings" panose="05000000000000000000" pitchFamily="2" charset="2"/>
              <a:buChar char="q"/>
            </a:pP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ĐỊNH GIÁ LINH HOẠT </a:t>
            </a:r>
          </a:p>
          <a:p>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(DYNAMIC PRICING)</a:t>
            </a:r>
          </a:p>
          <a:p>
            <a:endPar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342900" indent="-342900">
              <a:buFont typeface="Wingdings" panose="05000000000000000000" pitchFamily="2" charset="2"/>
              <a:buChar char="q"/>
            </a:pPr>
            <a:r>
              <a:rPr lang="fr-FR"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QUẢN LÝ PHÂN PHỐI </a:t>
            </a:r>
          </a:p>
          <a:p>
            <a:r>
              <a:rPr lang="fr-FR"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(DISTRIBUTION MANAGEMENT)</a:t>
            </a:r>
          </a:p>
          <a:p>
            <a:pPr marL="342900" indent="-342900">
              <a:buFont typeface="Wingdings" panose="05000000000000000000" pitchFamily="2" charset="2"/>
              <a:buChar char="q"/>
            </a:pPr>
            <a:endPar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342900" indent="-342900">
              <a:buFont typeface="Wingdings" panose="05000000000000000000" pitchFamily="2" charset="2"/>
              <a:buChar char="q"/>
            </a:pP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QUẢN LÝ CÔNG SUẤT </a:t>
            </a:r>
          </a:p>
          <a:p>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(CAPACITY MANAGEMENT)</a:t>
            </a:r>
            <a:endParaRPr lang="vi-VN" sz="20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sp>
        <p:nvSpPr>
          <p:cNvPr id="6" name="Arrow: Right 5">
            <a:extLst>
              <a:ext uri="{FF2B5EF4-FFF2-40B4-BE49-F238E27FC236}">
                <a16:creationId xmlns:a16="http://schemas.microsoft.com/office/drawing/2014/main" id="{E2B69842-085E-4DD8-34EB-E3395F63CB51}"/>
              </a:ext>
            </a:extLst>
          </p:cNvPr>
          <p:cNvSpPr/>
          <p:nvPr/>
        </p:nvSpPr>
        <p:spPr>
          <a:xfrm>
            <a:off x="4807786" y="2166426"/>
            <a:ext cx="1288214" cy="9144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10" name="Rectangle: Rounded Corners 9">
            <a:extLst>
              <a:ext uri="{FF2B5EF4-FFF2-40B4-BE49-F238E27FC236}">
                <a16:creationId xmlns:a16="http://schemas.microsoft.com/office/drawing/2014/main" id="{7C80C111-6568-CB44-335B-6EE34A31A740}"/>
              </a:ext>
            </a:extLst>
          </p:cNvPr>
          <p:cNvSpPr/>
          <p:nvPr/>
        </p:nvSpPr>
        <p:spPr>
          <a:xfrm>
            <a:off x="6420464" y="2037874"/>
            <a:ext cx="5271390" cy="3261714"/>
          </a:xfrm>
          <a:prstGeom prst="roundRect">
            <a:avLst/>
          </a:prstGeom>
          <a:ln w="117475">
            <a:solidFill>
              <a:srgbClr val="002060"/>
            </a:solidFill>
          </a:ln>
        </p:spPr>
        <p:style>
          <a:lnRef idx="2">
            <a:schemeClr val="accent6"/>
          </a:lnRef>
          <a:fillRef idx="1">
            <a:schemeClr val="lt1"/>
          </a:fillRef>
          <a:effectRef idx="0">
            <a:schemeClr val="accent6"/>
          </a:effectRef>
          <a:fontRef idx="minor">
            <a:schemeClr val="dk1"/>
          </a:fontRef>
        </p:style>
        <p:txBody>
          <a:bodyPr rtlCol="0" anchor="ctr"/>
          <a:lstStyle/>
          <a:p>
            <a:pPr algn="just"/>
            <a:r>
              <a:rPr lang="vi-VN" sz="2400" b="1" dirty="0">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a:t>Mô Tả</a:t>
            </a:r>
            <a:r>
              <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Sử dụng dữ liệu lịch sử và phân tích xu hướng để dự đoán nhu cầu tương lai.</a:t>
            </a:r>
            <a:endPar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algn="just"/>
            <a:r>
              <a:rPr lang="vi-VN" sz="2400" b="1" dirty="0">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a:t>Mục Tiêu: </a:t>
            </a:r>
            <a:r>
              <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Đảm bảo khách sạn có đủ nguồn lực để đáp ứng nhu cầu khách hàng, từ đó tối đa hóa doanh thu.</a:t>
            </a:r>
          </a:p>
        </p:txBody>
      </p:sp>
    </p:spTree>
    <p:extLst>
      <p:ext uri="{BB962C8B-B14F-4D97-AF65-F5344CB8AC3E}">
        <p14:creationId xmlns:p14="http://schemas.microsoft.com/office/powerpoint/2010/main" val="6699595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7F2F13E-21D0-05BA-16EC-B1E60FAA95B1}"/>
              </a:ext>
            </a:extLst>
          </p:cNvPr>
          <p:cNvSpPr txBox="1"/>
          <p:nvPr/>
        </p:nvSpPr>
        <p:spPr>
          <a:xfrm>
            <a:off x="382159" y="1111045"/>
            <a:ext cx="10199576" cy="461665"/>
          </a:xfrm>
          <a:prstGeom prst="rect">
            <a:avLst/>
          </a:prstGeom>
          <a:noFill/>
        </p:spPr>
        <p:txBody>
          <a:bodyPr wrap="square">
            <a:spAutoFit/>
          </a:bodyPr>
          <a:lstStyle/>
          <a:p>
            <a:r>
              <a:rPr lang="en-US" sz="2400" b="1" dirty="0">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5.1. CÁC THÀNH PHẦN CỦA QUẢN TRỊ DOANH THU</a:t>
            </a:r>
            <a:endParaRPr lang="vi-VN" sz="2400" b="1" dirty="0">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sp>
        <p:nvSpPr>
          <p:cNvPr id="5" name="TextBox 4">
            <a:extLst>
              <a:ext uri="{FF2B5EF4-FFF2-40B4-BE49-F238E27FC236}">
                <a16:creationId xmlns:a16="http://schemas.microsoft.com/office/drawing/2014/main" id="{E863E75C-116C-093C-A531-95809E95FC25}"/>
              </a:ext>
            </a:extLst>
          </p:cNvPr>
          <p:cNvSpPr txBox="1"/>
          <p:nvPr/>
        </p:nvSpPr>
        <p:spPr>
          <a:xfrm>
            <a:off x="382159" y="1937186"/>
            <a:ext cx="5601419" cy="4154984"/>
          </a:xfrm>
          <a:prstGeom prst="rect">
            <a:avLst/>
          </a:prstGeom>
          <a:noFill/>
        </p:spPr>
        <p:txBody>
          <a:bodyPr wrap="square">
            <a:spAutoFit/>
          </a:bodyPr>
          <a:lstStyle/>
          <a:p>
            <a:pPr marL="342900" indent="-342900">
              <a:buFont typeface="Wingdings" panose="05000000000000000000" pitchFamily="2" charset="2"/>
              <a:buChar char="q"/>
            </a:pP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DỰ BÁO NHU CẦU</a:t>
            </a:r>
          </a:p>
          <a:p>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(DEMANDFORECASTING)</a:t>
            </a:r>
          </a:p>
          <a:p>
            <a:endPar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342900" indent="-342900">
              <a:buFont typeface="Wingdings" panose="05000000000000000000" pitchFamily="2" charset="2"/>
              <a:buChar char="q"/>
            </a:pP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ĐỊNH GIÁ LINH HOẠT </a:t>
            </a:r>
          </a:p>
          <a:p>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(DYNAMIC PRICING)</a:t>
            </a:r>
          </a:p>
          <a:p>
            <a:endPar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342900" indent="-342900">
              <a:buFont typeface="Wingdings" panose="05000000000000000000" pitchFamily="2" charset="2"/>
              <a:buChar char="q"/>
            </a:pPr>
            <a:r>
              <a:rPr lang="fr-FR"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QUẢN LÝ PHÂN PHỐI </a:t>
            </a:r>
          </a:p>
          <a:p>
            <a:r>
              <a:rPr lang="fr-FR"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(DISTRIBUTION MANAGEMENT)</a:t>
            </a:r>
          </a:p>
          <a:p>
            <a:pPr marL="342900" indent="-342900">
              <a:buFont typeface="Wingdings" panose="05000000000000000000" pitchFamily="2" charset="2"/>
              <a:buChar char="q"/>
            </a:pPr>
            <a:endPar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342900" indent="-342900">
              <a:buFont typeface="Wingdings" panose="05000000000000000000" pitchFamily="2" charset="2"/>
              <a:buChar char="q"/>
            </a:pP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QUẢN LÝ CÔNG SUẤT </a:t>
            </a:r>
          </a:p>
          <a:p>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(CAPACITY MANAGEMENT)</a:t>
            </a:r>
            <a:endParaRPr lang="vi-VN" sz="20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sp>
        <p:nvSpPr>
          <p:cNvPr id="7" name="Arrow: Right 6">
            <a:extLst>
              <a:ext uri="{FF2B5EF4-FFF2-40B4-BE49-F238E27FC236}">
                <a16:creationId xmlns:a16="http://schemas.microsoft.com/office/drawing/2014/main" id="{95ABBDFC-0425-FBED-3FE0-217124B92C34}"/>
              </a:ext>
            </a:extLst>
          </p:cNvPr>
          <p:cNvSpPr/>
          <p:nvPr/>
        </p:nvSpPr>
        <p:spPr>
          <a:xfrm>
            <a:off x="4830790" y="2971800"/>
            <a:ext cx="1288214" cy="9144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dirty="0"/>
          </a:p>
        </p:txBody>
      </p:sp>
      <p:sp>
        <p:nvSpPr>
          <p:cNvPr id="10" name="Rectangle: Rounded Corners 9">
            <a:extLst>
              <a:ext uri="{FF2B5EF4-FFF2-40B4-BE49-F238E27FC236}">
                <a16:creationId xmlns:a16="http://schemas.microsoft.com/office/drawing/2014/main" id="{7C80C111-6568-CB44-335B-6EE34A31A740}"/>
              </a:ext>
            </a:extLst>
          </p:cNvPr>
          <p:cNvSpPr/>
          <p:nvPr/>
        </p:nvSpPr>
        <p:spPr>
          <a:xfrm>
            <a:off x="6352566" y="2183855"/>
            <a:ext cx="5457275" cy="2928920"/>
          </a:xfrm>
          <a:prstGeom prst="roundRect">
            <a:avLst/>
          </a:prstGeom>
          <a:ln w="117475">
            <a:solidFill>
              <a:srgbClr val="002060"/>
            </a:solidFill>
          </a:ln>
        </p:spPr>
        <p:style>
          <a:lnRef idx="2">
            <a:schemeClr val="accent6"/>
          </a:lnRef>
          <a:fillRef idx="1">
            <a:schemeClr val="lt1"/>
          </a:fillRef>
          <a:effectRef idx="0">
            <a:schemeClr val="accent6"/>
          </a:effectRef>
          <a:fontRef idx="minor">
            <a:schemeClr val="dk1"/>
          </a:fontRef>
        </p:style>
        <p:txBody>
          <a:bodyPr rtlCol="0" anchor="ctr"/>
          <a:lstStyle/>
          <a:p>
            <a:pPr algn="just">
              <a:spcBef>
                <a:spcPts val="1200"/>
              </a:spcBef>
            </a:pPr>
            <a:r>
              <a:rPr lang="vi-VN" sz="2400" b="1" dirty="0">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a:t>Mô Tả: </a:t>
            </a:r>
            <a:r>
              <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Thay đổi giá phòng dựa trên mức độ cung cầu, thời điểm đặt phòng, và hành vi khách hàng.</a:t>
            </a:r>
            <a:endPar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algn="just">
              <a:spcBef>
                <a:spcPts val="1200"/>
              </a:spcBef>
            </a:pPr>
            <a:r>
              <a:rPr lang="vi-VN" sz="2400" b="1" dirty="0">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a:t>Mục Tiêu: </a:t>
            </a:r>
            <a:r>
              <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Tối ưu hóa giá bán để cân bằng giữa tỷ lệ lấp đầy và doanh thu.</a:t>
            </a:r>
          </a:p>
        </p:txBody>
      </p:sp>
    </p:spTree>
    <p:extLst>
      <p:ext uri="{BB962C8B-B14F-4D97-AF65-F5344CB8AC3E}">
        <p14:creationId xmlns:p14="http://schemas.microsoft.com/office/powerpoint/2010/main" val="88747649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7F2F13E-21D0-05BA-16EC-B1E60FAA95B1}"/>
              </a:ext>
            </a:extLst>
          </p:cNvPr>
          <p:cNvSpPr txBox="1"/>
          <p:nvPr/>
        </p:nvSpPr>
        <p:spPr>
          <a:xfrm>
            <a:off x="289402" y="1173434"/>
            <a:ext cx="10213675" cy="461665"/>
          </a:xfrm>
          <a:prstGeom prst="rect">
            <a:avLst/>
          </a:prstGeom>
          <a:noFill/>
        </p:spPr>
        <p:txBody>
          <a:bodyPr wrap="square">
            <a:spAutoFit/>
          </a:bodyPr>
          <a:lstStyle/>
          <a:p>
            <a:r>
              <a:rPr lang="en-US" sz="2400" b="1" dirty="0">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5.1. CÁC THÀNH PHẦN CỦA QUẢN TRỊ DOANH THU</a:t>
            </a:r>
            <a:endParaRPr lang="vi-VN" sz="2400" b="1" dirty="0">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sp>
        <p:nvSpPr>
          <p:cNvPr id="5" name="TextBox 4">
            <a:extLst>
              <a:ext uri="{FF2B5EF4-FFF2-40B4-BE49-F238E27FC236}">
                <a16:creationId xmlns:a16="http://schemas.microsoft.com/office/drawing/2014/main" id="{E863E75C-116C-093C-A531-95809E95FC25}"/>
              </a:ext>
            </a:extLst>
          </p:cNvPr>
          <p:cNvSpPr txBox="1"/>
          <p:nvPr/>
        </p:nvSpPr>
        <p:spPr>
          <a:xfrm>
            <a:off x="289402" y="1947018"/>
            <a:ext cx="5601419" cy="4154984"/>
          </a:xfrm>
          <a:prstGeom prst="rect">
            <a:avLst/>
          </a:prstGeom>
          <a:noFill/>
        </p:spPr>
        <p:txBody>
          <a:bodyPr wrap="square">
            <a:spAutoFit/>
          </a:bodyPr>
          <a:lstStyle/>
          <a:p>
            <a:pPr marL="342900" indent="-342900">
              <a:buFont typeface="Wingdings" panose="05000000000000000000" pitchFamily="2" charset="2"/>
              <a:buChar char="q"/>
            </a:pP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DỰ BÁO NHU CẦU</a:t>
            </a:r>
          </a:p>
          <a:p>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(DEMANDFORECASTING)</a:t>
            </a:r>
          </a:p>
          <a:p>
            <a:endPar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342900" indent="-342900">
              <a:buFont typeface="Wingdings" panose="05000000000000000000" pitchFamily="2" charset="2"/>
              <a:buChar char="q"/>
            </a:pP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ĐỊNH GIÁ LINH HOẠT </a:t>
            </a:r>
          </a:p>
          <a:p>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(DYNAMIC PRICING)</a:t>
            </a:r>
          </a:p>
          <a:p>
            <a:endPar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342900" indent="-342900">
              <a:buFont typeface="Wingdings" panose="05000000000000000000" pitchFamily="2" charset="2"/>
              <a:buChar char="q"/>
            </a:pPr>
            <a:r>
              <a:rPr lang="fr-FR"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QUẢN LÝ PHÂN PHỐI </a:t>
            </a:r>
          </a:p>
          <a:p>
            <a:r>
              <a:rPr lang="fr-FR"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(DISTRIBUTION MANAGEMENT)</a:t>
            </a:r>
          </a:p>
          <a:p>
            <a:pPr marL="342900" indent="-342900">
              <a:buFont typeface="Wingdings" panose="05000000000000000000" pitchFamily="2" charset="2"/>
              <a:buChar char="q"/>
            </a:pPr>
            <a:endPar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342900" indent="-342900">
              <a:buFont typeface="Wingdings" panose="05000000000000000000" pitchFamily="2" charset="2"/>
              <a:buChar char="q"/>
            </a:pP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QUẢN LÝ CÔNG SUẤT </a:t>
            </a:r>
          </a:p>
          <a:p>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(CAPACITY MANAGEMENT)</a:t>
            </a:r>
            <a:endParaRPr lang="vi-VN" sz="20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sp>
        <p:nvSpPr>
          <p:cNvPr id="8" name="Arrow: Right 7">
            <a:extLst>
              <a:ext uri="{FF2B5EF4-FFF2-40B4-BE49-F238E27FC236}">
                <a16:creationId xmlns:a16="http://schemas.microsoft.com/office/drawing/2014/main" id="{CC109385-1108-77D9-B358-7196D64C61B5}"/>
              </a:ext>
            </a:extLst>
          </p:cNvPr>
          <p:cNvSpPr/>
          <p:nvPr/>
        </p:nvSpPr>
        <p:spPr>
          <a:xfrm>
            <a:off x="5246714" y="4092757"/>
            <a:ext cx="1288214" cy="9144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10" name="Rectangle: Rounded Corners 9">
            <a:extLst>
              <a:ext uri="{FF2B5EF4-FFF2-40B4-BE49-F238E27FC236}">
                <a16:creationId xmlns:a16="http://schemas.microsoft.com/office/drawing/2014/main" id="{7C80C111-6568-CB44-335B-6EE34A31A740}"/>
              </a:ext>
            </a:extLst>
          </p:cNvPr>
          <p:cNvSpPr/>
          <p:nvPr/>
        </p:nvSpPr>
        <p:spPr>
          <a:xfrm>
            <a:off x="6534928" y="2900515"/>
            <a:ext cx="5490295" cy="3310503"/>
          </a:xfrm>
          <a:prstGeom prst="roundRect">
            <a:avLst/>
          </a:prstGeom>
          <a:ln w="117475">
            <a:solidFill>
              <a:srgbClr val="002060"/>
            </a:solidFill>
          </a:ln>
        </p:spPr>
        <p:style>
          <a:lnRef idx="2">
            <a:schemeClr val="accent6"/>
          </a:lnRef>
          <a:fillRef idx="1">
            <a:schemeClr val="lt1"/>
          </a:fillRef>
          <a:effectRef idx="0">
            <a:schemeClr val="accent6"/>
          </a:effectRef>
          <a:fontRef idx="minor">
            <a:schemeClr val="dk1"/>
          </a:fontRef>
        </p:style>
        <p:txBody>
          <a:bodyPr rtlCol="0" anchor="ctr"/>
          <a:lstStyle/>
          <a:p>
            <a:pPr algn="just">
              <a:spcBef>
                <a:spcPts val="1200"/>
              </a:spcBef>
            </a:pPr>
            <a:r>
              <a:rPr lang="vi-VN" sz="2400" b="1" dirty="0">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a:t>Mô Tả: </a:t>
            </a:r>
            <a:r>
              <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Điều phối các kênh bán hàng và tiếp thị để tối ưu hóa doanh thu từ các nguồn khác nhau như OTA, GDS, và đặt phòng trực tiếp.</a:t>
            </a:r>
            <a:endPar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algn="just">
              <a:spcBef>
                <a:spcPts val="1200"/>
              </a:spcBef>
            </a:pPr>
            <a:r>
              <a:rPr lang="vi-VN" sz="2400" b="1" dirty="0">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a:t>Mục Tiêu: </a:t>
            </a:r>
            <a:r>
              <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Tối ưu hóa chiến lược phân phối để giảm chi phí hoa hồng và tăng lượng đặt phòng trực tiếp.</a:t>
            </a:r>
          </a:p>
        </p:txBody>
      </p:sp>
    </p:spTree>
    <p:extLst>
      <p:ext uri="{BB962C8B-B14F-4D97-AF65-F5344CB8AC3E}">
        <p14:creationId xmlns:p14="http://schemas.microsoft.com/office/powerpoint/2010/main" val="152959214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7F2F13E-21D0-05BA-16EC-B1E60FAA95B1}"/>
              </a:ext>
            </a:extLst>
          </p:cNvPr>
          <p:cNvSpPr txBox="1"/>
          <p:nvPr/>
        </p:nvSpPr>
        <p:spPr>
          <a:xfrm>
            <a:off x="220576" y="1315181"/>
            <a:ext cx="10213675" cy="461665"/>
          </a:xfrm>
          <a:prstGeom prst="rect">
            <a:avLst/>
          </a:prstGeom>
          <a:noFill/>
        </p:spPr>
        <p:txBody>
          <a:bodyPr wrap="square">
            <a:spAutoFit/>
          </a:bodyPr>
          <a:lstStyle/>
          <a:p>
            <a:r>
              <a:rPr lang="en-US" sz="2400" b="1" dirty="0">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5.1. CÁC THÀNH PHẦN CỦA QUẢN TRỊ DOANH THU</a:t>
            </a:r>
            <a:endParaRPr lang="vi-VN" sz="2400" b="1" dirty="0">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sp>
        <p:nvSpPr>
          <p:cNvPr id="5" name="TextBox 4">
            <a:extLst>
              <a:ext uri="{FF2B5EF4-FFF2-40B4-BE49-F238E27FC236}">
                <a16:creationId xmlns:a16="http://schemas.microsoft.com/office/drawing/2014/main" id="{E863E75C-116C-093C-A531-95809E95FC25}"/>
              </a:ext>
            </a:extLst>
          </p:cNvPr>
          <p:cNvSpPr txBox="1"/>
          <p:nvPr/>
        </p:nvSpPr>
        <p:spPr>
          <a:xfrm>
            <a:off x="368060" y="2203518"/>
            <a:ext cx="5601419" cy="4154984"/>
          </a:xfrm>
          <a:prstGeom prst="rect">
            <a:avLst/>
          </a:prstGeom>
          <a:noFill/>
        </p:spPr>
        <p:txBody>
          <a:bodyPr wrap="square">
            <a:spAutoFit/>
          </a:bodyPr>
          <a:lstStyle/>
          <a:p>
            <a:pPr marL="342900" indent="-342900">
              <a:buFont typeface="Wingdings" panose="05000000000000000000" pitchFamily="2" charset="2"/>
              <a:buChar char="q"/>
            </a:pP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DỰ BÁO NHU CẦU</a:t>
            </a:r>
          </a:p>
          <a:p>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(DEMANDFORECASTING)</a:t>
            </a:r>
          </a:p>
          <a:p>
            <a:endPar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342900" indent="-342900">
              <a:buFont typeface="Wingdings" panose="05000000000000000000" pitchFamily="2" charset="2"/>
              <a:buChar char="q"/>
            </a:pP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ĐỊNH GIÁ LINH HOẠT </a:t>
            </a:r>
          </a:p>
          <a:p>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(DYNAMIC PRICING)</a:t>
            </a:r>
          </a:p>
          <a:p>
            <a:endPar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342900" indent="-342900">
              <a:buFont typeface="Wingdings" panose="05000000000000000000" pitchFamily="2" charset="2"/>
              <a:buChar char="q"/>
            </a:pPr>
            <a:r>
              <a:rPr lang="fr-FR"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QUẢN LÝ PHÂN PHỐI </a:t>
            </a:r>
          </a:p>
          <a:p>
            <a:r>
              <a:rPr lang="fr-FR"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(DISTRIBUTION MANAGEMENT)</a:t>
            </a:r>
          </a:p>
          <a:p>
            <a:pPr marL="342900" indent="-342900">
              <a:buFont typeface="Wingdings" panose="05000000000000000000" pitchFamily="2" charset="2"/>
              <a:buChar char="q"/>
            </a:pPr>
            <a:endPar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342900" indent="-342900">
              <a:buFont typeface="Wingdings" panose="05000000000000000000" pitchFamily="2" charset="2"/>
              <a:buChar char="q"/>
            </a:pP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QUẢN LÝ CÔNG SUẤT </a:t>
            </a:r>
          </a:p>
          <a:p>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(CAPACITY MANAGEMENT)</a:t>
            </a:r>
            <a:endParaRPr lang="vi-VN" sz="20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sp>
        <p:nvSpPr>
          <p:cNvPr id="8" name="Arrow: Right 7">
            <a:extLst>
              <a:ext uri="{FF2B5EF4-FFF2-40B4-BE49-F238E27FC236}">
                <a16:creationId xmlns:a16="http://schemas.microsoft.com/office/drawing/2014/main" id="{CC109385-1108-77D9-B358-7196D64C61B5}"/>
              </a:ext>
            </a:extLst>
          </p:cNvPr>
          <p:cNvSpPr/>
          <p:nvPr/>
        </p:nvSpPr>
        <p:spPr>
          <a:xfrm>
            <a:off x="4980319" y="5488974"/>
            <a:ext cx="1242204" cy="9144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10" name="Rectangle: Rounded Corners 9">
            <a:extLst>
              <a:ext uri="{FF2B5EF4-FFF2-40B4-BE49-F238E27FC236}">
                <a16:creationId xmlns:a16="http://schemas.microsoft.com/office/drawing/2014/main" id="{7C80C111-6568-CB44-335B-6EE34A31A740}"/>
              </a:ext>
            </a:extLst>
          </p:cNvPr>
          <p:cNvSpPr/>
          <p:nvPr/>
        </p:nvSpPr>
        <p:spPr>
          <a:xfrm>
            <a:off x="6222523" y="2880852"/>
            <a:ext cx="5773203" cy="3398993"/>
          </a:xfrm>
          <a:prstGeom prst="roundRect">
            <a:avLst/>
          </a:prstGeom>
          <a:ln w="117475">
            <a:solidFill>
              <a:srgbClr val="002060"/>
            </a:solidFill>
          </a:ln>
        </p:spPr>
        <p:style>
          <a:lnRef idx="2">
            <a:schemeClr val="accent6"/>
          </a:lnRef>
          <a:fillRef idx="1">
            <a:schemeClr val="lt1"/>
          </a:fillRef>
          <a:effectRef idx="0">
            <a:schemeClr val="accent6"/>
          </a:effectRef>
          <a:fontRef idx="minor">
            <a:schemeClr val="dk1"/>
          </a:fontRef>
        </p:style>
        <p:txBody>
          <a:bodyPr rtlCol="0" anchor="ctr"/>
          <a:lstStyle/>
          <a:p>
            <a:pPr>
              <a:spcBef>
                <a:spcPts val="1200"/>
              </a:spcBef>
            </a:pPr>
            <a:r>
              <a:rPr lang="vi-VN" sz="2400" b="1" dirty="0">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a:t>Mô Tả: </a:t>
            </a:r>
            <a:r>
              <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Quản lý số lượng phòng có sẵn và tối ưu hóa việc phân bổ phòng để tối đa hóa doanh thu.</a:t>
            </a:r>
            <a:endPar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a:spcBef>
                <a:spcPts val="1200"/>
              </a:spcBef>
            </a:pPr>
            <a:r>
              <a:rPr lang="vi-VN" sz="2400" b="1" dirty="0">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a:t>Mục Tiêu:</a:t>
            </a:r>
            <a:r>
              <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Đảm bảo khách sạn hoạt động với công suất tối đa trong các thời điểm cao điểm và tối ưu hóa doanh thu trong các thời điểm thấp điểm.</a:t>
            </a:r>
          </a:p>
        </p:txBody>
      </p:sp>
    </p:spTree>
    <p:extLst>
      <p:ext uri="{BB962C8B-B14F-4D97-AF65-F5344CB8AC3E}">
        <p14:creationId xmlns:p14="http://schemas.microsoft.com/office/powerpoint/2010/main" val="392703932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6B795E0-E93D-6876-0773-4A47F9B2A0A7}"/>
              </a:ext>
            </a:extLst>
          </p:cNvPr>
          <p:cNvSpPr txBox="1"/>
          <p:nvPr/>
        </p:nvSpPr>
        <p:spPr>
          <a:xfrm>
            <a:off x="430804" y="1064514"/>
            <a:ext cx="9941944" cy="461665"/>
          </a:xfrm>
          <a:prstGeom prst="rect">
            <a:avLst/>
          </a:prstGeom>
          <a:noFill/>
        </p:spPr>
        <p:txBody>
          <a:bodyPr wrap="square">
            <a:spAutoFit/>
          </a:bodyPr>
          <a:lstStyle/>
          <a:p>
            <a:r>
              <a:rPr lang="en-US" sz="2400" b="1" dirty="0">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5.2. </a:t>
            </a:r>
            <a:r>
              <a:rPr lang="vi-VN" sz="2400" b="1" dirty="0">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CHỈ TIÊU ĐÁNH GIÁ HOẠT ĐỘNG LƯU TRÚ</a:t>
            </a:r>
            <a:endParaRPr lang="en-US" sz="2400" b="1" dirty="0">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sp>
        <p:nvSpPr>
          <p:cNvPr id="5" name="TextBox 4">
            <a:extLst>
              <a:ext uri="{FF2B5EF4-FFF2-40B4-BE49-F238E27FC236}">
                <a16:creationId xmlns:a16="http://schemas.microsoft.com/office/drawing/2014/main" id="{DA02E784-E090-41E7-181C-D13F541FA014}"/>
              </a:ext>
            </a:extLst>
          </p:cNvPr>
          <p:cNvSpPr txBox="1"/>
          <p:nvPr/>
        </p:nvSpPr>
        <p:spPr>
          <a:xfrm>
            <a:off x="431409" y="1791844"/>
            <a:ext cx="11011619" cy="830997"/>
          </a:xfrm>
          <a:prstGeom prst="rect">
            <a:avLst/>
          </a:prstGeom>
          <a:noFill/>
        </p:spPr>
        <p:txBody>
          <a:bodyPr wrap="square">
            <a:spAutoFit/>
          </a:bodyPr>
          <a:lstStyle/>
          <a:p>
            <a:pPr algn="just"/>
            <a:r>
              <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Để đánh giá hiệu quả hoạt động lưu trú và quản trị doanh thu, các khách sạn thường sử dụng một số chỉ tiêu quan trọng:</a:t>
            </a:r>
          </a:p>
        </p:txBody>
      </p:sp>
      <p:sp>
        <p:nvSpPr>
          <p:cNvPr id="7" name="TextBox 6">
            <a:extLst>
              <a:ext uri="{FF2B5EF4-FFF2-40B4-BE49-F238E27FC236}">
                <a16:creationId xmlns:a16="http://schemas.microsoft.com/office/drawing/2014/main" id="{BCA17EDD-12F7-78C8-6924-9EE547D89F40}"/>
              </a:ext>
            </a:extLst>
          </p:cNvPr>
          <p:cNvSpPr txBox="1"/>
          <p:nvPr/>
        </p:nvSpPr>
        <p:spPr>
          <a:xfrm>
            <a:off x="495299" y="2649524"/>
            <a:ext cx="11201401" cy="1938992"/>
          </a:xfrm>
          <a:prstGeom prst="rect">
            <a:avLst/>
          </a:prstGeom>
          <a:noFill/>
        </p:spPr>
        <p:txBody>
          <a:bodyPr wrap="square">
            <a:spAutoFit/>
          </a:bodyPr>
          <a:lstStyle/>
          <a:p>
            <a:r>
              <a:rPr lang="vi-VN" sz="2400" b="1" dirty="0">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TỶ LỆ LẤP ĐẦY (OCCUPANCY RATE):</a:t>
            </a:r>
            <a:endParaRPr lang="en-US" sz="2400" b="1" dirty="0">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endParaRPr>
          </a:p>
          <a:p>
            <a:endParaRPr lang="vi-VN" sz="2400" b="1" dirty="0">
              <a:solidFill>
                <a:srgbClr val="002060"/>
              </a:solidFill>
              <a:highlight>
                <a:srgbClr val="00FF00"/>
              </a:highlight>
              <a:latin typeface="Microsoft Sans Serif" panose="020B0604020202020204" pitchFamily="34" charset="0"/>
              <a:ea typeface="Microsoft Sans Serif" panose="020B0604020202020204" pitchFamily="34" charset="0"/>
              <a:cs typeface="Microsoft Sans Serif" panose="020B0604020202020204" pitchFamily="34" charset="0"/>
            </a:endParaRPr>
          </a:p>
          <a:p>
            <a:pPr>
              <a:buFont typeface="Arial" panose="020B0604020202020204" pitchFamily="34" charset="0"/>
              <a:buChar char="•"/>
            </a:pPr>
            <a:r>
              <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MÔ TẢ: Tỷ lệ phần trăm số phòng được bán ra so với tổng số phòng có sẵn.</a:t>
            </a:r>
          </a:p>
          <a:p>
            <a:pPr>
              <a:buFont typeface="Arial" panose="020B0604020202020204" pitchFamily="34" charset="0"/>
              <a:buChar char="•"/>
            </a:pPr>
            <a:endPar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a:buFont typeface="Arial" panose="020B0604020202020204" pitchFamily="34" charset="0"/>
              <a:buChar char="•"/>
            </a:pPr>
            <a:r>
              <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CÔNG THỨC:</a:t>
            </a:r>
          </a:p>
        </p:txBody>
      </p:sp>
      <p:pic>
        <p:nvPicPr>
          <p:cNvPr id="9" name="Picture 8">
            <a:extLst>
              <a:ext uri="{FF2B5EF4-FFF2-40B4-BE49-F238E27FC236}">
                <a16:creationId xmlns:a16="http://schemas.microsoft.com/office/drawing/2014/main" id="{09A71BC9-2F83-E80E-6812-27C869929409}"/>
              </a:ext>
            </a:extLst>
          </p:cNvPr>
          <p:cNvPicPr>
            <a:picLocks noChangeAspect="1"/>
          </p:cNvPicPr>
          <p:nvPr/>
        </p:nvPicPr>
        <p:blipFill>
          <a:blip r:embed="rId2"/>
          <a:stretch>
            <a:fillRect/>
          </a:stretch>
        </p:blipFill>
        <p:spPr>
          <a:xfrm>
            <a:off x="2952064" y="4034399"/>
            <a:ext cx="7336770" cy="1108234"/>
          </a:xfrm>
          <a:prstGeom prst="rect">
            <a:avLst/>
          </a:prstGeom>
        </p:spPr>
      </p:pic>
      <p:sp>
        <p:nvSpPr>
          <p:cNvPr id="11" name="TextBox 10">
            <a:extLst>
              <a:ext uri="{FF2B5EF4-FFF2-40B4-BE49-F238E27FC236}">
                <a16:creationId xmlns:a16="http://schemas.microsoft.com/office/drawing/2014/main" id="{5D0B1D6F-5D71-26BE-4C5C-1F80040553D0}"/>
              </a:ext>
            </a:extLst>
          </p:cNvPr>
          <p:cNvSpPr txBox="1"/>
          <p:nvPr/>
        </p:nvSpPr>
        <p:spPr>
          <a:xfrm>
            <a:off x="461511" y="5349519"/>
            <a:ext cx="7689431" cy="830997"/>
          </a:xfrm>
          <a:prstGeom prst="rect">
            <a:avLst/>
          </a:prstGeom>
          <a:noFill/>
        </p:spPr>
        <p:txBody>
          <a:bodyPr wrap="square">
            <a:spAutoFit/>
          </a:bodyPr>
          <a:lstStyle/>
          <a:p>
            <a:r>
              <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Ý Nghĩa: Đo lường mức độ sử dụng phòng của khách sạn, giúp đánh giá hiệu quả bán phòng.</a:t>
            </a:r>
          </a:p>
        </p:txBody>
      </p:sp>
    </p:spTree>
    <p:extLst>
      <p:ext uri="{BB962C8B-B14F-4D97-AF65-F5344CB8AC3E}">
        <p14:creationId xmlns:p14="http://schemas.microsoft.com/office/powerpoint/2010/main" val="224439342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A18058E-3A45-2D4F-EC79-5D5CC6F5833A}"/>
              </a:ext>
            </a:extLst>
          </p:cNvPr>
          <p:cNvSpPr txBox="1"/>
          <p:nvPr/>
        </p:nvSpPr>
        <p:spPr>
          <a:xfrm>
            <a:off x="565029" y="1356475"/>
            <a:ext cx="10304254" cy="461665"/>
          </a:xfrm>
          <a:prstGeom prst="rect">
            <a:avLst/>
          </a:prstGeom>
          <a:noFill/>
        </p:spPr>
        <p:txBody>
          <a:bodyPr wrap="square">
            <a:spAutoFit/>
          </a:bodyPr>
          <a:lstStyle/>
          <a:p>
            <a:r>
              <a:rPr lang="en-US" sz="2400" b="1" dirty="0">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GIÁ TRUNG BÌNH TRÊN MỖI PHÒNG (ADR - AVERAGE DAILY RATE):</a:t>
            </a:r>
            <a:endParaRPr lang="vi-VN" sz="2400" b="1" dirty="0">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sp>
        <p:nvSpPr>
          <p:cNvPr id="4" name="Rectangle 1">
            <a:extLst>
              <a:ext uri="{FF2B5EF4-FFF2-40B4-BE49-F238E27FC236}">
                <a16:creationId xmlns:a16="http://schemas.microsoft.com/office/drawing/2014/main" id="{97275810-4881-0579-BC78-F815FE2BB766}"/>
              </a:ext>
            </a:extLst>
          </p:cNvPr>
          <p:cNvSpPr>
            <a:spLocks noChangeArrowheads="1"/>
          </p:cNvSpPr>
          <p:nvPr/>
        </p:nvSpPr>
        <p:spPr bwMode="auto">
          <a:xfrm>
            <a:off x="565029" y="1842884"/>
            <a:ext cx="10800271" cy="21112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8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Mô</a:t>
            </a:r>
            <a:r>
              <a:rPr kumimoji="0" lang="en-US" altLang="en-US" sz="28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8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Tả</a:t>
            </a:r>
            <a:r>
              <a:rPr kumimoji="0" lang="en-US" altLang="en-US" sz="28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r>
              <a:rPr kumimoji="0" lang="en-US" altLang="en-US" sz="28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8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Mức</a:t>
            </a:r>
            <a:r>
              <a:rPr kumimoji="0" lang="en-US" altLang="en-US" sz="28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8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giá</a:t>
            </a:r>
            <a:r>
              <a:rPr kumimoji="0" lang="en-US" altLang="en-US" sz="28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8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trung</a:t>
            </a:r>
            <a:r>
              <a:rPr kumimoji="0" lang="en-US" altLang="en-US" sz="28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8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bình</a:t>
            </a:r>
            <a:r>
              <a:rPr kumimoji="0" lang="en-US" altLang="en-US" sz="28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8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mỗi</a:t>
            </a:r>
            <a:r>
              <a:rPr kumimoji="0" lang="en-US" altLang="en-US" sz="28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8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phòng</a:t>
            </a:r>
            <a:r>
              <a:rPr kumimoji="0" lang="en-US" altLang="en-US" sz="28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8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bán</a:t>
            </a:r>
            <a:r>
              <a:rPr kumimoji="0" lang="en-US" altLang="en-US" sz="28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8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được</a:t>
            </a:r>
            <a:r>
              <a:rPr kumimoji="0" lang="en-US" altLang="en-US" sz="28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8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trong</a:t>
            </a:r>
            <a:r>
              <a:rPr kumimoji="0" lang="en-US" altLang="en-US" sz="28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8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một</a:t>
            </a:r>
            <a:r>
              <a:rPr kumimoji="0" lang="en-US" altLang="en-US" sz="28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8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khoảng</a:t>
            </a:r>
            <a:r>
              <a:rPr kumimoji="0" lang="en-US" altLang="en-US" sz="28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8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thời</a:t>
            </a:r>
            <a:r>
              <a:rPr kumimoji="0" lang="en-US" altLang="en-US" sz="28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8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gian</a:t>
            </a:r>
            <a:r>
              <a:rPr kumimoji="0" lang="en-US" altLang="en-US" sz="28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8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nhất</a:t>
            </a:r>
            <a:r>
              <a:rPr kumimoji="0" lang="en-US" altLang="en-US" sz="28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8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định</a:t>
            </a:r>
            <a:r>
              <a:rPr kumimoji="0" lang="en-US" altLang="en-US" sz="28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28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Công</a:t>
            </a:r>
            <a:r>
              <a:rPr kumimoji="0" lang="en-US" altLang="en-US" sz="28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8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Thức</a:t>
            </a:r>
            <a:r>
              <a:rPr kumimoji="0" lang="en-US" altLang="en-US" sz="28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r>
              <a:rPr kumimoji="0" lang="en-US" altLang="en-US" sz="28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p>
        </p:txBody>
      </p:sp>
      <p:pic>
        <p:nvPicPr>
          <p:cNvPr id="6" name="Picture 5">
            <a:extLst>
              <a:ext uri="{FF2B5EF4-FFF2-40B4-BE49-F238E27FC236}">
                <a16:creationId xmlns:a16="http://schemas.microsoft.com/office/drawing/2014/main" id="{49DDAA9E-0537-D45B-75D3-0D51EE8659D7}"/>
              </a:ext>
            </a:extLst>
          </p:cNvPr>
          <p:cNvPicPr>
            <a:picLocks noChangeAspect="1"/>
          </p:cNvPicPr>
          <p:nvPr/>
        </p:nvPicPr>
        <p:blipFill>
          <a:blip r:embed="rId2"/>
          <a:stretch>
            <a:fillRect/>
          </a:stretch>
        </p:blipFill>
        <p:spPr>
          <a:xfrm>
            <a:off x="3106993" y="3221593"/>
            <a:ext cx="6328687" cy="1388228"/>
          </a:xfrm>
          <a:prstGeom prst="rect">
            <a:avLst/>
          </a:prstGeom>
        </p:spPr>
      </p:pic>
      <p:sp>
        <p:nvSpPr>
          <p:cNvPr id="8" name="TextBox 7">
            <a:extLst>
              <a:ext uri="{FF2B5EF4-FFF2-40B4-BE49-F238E27FC236}">
                <a16:creationId xmlns:a16="http://schemas.microsoft.com/office/drawing/2014/main" id="{E9289289-8229-D897-0EAB-B4BD224A53CD}"/>
              </a:ext>
            </a:extLst>
          </p:cNvPr>
          <p:cNvSpPr txBox="1"/>
          <p:nvPr/>
        </p:nvSpPr>
        <p:spPr>
          <a:xfrm>
            <a:off x="565029" y="5096230"/>
            <a:ext cx="11542143" cy="954107"/>
          </a:xfrm>
          <a:prstGeom prst="rect">
            <a:avLst/>
          </a:prstGeom>
          <a:noFill/>
        </p:spPr>
        <p:txBody>
          <a:bodyPr wrap="square">
            <a:spAutoFit/>
          </a:bodyPr>
          <a:lstStyle/>
          <a:p>
            <a:r>
              <a:rPr lang="vi-VN" sz="28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Ý Nghĩa:</a:t>
            </a:r>
            <a:r>
              <a:rPr lang="vi-VN" sz="28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Đánh giá mức giá trung bình mà khách sạn đạt được từ việc bán phòng, giúp so sánh với đối thủ cạnh tranh.</a:t>
            </a:r>
          </a:p>
        </p:txBody>
      </p:sp>
    </p:spTree>
    <p:extLst>
      <p:ext uri="{BB962C8B-B14F-4D97-AF65-F5344CB8AC3E}">
        <p14:creationId xmlns:p14="http://schemas.microsoft.com/office/powerpoint/2010/main" val="109733700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AE7AA10-3BB8-9BD3-1724-5C5B240230F5}"/>
              </a:ext>
            </a:extLst>
          </p:cNvPr>
          <p:cNvSpPr txBox="1"/>
          <p:nvPr/>
        </p:nvSpPr>
        <p:spPr>
          <a:xfrm>
            <a:off x="458823" y="1331992"/>
            <a:ext cx="10979988" cy="3600986"/>
          </a:xfrm>
          <a:prstGeom prst="rect">
            <a:avLst/>
          </a:prstGeom>
          <a:noFill/>
        </p:spPr>
        <p:txBody>
          <a:bodyPr wrap="square">
            <a:spAutoFit/>
          </a:bodyPr>
          <a:lstStyle/>
          <a:p>
            <a:r>
              <a:rPr lang="en-US" sz="2400" b="1" dirty="0">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DOANH THU TRÊN MỖI PHÒNG CÓ SẴN </a:t>
            </a:r>
          </a:p>
          <a:p>
            <a:r>
              <a:rPr lang="en-US" sz="2400" b="1" dirty="0">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(REVPAR - REVENUE PER AVAILABLE ROOM):</a:t>
            </a:r>
          </a:p>
          <a:p>
            <a:pPr>
              <a:spcBef>
                <a:spcPts val="1200"/>
              </a:spcBef>
              <a:buFont typeface="Arial" panose="020B0604020202020204" pitchFamily="34" charset="0"/>
              <a:buChar char="•"/>
            </a:pPr>
            <a:r>
              <a:rPr lang="en-US" sz="28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Mô</a:t>
            </a:r>
            <a:r>
              <a:rPr lang="en-US" sz="28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8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Tả</a:t>
            </a:r>
            <a:r>
              <a:rPr lang="en-US" sz="28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a:t>
            </a:r>
            <a:r>
              <a:rPr lang="en-US" sz="28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Doanh </a:t>
            </a:r>
            <a:r>
              <a:rPr lang="en-US" sz="28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thu</a:t>
            </a:r>
            <a:r>
              <a:rPr lang="en-US" sz="28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8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trung</a:t>
            </a:r>
            <a:r>
              <a:rPr lang="en-US" sz="28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8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bình</a:t>
            </a:r>
            <a:r>
              <a:rPr lang="en-US" sz="28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8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mà</a:t>
            </a:r>
            <a:r>
              <a:rPr lang="en-US" sz="28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8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mỗi</a:t>
            </a:r>
            <a:r>
              <a:rPr lang="en-US" sz="28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8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phòng</a:t>
            </a:r>
            <a:r>
              <a:rPr lang="en-US" sz="28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8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có</a:t>
            </a:r>
            <a:r>
              <a:rPr lang="en-US" sz="28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8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sẵn</a:t>
            </a:r>
            <a:r>
              <a:rPr lang="en-US" sz="28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8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tạo</a:t>
            </a:r>
            <a:r>
              <a:rPr lang="en-US" sz="28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8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ra</a:t>
            </a:r>
            <a:r>
              <a:rPr lang="en-US" sz="28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8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trong</a:t>
            </a:r>
            <a:r>
              <a:rPr lang="en-US" sz="28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8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một</a:t>
            </a:r>
            <a:r>
              <a:rPr lang="en-US" sz="28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8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khoảng</a:t>
            </a:r>
            <a:r>
              <a:rPr lang="en-US" sz="28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8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thời</a:t>
            </a:r>
            <a:r>
              <a:rPr lang="en-US" sz="28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8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gian</a:t>
            </a:r>
            <a:r>
              <a:rPr lang="en-US" sz="28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a:t>
            </a:r>
          </a:p>
          <a:p>
            <a:pPr>
              <a:spcBef>
                <a:spcPts val="1200"/>
              </a:spcBef>
              <a:buFont typeface="Arial" panose="020B0604020202020204" pitchFamily="34" charset="0"/>
              <a:buChar char="•"/>
            </a:pPr>
            <a:endParaRPr lang="en-US" sz="28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a:spcBef>
                <a:spcPts val="1200"/>
              </a:spcBef>
              <a:buFont typeface="Arial" panose="020B0604020202020204" pitchFamily="34" charset="0"/>
              <a:buChar char="•"/>
            </a:pPr>
            <a:r>
              <a:rPr lang="en-US" sz="28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Công</a:t>
            </a:r>
            <a:r>
              <a:rPr lang="en-US" sz="28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8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Thức</a:t>
            </a:r>
            <a:r>
              <a:rPr lang="en-US" sz="28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a:t>
            </a:r>
          </a:p>
          <a:p>
            <a:pPr>
              <a:spcBef>
                <a:spcPts val="1200"/>
              </a:spcBef>
            </a:pPr>
            <a:r>
              <a:rPr lang="en-US" sz="28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p>
        </p:txBody>
      </p:sp>
      <p:pic>
        <p:nvPicPr>
          <p:cNvPr id="5" name="Picture 4">
            <a:extLst>
              <a:ext uri="{FF2B5EF4-FFF2-40B4-BE49-F238E27FC236}">
                <a16:creationId xmlns:a16="http://schemas.microsoft.com/office/drawing/2014/main" id="{E1B6DD55-F524-734B-C5CD-A1C618BD5A58}"/>
              </a:ext>
            </a:extLst>
          </p:cNvPr>
          <p:cNvPicPr>
            <a:picLocks noChangeAspect="1"/>
          </p:cNvPicPr>
          <p:nvPr/>
        </p:nvPicPr>
        <p:blipFill>
          <a:blip r:embed="rId2"/>
          <a:srcRect l="4497"/>
          <a:stretch>
            <a:fillRect/>
          </a:stretch>
        </p:blipFill>
        <p:spPr>
          <a:xfrm>
            <a:off x="2925294" y="3429000"/>
            <a:ext cx="6047045" cy="1317846"/>
          </a:xfrm>
          <a:prstGeom prst="rect">
            <a:avLst/>
          </a:prstGeom>
        </p:spPr>
      </p:pic>
      <p:sp>
        <p:nvSpPr>
          <p:cNvPr id="7" name="TextBox 6">
            <a:extLst>
              <a:ext uri="{FF2B5EF4-FFF2-40B4-BE49-F238E27FC236}">
                <a16:creationId xmlns:a16="http://schemas.microsoft.com/office/drawing/2014/main" id="{C77BB1E0-FA73-8E17-0D55-34F73B52FF3F}"/>
              </a:ext>
            </a:extLst>
          </p:cNvPr>
          <p:cNvSpPr txBox="1"/>
          <p:nvPr/>
        </p:nvSpPr>
        <p:spPr>
          <a:xfrm>
            <a:off x="527649" y="5137078"/>
            <a:ext cx="11256033" cy="954107"/>
          </a:xfrm>
          <a:prstGeom prst="rect">
            <a:avLst/>
          </a:prstGeom>
          <a:noFill/>
        </p:spPr>
        <p:txBody>
          <a:bodyPr wrap="square">
            <a:spAutoFit/>
          </a:bodyPr>
          <a:lstStyle/>
          <a:p>
            <a:r>
              <a:rPr lang="en-US" sz="28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Ý </a:t>
            </a:r>
            <a:r>
              <a:rPr lang="en-US" sz="28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Nghĩa</a:t>
            </a:r>
            <a:r>
              <a:rPr lang="en-US" sz="28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a:t>
            </a:r>
            <a:r>
              <a:rPr lang="en-US" sz="28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Cung </a:t>
            </a:r>
            <a:r>
              <a:rPr lang="en-US" sz="28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cấp</a:t>
            </a:r>
            <a:r>
              <a:rPr lang="en-US" sz="28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8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cái</a:t>
            </a:r>
            <a:r>
              <a:rPr lang="en-US" sz="28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8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nhìn</a:t>
            </a:r>
            <a:r>
              <a:rPr lang="en-US" sz="28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8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tổng</a:t>
            </a:r>
            <a:r>
              <a:rPr lang="en-US" sz="28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8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quan</a:t>
            </a:r>
            <a:r>
              <a:rPr lang="en-US" sz="28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8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về</a:t>
            </a:r>
            <a:r>
              <a:rPr lang="en-US" sz="28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8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hiệu</a:t>
            </a:r>
            <a:r>
              <a:rPr lang="en-US" sz="28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8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quả</a:t>
            </a:r>
            <a:r>
              <a:rPr lang="en-US" sz="28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8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doanh</a:t>
            </a:r>
            <a:r>
              <a:rPr lang="en-US" sz="28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8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thu</a:t>
            </a:r>
            <a:r>
              <a:rPr lang="en-US" sz="28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8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phòng</a:t>
            </a:r>
            <a:r>
              <a:rPr lang="en-US" sz="28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bao </a:t>
            </a:r>
            <a:r>
              <a:rPr lang="en-US" sz="28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gồm</a:t>
            </a:r>
            <a:r>
              <a:rPr lang="en-US" sz="28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8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cả</a:t>
            </a:r>
            <a:r>
              <a:rPr lang="en-US" sz="28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8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tỷ</a:t>
            </a:r>
            <a:r>
              <a:rPr lang="en-US" sz="28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8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lệ</a:t>
            </a:r>
            <a:r>
              <a:rPr lang="en-US" sz="28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8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lấp</a:t>
            </a:r>
            <a:r>
              <a:rPr lang="en-US" sz="28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8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đầy</a:t>
            </a:r>
            <a:r>
              <a:rPr lang="en-US" sz="28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8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và</a:t>
            </a:r>
            <a:r>
              <a:rPr lang="en-US" sz="28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8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giá</a:t>
            </a:r>
            <a:r>
              <a:rPr lang="en-US" sz="28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8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phòng</a:t>
            </a:r>
            <a:r>
              <a:rPr lang="en-US" sz="28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a:t>
            </a:r>
            <a:endParaRPr lang="vi-VN" sz="28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spTree>
    <p:extLst>
      <p:ext uri="{BB962C8B-B14F-4D97-AF65-F5344CB8AC3E}">
        <p14:creationId xmlns:p14="http://schemas.microsoft.com/office/powerpoint/2010/main" val="366802438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13819EF-B206-BBD8-2BD7-B92E61164FD6}"/>
              </a:ext>
            </a:extLst>
          </p:cNvPr>
          <p:cNvSpPr txBox="1"/>
          <p:nvPr/>
        </p:nvSpPr>
        <p:spPr>
          <a:xfrm>
            <a:off x="405163" y="964041"/>
            <a:ext cx="11214340" cy="2238370"/>
          </a:xfrm>
          <a:prstGeom prst="rect">
            <a:avLst/>
          </a:prstGeom>
          <a:noFill/>
        </p:spPr>
        <p:txBody>
          <a:bodyPr wrap="square">
            <a:spAutoFit/>
          </a:bodyPr>
          <a:lstStyle/>
          <a:p>
            <a:pPr>
              <a:lnSpc>
                <a:spcPct val="150000"/>
              </a:lnSpc>
            </a:pPr>
            <a:r>
              <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Ví Dụ:</a:t>
            </a:r>
          </a:p>
          <a:p>
            <a:pPr>
              <a:lnSpc>
                <a:spcPct val="150000"/>
              </a:lnSpc>
              <a:buFont typeface="Arial" panose="020B0604020202020204" pitchFamily="34" charset="0"/>
              <a:buChar char="•"/>
            </a:pPr>
            <a:r>
              <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Khách Sạn: Khách sạn A có 200 phòng.</a:t>
            </a:r>
            <a:endPar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a:lnSpc>
                <a:spcPct val="150000"/>
              </a:lnSpc>
              <a:buFont typeface="Arial" panose="020B0604020202020204" pitchFamily="34" charset="0"/>
              <a:buChar char="•"/>
            </a:pPr>
            <a:r>
              <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Số Phòng Đã Bán: Trong một ngày cụ thể, khách sạn đã bán được 150 phòng.</a:t>
            </a:r>
          </a:p>
          <a:p>
            <a:pPr>
              <a:lnSpc>
                <a:spcPct val="150000"/>
              </a:lnSpc>
            </a:pPr>
            <a:r>
              <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Tính Tỷ Lệ Lấp Đầy:</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endPar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pic>
        <p:nvPicPr>
          <p:cNvPr id="7" name="Picture 6">
            <a:extLst>
              <a:ext uri="{FF2B5EF4-FFF2-40B4-BE49-F238E27FC236}">
                <a16:creationId xmlns:a16="http://schemas.microsoft.com/office/drawing/2014/main" id="{35600D7F-9364-A4E5-E629-D7919C1208EB}"/>
              </a:ext>
            </a:extLst>
          </p:cNvPr>
          <p:cNvPicPr>
            <a:picLocks noChangeAspect="1"/>
          </p:cNvPicPr>
          <p:nvPr/>
        </p:nvPicPr>
        <p:blipFill rotWithShape="1">
          <a:blip r:embed="rId3"/>
          <a:srcRect t="11963" b="34199"/>
          <a:stretch/>
        </p:blipFill>
        <p:spPr>
          <a:xfrm>
            <a:off x="3234135" y="2656639"/>
            <a:ext cx="6430004" cy="772361"/>
          </a:xfrm>
          <a:prstGeom prst="rect">
            <a:avLst/>
          </a:prstGeom>
        </p:spPr>
      </p:pic>
      <p:sp>
        <p:nvSpPr>
          <p:cNvPr id="12" name="TextBox 11">
            <a:extLst>
              <a:ext uri="{FF2B5EF4-FFF2-40B4-BE49-F238E27FC236}">
                <a16:creationId xmlns:a16="http://schemas.microsoft.com/office/drawing/2014/main" id="{57FC2BCA-578C-26BA-0131-8867C78200B7}"/>
              </a:ext>
            </a:extLst>
          </p:cNvPr>
          <p:cNvSpPr txBox="1"/>
          <p:nvPr/>
        </p:nvSpPr>
        <p:spPr>
          <a:xfrm>
            <a:off x="405163" y="3429000"/>
            <a:ext cx="9850330" cy="2792367"/>
          </a:xfrm>
          <a:prstGeom prst="rect">
            <a:avLst/>
          </a:prstGeom>
          <a:noFill/>
        </p:spPr>
        <p:txBody>
          <a:bodyPr wrap="square">
            <a:spAutoFit/>
          </a:bodyPr>
          <a:lstStyle/>
          <a:p>
            <a:pPr>
              <a:lnSpc>
                <a:spcPct val="150000"/>
              </a:lnSpc>
              <a:buFont typeface="Arial" panose="020B0604020202020204" pitchFamily="34" charset="0"/>
              <a:buChar char="•"/>
            </a:pP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Sạn</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sạn</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B.</a:t>
            </a:r>
          </a:p>
          <a:p>
            <a:pPr>
              <a:lnSpc>
                <a:spcPct val="150000"/>
              </a:lnSpc>
              <a:buFont typeface="Arial" panose="020B0604020202020204" pitchFamily="34" charset="0"/>
              <a:buChar char="•"/>
            </a:pP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Tổng</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Doanh</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Thu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Từ</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Phòng</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30,000 USD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trong</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một</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ngày</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a:t>
            </a:r>
          </a:p>
          <a:p>
            <a:pPr>
              <a:lnSpc>
                <a:spcPct val="150000"/>
              </a:lnSpc>
              <a:buFont typeface="Arial" panose="020B0604020202020204" pitchFamily="34" charset="0"/>
              <a:buChar char="•"/>
            </a:pP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Số</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Phòng</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Đã</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Bán: 150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phòng</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a:t>
            </a:r>
          </a:p>
          <a:p>
            <a:pPr>
              <a:lnSpc>
                <a:spcPct val="150000"/>
              </a:lnSpc>
              <a:buFont typeface="Arial" panose="020B0604020202020204" pitchFamily="34" charset="0"/>
              <a:buChar char="•"/>
            </a:pPr>
            <a:endPar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a:lnSpc>
                <a:spcPct val="150000"/>
              </a:lnSpc>
            </a:pP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Tính</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ADR:</a:t>
            </a:r>
          </a:p>
        </p:txBody>
      </p:sp>
      <p:pic>
        <p:nvPicPr>
          <p:cNvPr id="13" name="Picture 12">
            <a:extLst>
              <a:ext uri="{FF2B5EF4-FFF2-40B4-BE49-F238E27FC236}">
                <a16:creationId xmlns:a16="http://schemas.microsoft.com/office/drawing/2014/main" id="{3D83C6D7-F147-919F-5458-70EB8D500FAE}"/>
              </a:ext>
            </a:extLst>
          </p:cNvPr>
          <p:cNvPicPr>
            <a:picLocks noChangeAspect="1"/>
          </p:cNvPicPr>
          <p:nvPr/>
        </p:nvPicPr>
        <p:blipFill>
          <a:blip r:embed="rId4"/>
          <a:stretch>
            <a:fillRect/>
          </a:stretch>
        </p:blipFill>
        <p:spPr>
          <a:xfrm>
            <a:off x="2279681" y="5545501"/>
            <a:ext cx="4444760" cy="772361"/>
          </a:xfrm>
          <a:prstGeom prst="rect">
            <a:avLst/>
          </a:prstGeom>
        </p:spPr>
      </p:pic>
    </p:spTree>
    <p:extLst>
      <p:ext uri="{BB962C8B-B14F-4D97-AF65-F5344CB8AC3E}">
        <p14:creationId xmlns:p14="http://schemas.microsoft.com/office/powerpoint/2010/main" val="256284317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8DCFC50-E3CF-E20E-A343-A1EF65A89CEF}"/>
              </a:ext>
            </a:extLst>
          </p:cNvPr>
          <p:cNvSpPr txBox="1"/>
          <p:nvPr/>
        </p:nvSpPr>
        <p:spPr>
          <a:xfrm>
            <a:off x="424086" y="1782450"/>
            <a:ext cx="11059064" cy="2708434"/>
          </a:xfrm>
          <a:prstGeom prst="rect">
            <a:avLst/>
          </a:prstGeom>
          <a:noFill/>
        </p:spPr>
        <p:txBody>
          <a:bodyPr wrap="square">
            <a:spAutoFit/>
          </a:bodyPr>
          <a:lstStyle/>
          <a:p>
            <a:pPr>
              <a:spcBef>
                <a:spcPts val="1800"/>
              </a:spcBef>
            </a:pPr>
            <a:r>
              <a:rPr lang="en-US" sz="2400" b="1" dirty="0">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CHỈ SỐ KHÁCH HÀNG (GUESTSATISFACTION INDEX):</a:t>
            </a:r>
          </a:p>
          <a:p>
            <a:pPr>
              <a:spcBef>
                <a:spcPts val="1800"/>
              </a:spcBef>
              <a:buFont typeface="Arial" panose="020B0604020202020204" pitchFamily="34" charset="0"/>
              <a:buChar char="•"/>
            </a:pPr>
            <a:r>
              <a:rPr lang="en-US" sz="28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Mô</a:t>
            </a:r>
            <a:r>
              <a:rPr lang="en-US" sz="28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8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Tả</a:t>
            </a:r>
            <a:r>
              <a:rPr lang="en-US" sz="28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a:t>
            </a:r>
            <a:r>
              <a:rPr lang="en-US" sz="28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8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Đánh</a:t>
            </a:r>
            <a:r>
              <a:rPr lang="en-US" sz="28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8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giá</a:t>
            </a:r>
            <a:r>
              <a:rPr lang="en-US" sz="28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8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mức</a:t>
            </a:r>
            <a:r>
              <a:rPr lang="en-US" sz="28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8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độ</a:t>
            </a:r>
            <a:r>
              <a:rPr lang="en-US" sz="28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8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hài</a:t>
            </a:r>
            <a:r>
              <a:rPr lang="en-US" sz="28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8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lòng</a:t>
            </a:r>
            <a:r>
              <a:rPr lang="en-US" sz="28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8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của</a:t>
            </a:r>
            <a:r>
              <a:rPr lang="en-US" sz="28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8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lang="en-US" sz="28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8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hàng</a:t>
            </a:r>
            <a:r>
              <a:rPr lang="en-US" sz="28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8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thông</a:t>
            </a:r>
            <a:r>
              <a:rPr lang="en-US" sz="28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qua </a:t>
            </a:r>
            <a:r>
              <a:rPr lang="en-US" sz="28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các</a:t>
            </a:r>
            <a:r>
              <a:rPr lang="en-US" sz="28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8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khảo</a:t>
            </a:r>
            <a:r>
              <a:rPr lang="en-US" sz="28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8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sát</a:t>
            </a:r>
            <a:r>
              <a:rPr lang="en-US" sz="28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8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và</a:t>
            </a:r>
            <a:r>
              <a:rPr lang="en-US" sz="28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8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phản</a:t>
            </a:r>
            <a:r>
              <a:rPr lang="en-US" sz="28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8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hồi</a:t>
            </a:r>
            <a:r>
              <a:rPr lang="en-US" sz="28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a:t>
            </a:r>
          </a:p>
          <a:p>
            <a:pPr>
              <a:spcBef>
                <a:spcPts val="1800"/>
              </a:spcBef>
              <a:buFont typeface="Arial" panose="020B0604020202020204" pitchFamily="34" charset="0"/>
              <a:buChar char="•"/>
            </a:pPr>
            <a:r>
              <a:rPr lang="en-US" sz="28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Ý </a:t>
            </a:r>
            <a:r>
              <a:rPr lang="en-US" sz="28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Nghĩa</a:t>
            </a:r>
            <a:r>
              <a:rPr lang="en-US" sz="28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a:t>
            </a:r>
            <a:r>
              <a:rPr lang="en-US" sz="28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8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Giúp</a:t>
            </a:r>
            <a:r>
              <a:rPr lang="en-US" sz="28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8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lang="en-US" sz="28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8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sạn</a:t>
            </a:r>
            <a:r>
              <a:rPr lang="en-US" sz="28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8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cải</a:t>
            </a:r>
            <a:r>
              <a:rPr lang="en-US" sz="28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8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thiện</a:t>
            </a:r>
            <a:r>
              <a:rPr lang="en-US" sz="28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8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dịch</a:t>
            </a:r>
            <a:r>
              <a:rPr lang="en-US" sz="28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8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vụ</a:t>
            </a:r>
            <a:r>
              <a:rPr lang="en-US" sz="28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8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và</a:t>
            </a:r>
            <a:r>
              <a:rPr lang="en-US" sz="28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8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trải</a:t>
            </a:r>
            <a:r>
              <a:rPr lang="en-US" sz="28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8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nghiệm</a:t>
            </a:r>
            <a:r>
              <a:rPr lang="en-US" sz="28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8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lang="en-US" sz="28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8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hàng</a:t>
            </a:r>
            <a:r>
              <a:rPr lang="en-US" sz="28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8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để</a:t>
            </a:r>
            <a:r>
              <a:rPr lang="en-US" sz="28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8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tăng</a:t>
            </a:r>
            <a:r>
              <a:rPr lang="en-US" sz="28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8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khả</a:t>
            </a:r>
            <a:r>
              <a:rPr lang="en-US" sz="28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8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năng</a:t>
            </a:r>
            <a:r>
              <a:rPr lang="en-US" sz="28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8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lang="en-US" sz="28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8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hàng</a:t>
            </a:r>
            <a:r>
              <a:rPr lang="en-US" sz="28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quay </a:t>
            </a:r>
            <a:r>
              <a:rPr lang="en-US" sz="28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lại</a:t>
            </a:r>
            <a:r>
              <a:rPr lang="en-US" sz="28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a:t>
            </a:r>
          </a:p>
        </p:txBody>
      </p:sp>
    </p:spTree>
    <p:extLst>
      <p:ext uri="{BB962C8B-B14F-4D97-AF65-F5344CB8AC3E}">
        <p14:creationId xmlns:p14="http://schemas.microsoft.com/office/powerpoint/2010/main" val="255497891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829747FB-CA85-E39B-457B-FB89013FC414}"/>
              </a:ext>
            </a:extLst>
          </p:cNvPr>
          <p:cNvPicPr>
            <a:picLocks noChangeAspect="1"/>
          </p:cNvPicPr>
          <p:nvPr/>
        </p:nvPicPr>
        <p:blipFill>
          <a:blip r:embed="rId2"/>
          <a:stretch>
            <a:fillRect/>
          </a:stretch>
        </p:blipFill>
        <p:spPr>
          <a:xfrm>
            <a:off x="1854410" y="3526534"/>
            <a:ext cx="5704556" cy="915978"/>
          </a:xfrm>
          <a:prstGeom prst="rect">
            <a:avLst/>
          </a:prstGeom>
        </p:spPr>
      </p:pic>
      <p:sp>
        <p:nvSpPr>
          <p:cNvPr id="5" name="TextBox 4">
            <a:extLst>
              <a:ext uri="{FF2B5EF4-FFF2-40B4-BE49-F238E27FC236}">
                <a16:creationId xmlns:a16="http://schemas.microsoft.com/office/drawing/2014/main" id="{3ECBAF93-AE32-CABE-D9EF-8BA3AA602A65}"/>
              </a:ext>
            </a:extLst>
          </p:cNvPr>
          <p:cNvSpPr txBox="1"/>
          <p:nvPr/>
        </p:nvSpPr>
        <p:spPr>
          <a:xfrm>
            <a:off x="438565" y="1747684"/>
            <a:ext cx="9372730" cy="1992148"/>
          </a:xfrm>
          <a:prstGeom prst="rect">
            <a:avLst/>
          </a:prstGeom>
          <a:noFill/>
        </p:spPr>
        <p:txBody>
          <a:bodyPr wrap="square">
            <a:spAutoFit/>
          </a:bodyPr>
          <a:lstStyle/>
          <a:p>
            <a:pPr>
              <a:lnSpc>
                <a:spcPct val="150000"/>
              </a:lnSpc>
              <a:spcBef>
                <a:spcPts val="1200"/>
              </a:spcBef>
              <a:buFont typeface="Arial" panose="020B0604020202020204" pitchFamily="34" charset="0"/>
              <a:buChar char="•"/>
            </a:pP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Sạn</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sạn</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C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có</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200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phòng</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a:t>
            </a:r>
          </a:p>
          <a:p>
            <a:pPr>
              <a:lnSpc>
                <a:spcPct val="150000"/>
              </a:lnSpc>
              <a:spcBef>
                <a:spcPts val="1200"/>
              </a:spcBef>
            </a:pP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Tính</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tổng</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doanh</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thu</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từ</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phòng</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30,000 USD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trong</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một</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ngày</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a:t>
            </a:r>
          </a:p>
          <a:p>
            <a:pPr>
              <a:lnSpc>
                <a:spcPct val="150000"/>
              </a:lnSpc>
              <a:spcBef>
                <a:spcPts val="1200"/>
              </a:spcBef>
            </a:pPr>
            <a:endPar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spTree>
    <p:extLst>
      <p:ext uri="{BB962C8B-B14F-4D97-AF65-F5344CB8AC3E}">
        <p14:creationId xmlns:p14="http://schemas.microsoft.com/office/powerpoint/2010/main" val="378636996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64AB6D9-B05E-FC92-C844-6328416BCA53}"/>
              </a:ext>
            </a:extLst>
          </p:cNvPr>
          <p:cNvSpPr txBox="1"/>
          <p:nvPr/>
        </p:nvSpPr>
        <p:spPr>
          <a:xfrm>
            <a:off x="762719" y="1099315"/>
            <a:ext cx="10666562" cy="5181355"/>
          </a:xfrm>
          <a:prstGeom prst="rect">
            <a:avLst/>
          </a:prstGeom>
          <a:noFill/>
        </p:spPr>
        <p:txBody>
          <a:bodyPr wrap="square">
            <a:spAutoFit/>
          </a:bodyPr>
          <a:lstStyle/>
          <a:p>
            <a:pPr>
              <a:lnSpc>
                <a:spcPct val="150000"/>
              </a:lnSpc>
            </a:pPr>
            <a:r>
              <a:rPr lang="en-US" sz="28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Ví</a:t>
            </a:r>
            <a:r>
              <a:rPr lang="en-US" sz="28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8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dụ</a:t>
            </a:r>
            <a:r>
              <a:rPr lang="en-US" sz="28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 </a:t>
            </a:r>
            <a:r>
              <a:rPr lang="vi-VN" sz="28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Khách Sạn:</a:t>
            </a:r>
            <a:r>
              <a:rPr lang="vi-VN" sz="28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Khách sạn </a:t>
            </a:r>
            <a:r>
              <a:rPr lang="en-US" sz="28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ABC </a:t>
            </a:r>
            <a:br>
              <a:rPr lang="vi-VN" sz="28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br>
            <a:r>
              <a:rPr lang="vi-VN" sz="28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Số Phòng:</a:t>
            </a:r>
            <a:r>
              <a:rPr lang="vi-VN" sz="28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100 phòng</a:t>
            </a:r>
          </a:p>
          <a:p>
            <a:pPr>
              <a:lnSpc>
                <a:spcPct val="150000"/>
              </a:lnSpc>
            </a:pPr>
            <a:r>
              <a:rPr lang="vi-VN" sz="28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Ngày Cụ Thể:</a:t>
            </a:r>
            <a:endParaRPr lang="vi-VN" sz="28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a:lnSpc>
                <a:spcPct val="150000"/>
              </a:lnSpc>
              <a:buFont typeface="Arial" panose="020B0604020202020204" pitchFamily="34" charset="0"/>
              <a:buChar char="•"/>
            </a:pPr>
            <a:r>
              <a:rPr lang="vi-VN" sz="28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Số Phòng Đã Bán:</a:t>
            </a:r>
            <a:r>
              <a:rPr lang="vi-VN" sz="28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80 phòng</a:t>
            </a:r>
          </a:p>
          <a:p>
            <a:pPr>
              <a:lnSpc>
                <a:spcPct val="150000"/>
              </a:lnSpc>
              <a:buFont typeface="Arial" panose="020B0604020202020204" pitchFamily="34" charset="0"/>
              <a:buChar char="•"/>
            </a:pPr>
            <a:r>
              <a:rPr lang="vi-VN" sz="28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Tổng Doanh Thu Từ Phòng:</a:t>
            </a:r>
            <a:r>
              <a:rPr lang="vi-VN" sz="28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12,000 USD</a:t>
            </a:r>
          </a:p>
          <a:p>
            <a:pPr>
              <a:lnSpc>
                <a:spcPct val="150000"/>
              </a:lnSpc>
              <a:buFont typeface="Arial" panose="020B0604020202020204" pitchFamily="34" charset="0"/>
              <a:buChar char="•"/>
            </a:pPr>
            <a:r>
              <a:rPr lang="vi-VN" sz="28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Kết Quả Khảo Sát Hài Lòng Khách Hàng:</a:t>
            </a:r>
            <a:endParaRPr lang="vi-VN" sz="28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742950" lvl="1" indent="-285750">
              <a:lnSpc>
                <a:spcPct val="150000"/>
              </a:lnSpc>
              <a:buFont typeface="Arial" panose="020B0604020202020204" pitchFamily="34" charset="0"/>
              <a:buChar char="•"/>
            </a:pPr>
            <a:r>
              <a:rPr lang="vi-VN" sz="28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Số Khách Hàng Được Khảo Sát: 50</a:t>
            </a:r>
          </a:p>
          <a:p>
            <a:pPr marL="742950" lvl="1" indent="-285750">
              <a:lnSpc>
                <a:spcPct val="150000"/>
              </a:lnSpc>
              <a:buFont typeface="Arial" panose="020B0604020202020204" pitchFamily="34" charset="0"/>
              <a:buChar char="•"/>
            </a:pPr>
            <a:r>
              <a:rPr lang="vi-VN" sz="28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Tổng Điểm Hài Lòng: 230 (trên thang điểm từ 1 đến 5)</a:t>
            </a:r>
          </a:p>
        </p:txBody>
      </p:sp>
    </p:spTree>
    <p:extLst>
      <p:ext uri="{BB962C8B-B14F-4D97-AF65-F5344CB8AC3E}">
        <p14:creationId xmlns:p14="http://schemas.microsoft.com/office/powerpoint/2010/main" val="361685898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8D280AD-4A04-4402-6824-8A9596966AC5}"/>
              </a:ext>
            </a:extLst>
          </p:cNvPr>
          <p:cNvSpPr txBox="1"/>
          <p:nvPr/>
        </p:nvSpPr>
        <p:spPr>
          <a:xfrm>
            <a:off x="407158" y="1471977"/>
            <a:ext cx="6271402" cy="461665"/>
          </a:xfrm>
          <a:prstGeom prst="rect">
            <a:avLst/>
          </a:prstGeom>
          <a:noFill/>
        </p:spPr>
        <p:txBody>
          <a:bodyPr wrap="square">
            <a:spAutoFit/>
          </a:bodyPr>
          <a:lstStyle/>
          <a:p>
            <a:r>
              <a:rPr lang="en-US" sz="2400" b="1" dirty="0">
                <a:solidFill>
                  <a:srgbClr val="002060"/>
                </a:solidFill>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1. </a:t>
            </a:r>
            <a:r>
              <a:rPr lang="en-US" sz="2400" b="1" dirty="0" err="1">
                <a:solidFill>
                  <a:srgbClr val="002060"/>
                </a:solidFill>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Tỷ</a:t>
            </a:r>
            <a:r>
              <a:rPr lang="en-US" sz="2400" b="1" dirty="0">
                <a:solidFill>
                  <a:srgbClr val="002060"/>
                </a:solidFill>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Lệ</a:t>
            </a:r>
            <a:r>
              <a:rPr lang="en-US" sz="2400" b="1" dirty="0">
                <a:solidFill>
                  <a:srgbClr val="002060"/>
                </a:solidFill>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Lấp</a:t>
            </a:r>
            <a:r>
              <a:rPr lang="en-US" sz="2400" b="1" dirty="0">
                <a:solidFill>
                  <a:srgbClr val="002060"/>
                </a:solidFill>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Đầy</a:t>
            </a:r>
            <a:r>
              <a:rPr lang="en-US" sz="2400" b="1" dirty="0">
                <a:solidFill>
                  <a:srgbClr val="002060"/>
                </a:solidFill>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 (Occupancy Rate)</a:t>
            </a:r>
            <a:endParaRPr lang="vi-VN" sz="2400" b="1" dirty="0">
              <a:solidFill>
                <a:srgbClr val="002060"/>
              </a:solidFill>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pic>
        <p:nvPicPr>
          <p:cNvPr id="7" name="Picture 6">
            <a:extLst>
              <a:ext uri="{FF2B5EF4-FFF2-40B4-BE49-F238E27FC236}">
                <a16:creationId xmlns:a16="http://schemas.microsoft.com/office/drawing/2014/main" id="{F1ADC09A-FD11-8778-96D8-4628DFE1CB88}"/>
              </a:ext>
            </a:extLst>
          </p:cNvPr>
          <p:cNvPicPr>
            <a:picLocks noChangeAspect="1"/>
          </p:cNvPicPr>
          <p:nvPr/>
        </p:nvPicPr>
        <p:blipFill>
          <a:blip r:embed="rId2"/>
          <a:stretch>
            <a:fillRect/>
          </a:stretch>
        </p:blipFill>
        <p:spPr>
          <a:xfrm>
            <a:off x="6783374" y="1080758"/>
            <a:ext cx="4947251" cy="1286521"/>
          </a:xfrm>
          <a:prstGeom prst="rect">
            <a:avLst/>
          </a:prstGeom>
        </p:spPr>
      </p:pic>
      <p:sp>
        <p:nvSpPr>
          <p:cNvPr id="9" name="TextBox 8">
            <a:extLst>
              <a:ext uri="{FF2B5EF4-FFF2-40B4-BE49-F238E27FC236}">
                <a16:creationId xmlns:a16="http://schemas.microsoft.com/office/drawing/2014/main" id="{3019DBEC-B79D-F8AF-29ED-3C1303B43387}"/>
              </a:ext>
            </a:extLst>
          </p:cNvPr>
          <p:cNvSpPr txBox="1"/>
          <p:nvPr/>
        </p:nvSpPr>
        <p:spPr>
          <a:xfrm>
            <a:off x="407158" y="2569479"/>
            <a:ext cx="4835106" cy="830997"/>
          </a:xfrm>
          <a:prstGeom prst="rect">
            <a:avLst/>
          </a:prstGeom>
          <a:noFill/>
        </p:spPr>
        <p:txBody>
          <a:bodyPr wrap="square">
            <a:spAutoFit/>
          </a:bodyPr>
          <a:lstStyle/>
          <a:p>
            <a:r>
              <a:rPr lang="en-US" sz="2400" b="1" dirty="0">
                <a:solidFill>
                  <a:srgbClr val="002060"/>
                </a:solidFill>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2. </a:t>
            </a:r>
            <a:r>
              <a:rPr lang="en-US" sz="2400" b="1" dirty="0" err="1">
                <a:solidFill>
                  <a:srgbClr val="002060"/>
                </a:solidFill>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Giá</a:t>
            </a:r>
            <a:r>
              <a:rPr lang="en-US" sz="2400" b="1" dirty="0">
                <a:solidFill>
                  <a:srgbClr val="002060"/>
                </a:solidFill>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 Trung Bình </a:t>
            </a:r>
            <a:r>
              <a:rPr lang="en-US" sz="2400" b="1" dirty="0" err="1">
                <a:solidFill>
                  <a:srgbClr val="002060"/>
                </a:solidFill>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Trên</a:t>
            </a:r>
            <a:r>
              <a:rPr lang="en-US" sz="2400" b="1" dirty="0">
                <a:solidFill>
                  <a:srgbClr val="002060"/>
                </a:solidFill>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Mỗi</a:t>
            </a:r>
            <a:r>
              <a:rPr lang="en-US" sz="2400" b="1" dirty="0">
                <a:solidFill>
                  <a:srgbClr val="002060"/>
                </a:solidFill>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Phòng</a:t>
            </a:r>
            <a:r>
              <a:rPr lang="en-US" sz="2400" b="1" dirty="0">
                <a:solidFill>
                  <a:srgbClr val="002060"/>
                </a:solidFill>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 (ADR - Average Daily Rate)</a:t>
            </a:r>
            <a:endParaRPr lang="vi-VN" sz="2400" b="1" dirty="0">
              <a:solidFill>
                <a:srgbClr val="002060"/>
              </a:solidFill>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pic>
        <p:nvPicPr>
          <p:cNvPr id="11" name="Picture 10">
            <a:extLst>
              <a:ext uri="{FF2B5EF4-FFF2-40B4-BE49-F238E27FC236}">
                <a16:creationId xmlns:a16="http://schemas.microsoft.com/office/drawing/2014/main" id="{E3A9144F-157C-0097-27DB-9A4FA4A1D2D0}"/>
              </a:ext>
            </a:extLst>
          </p:cNvPr>
          <p:cNvPicPr>
            <a:picLocks noChangeAspect="1"/>
          </p:cNvPicPr>
          <p:nvPr/>
        </p:nvPicPr>
        <p:blipFill>
          <a:blip r:embed="rId3"/>
          <a:stretch>
            <a:fillRect/>
          </a:stretch>
        </p:blipFill>
        <p:spPr>
          <a:xfrm>
            <a:off x="6784771" y="2569479"/>
            <a:ext cx="4407022" cy="726041"/>
          </a:xfrm>
          <a:prstGeom prst="rect">
            <a:avLst/>
          </a:prstGeom>
        </p:spPr>
      </p:pic>
      <p:sp>
        <p:nvSpPr>
          <p:cNvPr id="13" name="TextBox 12">
            <a:extLst>
              <a:ext uri="{FF2B5EF4-FFF2-40B4-BE49-F238E27FC236}">
                <a16:creationId xmlns:a16="http://schemas.microsoft.com/office/drawing/2014/main" id="{68A9FE43-B212-65A5-7364-7EED7A85B2A9}"/>
              </a:ext>
            </a:extLst>
          </p:cNvPr>
          <p:cNvSpPr txBox="1"/>
          <p:nvPr/>
        </p:nvSpPr>
        <p:spPr>
          <a:xfrm>
            <a:off x="407158" y="3922026"/>
            <a:ext cx="6271402" cy="830997"/>
          </a:xfrm>
          <a:prstGeom prst="rect">
            <a:avLst/>
          </a:prstGeom>
          <a:noFill/>
        </p:spPr>
        <p:txBody>
          <a:bodyPr wrap="square">
            <a:spAutoFit/>
          </a:bodyPr>
          <a:lstStyle/>
          <a:p>
            <a:r>
              <a:rPr lang="en-US" sz="2400" b="1" dirty="0">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3. </a:t>
            </a:r>
            <a:r>
              <a:rPr lang="en-US" sz="2400" b="1" dirty="0" err="1">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Doanh</a:t>
            </a:r>
            <a:r>
              <a:rPr lang="en-US" sz="2400" b="1" dirty="0">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 Thu </a:t>
            </a:r>
            <a:r>
              <a:rPr lang="en-US" sz="2400" b="1" dirty="0" err="1">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Trên</a:t>
            </a:r>
            <a:r>
              <a:rPr lang="en-US" sz="2400" b="1" dirty="0">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Mỗi</a:t>
            </a:r>
            <a:r>
              <a:rPr lang="en-US" sz="2400" b="1" dirty="0">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Phòng</a:t>
            </a:r>
            <a:r>
              <a:rPr lang="en-US" sz="2400" b="1" dirty="0">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Có</a:t>
            </a:r>
            <a:r>
              <a:rPr lang="en-US" sz="2400" b="1" dirty="0">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Sẵn</a:t>
            </a:r>
            <a:r>
              <a:rPr lang="en-US" sz="2400" b="1" dirty="0">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 (RevPAR - Revenue Per Available Room)</a:t>
            </a:r>
            <a:endParaRPr lang="vi-VN" sz="2400" b="1" dirty="0">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sp>
        <p:nvSpPr>
          <p:cNvPr id="17" name="TextBox 16">
            <a:extLst>
              <a:ext uri="{FF2B5EF4-FFF2-40B4-BE49-F238E27FC236}">
                <a16:creationId xmlns:a16="http://schemas.microsoft.com/office/drawing/2014/main" id="{AB8C9BF4-921B-A426-D1B7-4E266D43C374}"/>
              </a:ext>
            </a:extLst>
          </p:cNvPr>
          <p:cNvSpPr txBox="1"/>
          <p:nvPr/>
        </p:nvSpPr>
        <p:spPr>
          <a:xfrm>
            <a:off x="474942" y="5431049"/>
            <a:ext cx="4781190" cy="830997"/>
          </a:xfrm>
          <a:prstGeom prst="rect">
            <a:avLst/>
          </a:prstGeom>
          <a:noFill/>
        </p:spPr>
        <p:txBody>
          <a:bodyPr wrap="square">
            <a:spAutoFit/>
          </a:bodyPr>
          <a:lstStyle/>
          <a:p>
            <a:r>
              <a:rPr lang="en-US" sz="2400" b="1" dirty="0">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4. </a:t>
            </a:r>
            <a:r>
              <a:rPr lang="en-US" sz="2400" b="1" dirty="0" err="1">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Chỉ</a:t>
            </a:r>
            <a:r>
              <a:rPr lang="en-US" sz="2400" b="1" dirty="0">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Số</a:t>
            </a:r>
            <a:r>
              <a:rPr lang="en-US" sz="2400" b="1" dirty="0">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Hài</a:t>
            </a:r>
            <a:r>
              <a:rPr lang="en-US" sz="2400" b="1" dirty="0">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Lòng</a:t>
            </a:r>
            <a:r>
              <a:rPr lang="en-US" sz="2400" b="1" dirty="0">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lang="en-US" sz="2400" b="1" dirty="0">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Hàng</a:t>
            </a:r>
            <a:r>
              <a:rPr lang="en-US" sz="2400" b="1" dirty="0">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 (Guest Satisfaction Index)</a:t>
            </a:r>
            <a:endParaRPr lang="vi-VN" sz="2400" b="1" dirty="0">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pic>
        <p:nvPicPr>
          <p:cNvPr id="19" name="Picture 18">
            <a:extLst>
              <a:ext uri="{FF2B5EF4-FFF2-40B4-BE49-F238E27FC236}">
                <a16:creationId xmlns:a16="http://schemas.microsoft.com/office/drawing/2014/main" id="{8EBDABC8-6F75-0B41-CA7A-2714E1E84DC6}"/>
              </a:ext>
            </a:extLst>
          </p:cNvPr>
          <p:cNvPicPr>
            <a:picLocks noChangeAspect="1"/>
          </p:cNvPicPr>
          <p:nvPr/>
        </p:nvPicPr>
        <p:blipFill>
          <a:blip r:embed="rId4"/>
          <a:stretch>
            <a:fillRect/>
          </a:stretch>
        </p:blipFill>
        <p:spPr>
          <a:xfrm>
            <a:off x="6788218" y="5250690"/>
            <a:ext cx="3845174" cy="1053104"/>
          </a:xfrm>
          <a:prstGeom prst="rect">
            <a:avLst/>
          </a:prstGeom>
        </p:spPr>
      </p:pic>
      <p:pic>
        <p:nvPicPr>
          <p:cNvPr id="3" name="Picture 2">
            <a:extLst>
              <a:ext uri="{FF2B5EF4-FFF2-40B4-BE49-F238E27FC236}">
                <a16:creationId xmlns:a16="http://schemas.microsoft.com/office/drawing/2014/main" id="{ABCE64F4-617C-71F6-2A48-63A0381EA916}"/>
              </a:ext>
            </a:extLst>
          </p:cNvPr>
          <p:cNvPicPr>
            <a:picLocks noChangeAspect="1"/>
          </p:cNvPicPr>
          <p:nvPr/>
        </p:nvPicPr>
        <p:blipFill>
          <a:blip r:embed="rId5"/>
          <a:stretch>
            <a:fillRect/>
          </a:stretch>
        </p:blipFill>
        <p:spPr>
          <a:xfrm>
            <a:off x="6678559" y="3699919"/>
            <a:ext cx="4619447" cy="1053104"/>
          </a:xfrm>
          <a:prstGeom prst="rect">
            <a:avLst/>
          </a:prstGeom>
        </p:spPr>
      </p:pic>
    </p:spTree>
    <p:extLst>
      <p:ext uri="{BB962C8B-B14F-4D97-AF65-F5344CB8AC3E}">
        <p14:creationId xmlns:p14="http://schemas.microsoft.com/office/powerpoint/2010/main" val="416453050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047E877-6F87-8E9D-1D96-37EC50F3FA6B}"/>
              </a:ext>
            </a:extLst>
          </p:cNvPr>
          <p:cNvSpPr txBox="1"/>
          <p:nvPr/>
        </p:nvSpPr>
        <p:spPr>
          <a:xfrm>
            <a:off x="486558" y="1158310"/>
            <a:ext cx="10752826" cy="5008359"/>
          </a:xfrm>
          <a:prstGeom prst="rect">
            <a:avLst/>
          </a:prstGeom>
          <a:noFill/>
        </p:spPr>
        <p:txBody>
          <a:bodyPr wrap="square">
            <a:spAutoFit/>
          </a:bodyPr>
          <a:lstStyle/>
          <a:p>
            <a:pPr algn="just">
              <a:lnSpc>
                <a:spcPct val="150000"/>
              </a:lnSpc>
            </a:pPr>
            <a:r>
              <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Tóm Tắt</a:t>
            </a:r>
          </a:p>
          <a:p>
            <a:pPr marL="342900" indent="-342900" algn="just">
              <a:lnSpc>
                <a:spcPct val="150000"/>
              </a:lnSpc>
              <a:buFont typeface="Wingdings" panose="05000000000000000000" pitchFamily="2" charset="2"/>
              <a:buChar char="q"/>
            </a:pPr>
            <a:r>
              <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Tỷ Lệ Lấp Đầy (80%)</a:t>
            </a: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Cho thấy mức độ phổ biến và khả năng thu hút khách của khách sạn.</a:t>
            </a:r>
          </a:p>
          <a:p>
            <a:pPr marL="342900" indent="-342900" algn="just">
              <a:lnSpc>
                <a:spcPct val="150000"/>
              </a:lnSpc>
              <a:buFont typeface="Wingdings" panose="05000000000000000000" pitchFamily="2" charset="2"/>
              <a:buChar char="q"/>
            </a:pPr>
            <a:r>
              <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ADR (150 USD)</a:t>
            </a: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Phản ánh chiến lược giá cả hợp lý và khả năng tạo ra giá trị từ mỗi phòng bán.</a:t>
            </a:r>
          </a:p>
          <a:p>
            <a:pPr marL="342900" indent="-342900" algn="just">
              <a:lnSpc>
                <a:spcPct val="150000"/>
              </a:lnSpc>
              <a:buFont typeface="Wingdings" panose="05000000000000000000" pitchFamily="2" charset="2"/>
              <a:buChar char="q"/>
            </a:pPr>
            <a:r>
              <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RevPAR (120 USD)</a:t>
            </a: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Cung cấp cái nhìn tổng thể về hiệu quả sử dụng phòng và chiến lược giá.</a:t>
            </a:r>
          </a:p>
          <a:p>
            <a:pPr marL="342900" indent="-342900" algn="just">
              <a:lnSpc>
                <a:spcPct val="150000"/>
              </a:lnSpc>
              <a:buFont typeface="Wingdings" panose="05000000000000000000" pitchFamily="2" charset="2"/>
              <a:buChar char="q"/>
            </a:pPr>
            <a:r>
              <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Chỉ Số Hài Lòng (4.6)</a:t>
            </a: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Cho thấy khách sạn đang đáp ứng tốt nhu cầu và mong đợi của khách hàng.</a:t>
            </a:r>
          </a:p>
        </p:txBody>
      </p:sp>
    </p:spTree>
    <p:extLst>
      <p:ext uri="{BB962C8B-B14F-4D97-AF65-F5344CB8AC3E}">
        <p14:creationId xmlns:p14="http://schemas.microsoft.com/office/powerpoint/2010/main" val="243622640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85F1A8B-DAA0-F765-2BC1-8C4C30C56395}"/>
              </a:ext>
            </a:extLst>
          </p:cNvPr>
          <p:cNvSpPr txBox="1"/>
          <p:nvPr/>
        </p:nvSpPr>
        <p:spPr>
          <a:xfrm>
            <a:off x="754093" y="2003106"/>
            <a:ext cx="10683814" cy="3900363"/>
          </a:xfrm>
          <a:prstGeom prst="rect">
            <a:avLst/>
          </a:prstGeom>
          <a:noFill/>
        </p:spPr>
        <p:txBody>
          <a:bodyPr wrap="square">
            <a:spAutoFit/>
          </a:bodyPr>
          <a:lstStyle/>
          <a:p>
            <a:pPr marL="342900" indent="-342900" algn="just">
              <a:lnSpc>
                <a:spcPct val="150000"/>
              </a:lnSpc>
              <a:buFont typeface="Wingdings" panose="05000000000000000000" pitchFamily="2" charset="2"/>
              <a:buChar char="q"/>
            </a:pP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Nội</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dung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chương</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đã trình bày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khá</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chi tiết về các hoạt động quan trọng trong quản lý bộ phận tiền sảnh khách sạn, từ việc tổ chức và quản lý hoạt động, đến quản trị doanh thu và đánh giá hiệu quả kinh doanh. </a:t>
            </a:r>
            <a:endPar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342900" indent="-342900" algn="just">
              <a:lnSpc>
                <a:spcPct val="150000"/>
              </a:lnSpc>
              <a:buFont typeface="Wingdings" panose="05000000000000000000" pitchFamily="2" charset="2"/>
              <a:buChar char="q"/>
            </a:pPr>
            <a:r>
              <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Thông qua việc hiểu rõ về quy trình làm việc, công cụ hỗ trợ, và quản lý nhân sự, các nhà quản lý có thể tối ưu hóa hiệu quả hoạt động của bộ phận tiền sảnh, đồng thời đảm bảo sự hài lòng của khách hàng và cải thiện doanh thu.</a:t>
            </a:r>
          </a:p>
        </p:txBody>
      </p:sp>
      <p:sp>
        <p:nvSpPr>
          <p:cNvPr id="4" name="TextBox 3">
            <a:extLst>
              <a:ext uri="{FF2B5EF4-FFF2-40B4-BE49-F238E27FC236}">
                <a16:creationId xmlns:a16="http://schemas.microsoft.com/office/drawing/2014/main" id="{40A84B21-F697-27DC-E2A7-0B2AA925CA01}"/>
              </a:ext>
            </a:extLst>
          </p:cNvPr>
          <p:cNvSpPr txBox="1"/>
          <p:nvPr/>
        </p:nvSpPr>
        <p:spPr>
          <a:xfrm>
            <a:off x="754093" y="1283017"/>
            <a:ext cx="3231311" cy="584775"/>
          </a:xfrm>
          <a:prstGeom prst="rect">
            <a:avLst/>
          </a:prstGeom>
          <a:noFill/>
        </p:spPr>
        <p:txBody>
          <a:bodyPr wrap="square" rtlCol="0">
            <a:spAutoFit/>
          </a:bodyPr>
          <a:lstStyle/>
          <a:p>
            <a:r>
              <a:rPr lang="en-US" sz="3200" b="1" dirty="0">
                <a:solidFill>
                  <a:srgbClr val="002060"/>
                </a:solidFill>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KẾT LUẬN </a:t>
            </a:r>
            <a:endParaRPr lang="vi-VN" sz="3200" b="1" dirty="0">
              <a:solidFill>
                <a:srgbClr val="002060"/>
              </a:solidFill>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spTree>
    <p:extLst>
      <p:ext uri="{BB962C8B-B14F-4D97-AF65-F5344CB8AC3E}">
        <p14:creationId xmlns:p14="http://schemas.microsoft.com/office/powerpoint/2010/main" val="30379921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Effect transition="in" filter="fade">
                                      <p:cBhvr>
                                        <p:cTn id="13" dur="1000"/>
                                        <p:tgtEl>
                                          <p:spTgt spid="3">
                                            <p:txEl>
                                              <p:pRg st="0" end="0"/>
                                            </p:txEl>
                                          </p:spTgt>
                                        </p:tgtEl>
                                      </p:cBhvr>
                                    </p:animEffect>
                                    <p:anim calcmode="lin" valueType="num">
                                      <p:cBhvr>
                                        <p:cTn id="14"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5"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6" presetID="42" presetClass="entr" presetSubtype="0" fill="hold" nodeType="withEffect">
                                  <p:stCondLst>
                                    <p:cond delay="0"/>
                                  </p:stCondLst>
                                  <p:childTnLst>
                                    <p:set>
                                      <p:cBhvr>
                                        <p:cTn id="17" dur="1" fill="hold">
                                          <p:stCondLst>
                                            <p:cond delay="0"/>
                                          </p:stCondLst>
                                        </p:cTn>
                                        <p:tgtEl>
                                          <p:spTgt spid="3">
                                            <p:txEl>
                                              <p:pRg st="1" end="1"/>
                                            </p:txEl>
                                          </p:spTgt>
                                        </p:tgtEl>
                                        <p:attrNameLst>
                                          <p:attrName>style.visibility</p:attrName>
                                        </p:attrNameLst>
                                      </p:cBhvr>
                                      <p:to>
                                        <p:strVal val="visible"/>
                                      </p:to>
                                    </p:set>
                                    <p:animEffect transition="in" filter="fade">
                                      <p:cBhvr>
                                        <p:cTn id="18" dur="1000"/>
                                        <p:tgtEl>
                                          <p:spTgt spid="3">
                                            <p:txEl>
                                              <p:pRg st="1" end="1"/>
                                            </p:txEl>
                                          </p:spTgt>
                                        </p:tgtEl>
                                      </p:cBhvr>
                                    </p:animEffect>
                                    <p:anim calcmode="lin" valueType="num">
                                      <p:cBhvr>
                                        <p:cTn id="19"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0"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E4B123B-C5F8-8A2E-A0CF-697D1940B9DA}"/>
              </a:ext>
            </a:extLst>
          </p:cNvPr>
          <p:cNvSpPr>
            <a:spLocks noChangeArrowheads="1"/>
          </p:cNvSpPr>
          <p:nvPr/>
        </p:nvSpPr>
        <p:spPr bwMode="auto">
          <a:xfrm>
            <a:off x="292184" y="1165579"/>
            <a:ext cx="11536021" cy="52937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517525" marR="0" lvl="0" indent="-396875"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Câu</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Hỏi</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Thảo</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Luận</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p>
          <a:p>
            <a:pPr marL="517525" marR="0" lvl="0" indent="-396875" algn="just" defTabSz="914400" rtl="0" eaLnBrk="0" fontAlgn="base" latinLnBrk="0" hangingPunct="0">
              <a:spcBef>
                <a:spcPts val="1200"/>
              </a:spcBef>
              <a:spcAft>
                <a:spcPct val="0"/>
              </a:spcAft>
              <a:buClrTx/>
              <a:buSzTx/>
              <a:buFontTx/>
              <a:buAutoNum type="arabicPeriod"/>
              <a:tabLst/>
            </a:pP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Tại</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sao</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bộ</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phận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tiền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sảnh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được</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xem</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là</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bộ</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mặt</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của</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sạn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và</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vai</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trò</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của</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nó</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trong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việc</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tạo</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ấn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tượng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đầu</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tiên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đối</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với</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hàng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là</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gì</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p>
          <a:p>
            <a:pPr marL="517525" marR="0" lvl="0" indent="-396875" algn="just" defTabSz="914400" rtl="0" eaLnBrk="0" fontAlgn="base" latinLnBrk="0" hangingPunct="0">
              <a:spcBef>
                <a:spcPts val="1200"/>
              </a:spcBef>
              <a:spcAft>
                <a:spcPct val="0"/>
              </a:spcAft>
              <a:buClrTx/>
              <a:buSzTx/>
              <a:buFontTx/>
              <a:buAutoNum type="arabicPeriod" startAt="2"/>
              <a:tabLst/>
            </a:pP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Các</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yếu</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tố</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nào</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cần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thiết</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để</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tối</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ưu</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hóa</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quy</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trình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check-in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và</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check-out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nhằm</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nâng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cao</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trải</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nghiệm</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hàng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p>
          <a:p>
            <a:pPr marL="517525" marR="0" lvl="0" indent="-396875" algn="just" defTabSz="914400" rtl="0" eaLnBrk="0" fontAlgn="base" latinLnBrk="0" hangingPunct="0">
              <a:spcBef>
                <a:spcPts val="1200"/>
              </a:spcBef>
              <a:spcAft>
                <a:spcPct val="0"/>
              </a:spcAft>
              <a:buClrTx/>
              <a:buSzTx/>
              <a:buFontTx/>
              <a:buAutoNum type="arabicPeriod" startAt="3"/>
              <a:tabLst/>
            </a:pP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Quản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lý</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doanh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thu</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trong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sạn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có</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những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thách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thức</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gì</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Làm</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thế</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nào</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để</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các</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sạn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có</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thể</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tối</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ưu</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hóa</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công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suất</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phòng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và</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giá</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phòng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p>
          <a:p>
            <a:pPr marL="517525" marR="0" lvl="0" indent="-396875" algn="just" defTabSz="914400" rtl="0" eaLnBrk="0" fontAlgn="base" latinLnBrk="0" hangingPunct="0">
              <a:spcBef>
                <a:spcPts val="1200"/>
              </a:spcBef>
              <a:spcAft>
                <a:spcPct val="0"/>
              </a:spcAft>
              <a:buClrTx/>
              <a:buSzTx/>
              <a:buFontTx/>
              <a:buAutoNum type="arabicPeriod" startAt="4"/>
              <a:tabLst/>
            </a:pP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Làm</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thế</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nào</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để</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bộ</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phận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tiền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sảnh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phối</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hợp</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hiệu</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quả</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với</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các</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bộ</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phận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khác</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trong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sạn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để</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cung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cấp</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dịch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vụ</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hoàn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hảo</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cho</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hàng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p>
          <a:p>
            <a:pPr marL="517525" marR="0" lvl="0" indent="-396875" algn="just" defTabSz="914400" rtl="0" eaLnBrk="0" fontAlgn="base" latinLnBrk="0" hangingPunct="0">
              <a:spcBef>
                <a:spcPts val="1200"/>
              </a:spcBef>
              <a:spcAft>
                <a:spcPct val="0"/>
              </a:spcAft>
              <a:buClrTx/>
              <a:buSzTx/>
              <a:buFontTx/>
              <a:buAutoNum type="arabicPeriod" startAt="5"/>
              <a:tabLst/>
            </a:pP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Công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nghệ</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và</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hệ</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thống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quản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lý</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sạn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(PMS)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đã</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thay</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đổi</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cách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quản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lý</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hoạt</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động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của</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bộ</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phận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tiền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sảnh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như</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thế</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nào</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Bạn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có</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thể</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đưa</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ra</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ví</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dụ</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cụ</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thể</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p>
          <a:p>
            <a:pPr marL="517525" marR="0" lvl="0" indent="-396875" algn="l" defTabSz="914400" rtl="0" eaLnBrk="0" fontAlgn="base" latinLnBrk="0" hangingPunct="0">
              <a:lnSpc>
                <a:spcPct val="100000"/>
              </a:lnSpc>
              <a:spcBef>
                <a:spcPct val="0"/>
              </a:spcBef>
              <a:spcAft>
                <a:spcPct val="0"/>
              </a:spcAft>
              <a:buClrTx/>
              <a:buSzTx/>
              <a:buFontTx/>
              <a:buNone/>
              <a:tabLst/>
            </a:pPr>
            <a:r>
              <a:rPr kumimoji="0" lang="en-US" altLang="en-US" b="1" i="1"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PMS : PROPERTY MANAGEMENT SYSTEM</a:t>
            </a:r>
          </a:p>
        </p:txBody>
      </p:sp>
    </p:spTree>
    <p:extLst>
      <p:ext uri="{BB962C8B-B14F-4D97-AF65-F5344CB8AC3E}">
        <p14:creationId xmlns:p14="http://schemas.microsoft.com/office/powerpoint/2010/main" val="360626560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4B16DF-09CB-54BA-FCEC-4291FB4E5E92}"/>
            </a:ext>
          </a:extLst>
        </p:cNvPr>
        <p:cNvGrpSpPr/>
        <p:nvPr/>
      </p:nvGrpSpPr>
      <p:grpSpPr>
        <a:xfrm>
          <a:off x="0" y="0"/>
          <a:ext cx="0" cy="0"/>
          <a:chOff x="0" y="0"/>
          <a:chExt cx="0" cy="0"/>
        </a:xfrm>
      </p:grpSpPr>
      <p:pic>
        <p:nvPicPr>
          <p:cNvPr id="7" name="Picture 6" descr="Artboard 1 copy 2">
            <a:extLst>
              <a:ext uri="{FF2B5EF4-FFF2-40B4-BE49-F238E27FC236}">
                <a16:creationId xmlns:a16="http://schemas.microsoft.com/office/drawing/2014/main" id="{E6A4F3F9-0FEC-4E3F-08A2-4A44859816B6}"/>
              </a:ext>
            </a:extLst>
          </p:cNvPr>
          <p:cNvPicPr>
            <a:picLocks noChangeAspect="1"/>
          </p:cNvPicPr>
          <p:nvPr/>
        </p:nvPicPr>
        <p:blipFill>
          <a:blip r:embed="rId2"/>
          <a:stretch>
            <a:fillRect/>
          </a:stretch>
        </p:blipFill>
        <p:spPr>
          <a:xfrm>
            <a:off x="0" y="0"/>
            <a:ext cx="12190730" cy="6857365"/>
          </a:xfrm>
          <a:prstGeom prst="rect">
            <a:avLst/>
          </a:prstGeom>
        </p:spPr>
      </p:pic>
      <p:pic>
        <p:nvPicPr>
          <p:cNvPr id="2" name="Picture 1" descr="Artboard 1 copy 2">
            <a:extLst>
              <a:ext uri="{FF2B5EF4-FFF2-40B4-BE49-F238E27FC236}">
                <a16:creationId xmlns:a16="http://schemas.microsoft.com/office/drawing/2014/main" id="{53769216-72F2-774D-261C-BF7C2A666905}"/>
              </a:ext>
            </a:extLst>
          </p:cNvPr>
          <p:cNvPicPr>
            <a:picLocks noChangeAspect="1"/>
          </p:cNvPicPr>
          <p:nvPr/>
        </p:nvPicPr>
        <p:blipFill>
          <a:blip r:embed="rId3"/>
          <a:stretch>
            <a:fillRect/>
          </a:stretch>
        </p:blipFill>
        <p:spPr>
          <a:xfrm>
            <a:off x="0" y="0"/>
            <a:ext cx="12190730" cy="6857365"/>
          </a:xfrm>
          <a:prstGeom prst="rect">
            <a:avLst/>
          </a:prstGeom>
        </p:spPr>
      </p:pic>
      <p:pic>
        <p:nvPicPr>
          <p:cNvPr id="5" name="Picture 4" descr="A black screen with a black background&#10;&#10;AI-generated content may be incorrect.">
            <a:extLst>
              <a:ext uri="{FF2B5EF4-FFF2-40B4-BE49-F238E27FC236}">
                <a16:creationId xmlns:a16="http://schemas.microsoft.com/office/drawing/2014/main" id="{D5AE7117-3E90-A63B-048E-1FC0045ADA2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 y="-635"/>
            <a:ext cx="12191999" cy="6858000"/>
          </a:xfrm>
          <a:prstGeom prst="rect">
            <a:avLst/>
          </a:prstGeom>
        </p:spPr>
      </p:pic>
    </p:spTree>
    <p:extLst>
      <p:ext uri="{BB962C8B-B14F-4D97-AF65-F5344CB8AC3E}">
        <p14:creationId xmlns:p14="http://schemas.microsoft.com/office/powerpoint/2010/main" val="39192563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CB9AE10-5133-8DB5-D1F0-0591C313A76E}"/>
              </a:ext>
            </a:extLst>
          </p:cNvPr>
          <p:cNvPicPr>
            <a:picLocks noChangeAspect="1"/>
          </p:cNvPicPr>
          <p:nvPr/>
        </p:nvPicPr>
        <p:blipFill>
          <a:blip r:embed="rId2"/>
          <a:stretch>
            <a:fillRect/>
          </a:stretch>
        </p:blipFill>
        <p:spPr>
          <a:xfrm>
            <a:off x="310550" y="99204"/>
            <a:ext cx="11881450" cy="6496608"/>
          </a:xfrm>
          <a:prstGeom prst="rect">
            <a:avLst/>
          </a:prstGeom>
        </p:spPr>
      </p:pic>
    </p:spTree>
    <p:extLst>
      <p:ext uri="{BB962C8B-B14F-4D97-AF65-F5344CB8AC3E}">
        <p14:creationId xmlns:p14="http://schemas.microsoft.com/office/powerpoint/2010/main" val="1650372484"/>
      </p:ext>
    </p:extLst>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82</TotalTime>
  <Words>3647</Words>
  <Application>Microsoft Office PowerPoint</Application>
  <PresentationFormat>Widescreen</PresentationFormat>
  <Paragraphs>331</Paragraphs>
  <Slides>41</Slides>
  <Notes>3</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41</vt:i4>
      </vt:variant>
    </vt:vector>
  </HeadingPairs>
  <TitlesOfParts>
    <vt:vector size="50" baseType="lpstr">
      <vt:lpstr>Aptos</vt:lpstr>
      <vt:lpstr>Arial</vt:lpstr>
      <vt:lpstr>Calibri</vt:lpstr>
      <vt:lpstr>Calibri Light</vt:lpstr>
      <vt:lpstr>Microsoft Sans Serif</vt:lpstr>
      <vt:lpstr>Symbol</vt:lpstr>
      <vt:lpstr>Times New Roman</vt:lpstr>
      <vt:lpstr>Wingdings</vt:lpstr>
      <vt:lpstr>Custom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VHU ThanhLL</dc:creator>
  <cp:lastModifiedBy>VHU ThanhLL</cp:lastModifiedBy>
  <cp:revision>6</cp:revision>
  <dcterms:created xsi:type="dcterms:W3CDTF">2025-08-03T16:16:09Z</dcterms:created>
  <dcterms:modified xsi:type="dcterms:W3CDTF">2025-09-27T00:33:14Z</dcterms:modified>
</cp:coreProperties>
</file>