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262" r:id="rId2"/>
    <p:sldId id="404" r:id="rId3"/>
    <p:sldId id="405" r:id="rId4"/>
    <p:sldId id="383" r:id="rId5"/>
    <p:sldId id="406" r:id="rId6"/>
    <p:sldId id="381" r:id="rId7"/>
    <p:sldId id="378" r:id="rId8"/>
    <p:sldId id="318" r:id="rId9"/>
    <p:sldId id="317" r:id="rId10"/>
    <p:sldId id="319" r:id="rId11"/>
    <p:sldId id="362" r:id="rId12"/>
    <p:sldId id="339" r:id="rId13"/>
    <p:sldId id="340" r:id="rId14"/>
    <p:sldId id="341" r:id="rId15"/>
    <p:sldId id="342" r:id="rId16"/>
    <p:sldId id="343" r:id="rId17"/>
    <p:sldId id="320" r:id="rId18"/>
    <p:sldId id="344" r:id="rId19"/>
    <p:sldId id="345" r:id="rId20"/>
    <p:sldId id="346" r:id="rId21"/>
    <p:sldId id="347" r:id="rId22"/>
    <p:sldId id="348" r:id="rId23"/>
    <p:sldId id="349" r:id="rId24"/>
    <p:sldId id="350" r:id="rId25"/>
    <p:sldId id="351" r:id="rId26"/>
    <p:sldId id="352" r:id="rId27"/>
    <p:sldId id="353" r:id="rId28"/>
    <p:sldId id="354" r:id="rId29"/>
    <p:sldId id="355" r:id="rId30"/>
    <p:sldId id="363" r:id="rId31"/>
    <p:sldId id="384" r:id="rId32"/>
    <p:sldId id="385" r:id="rId33"/>
    <p:sldId id="386" r:id="rId34"/>
    <p:sldId id="387" r:id="rId35"/>
    <p:sldId id="364" r:id="rId36"/>
    <p:sldId id="365" r:id="rId37"/>
    <p:sldId id="366" r:id="rId38"/>
    <p:sldId id="367" r:id="rId39"/>
    <p:sldId id="388" r:id="rId40"/>
    <p:sldId id="389" r:id="rId41"/>
    <p:sldId id="390" r:id="rId42"/>
    <p:sldId id="391" r:id="rId43"/>
    <p:sldId id="392" r:id="rId44"/>
    <p:sldId id="393" r:id="rId45"/>
    <p:sldId id="394" r:id="rId46"/>
    <p:sldId id="375" r:id="rId47"/>
    <p:sldId id="372" r:id="rId48"/>
    <p:sldId id="368" r:id="rId49"/>
    <p:sldId id="369" r:id="rId50"/>
    <p:sldId id="370" r:id="rId51"/>
    <p:sldId id="371" r:id="rId52"/>
    <p:sldId id="373" r:id="rId53"/>
    <p:sldId id="374" r:id="rId54"/>
    <p:sldId id="37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C2FD43-7A03-48DC-943C-4150B3BC3AE8}" type="datetimeFigureOut">
              <a:rPr lang="en-US" smtClean="0"/>
              <a:t>19-Oct-25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0AB36-B227-49D2-B9B5-6D5B26385661}" type="slidenum">
              <a:rPr lang="en-US" smtClean="0"/>
              <a:t>‹#›</a:t>
            </a:fld>
            <a:endParaRPr lang="en-US"/>
          </a:p>
        </p:txBody>
      </p:sp>
    </p:spTree>
    <p:extLst>
      <p:ext uri="{BB962C8B-B14F-4D97-AF65-F5344CB8AC3E}">
        <p14:creationId xmlns:p14="http://schemas.microsoft.com/office/powerpoint/2010/main" val="3174634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95703-381E-4D13-9EA2-BC83D76C34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649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EB86FC3-F7B5-4324-A3F3-E8DADC879DC2}" type="slidenum">
              <a:rPr lang="vi-VN" smtClean="0"/>
              <a:t>17</a:t>
            </a:fld>
            <a:endParaRPr lang="vi-VN"/>
          </a:p>
        </p:txBody>
      </p:sp>
    </p:spTree>
    <p:extLst>
      <p:ext uri="{BB962C8B-B14F-4D97-AF65-F5344CB8AC3E}">
        <p14:creationId xmlns:p14="http://schemas.microsoft.com/office/powerpoint/2010/main" val="3262527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B86FC3-F7B5-4324-A3F3-E8DADC879DC2}" type="slidenum">
              <a:rPr lang="vi-VN" smtClean="0"/>
              <a:t>32</a:t>
            </a:fld>
            <a:endParaRPr lang="vi-VN"/>
          </a:p>
        </p:txBody>
      </p:sp>
    </p:spTree>
    <p:extLst>
      <p:ext uri="{BB962C8B-B14F-4D97-AF65-F5344CB8AC3E}">
        <p14:creationId xmlns:p14="http://schemas.microsoft.com/office/powerpoint/2010/main" val="3647659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ADDBA6-7898-4A7E-81D8-4315F9153EB6}" type="datetimeFigureOut">
              <a:rPr lang="en-US" smtClean="0"/>
              <a:t>19-Oct-25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493573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DBA6-7898-4A7E-81D8-4315F9153EB6}" type="datetimeFigureOut">
              <a:rPr lang="en-US" smtClean="0"/>
              <a:t>19-Oct-25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688842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ADDBA6-7898-4A7E-81D8-4315F9153EB6}" type="datetimeFigureOut">
              <a:rPr lang="en-US" smtClean="0"/>
              <a:t>19-Oct-25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3194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ADDBA6-7898-4A7E-81D8-4315F9153EB6}" type="datetimeFigureOut">
              <a:rPr lang="en-US" smtClean="0"/>
              <a:t>19-Oct-25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32615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ADDBA6-7898-4A7E-81D8-4315F9153EB6}" type="datetimeFigureOut">
              <a:rPr lang="en-US" smtClean="0"/>
              <a:t>19-Oct-25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150460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DBA6-7898-4A7E-81D8-4315F9153EB6}" type="datetimeFigureOut">
              <a:rPr lang="en-US" smtClean="0"/>
              <a:t>19-Oct-25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32823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19-Oct-25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09472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19-Oct-25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458791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19-Oct-25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84756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19-Oct-25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503579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19-Oct-25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4146550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19-Oct-25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508694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531921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786620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19-Oct-25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25553135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rtboard 1"/>
          <p:cNvPicPr>
            <a:picLocks noChangeAspect="1"/>
          </p:cNvPicPr>
          <p:nvPr/>
        </p:nvPicPr>
        <p:blipFill>
          <a:blip r:embed="rId3"/>
          <a:stretch>
            <a:fillRect/>
          </a:stretch>
        </p:blipFill>
        <p:spPr>
          <a:xfrm>
            <a:off x="0" y="-9413"/>
            <a:ext cx="12190730" cy="6857365"/>
          </a:xfrm>
          <a:prstGeom prst="rect">
            <a:avLst/>
          </a:prstGeom>
        </p:spPr>
      </p:pic>
      <p:sp>
        <p:nvSpPr>
          <p:cNvPr id="5" name="TextBox 6"/>
          <p:cNvSpPr txBox="1"/>
          <p:nvPr/>
        </p:nvSpPr>
        <p:spPr>
          <a:xfrm>
            <a:off x="6941584" y="4196532"/>
            <a:ext cx="4562946" cy="95866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Giảng</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viên</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ThS</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Lý Liệt Thanh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Thời</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lượng</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30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tiết</a:t>
            </a:r>
            <a:endParaRPr kumimoji="0" lang="vi-VN"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9" name="Picture 8" descr="Untitled-4"/>
          <p:cNvPicPr>
            <a:picLocks noChangeAspect="1"/>
          </p:cNvPicPr>
          <p:nvPr/>
        </p:nvPicPr>
        <p:blipFill>
          <a:blip r:embed="rId4"/>
          <a:stretch>
            <a:fillRect/>
          </a:stretch>
        </p:blipFill>
        <p:spPr>
          <a:xfrm>
            <a:off x="6790055" y="985520"/>
            <a:ext cx="4866005" cy="1176020"/>
          </a:xfrm>
          <a:prstGeom prst="rect">
            <a:avLst/>
          </a:prstGeom>
        </p:spPr>
      </p:pic>
      <p:sp>
        <p:nvSpPr>
          <p:cNvPr id="7" name="TextBox 16">
            <a:extLst>
              <a:ext uri="{FF2B5EF4-FFF2-40B4-BE49-F238E27FC236}">
                <a16:creationId xmlns:a16="http://schemas.microsoft.com/office/drawing/2014/main" id="{F4DAA269-80D9-0965-13FC-31B6B3CE4AAD}"/>
              </a:ext>
            </a:extLst>
          </p:cNvPr>
          <p:cNvSpPr txBox="1"/>
          <p:nvPr/>
        </p:nvSpPr>
        <p:spPr>
          <a:xfrm>
            <a:off x="5561474" y="2703065"/>
            <a:ext cx="7017816"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QUẢN TRỊ KHÁCH SẠN </a:t>
            </a:r>
          </a:p>
        </p:txBody>
      </p:sp>
      <p:pic>
        <p:nvPicPr>
          <p:cNvPr id="8" name="Picture 7">
            <a:extLst>
              <a:ext uri="{FF2B5EF4-FFF2-40B4-BE49-F238E27FC236}">
                <a16:creationId xmlns:a16="http://schemas.microsoft.com/office/drawing/2014/main" id="{6813C165-78AF-FA6C-0ECE-9DFD5530E5D5}"/>
              </a:ext>
            </a:extLst>
          </p:cNvPr>
          <p:cNvPicPr>
            <a:picLocks noChangeAspect="1"/>
          </p:cNvPicPr>
          <p:nvPr/>
        </p:nvPicPr>
        <p:blipFill>
          <a:blip r:embed="rId5"/>
          <a:stretch>
            <a:fillRect/>
          </a:stretch>
        </p:blipFill>
        <p:spPr>
          <a:xfrm>
            <a:off x="0" y="10048"/>
            <a:ext cx="12192000" cy="7011600"/>
          </a:xfrm>
          <a:prstGeom prst="rect">
            <a:avLst/>
          </a:prstGeom>
        </p:spPr>
      </p:pic>
    </p:spTree>
    <p:extLst>
      <p:ext uri="{BB962C8B-B14F-4D97-AF65-F5344CB8AC3E}">
        <p14:creationId xmlns:p14="http://schemas.microsoft.com/office/powerpoint/2010/main" val="278047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CE89D-F5E8-E54B-7E31-EB19AA8EB20B}"/>
              </a:ext>
            </a:extLst>
          </p:cNvPr>
          <p:cNvSpPr txBox="1"/>
          <p:nvPr/>
        </p:nvSpPr>
        <p:spPr>
          <a:xfrm>
            <a:off x="1066800" y="2092269"/>
            <a:ext cx="10058400" cy="212365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QUẢN TRỊ KHÁCH SẠN </a:t>
            </a:r>
            <a:endParaRPr kumimoji="0" lang="vi-VN"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4072336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67845-BD81-70EA-7817-C87B727B0981}"/>
              </a:ext>
            </a:extLst>
          </p:cNvPr>
          <p:cNvSpPr txBox="1"/>
          <p:nvPr/>
        </p:nvSpPr>
        <p:spPr>
          <a:xfrm>
            <a:off x="502278" y="1615989"/>
            <a:ext cx="64008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MỤC TIÊU  MÔN HỌC </a:t>
            </a:r>
            <a:endParaRPr kumimoji="0" lang="vi-VN"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02C6DCF9-2315-620C-C476-599EC479915E}"/>
              </a:ext>
            </a:extLst>
          </p:cNvPr>
          <p:cNvSpPr txBox="1"/>
          <p:nvPr/>
        </p:nvSpPr>
        <p:spPr>
          <a:xfrm>
            <a:off x="502278" y="2571177"/>
            <a:ext cx="11344760" cy="3604898"/>
          </a:xfrm>
          <a:prstGeom prst="rect">
            <a:avLst/>
          </a:prstGeom>
          <a:noFill/>
        </p:spPr>
        <p:txBody>
          <a:bodyPr wrap="square">
            <a:spAutoFit/>
          </a:bodyPr>
          <a:lstStyle/>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Cung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học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chung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cấu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lao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Trang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giao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xây</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tích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lập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thuyết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814008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44ED3-5042-BBEE-12C1-34C48731D4BA}"/>
              </a:ext>
            </a:extLst>
          </p:cNvPr>
          <p:cNvSpPr txBox="1"/>
          <p:nvPr/>
        </p:nvSpPr>
        <p:spPr>
          <a:xfrm>
            <a:off x="5366657" y="238499"/>
            <a:ext cx="650799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NỘI DUNG CHƯƠNG TRÌNH  </a:t>
            </a:r>
            <a:endParaRPr kumimoji="0" lang="vi-VN"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4" name="Table 3">
            <a:extLst>
              <a:ext uri="{FF2B5EF4-FFF2-40B4-BE49-F238E27FC236}">
                <a16:creationId xmlns:a16="http://schemas.microsoft.com/office/drawing/2014/main" id="{5C02EC93-EA35-C460-37CD-2B7687E052C0}"/>
              </a:ext>
            </a:extLst>
          </p:cNvPr>
          <p:cNvGraphicFramePr>
            <a:graphicFrameLocks noGrp="1"/>
          </p:cNvGraphicFramePr>
          <p:nvPr/>
        </p:nvGraphicFramePr>
        <p:xfrm>
          <a:off x="294468" y="1064125"/>
          <a:ext cx="10879810" cy="1820802"/>
        </p:xfrm>
        <a:graphic>
          <a:graphicData uri="http://schemas.openxmlformats.org/drawingml/2006/table">
            <a:tbl>
              <a:tblPr>
                <a:tableStyleId>{5C22544A-7EE6-4342-B048-85BDC9FD1C3A}</a:tableStyleId>
              </a:tblPr>
              <a:tblGrid>
                <a:gridCol w="1789205">
                  <a:extLst>
                    <a:ext uri="{9D8B030D-6E8A-4147-A177-3AD203B41FA5}">
                      <a16:colId xmlns:a16="http://schemas.microsoft.com/office/drawing/2014/main" val="2368574806"/>
                    </a:ext>
                  </a:extLst>
                </a:gridCol>
                <a:gridCol w="9090605">
                  <a:extLst>
                    <a:ext uri="{9D8B030D-6E8A-4147-A177-3AD203B41FA5}">
                      <a16:colId xmlns:a16="http://schemas.microsoft.com/office/drawing/2014/main" val="470480153"/>
                    </a:ext>
                  </a:extLst>
                </a:gridCol>
              </a:tblGrid>
              <a:tr h="0">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a:t>
                      </a:r>
                    </a:p>
                  </a:txBody>
                  <a:tcPr marL="66299" marR="66299" marT="0" marB="0" anchor="ctr"/>
                </a:tc>
                <a:tc>
                  <a:txBody>
                    <a:bodyPr/>
                    <a:lstStyle/>
                    <a:p>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476048800"/>
                  </a:ext>
                </a:extLst>
              </a:tr>
              <a:tr h="202581">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1.1.</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 sử hình thành và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460742267"/>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1.2.</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vi-VN"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khái niệm cơ bản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1411431812"/>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1.3.</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và xếp hạng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615906"/>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1.4.</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cấu tổ chức của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973927035"/>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1.5.</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 hướng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94786579"/>
                  </a:ext>
                </a:extLst>
              </a:tr>
            </a:tbl>
          </a:graphicData>
        </a:graphic>
      </p:graphicFrame>
      <p:graphicFrame>
        <p:nvGraphicFramePr>
          <p:cNvPr id="5" name="Table 4">
            <a:extLst>
              <a:ext uri="{FF2B5EF4-FFF2-40B4-BE49-F238E27FC236}">
                <a16:creationId xmlns:a16="http://schemas.microsoft.com/office/drawing/2014/main" id="{AB456307-816C-D06D-B254-47B52FD6CFAC}"/>
              </a:ext>
            </a:extLst>
          </p:cNvPr>
          <p:cNvGraphicFramePr>
            <a:graphicFrameLocks noGrp="1"/>
          </p:cNvGraphicFramePr>
          <p:nvPr/>
        </p:nvGraphicFramePr>
        <p:xfrm>
          <a:off x="282474" y="2966519"/>
          <a:ext cx="10864312" cy="1820802"/>
        </p:xfrm>
        <a:graphic>
          <a:graphicData uri="http://schemas.openxmlformats.org/drawingml/2006/table">
            <a:tbl>
              <a:tblPr>
                <a:tableStyleId>{5C22544A-7EE6-4342-B048-85BDC9FD1C3A}</a:tableStyleId>
              </a:tblPr>
              <a:tblGrid>
                <a:gridCol w="1768609">
                  <a:extLst>
                    <a:ext uri="{9D8B030D-6E8A-4147-A177-3AD203B41FA5}">
                      <a16:colId xmlns:a16="http://schemas.microsoft.com/office/drawing/2014/main" val="2865336541"/>
                    </a:ext>
                  </a:extLst>
                </a:gridCol>
                <a:gridCol w="9095703">
                  <a:extLst>
                    <a:ext uri="{9D8B030D-6E8A-4147-A177-3AD203B41FA5}">
                      <a16:colId xmlns:a16="http://schemas.microsoft.com/office/drawing/2014/main" val="2930767451"/>
                    </a:ext>
                  </a:extLst>
                </a:gridCol>
              </a:tblGrid>
              <a:tr h="202581">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622322330"/>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nhiệm vụ của bộ phận tiền 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816642246"/>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97162349"/>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815115883"/>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268459174"/>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2.5.</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trú</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598625922"/>
                  </a:ext>
                </a:extLst>
              </a:tr>
            </a:tbl>
          </a:graphicData>
        </a:graphic>
      </p:graphicFrame>
      <p:graphicFrame>
        <p:nvGraphicFramePr>
          <p:cNvPr id="6" name="Table 5">
            <a:extLst>
              <a:ext uri="{FF2B5EF4-FFF2-40B4-BE49-F238E27FC236}">
                <a16:creationId xmlns:a16="http://schemas.microsoft.com/office/drawing/2014/main" id="{984F8D1D-637F-34F3-59F8-5195603D0825}"/>
              </a:ext>
            </a:extLst>
          </p:cNvPr>
          <p:cNvGraphicFramePr>
            <a:graphicFrameLocks noGrp="1"/>
          </p:cNvGraphicFramePr>
          <p:nvPr/>
        </p:nvGraphicFramePr>
        <p:xfrm>
          <a:off x="294468" y="4862436"/>
          <a:ext cx="10864312" cy="1652775"/>
        </p:xfrm>
        <a:graphic>
          <a:graphicData uri="http://schemas.openxmlformats.org/drawingml/2006/table">
            <a:tbl>
              <a:tblPr>
                <a:tableStyleId>{5C22544A-7EE6-4342-B048-85BDC9FD1C3A}</a:tableStyleId>
              </a:tblPr>
              <a:tblGrid>
                <a:gridCol w="1840797">
                  <a:extLst>
                    <a:ext uri="{9D8B030D-6E8A-4147-A177-3AD203B41FA5}">
                      <a16:colId xmlns:a16="http://schemas.microsoft.com/office/drawing/2014/main" val="854789265"/>
                    </a:ext>
                  </a:extLst>
                </a:gridCol>
                <a:gridCol w="9023515">
                  <a:extLst>
                    <a:ext uri="{9D8B030D-6E8A-4147-A177-3AD203B41FA5}">
                      <a16:colId xmlns:a16="http://schemas.microsoft.com/office/drawing/2014/main" val="3956250642"/>
                    </a:ext>
                  </a:extLst>
                </a:gridCol>
              </a:tblGrid>
              <a:tr h="438907">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421414538"/>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3.1.</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860183992"/>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10860125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3679089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61867572"/>
                  </a:ext>
                </a:extLst>
              </a:tr>
            </a:tbl>
          </a:graphicData>
        </a:graphic>
      </p:graphicFrame>
    </p:spTree>
    <p:extLst>
      <p:ext uri="{BB962C8B-B14F-4D97-AF65-F5344CB8AC3E}">
        <p14:creationId xmlns:p14="http://schemas.microsoft.com/office/powerpoint/2010/main" val="1382293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59A0C7-29CF-59A1-87D6-891D77B6B41D}"/>
              </a:ext>
            </a:extLst>
          </p:cNvPr>
          <p:cNvGraphicFramePr>
            <a:graphicFrameLocks noGrp="1"/>
          </p:cNvGraphicFramePr>
          <p:nvPr/>
        </p:nvGraphicFramePr>
        <p:xfrm>
          <a:off x="539120" y="1204126"/>
          <a:ext cx="10515600" cy="1517335"/>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1106697701"/>
                    </a:ext>
                  </a:extLst>
                </a:gridCol>
                <a:gridCol w="8629636">
                  <a:extLst>
                    <a:ext uri="{9D8B030D-6E8A-4147-A177-3AD203B41FA5}">
                      <a16:colId xmlns:a16="http://schemas.microsoft.com/office/drawing/2014/main" val="3632730796"/>
                    </a:ext>
                  </a:extLst>
                </a:gridCol>
              </a:tblGrid>
              <a:tr h="202581">
                <a:tc>
                  <a:txBody>
                    <a:bodyPr/>
                    <a:lstStyle/>
                    <a:p>
                      <a:pPr algn="ctr">
                        <a:lnSpc>
                          <a:spcPct val="115000"/>
                        </a:lnSpc>
                        <a:spcAft>
                          <a:spcPts val="300"/>
                        </a:spcAft>
                      </a:pPr>
                      <a:r>
                        <a:rPr lang="nl-NL"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169803711"/>
                  </a:ext>
                </a:extLst>
              </a:tr>
              <a:tr h="202581">
                <a:tc>
                  <a:txBody>
                    <a:bodyPr/>
                    <a:lstStyle/>
                    <a:p>
                      <a:pPr algn="ctr">
                        <a:lnSpc>
                          <a:spcPct val="115000"/>
                        </a:lnSpc>
                        <a:spcAft>
                          <a:spcPts val="300"/>
                        </a:spcAft>
                      </a:pP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4.1.</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21056423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4.2.</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F&amp;B</a:t>
                      </a:r>
                    </a:p>
                  </a:txBody>
                  <a:tcPr marL="66299" marR="66299" marT="0" marB="0" anchor="ctr"/>
                </a:tc>
                <a:extLst>
                  <a:ext uri="{0D108BD9-81ED-4DB2-BD59-A6C34878D82A}">
                    <a16:rowId xmlns:a16="http://schemas.microsoft.com/office/drawing/2014/main" val="2371487698"/>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84694603"/>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23191977"/>
                  </a:ext>
                </a:extLst>
              </a:tr>
            </a:tbl>
          </a:graphicData>
        </a:graphic>
      </p:graphicFrame>
      <p:graphicFrame>
        <p:nvGraphicFramePr>
          <p:cNvPr id="3" name="Table 2">
            <a:extLst>
              <a:ext uri="{FF2B5EF4-FFF2-40B4-BE49-F238E27FC236}">
                <a16:creationId xmlns:a16="http://schemas.microsoft.com/office/drawing/2014/main" id="{B464C6B4-70F7-3FB2-26DA-6951DE608222}"/>
              </a:ext>
            </a:extLst>
          </p:cNvPr>
          <p:cNvGraphicFramePr>
            <a:graphicFrameLocks noGrp="1"/>
          </p:cNvGraphicFramePr>
          <p:nvPr/>
        </p:nvGraphicFramePr>
        <p:xfrm>
          <a:off x="539120" y="2962388"/>
          <a:ext cx="10515600" cy="933223"/>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755161747"/>
                    </a:ext>
                  </a:extLst>
                </a:gridCol>
                <a:gridCol w="8629636">
                  <a:extLst>
                    <a:ext uri="{9D8B030D-6E8A-4147-A177-3AD203B41FA5}">
                      <a16:colId xmlns:a16="http://schemas.microsoft.com/office/drawing/2014/main" val="3531639564"/>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5</a:t>
                      </a:r>
                    </a:p>
                  </a:txBody>
                  <a:tcPr marL="66299" marR="66299" marT="0" marB="0" anchor="ctr"/>
                </a:tc>
                <a:tc>
                  <a:txBody>
                    <a:bodyPr/>
                    <a:lstStyle/>
                    <a:p>
                      <a:pPr>
                        <a:lnSpc>
                          <a:spcPct val="115000"/>
                        </a:lnSpc>
                        <a:spcAft>
                          <a:spcPts val="300"/>
                        </a:spcAft>
                      </a:pP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97825311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5.1.</a:t>
                      </a:r>
                    </a:p>
                  </a:txBody>
                  <a:tcPr marL="66299" marR="66299" marT="0" marB="0" anchor="ctr"/>
                </a:tc>
                <a:tc>
                  <a:txBody>
                    <a:bodyPr/>
                    <a:lstStyle/>
                    <a:p>
                      <a:pPr>
                        <a:lnSpc>
                          <a:spcPct val="115000"/>
                        </a:lnSpc>
                        <a:spcAft>
                          <a:spcPts val="300"/>
                        </a:spcAft>
                      </a:pPr>
                      <a:r>
                        <a:rPr lang="fr-FR"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dịch vụ bổ sung trong kinh doanh khách sạn</a:t>
                      </a:r>
                      <a:endPar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552319"/>
                  </a:ext>
                </a:extLst>
              </a:tr>
              <a:tr h="326289">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5.2.</a:t>
                      </a:r>
                    </a:p>
                  </a:txBody>
                  <a:tcPr marL="66299" marR="66299" marT="0" marB="0" anchor="ctr"/>
                </a:tc>
                <a:tc>
                  <a:txBody>
                    <a:bodyPr/>
                    <a:lstStyle/>
                    <a:p>
                      <a:pPr>
                        <a:lnSpc>
                          <a:spcPct val="115000"/>
                        </a:lnSpc>
                        <a:spcAft>
                          <a:spcPts val="300"/>
                        </a:spcAft>
                      </a:pP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63458410"/>
                  </a:ext>
                </a:extLst>
              </a:tr>
            </a:tbl>
          </a:graphicData>
        </a:graphic>
      </p:graphicFrame>
      <p:graphicFrame>
        <p:nvGraphicFramePr>
          <p:cNvPr id="4" name="Table 3">
            <a:extLst>
              <a:ext uri="{FF2B5EF4-FFF2-40B4-BE49-F238E27FC236}">
                <a16:creationId xmlns:a16="http://schemas.microsoft.com/office/drawing/2014/main" id="{306905C3-CFCB-DEEE-0C8A-DDCC89F69DE1}"/>
              </a:ext>
            </a:extLst>
          </p:cNvPr>
          <p:cNvGraphicFramePr>
            <a:graphicFrameLocks noGrp="1"/>
          </p:cNvGraphicFramePr>
          <p:nvPr/>
        </p:nvGraphicFramePr>
        <p:xfrm>
          <a:off x="539120" y="4136538"/>
          <a:ext cx="10515600" cy="1827334"/>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398876781"/>
                    </a:ext>
                  </a:extLst>
                </a:gridCol>
                <a:gridCol w="8629636">
                  <a:extLst>
                    <a:ext uri="{9D8B030D-6E8A-4147-A177-3AD203B41FA5}">
                      <a16:colId xmlns:a16="http://schemas.microsoft.com/office/drawing/2014/main" val="2654551777"/>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6</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p>
                  </a:txBody>
                  <a:tcPr marL="66299" marR="66299" marT="0" marB="0" anchor="ctr"/>
                </a:tc>
                <a:extLst>
                  <a:ext uri="{0D108BD9-81ED-4DB2-BD59-A6C34878D82A}">
                    <a16:rowId xmlns:a16="http://schemas.microsoft.com/office/drawing/2014/main" val="2364313024"/>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6.1.</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tổ chức sự kiện trong khách sạn</a:t>
                      </a:r>
                    </a:p>
                  </a:txBody>
                  <a:tcPr marL="66299" marR="66299" marT="0" marB="0" anchor="ctr"/>
                </a:tc>
                <a:extLst>
                  <a:ext uri="{0D108BD9-81ED-4DB2-BD59-A6C34878D82A}">
                    <a16:rowId xmlns:a16="http://schemas.microsoft.com/office/drawing/2014/main" val="973537183"/>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6.2.</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07355642"/>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716912530"/>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6.4.</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thành phần trong ban tổ chức sự kiện</a:t>
                      </a:r>
                    </a:p>
                  </a:txBody>
                  <a:tcPr marL="66299" marR="66299" marT="0" marB="0" anchor="ctr"/>
                </a:tc>
                <a:extLst>
                  <a:ext uri="{0D108BD9-81ED-4DB2-BD59-A6C34878D82A}">
                    <a16:rowId xmlns:a16="http://schemas.microsoft.com/office/drawing/2014/main" val="333648669"/>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6.5.</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7633178"/>
                  </a:ext>
                </a:extLst>
              </a:tr>
            </a:tbl>
          </a:graphicData>
        </a:graphic>
      </p:graphicFrame>
    </p:spTree>
    <p:extLst>
      <p:ext uri="{BB962C8B-B14F-4D97-AF65-F5344CB8AC3E}">
        <p14:creationId xmlns:p14="http://schemas.microsoft.com/office/powerpoint/2010/main" val="1489965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8C1CB-E887-ECF7-6125-537F06A05485}"/>
              </a:ext>
            </a:extLst>
          </p:cNvPr>
          <p:cNvSpPr txBox="1"/>
          <p:nvPr/>
        </p:nvSpPr>
        <p:spPr>
          <a:xfrm>
            <a:off x="537940" y="1848298"/>
            <a:ext cx="485096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THAM KHẢO </a:t>
            </a:r>
            <a:endParaRPr kumimoji="0" lang="vi-VN"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99A60FD1-86A1-7739-A279-033C5F439FDA}"/>
              </a:ext>
            </a:extLst>
          </p:cNvPr>
          <p:cNvSpPr txBox="1"/>
          <p:nvPr/>
        </p:nvSpPr>
        <p:spPr>
          <a:xfrm>
            <a:off x="537940" y="2923179"/>
            <a:ext cx="11344759" cy="2718501"/>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300"/>
              </a:spcAft>
              <a:buClrTx/>
              <a:buSzTx/>
              <a:buFontTx/>
              <a:buNone/>
              <a:tabLst/>
              <a:defRPr/>
            </a:pPr>
            <a:r>
              <a:rPr kumimoji="0" lang="vi-VN"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chính</a:t>
            </a:r>
            <a:endPar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0" algn="just" defTabSz="914400" rtl="0" eaLnBrk="1" fontAlgn="auto" latinLnBrk="0" hangingPunct="1">
              <a:lnSpc>
                <a:spcPct val="115000"/>
              </a:lnSpc>
              <a:spcBef>
                <a:spcPts val="0"/>
              </a:spcBef>
              <a:spcAft>
                <a:spcPts val="300"/>
              </a:spcAft>
              <a:buClrTx/>
              <a:buSzTx/>
              <a:buFontTx/>
              <a:buNone/>
              <a:tabLst>
                <a:tab pos="685800" algn="l"/>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Phạm Xuân Hậu (chủ biên), (2019), </a:t>
            </a:r>
            <a:r>
              <a:rPr kumimoji="0" lang="vi-VN" sz="2400" b="1" i="1"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Giáo trình Tổng quan Quản trị khách sạn,</a:t>
            </a: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NXB.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TP.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Hồ</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Chí Minh.</a:t>
            </a:r>
          </a:p>
          <a:p>
            <a:pPr marL="0" marR="0" lvl="0" indent="0" algn="l" defTabSz="914400" rtl="0" eaLnBrk="1" fontAlgn="auto" latinLnBrk="0" hangingPunct="1">
              <a:lnSpc>
                <a:spcPct val="115000"/>
              </a:lnSpc>
              <a:spcBef>
                <a:spcPts val="0"/>
              </a:spcBef>
              <a:spcAft>
                <a:spcPts val="300"/>
              </a:spcAft>
              <a:buClrTx/>
              <a:buSzTx/>
              <a:buFontTx/>
              <a:buNone/>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a:t>
            </a:r>
            <a:r>
              <a:rPr kumimoji="0" lang="en-US" sz="2400" b="1" i="0" u="none" strike="noStrike" kern="1200" cap="none" spc="0" normalizeH="0" baseline="0" noProof="0" dirty="0" err="1">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khảo</a:t>
            </a:r>
            <a:endPar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1" fontAlgn="auto" latinLnBrk="0" hangingPunct="1">
              <a:lnSpc>
                <a:spcPct val="115000"/>
              </a:lnSpc>
              <a:spcBef>
                <a:spcPts val="0"/>
              </a:spcBef>
              <a:spcAft>
                <a:spcPts val="300"/>
              </a:spcAft>
              <a:buClrTx/>
              <a:buSzTx/>
              <a:buFontTx/>
              <a:buNone/>
              <a:tabLst>
                <a:tab pos="457200" algn="l"/>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Bài giảng Tổng quan về Quản trị khách sạn (giảng viên cung cấp), Lưu hành nội bộ.</a:t>
            </a:r>
            <a:endPar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4330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941AD3-25EB-A969-F696-B8F1312D2939}"/>
              </a:ext>
            </a:extLst>
          </p:cNvPr>
          <p:cNvSpPr txBox="1"/>
          <p:nvPr/>
        </p:nvSpPr>
        <p:spPr>
          <a:xfrm>
            <a:off x="1763487" y="1753018"/>
            <a:ext cx="8850084" cy="2670475"/>
          </a:xfrm>
          <a:prstGeom prst="rect">
            <a:avLst/>
          </a:prstGeom>
          <a:noFill/>
        </p:spPr>
        <p:txBody>
          <a:bodyPr wrap="square">
            <a:spAutoFit/>
          </a:bodyPr>
          <a:lstStyle/>
          <a:p>
            <a:pPr algn="ctr">
              <a:lnSpc>
                <a:spcPct val="115000"/>
              </a:lnSpc>
              <a:spcAft>
                <a:spcPts val="800"/>
              </a:spcAft>
            </a:pPr>
            <a:r>
              <a:rPr lang="nl-NL" sz="48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48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4  </a:t>
            </a:r>
          </a:p>
          <a:p>
            <a:pPr algn="ctr">
              <a:lnSpc>
                <a:spcPct val="115000"/>
              </a:lnSpc>
              <a:spcAft>
                <a:spcPts val="800"/>
              </a:spcAft>
            </a:pPr>
            <a:r>
              <a:rPr lang="en-US" sz="48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HOẠT ĐỘNG CỦA BỘ PHẬN ẨM THỰC</a:t>
            </a:r>
            <a:endParaRPr lang="vi-VN" dirty="0"/>
          </a:p>
        </p:txBody>
      </p:sp>
    </p:spTree>
    <p:extLst>
      <p:ext uri="{BB962C8B-B14F-4D97-AF65-F5344CB8AC3E}">
        <p14:creationId xmlns:p14="http://schemas.microsoft.com/office/powerpoint/2010/main" val="4130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3980AFB-32B9-13D5-063C-7AFF4AF8B3BB}"/>
              </a:ext>
            </a:extLst>
          </p:cNvPr>
          <p:cNvGraphicFramePr>
            <a:graphicFrameLocks noGrp="1"/>
          </p:cNvGraphicFramePr>
          <p:nvPr>
            <p:extLst>
              <p:ext uri="{D42A27DB-BD31-4B8C-83A1-F6EECF244321}">
                <p14:modId xmlns:p14="http://schemas.microsoft.com/office/powerpoint/2010/main" val="3455801724"/>
              </p:ext>
            </p:extLst>
          </p:nvPr>
        </p:nvGraphicFramePr>
        <p:xfrm>
          <a:off x="696302" y="3429000"/>
          <a:ext cx="11145328" cy="2082548"/>
        </p:xfrm>
        <a:graphic>
          <a:graphicData uri="http://schemas.openxmlformats.org/drawingml/2006/table">
            <a:tbl>
              <a:tblPr/>
              <a:tblGrid>
                <a:gridCol w="11145328">
                  <a:extLst>
                    <a:ext uri="{9D8B030D-6E8A-4147-A177-3AD203B41FA5}">
                      <a16:colId xmlns:a16="http://schemas.microsoft.com/office/drawing/2014/main" val="2858116250"/>
                    </a:ext>
                  </a:extLst>
                </a:gridCol>
              </a:tblGrid>
              <a:tr h="501254">
                <a:tc>
                  <a:txBody>
                    <a:bodyPr/>
                    <a:lstStyle/>
                    <a:p>
                      <a:pPr marL="457200" indent="-457200">
                        <a:lnSpc>
                          <a:spcPct val="115000"/>
                        </a:lnSpc>
                        <a:spcAft>
                          <a:spcPts val="0"/>
                        </a:spcAft>
                        <a:buFont typeface="Wingdings" panose="05000000000000000000" pitchFamily="2" charset="2"/>
                        <a:buChar char="q"/>
                      </a:pP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040" marR="6604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038691"/>
                  </a:ext>
                </a:extLst>
              </a:tr>
              <a:tr h="501254">
                <a:tc>
                  <a:txBody>
                    <a:bodyPr/>
                    <a:lstStyle/>
                    <a:p>
                      <a:pPr marL="457200" indent="-457200">
                        <a:lnSpc>
                          <a:spcPct val="115000"/>
                        </a:lnSpc>
                        <a:spcAft>
                          <a:spcPts val="0"/>
                        </a:spcAft>
                        <a:buFont typeface="Wingdings" panose="05000000000000000000" pitchFamily="2" charset="2"/>
                        <a:buChar char="q"/>
                      </a:pP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F&amp;B</a:t>
                      </a:r>
                    </a:p>
                  </a:txBody>
                  <a:tcPr marL="66040" marR="6604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3882367"/>
                  </a:ext>
                </a:extLst>
              </a:tr>
              <a:tr h="501254">
                <a:tc>
                  <a:txBody>
                    <a:bodyPr/>
                    <a:lstStyle/>
                    <a:p>
                      <a:pPr marL="457200" indent="-457200">
                        <a:lnSpc>
                          <a:spcPct val="115000"/>
                        </a:lnSpc>
                        <a:spcAft>
                          <a:spcPts val="0"/>
                        </a:spcAft>
                        <a:buFont typeface="Wingdings" panose="05000000000000000000" pitchFamily="2" charset="2"/>
                        <a:buChar char="q"/>
                      </a:pP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040" marR="6604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9326095"/>
                  </a:ext>
                </a:extLst>
              </a:tr>
              <a:tr h="503589">
                <a:tc>
                  <a:txBody>
                    <a:bodyPr/>
                    <a:lstStyle/>
                    <a:p>
                      <a:pPr marL="457200" indent="-457200">
                        <a:lnSpc>
                          <a:spcPct val="115000"/>
                        </a:lnSpc>
                        <a:spcAft>
                          <a:spcPts val="800"/>
                        </a:spcAft>
                        <a:buFont typeface="Wingdings" panose="05000000000000000000" pitchFamily="2" charset="2"/>
                        <a:buChar char="q"/>
                        <a:tabLst/>
                      </a:pP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32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040" marR="6604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9239291"/>
                  </a:ext>
                </a:extLst>
              </a:tr>
            </a:tbl>
          </a:graphicData>
        </a:graphic>
      </p:graphicFrame>
      <p:sp>
        <p:nvSpPr>
          <p:cNvPr id="7" name="TextBox 6">
            <a:extLst>
              <a:ext uri="{FF2B5EF4-FFF2-40B4-BE49-F238E27FC236}">
                <a16:creationId xmlns:a16="http://schemas.microsoft.com/office/drawing/2014/main" id="{DC91BF58-6AF9-0D5B-617E-83F219DB6C36}"/>
              </a:ext>
            </a:extLst>
          </p:cNvPr>
          <p:cNvSpPr txBox="1"/>
          <p:nvPr/>
        </p:nvSpPr>
        <p:spPr>
          <a:xfrm>
            <a:off x="782565" y="1712613"/>
            <a:ext cx="10466717" cy="608436"/>
          </a:xfrm>
          <a:prstGeom prst="rect">
            <a:avLst/>
          </a:prstGeom>
          <a:noFill/>
        </p:spPr>
        <p:txBody>
          <a:bodyPr wrap="square">
            <a:spAutoFit/>
          </a:bodyPr>
          <a:lstStyle/>
          <a:p>
            <a:pPr>
              <a:lnSpc>
                <a:spcPct val="115000"/>
              </a:lnSpc>
              <a:spcAft>
                <a:spcPts val="800"/>
              </a:spcAft>
            </a:pPr>
            <a:r>
              <a:rPr lang="en-US" sz="32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NỘI DUNG</a:t>
            </a:r>
          </a:p>
        </p:txBody>
      </p:sp>
    </p:spTree>
    <p:extLst>
      <p:ext uri="{BB962C8B-B14F-4D97-AF65-F5344CB8AC3E}">
        <p14:creationId xmlns:p14="http://schemas.microsoft.com/office/powerpoint/2010/main" val="1373674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5D0D1E-FAE5-4589-9ED6-5D677D704958}"/>
              </a:ext>
            </a:extLst>
          </p:cNvPr>
          <p:cNvSpPr txBox="1"/>
          <p:nvPr/>
        </p:nvSpPr>
        <p:spPr>
          <a:xfrm>
            <a:off x="237750" y="1136930"/>
            <a:ext cx="6098582" cy="584775"/>
          </a:xfrm>
          <a:prstGeom prst="rect">
            <a:avLst/>
          </a:prstGeom>
          <a:noFill/>
        </p:spPr>
        <p:txBody>
          <a:bodyPr wrap="square">
            <a:spAutoFit/>
          </a:bodyPr>
          <a:lstStyle/>
          <a:p>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BÀI HỌC </a:t>
            </a:r>
          </a:p>
        </p:txBody>
      </p:sp>
      <p:sp>
        <p:nvSpPr>
          <p:cNvPr id="5" name="TextBox 4">
            <a:extLst>
              <a:ext uri="{FF2B5EF4-FFF2-40B4-BE49-F238E27FC236}">
                <a16:creationId xmlns:a16="http://schemas.microsoft.com/office/drawing/2014/main" id="{FCA3E151-C07F-96D7-DCFF-E1DBDC5D5917}"/>
              </a:ext>
            </a:extLst>
          </p:cNvPr>
          <p:cNvSpPr txBox="1"/>
          <p:nvPr/>
        </p:nvSpPr>
        <p:spPr>
          <a:xfrm>
            <a:off x="237749" y="2135776"/>
            <a:ext cx="11716501" cy="4401205"/>
          </a:xfrm>
          <a:prstGeom prst="rect">
            <a:avLst/>
          </a:prstGeom>
          <a:noFill/>
        </p:spPr>
        <p:txBody>
          <a:bodyPr wrap="square">
            <a:spAutoFit/>
          </a:bodyPr>
          <a:lstStyle/>
          <a:p>
            <a:pPr marL="342900" indent="-342900">
              <a:spcBef>
                <a:spcPts val="1200"/>
              </a:spcBef>
              <a:buFont typeface="Wingdings" panose="05000000000000000000" pitchFamily="2" charset="2"/>
              <a:buChar char="q"/>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Nắm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cung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ăn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đóng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góp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Hiểu được nhiệm vụ chính của các vị trí trong bộ phận ẩm thực và cách mỗi vị trí này đóng góp vào thành công chung của khách sạn.</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 khả năng vẽ sơ đồ cơ cấu tổ chức của bộ phận f&amp;b và trình bày chức năng, nhiệm vụ của từng vị trí trong cơ cấu này</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Hiểu rõ khái niệm thực đơn, các loại thực đơn phổ biến, và cách chúng được áp dụng trong các nhà hàng khách sạn.</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q"/>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yếu tố ảnh hưởng đến doanh thu nhà hàng và cách quản lý chúng một cách hiệu quả.</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15533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6C99FF-C109-50C8-F8F4-C0C48A84A387}"/>
              </a:ext>
            </a:extLst>
          </p:cNvPr>
          <p:cNvSpPr txBox="1"/>
          <p:nvPr/>
        </p:nvSpPr>
        <p:spPr>
          <a:xfrm>
            <a:off x="648419" y="1061664"/>
            <a:ext cx="10459527" cy="584775"/>
          </a:xfrm>
          <a:prstGeom prst="rect">
            <a:avLst/>
          </a:prstGeom>
          <a:noFill/>
        </p:spPr>
        <p:txBody>
          <a:bodyPr wrap="square">
            <a:spAutoFit/>
          </a:bodyPr>
          <a:lstStyle/>
          <a:p>
            <a:r>
              <a:rPr lang="en-US"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 </a:t>
            </a:r>
            <a:r>
              <a:rPr lang="vi-VN"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VAI TRÒ VÀ NHIỆM VỤ CỦA BỘ PHẬN ẨM THỰC</a:t>
            </a:r>
          </a:p>
        </p:txBody>
      </p:sp>
      <p:sp>
        <p:nvSpPr>
          <p:cNvPr id="2" name="Rectangle 1">
            <a:extLst>
              <a:ext uri="{FF2B5EF4-FFF2-40B4-BE49-F238E27FC236}">
                <a16:creationId xmlns:a16="http://schemas.microsoft.com/office/drawing/2014/main" id="{A00DEA67-ADF9-4A5A-48CD-31BA7510397B}"/>
              </a:ext>
            </a:extLst>
          </p:cNvPr>
          <p:cNvSpPr>
            <a:spLocks noChangeArrowheads="1"/>
          </p:cNvSpPr>
          <p:nvPr/>
        </p:nvSpPr>
        <p:spPr bwMode="auto">
          <a:xfrm>
            <a:off x="445698" y="2122321"/>
            <a:ext cx="11300604"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ts val="1200"/>
              </a:spcBef>
              <a:spcAft>
                <a:spcPct val="0"/>
              </a:spcAft>
              <a:buClrTx/>
              <a:buSzTx/>
              <a:buFontTx/>
              <a:buChar char="•"/>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ngoài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ts val="120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Đóng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góp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ts val="120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ấn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ts val="120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quầy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bar,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ts val="120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ts val="120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405115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DC273C-8288-FF7A-6510-3E9E3D2B0EF9}"/>
              </a:ext>
            </a:extLst>
          </p:cNvPr>
          <p:cNvSpPr txBox="1"/>
          <p:nvPr/>
        </p:nvSpPr>
        <p:spPr>
          <a:xfrm>
            <a:off x="224594" y="670992"/>
            <a:ext cx="11218653" cy="5816977"/>
          </a:xfrm>
          <a:prstGeom prst="rect">
            <a:avLst/>
          </a:prstGeom>
          <a:noFill/>
        </p:spPr>
        <p:txBody>
          <a:bodyPr wrap="square">
            <a:spAutoFit/>
          </a:bodyPr>
          <a:lstStyle/>
          <a:p>
            <a:pPr algn="just">
              <a:spcBef>
                <a:spcPts val="12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CUNG CẤP DỊCH VỤ ĂN UỐNG CHO KHÁCH HÀNG </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LƯU </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TRÚ VÀ BÊN NGOÀI</a:t>
            </a:r>
          </a:p>
          <a:p>
            <a:pPr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trú:</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F&amp;B chịu trách nhiệm cung cấp các bữa ăn cho khách hàng lưu trú tại khách sạn, bao gồm các bữa sáng, trưa, tối và các dịch vụ ăn uống khác như phòng ăn tại phòng (room service).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này giúp khách sạn đảm bảo rằng mọi nhu cầu ăn uống của khách hàng đều được đáp ứng một cách thuận tiện và chuyên nghiệp.</a:t>
            </a:r>
          </a:p>
          <a:p>
            <a:pPr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bên ngoài:</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Ngoài khách hàng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trú</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bộ phận F&amp;B còn phục vụ các khách hàng từ bên ngoài, đặc biệt là tại các nhà hàng, quầy bar, tiệc cưới, và sự kiện mà khách sạn tổ chức.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Đây là một nguồn thu quan trọng và là cơ hội để mở rộng thị phần khách hàng của khách sạn.</a:t>
            </a:r>
          </a:p>
        </p:txBody>
      </p:sp>
    </p:spTree>
    <p:extLst>
      <p:ext uri="{BB962C8B-B14F-4D97-AF65-F5344CB8AC3E}">
        <p14:creationId xmlns:p14="http://schemas.microsoft.com/office/powerpoint/2010/main" val="1918093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5DC162-68D9-E56A-5B80-8E4EC58C301B}"/>
              </a:ext>
            </a:extLst>
          </p:cNvPr>
          <p:cNvSpPr txBox="1"/>
          <p:nvPr/>
        </p:nvSpPr>
        <p:spPr>
          <a:xfrm>
            <a:off x="376187" y="1076911"/>
            <a:ext cx="8371935" cy="461665"/>
          </a:xfrm>
          <a:prstGeom prst="rect">
            <a:avLst/>
          </a:prstGeom>
          <a:noFill/>
        </p:spPr>
        <p:txBody>
          <a:bodyPr wrap="square">
            <a:spAutoFit/>
          </a:bodyPr>
          <a:lstStyle/>
          <a:p>
            <a:pPr marL="0" marR="0" lvl="0" indent="0" algn="l" defTabSz="914400" rtl="0" eaLnBrk="0" fontAlgn="base" latinLnBrk="0" hangingPunct="0">
              <a:lnSpc>
                <a:spcPct val="100000"/>
              </a:lnSpc>
              <a:spcBef>
                <a:spcPts val="1200"/>
              </a:spcBef>
              <a:spcAft>
                <a:spcPct val="0"/>
              </a:spcAft>
              <a:buClrTx/>
              <a:buSzTx/>
              <a:buFontTx/>
              <a:buChar char="•"/>
              <a:tabLst/>
            </a:pPr>
            <a:r>
              <a:rPr lang="en-US" alt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ĐÓNG GÓP VÀO DOANH THU CHÍNH CỦA KHÁCH SẠN.</a:t>
            </a:r>
          </a:p>
        </p:txBody>
      </p:sp>
      <p:sp>
        <p:nvSpPr>
          <p:cNvPr id="6" name="TextBox 5">
            <a:extLst>
              <a:ext uri="{FF2B5EF4-FFF2-40B4-BE49-F238E27FC236}">
                <a16:creationId xmlns:a16="http://schemas.microsoft.com/office/drawing/2014/main" id="{1528793B-645B-6EE3-9F29-CAA5DAD9C0C3}"/>
              </a:ext>
            </a:extLst>
          </p:cNvPr>
          <p:cNvSpPr txBox="1"/>
          <p:nvPr/>
        </p:nvSpPr>
        <p:spPr>
          <a:xfrm>
            <a:off x="565030" y="1538576"/>
            <a:ext cx="10908102" cy="4924425"/>
          </a:xfrm>
          <a:prstGeom prst="rect">
            <a:avLst/>
          </a:prstGeom>
          <a:noFill/>
        </p:spPr>
        <p:txBody>
          <a:bodyPr wrap="square">
            <a:spAutoFit/>
          </a:bodyPr>
          <a:lstStyle/>
          <a:p>
            <a:pPr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Nguồn thu chính: </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F&amp;B đóng góp một phần không nhỏ vào tổng doanh thu của khách sạn thông qua việc kinh doanh dịch vụ ăn uống, tiệc tùng, và các sự kiện đặc biệt.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từ bộ phận F&amp;B thường chiếm từ 30% đến 50% tổng doanh thu của một khách sạn.</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hóa lợi nhuận: </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Bằng cách quản lý hiệu quả chi phí nguyên liệu, nhân công và nâng cao chất lượng dịch vụ, bộ phận F&amp;B có thể tối ưu hóa lợi nhuận.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 này không chỉ giúp cải thiện kết quả kinh doanh của khách sạn mà còn tăng cường uy tín và sự hài lòng của khách hàng.</a:t>
            </a:r>
          </a:p>
        </p:txBody>
      </p:sp>
    </p:spTree>
    <p:extLst>
      <p:ext uri="{BB962C8B-B14F-4D97-AF65-F5344CB8AC3E}">
        <p14:creationId xmlns:p14="http://schemas.microsoft.com/office/powerpoint/2010/main" val="931870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C41F07-B3A2-19A7-8CCB-72DF674519BA}"/>
              </a:ext>
            </a:extLst>
          </p:cNvPr>
          <p:cNvSpPr txBox="1"/>
          <p:nvPr/>
        </p:nvSpPr>
        <p:spPr>
          <a:xfrm>
            <a:off x="441488" y="1022013"/>
            <a:ext cx="11028872" cy="5447645"/>
          </a:xfrm>
          <a:prstGeom prst="rect">
            <a:avLst/>
          </a:prstGeom>
          <a:noFill/>
        </p:spPr>
        <p:txBody>
          <a:bodyPr wrap="square">
            <a:spAutoFit/>
          </a:bodyPr>
          <a:lstStyle/>
          <a:p>
            <a:pPr>
              <a:spcBef>
                <a:spcPts val="12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TẠO ẤN TƯỢNG VÀ NÂNG CAO TRẢI NGHIỆM CỦA KHÁCH HÀNG</a:t>
            </a:r>
          </a:p>
          <a:p>
            <a:pPr>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 nghiệm khách hàng: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 trong những yếu tố quyết định đến sự hài lòng của khách hàng là chất lượng dịch vụ ăn uống.</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F&amp;B có thể tạo ấn tượng mạnh mẽ với khách hàng thông qua cách phục vụ chuyên nghiệp, món ăn ngon và đa dạng, không gian nhà hàng thoải mái, và dịch vụ tận tình.</a:t>
            </a:r>
          </a:p>
          <a:p>
            <a:pPr>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 điểm nhấn: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dịch vụ đặc biệt như tổ chức tiệc cưới, lễ hội, và các sự kiện theo chủ đề giúp khách sạn trở nên nổi bật và ghi dấu ấn trong lòng khách hàng.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này không chỉ giúp giữ chân khách hàng mà còn thu hút khách hàng mới, tăng cường thương hiệu của khách sạn.</a:t>
            </a:r>
          </a:p>
        </p:txBody>
      </p:sp>
    </p:spTree>
    <p:extLst>
      <p:ext uri="{BB962C8B-B14F-4D97-AF65-F5344CB8AC3E}">
        <p14:creationId xmlns:p14="http://schemas.microsoft.com/office/powerpoint/2010/main" val="1934031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01C47A-01E0-E8AE-B56C-E87A9F680704}"/>
              </a:ext>
            </a:extLst>
          </p:cNvPr>
          <p:cNvSpPr txBox="1"/>
          <p:nvPr/>
        </p:nvSpPr>
        <p:spPr>
          <a:xfrm>
            <a:off x="172529" y="207034"/>
            <a:ext cx="11846942" cy="6678751"/>
          </a:xfrm>
          <a:prstGeom prst="rect">
            <a:avLst/>
          </a:prstGeom>
          <a:noFill/>
        </p:spPr>
        <p:txBody>
          <a:bodyPr wrap="square">
            <a:spAutoFit/>
          </a:bodyPr>
          <a:lstStyle/>
          <a:p>
            <a:pPr algn="r">
              <a:spcBef>
                <a:spcPts val="12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QUẢN LÝ VÀ VẬN HÀNH NHÀ HÀNG, QUẦY BAR, </a:t>
            </a:r>
            <a:endPar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r">
              <a:spcBef>
                <a:spcPts val="12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VÀ CÁC DỊCH VỤ ĂN UỐNG KHÁC</a:t>
            </a:r>
          </a:p>
          <a:p>
            <a:pPr algn="just">
              <a:spcBef>
                <a:spcPts val="1200"/>
              </a:spcBef>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nhà hàng:</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Bao gồm việc tổ chức thực đơn, điều hành nhân sự, sắp xếp lịch làm việc, và đảm bảo rằng mọi hoạt động của nhà hàng diễn ra suôn sẻ.</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 này yêu cầu sự phối hợp nhịp nhàng giữa các bộ phận trong khách sạn để đáp ứng yêu cầu của khách hàng một cách tốt nhất.</a:t>
            </a:r>
          </a:p>
          <a:p>
            <a:pPr algn="just">
              <a:spcBef>
                <a:spcPts val="1200"/>
              </a:spcBef>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quầy bar:</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Tương tự như nhà hàng, quầy bar cần được quản lý chặt chẽ từ việc chọn lựa đồ uống, đào tạo nhân viên pha chế, đến việc duy trì không khí và phong cách phục vụ phù hợp. </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quầy bar cũng bao gồm việc tổ chức các sự kiện như "happy hour" để thu hút khách hàng.</a:t>
            </a:r>
          </a:p>
          <a:p>
            <a:pPr algn="just">
              <a:spcBef>
                <a:spcPts val="1200"/>
              </a:spcBef>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các dịch vụ khác:</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Ngoài nhà hàng và quầy bar, bộ phận F&amp;B còn phải quản lý các dịch vụ ăn uống khác như dịch vụ ăn uống tại phòng (room service), quán cà phê, và các khu vực ăn uống nhỏ khác trong khách sạn. </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 loại hình dịch vụ này đều cần được quản lý một cách phù hợp để tối ưu hóa trải nghiệm của khách hàng và tối đa hóa doanh thu.</a:t>
            </a:r>
          </a:p>
        </p:txBody>
      </p:sp>
    </p:spTree>
    <p:extLst>
      <p:ext uri="{BB962C8B-B14F-4D97-AF65-F5344CB8AC3E}">
        <p14:creationId xmlns:p14="http://schemas.microsoft.com/office/powerpoint/2010/main" val="740515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51B5CB-1251-1414-5C1D-391D1BFE4D13}"/>
              </a:ext>
            </a:extLst>
          </p:cNvPr>
          <p:cNvSpPr txBox="1"/>
          <p:nvPr/>
        </p:nvSpPr>
        <p:spPr>
          <a:xfrm>
            <a:off x="210383" y="1233518"/>
            <a:ext cx="11283351" cy="5078313"/>
          </a:xfrm>
          <a:prstGeom prst="rect">
            <a:avLst/>
          </a:prstGeom>
          <a:noFill/>
        </p:spPr>
        <p:txBody>
          <a:bodyPr wrap="square">
            <a:spAutoFit/>
          </a:bodyPr>
          <a:lstStyle/>
          <a:p>
            <a:pPr algn="just">
              <a:spcBef>
                <a:spcPts val="12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TỔ CHỨC VÀ CUNG CẤP DỊCH VỤ TIỆC, HỘI NGHỊ</a:t>
            </a:r>
          </a:p>
          <a:p>
            <a:pPr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tiệc cưới và sự kiện: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F&amp;B thường chịu trách nhiệm tổ chức và cung cấp dịch vụ cho các sự kiện lớn như tiệc cưới, hội nghị, và các bữa tiệc công ty.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 tổ chức này bao gồm từ khâu lên kế hoạch, chọn thực đơn, trang trí không gian, đến việc phục vụ trong suốt sự kiện.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dịch vụ hội nghị:</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Đối với các hội nghị, hội thảo, bộ phận F&amp;B cần đảm bảo cung cấp các bữa ăn và giải khát trong suốt thời gian diễn ra sự kiện.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này đòi hỏi sự linh hoạt và khả năng đáp ứng nhanh chóng theo yêu cầu của khách hàng, từ việc phục vụ buffet đến các bữa tiệc nhẹ.</a:t>
            </a:r>
          </a:p>
        </p:txBody>
      </p:sp>
    </p:spTree>
    <p:extLst>
      <p:ext uri="{BB962C8B-B14F-4D97-AF65-F5344CB8AC3E}">
        <p14:creationId xmlns:p14="http://schemas.microsoft.com/office/powerpoint/2010/main" val="732891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783D65-6211-CB1D-D4FD-8BCBE72CB26B}"/>
              </a:ext>
            </a:extLst>
          </p:cNvPr>
          <p:cNvSpPr txBox="1"/>
          <p:nvPr/>
        </p:nvSpPr>
        <p:spPr>
          <a:xfrm>
            <a:off x="291383" y="1003351"/>
            <a:ext cx="11404120" cy="5447645"/>
          </a:xfrm>
          <a:prstGeom prst="rect">
            <a:avLst/>
          </a:prstGeom>
          <a:noFill/>
        </p:spPr>
        <p:txBody>
          <a:bodyPr wrap="square">
            <a:spAutoFit/>
          </a:bodyPr>
          <a:lstStyle/>
          <a:p>
            <a:pPr algn="just">
              <a:spcBef>
                <a:spcPts val="12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ĐẢM BẢO CHẤT LƯỢNG THỰC PHẨM VÀ AN TOÀN VỆ SINH THỰC PHẨM</a:t>
            </a:r>
          </a:p>
          <a:p>
            <a:pPr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Chất lượng thực phẩm: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 đảm bảo chất lượng thực phẩm là yếu tố hàng đầu trong hoạt động của bộ phận F&amp;B.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này bao gồm việc lựa chọn nguyên liệu tươi ngon, quản lý kho bãi một cách hiệu quả, và thực hiện các tiêu chuẩn cao về chế biến món ăn.</a:t>
            </a:r>
          </a:p>
          <a:p>
            <a:pPr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An toàn vệ sinh thực phẩm: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F&amp;B phải tuân thủ nghiêm ngặt các quy định về an toàn vệ sinh thực phẩm để đảm bảo sức khỏe cho khách hàng.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này bao gồm các biện pháp kiểm tra, lưu trữ thực phẩm đúng cách, vệ sinh khu vực chế biến, và đào tạo nhân viên về các quy trình an toàn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nhằm</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tránh được các rủi ro liên quan đến sức khỏe khách hàng và pháp lý.</a:t>
            </a:r>
          </a:p>
        </p:txBody>
      </p:sp>
    </p:spTree>
    <p:extLst>
      <p:ext uri="{BB962C8B-B14F-4D97-AF65-F5344CB8AC3E}">
        <p14:creationId xmlns:p14="http://schemas.microsoft.com/office/powerpoint/2010/main" val="172134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EA6E47-EC5C-AE5F-64A3-0C527B280C71}"/>
              </a:ext>
            </a:extLst>
          </p:cNvPr>
          <p:cNvSpPr txBox="1"/>
          <p:nvPr/>
        </p:nvSpPr>
        <p:spPr>
          <a:xfrm>
            <a:off x="6096000" y="218473"/>
            <a:ext cx="5641675" cy="584775"/>
          </a:xfrm>
          <a:prstGeom prst="rect">
            <a:avLst/>
          </a:prstGeom>
          <a:noFill/>
        </p:spPr>
        <p:txBody>
          <a:bodyPr wrap="square" rtlCol="0">
            <a:spAutoFit/>
          </a:bodyPr>
          <a:lstStyle/>
          <a:p>
            <a:r>
              <a:rPr lang="en-US"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CƠ CẤU TỔ CHỨC </a:t>
            </a:r>
            <a:endParaRPr lang="vi-VN"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2" name="Picture 1">
            <a:extLst>
              <a:ext uri="{FF2B5EF4-FFF2-40B4-BE49-F238E27FC236}">
                <a16:creationId xmlns:a16="http://schemas.microsoft.com/office/drawing/2014/main" id="{495184E2-7481-4855-7D41-971BBEE571C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75329" y="912579"/>
            <a:ext cx="11293514" cy="5617618"/>
          </a:xfrm>
          <a:prstGeom prst="rect">
            <a:avLst/>
          </a:prstGeom>
          <a:noFill/>
        </p:spPr>
      </p:pic>
    </p:spTree>
    <p:extLst>
      <p:ext uri="{BB962C8B-B14F-4D97-AF65-F5344CB8AC3E}">
        <p14:creationId xmlns:p14="http://schemas.microsoft.com/office/powerpoint/2010/main" val="3131147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D929B3-A2AE-B708-62C3-3EDD46B48547}"/>
              </a:ext>
            </a:extLst>
          </p:cNvPr>
          <p:cNvSpPr txBox="1"/>
          <p:nvPr/>
        </p:nvSpPr>
        <p:spPr>
          <a:xfrm>
            <a:off x="82513" y="1222848"/>
            <a:ext cx="11507638" cy="5170646"/>
          </a:xfrm>
          <a:prstGeom prst="rect">
            <a:avLst/>
          </a:prstGeom>
          <a:noFill/>
        </p:spPr>
        <p:txBody>
          <a:bodyPr wrap="square">
            <a:spAutoFit/>
          </a:bodyPr>
          <a:lstStyle/>
          <a:p>
            <a:pPr>
              <a:buFont typeface="Arial" panose="020B0604020202020204" pitchFamily="34" charset="0"/>
              <a:buChar char="•"/>
            </a:pPr>
            <a:endParaRPr lang="vi-VN" dirty="0">
              <a:solidFill>
                <a:srgbClr val="002060"/>
              </a:solidFill>
            </a:endParaRPr>
          </a:p>
          <a:p>
            <a:pPr marL="742950" lvl="1" indent="-28575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F&amp;B Manager:</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Quản lý chung các hoạt động của bộ phận ẩm thực, điều phối các bộ phận nhỏ, và chịu trách nhiệm về chất lượng dịch vụ và doanh thu.</a:t>
            </a:r>
          </a:p>
          <a:p>
            <a:pPr marL="742950" lvl="1" indent="-28575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Executive Chef:</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Điều hành hoạt động bếp, xây dựng menu, quản lý nhân viên bếp, và đảm bảo chất lượng món ăn.</a:t>
            </a:r>
          </a:p>
          <a:p>
            <a:pPr marL="742950" lvl="1" indent="-28575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Restaurant Manager:</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Quản lý hoạt động nhà hàng, nhân viên phục vụ, và đảm bảo khách hàng hài lòng.</a:t>
            </a:r>
          </a:p>
          <a:p>
            <a:pPr marL="742950" lvl="1" indent="-28575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Banquet Manager:</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Quản lý các sự kiện, tiệc cưới, hội nghị, từ khâu chuẩn bị đến phục vụ.</a:t>
            </a:r>
          </a:p>
          <a:p>
            <a:pPr marL="742950" lvl="1" indent="-28575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Bar Manager:</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Quản lý các hoạt động của quầy bar, bao gồm menu đồ uống và dịch vụ khách hàng.</a:t>
            </a:r>
          </a:p>
          <a:p>
            <a:pPr marL="742950" lvl="1" indent="-28575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Service Staff:</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Thực hiện công việc phục vụ tại nhà hàng, quầy bar, và các sự kiện.</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buFont typeface="Wingdings" panose="05000000000000000000" pitchFamily="2" charset="2"/>
              <a:buChar char="q"/>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31091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4C95E2-51F0-101B-4D8F-1757A8257920}"/>
              </a:ext>
            </a:extLst>
          </p:cNvPr>
          <p:cNvSpPr txBox="1"/>
          <p:nvPr/>
        </p:nvSpPr>
        <p:spPr>
          <a:xfrm>
            <a:off x="454324" y="2987297"/>
            <a:ext cx="11283351" cy="2930867"/>
          </a:xfrm>
          <a:prstGeom prst="rect">
            <a:avLst/>
          </a:prstGeom>
          <a:noFill/>
        </p:spPr>
        <p:txBody>
          <a:bodyPr wrap="square">
            <a:spAutoFit/>
          </a:bodyPr>
          <a:lstStyle/>
          <a:p>
            <a:pPr marL="914400" lvl="1" indent="-457200">
              <a:lnSpc>
                <a:spcPct val="200000"/>
              </a:lnSpc>
              <a:buFont typeface="+mj-lt"/>
              <a:buAutoNum type="arabicPeriod"/>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công và quản lý nhân sự.</a:t>
            </a:r>
          </a:p>
          <a:p>
            <a:pPr marL="914400" lvl="1" indent="-457200">
              <a:lnSpc>
                <a:spcPct val="200000"/>
              </a:lnSpc>
              <a:buFont typeface="+mj-lt"/>
              <a:buAutoNum type="arabicPeriod"/>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Lập kế hoạch dịch vụ và sự kiện.</a:t>
            </a:r>
          </a:p>
          <a:p>
            <a:pPr marL="914400" lvl="1" indent="-457200">
              <a:lnSpc>
                <a:spcPct val="200000"/>
              </a:lnSpc>
              <a:buFont typeface="+mj-lt"/>
              <a:buAutoNum type="arabicPeriod"/>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chất lượng và chi phí.</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1" indent="-457200">
              <a:lnSpc>
                <a:spcPct val="200000"/>
              </a:lnSpc>
              <a:buFont typeface="+mj-lt"/>
              <a:buAutoNum type="arabicPeriod"/>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soát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đơn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DAC08CC9-F5AD-64C3-DB51-D91972F3D957}"/>
              </a:ext>
            </a:extLst>
          </p:cNvPr>
          <p:cNvSpPr txBox="1"/>
          <p:nvPr/>
        </p:nvSpPr>
        <p:spPr>
          <a:xfrm>
            <a:off x="111424" y="1179051"/>
            <a:ext cx="11070771" cy="1077218"/>
          </a:xfrm>
          <a:prstGeom prst="rect">
            <a:avLst/>
          </a:prstGeom>
          <a:noFill/>
        </p:spPr>
        <p:txBody>
          <a:bodyPr wrap="square">
            <a:spAutoFit/>
          </a:bodyPr>
          <a:lstStyle/>
          <a:p>
            <a:pPr algn="ctr"/>
            <a:r>
              <a:rPr lang="en-US"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vi-VN"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TỔ CHỨC VÀ QUẢN LÝ HOẠT ĐỘNG </a:t>
            </a:r>
            <a:endParaRPr lang="en-US"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ctr"/>
            <a:r>
              <a:rPr lang="vi-VN"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ẨM THỰC</a:t>
            </a:r>
          </a:p>
        </p:txBody>
      </p:sp>
    </p:spTree>
    <p:extLst>
      <p:ext uri="{BB962C8B-B14F-4D97-AF65-F5344CB8AC3E}">
        <p14:creationId xmlns:p14="http://schemas.microsoft.com/office/powerpoint/2010/main" val="4030529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0F0FBA-4E1E-5AD3-FF1E-35847B721EEE}"/>
              </a:ext>
            </a:extLst>
          </p:cNvPr>
          <p:cNvSpPr txBox="1"/>
          <p:nvPr/>
        </p:nvSpPr>
        <p:spPr>
          <a:xfrm>
            <a:off x="265637" y="2431956"/>
            <a:ext cx="11253158" cy="3139321"/>
          </a:xfrm>
          <a:prstGeom prst="rect">
            <a:avLst/>
          </a:prstGeom>
          <a:noFill/>
        </p:spPr>
        <p:txBody>
          <a:bodyPr wrap="square">
            <a:spAutoFit/>
          </a:bodyPr>
          <a:lstStyle/>
          <a:p>
            <a:pPr marL="342900" indent="-34290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Tầm quan trọng của quản lý nhân sự trong F&amp;B</a:t>
            </a:r>
          </a:p>
          <a:p>
            <a:pPr marL="982663" indent="-258763">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 suất làm việc:</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hiệu suất cao thông qua quản lý tốt nguồn nhân lực.</a:t>
            </a:r>
          </a:p>
          <a:p>
            <a:pPr marL="982663" indent="-258763">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khách hàng: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Nhân sự được phân công hợp lý giúp nâng cao chất lượng dịch vụ khách hàng.</a:t>
            </a:r>
          </a:p>
          <a:p>
            <a:pPr marL="982663" indent="-258763">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hóa chi phí:</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Quản lý nhân sự hiệu quả giúp tối ưu hóa chi phí hoạt động.</a:t>
            </a:r>
          </a:p>
        </p:txBody>
      </p:sp>
      <p:sp>
        <p:nvSpPr>
          <p:cNvPr id="5" name="TextBox 4">
            <a:extLst>
              <a:ext uri="{FF2B5EF4-FFF2-40B4-BE49-F238E27FC236}">
                <a16:creationId xmlns:a16="http://schemas.microsoft.com/office/drawing/2014/main" id="{BF5E8D62-2611-9EF6-5633-C92B275823D2}"/>
              </a:ext>
            </a:extLst>
          </p:cNvPr>
          <p:cNvSpPr txBox="1"/>
          <p:nvPr/>
        </p:nvSpPr>
        <p:spPr>
          <a:xfrm>
            <a:off x="0" y="1517739"/>
            <a:ext cx="8259176" cy="461665"/>
          </a:xfrm>
          <a:prstGeom prst="rect">
            <a:avLst/>
          </a:prstGeom>
          <a:noFill/>
        </p:spPr>
        <p:txBody>
          <a:bodyPr wrap="square">
            <a:spAutoFit/>
          </a:bodyPr>
          <a:lstStyle/>
          <a:p>
            <a:pPr lvl="1"/>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 </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PHÂN CÔNG VÀ QUẢN LÝ NHÂN SỰ.</a:t>
            </a:r>
          </a:p>
        </p:txBody>
      </p:sp>
    </p:spTree>
    <p:extLst>
      <p:ext uri="{BB962C8B-B14F-4D97-AF65-F5344CB8AC3E}">
        <p14:creationId xmlns:p14="http://schemas.microsoft.com/office/powerpoint/2010/main" val="3427367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3E49A4-39A8-188F-2C1E-193049A66854}"/>
              </a:ext>
            </a:extLst>
          </p:cNvPr>
          <p:cNvSpPr txBox="1"/>
          <p:nvPr/>
        </p:nvSpPr>
        <p:spPr>
          <a:xfrm>
            <a:off x="521710" y="1128160"/>
            <a:ext cx="6508629" cy="461665"/>
          </a:xfrm>
          <a:prstGeom prst="rect">
            <a:avLst/>
          </a:prstGeom>
          <a:noFill/>
        </p:spPr>
        <p:txBody>
          <a:bodyPr wrap="square">
            <a:spAutoFit/>
          </a:bodyPr>
          <a:lstStyle/>
          <a:p>
            <a:pPr marL="457200" indent="-4572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Quy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Rectangle 1">
            <a:extLst>
              <a:ext uri="{FF2B5EF4-FFF2-40B4-BE49-F238E27FC236}">
                <a16:creationId xmlns:a16="http://schemas.microsoft.com/office/drawing/2014/main" id="{24371174-514E-2839-32B0-20458EF23ED4}"/>
              </a:ext>
            </a:extLst>
          </p:cNvPr>
          <p:cNvSpPr>
            <a:spLocks noChangeArrowheads="1"/>
          </p:cNvSpPr>
          <p:nvPr/>
        </p:nvSpPr>
        <p:spPr bwMode="auto">
          <a:xfrm>
            <a:off x="393640" y="1687354"/>
            <a:ext cx="1163272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v"/>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0668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10668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v"/>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0668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10668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v"/>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dẫn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0668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10668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nắm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chuẩn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ts val="120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942080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359DE4-C1E5-56B7-EF56-22EDB04C5C75}"/>
              </a:ext>
            </a:extLst>
          </p:cNvPr>
          <p:cNvSpPr txBox="1"/>
          <p:nvPr/>
        </p:nvSpPr>
        <p:spPr>
          <a:xfrm>
            <a:off x="163619" y="1067340"/>
            <a:ext cx="5853023" cy="461665"/>
          </a:xfrm>
          <a:prstGeom prst="rect">
            <a:avLst/>
          </a:prstGeom>
          <a:noFill/>
        </p:spPr>
        <p:txBody>
          <a:bodyPr wrap="square">
            <a:spAutoFit/>
          </a:bodyPr>
          <a:lstStyle/>
          <a:p>
            <a:pPr marL="342900" indent="-342900">
              <a:buFont typeface="Wingdings" panose="05000000000000000000" pitchFamily="2" charset="2"/>
              <a:buChar char="q"/>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suất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Rectangle 1">
            <a:extLst>
              <a:ext uri="{FF2B5EF4-FFF2-40B4-BE49-F238E27FC236}">
                <a16:creationId xmlns:a16="http://schemas.microsoft.com/office/drawing/2014/main" id="{49498CC0-C49E-D131-DC31-3925168EF08C}"/>
              </a:ext>
            </a:extLst>
          </p:cNvPr>
          <p:cNvSpPr>
            <a:spLocks noChangeArrowheads="1"/>
          </p:cNvSpPr>
          <p:nvPr/>
        </p:nvSpPr>
        <p:spPr bwMode="auto">
          <a:xfrm>
            <a:off x="459075" y="1461444"/>
            <a:ext cx="5262113"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v"/>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suất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0" fontAlgn="base" latinLnBrk="0" hangingPunct="0">
              <a:lnSpc>
                <a:spcPct val="100000"/>
              </a:lnSpc>
              <a:spcBef>
                <a:spcPts val="1200"/>
              </a:spcBef>
              <a:spcAft>
                <a:spcPct val="0"/>
              </a:spcAft>
              <a:buClrTx/>
              <a:buSzTx/>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thường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xuyên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đúng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v"/>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Khuyến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khích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0" fontAlgn="base" latinLnBrk="0" hangingPunct="0">
              <a:lnSpc>
                <a:spcPct val="100000"/>
              </a:lnSpc>
              <a:spcBef>
                <a:spcPts val="1200"/>
              </a:spcBef>
              <a:spcAft>
                <a:spcPct val="0"/>
              </a:spcAft>
              <a:buClrTx/>
              <a:buSzTx/>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Thưởng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khuyến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khích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v"/>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nghề</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0" fontAlgn="base" latinLnBrk="0" hangingPunct="0">
              <a:lnSpc>
                <a:spcPct val="100000"/>
              </a:lnSpc>
              <a:spcBef>
                <a:spcPts val="1200"/>
              </a:spcBef>
              <a:spcAft>
                <a:spcPct val="0"/>
              </a:spcAft>
              <a:buClrTx/>
              <a:buSzTx/>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6" name="TextBox 5">
            <a:extLst>
              <a:ext uri="{FF2B5EF4-FFF2-40B4-BE49-F238E27FC236}">
                <a16:creationId xmlns:a16="http://schemas.microsoft.com/office/drawing/2014/main" id="{68234475-AD68-2033-ED45-EBBB4E23219A}"/>
              </a:ext>
            </a:extLst>
          </p:cNvPr>
          <p:cNvSpPr txBox="1"/>
          <p:nvPr/>
        </p:nvSpPr>
        <p:spPr>
          <a:xfrm>
            <a:off x="6835998" y="2410011"/>
            <a:ext cx="4896927" cy="3570208"/>
          </a:xfrm>
          <a:prstGeom prst="rect">
            <a:avLst/>
          </a:prstGeom>
          <a:noFill/>
        </p:spPr>
        <p:txBody>
          <a:bodyPr wrap="square">
            <a:spAutoFit/>
          </a:bodyPr>
          <a:lstStyle/>
          <a:p>
            <a:pPr marL="342900" indent="-342900">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bổ lại nhân sự trong mùa cao điểm: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cường nhân lực trong thời gian cao điểm du lịch hoặc khi có sự kiện lớn.</a:t>
            </a:r>
          </a:p>
          <a:p>
            <a:pPr marL="342900" indent="-342900">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Giảm nhân sự trong mùa thấp điểm: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chỉnh ca làm việc hoặc chuyển nhân viên sang các bộ phận khác để tiết kiệm chi phí.</a:t>
            </a:r>
          </a:p>
        </p:txBody>
      </p:sp>
      <p:sp>
        <p:nvSpPr>
          <p:cNvPr id="8" name="TextBox 7">
            <a:extLst>
              <a:ext uri="{FF2B5EF4-FFF2-40B4-BE49-F238E27FC236}">
                <a16:creationId xmlns:a16="http://schemas.microsoft.com/office/drawing/2014/main" id="{FE2F7026-26F9-B667-9ECA-550B539C7934}"/>
              </a:ext>
            </a:extLst>
          </p:cNvPr>
          <p:cNvSpPr txBox="1"/>
          <p:nvPr/>
        </p:nvSpPr>
        <p:spPr>
          <a:xfrm>
            <a:off x="6835998" y="1461444"/>
            <a:ext cx="4711459" cy="461665"/>
          </a:xfrm>
          <a:prstGeom prst="rect">
            <a:avLst/>
          </a:prstGeom>
          <a:noFill/>
        </p:spPr>
        <p:txBody>
          <a:bodyPr wrap="square">
            <a:spAutoFit/>
          </a:bodyPr>
          <a:lstStyle/>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chỉnh nhân sự theo mùa</a:t>
            </a:r>
          </a:p>
        </p:txBody>
      </p:sp>
    </p:spTree>
    <p:extLst>
      <p:ext uri="{BB962C8B-B14F-4D97-AF65-F5344CB8AC3E}">
        <p14:creationId xmlns:p14="http://schemas.microsoft.com/office/powerpoint/2010/main" val="2320304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A1BDF3-F6A0-40D1-1431-16DD82FD950F}"/>
              </a:ext>
            </a:extLst>
          </p:cNvPr>
          <p:cNvSpPr txBox="1"/>
          <p:nvPr/>
        </p:nvSpPr>
        <p:spPr>
          <a:xfrm>
            <a:off x="439021" y="1327821"/>
            <a:ext cx="9592575" cy="461665"/>
          </a:xfrm>
          <a:prstGeom prst="rect">
            <a:avLst/>
          </a:prstGeom>
          <a:noFill/>
        </p:spPr>
        <p:txBody>
          <a:bodyPr wrap="square">
            <a:spAutoFit/>
          </a:bodyPr>
          <a:lstStyle/>
          <a:p>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LẬP KẾ HOẠCH DỊCH VỤ VÀ SỰ KIỆN TRONG BỘ PHẬN F&amp;B</a:t>
            </a:r>
            <a:endPar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CF0719C0-A728-7D9D-665F-8485B5B49E0B}"/>
              </a:ext>
            </a:extLst>
          </p:cNvPr>
          <p:cNvSpPr txBox="1"/>
          <p:nvPr/>
        </p:nvSpPr>
        <p:spPr>
          <a:xfrm>
            <a:off x="302283" y="2414720"/>
            <a:ext cx="11587433" cy="3370153"/>
          </a:xfrm>
          <a:prstGeom prst="rect">
            <a:avLst/>
          </a:prstGeom>
          <a:noFill/>
        </p:spPr>
        <p:txBody>
          <a:bodyPr wrap="square">
            <a:spAutoFit/>
          </a:bodyPr>
          <a:lstStyle/>
          <a:p>
            <a:pPr marL="285750" indent="-285750" algn="just">
              <a:spcBef>
                <a:spcPts val="18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Tầm quan trọng của lập kế hoạch dịch vụ và sự kiện</a:t>
            </a:r>
          </a:p>
          <a:p>
            <a:pPr marL="723900" indent="-361950" algn="just">
              <a:spcBef>
                <a:spcPts val="18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sự chuẩn bị:</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Kế hoạch chi tiết giúp chuẩn bị kỹ lưỡng về nhân lực, nguyên vật liệu, và thiết bị.</a:t>
            </a:r>
          </a:p>
          <a:p>
            <a:pPr marL="723900" indent="-361950" algn="just">
              <a:spcBef>
                <a:spcPts val="18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hóa hiệu suất: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Quản lý thời gian và tài nguyên hiệu quả, tối ưu hóa hoạt động của F&amp;B.</a:t>
            </a:r>
          </a:p>
          <a:p>
            <a:pPr marL="723900" indent="-361950" algn="just">
              <a:spcBef>
                <a:spcPts val="18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 cao trải nghiệm khách hàng: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Tạo ra các sự kiện ấn tượng, thu hút và giữ chân khách hàng.</a:t>
            </a:r>
          </a:p>
        </p:txBody>
      </p:sp>
    </p:spTree>
    <p:extLst>
      <p:ext uri="{BB962C8B-B14F-4D97-AF65-F5344CB8AC3E}">
        <p14:creationId xmlns:p14="http://schemas.microsoft.com/office/powerpoint/2010/main" val="302257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DA77D8-1B70-083E-37AC-6B70CD3C3A03}"/>
              </a:ext>
            </a:extLst>
          </p:cNvPr>
          <p:cNvSpPr txBox="1"/>
          <p:nvPr/>
        </p:nvSpPr>
        <p:spPr>
          <a:xfrm>
            <a:off x="511834" y="1764330"/>
            <a:ext cx="5768196" cy="4708981"/>
          </a:xfrm>
          <a:prstGeom prst="rect">
            <a:avLst/>
          </a:prstGeom>
          <a:noFill/>
        </p:spPr>
        <p:txBody>
          <a:bodyPr wrap="square">
            <a:spAutoFit/>
          </a:bodyPr>
          <a:lstStyle/>
          <a:p>
            <a:pPr marL="285750" indent="-285750">
              <a:buFont typeface="Wingdings" panose="05000000000000000000" pitchFamily="2" charset="2"/>
              <a:buChar char="v"/>
            </a:pPr>
            <a:r>
              <a:rPr lang="vi-VN" sz="2000" b="1" dirty="0">
                <a:solidFill>
                  <a:srgbClr val="002060"/>
                </a:solidFill>
              </a:rPr>
              <a:t>Xác định nhu cầu của khách hàng:</a:t>
            </a:r>
            <a:endParaRPr lang="vi-VN" sz="2000" dirty="0">
              <a:solidFill>
                <a:srgbClr val="002060"/>
              </a:solidFill>
            </a:endParaRPr>
          </a:p>
          <a:p>
            <a:pPr marL="620713" lvl="1" indent="-344488" algn="just">
              <a:buFont typeface="Wingdings" panose="05000000000000000000" pitchFamily="2" charset="2"/>
              <a:buChar char="Ø"/>
            </a:pPr>
            <a:r>
              <a:rPr lang="vi-VN" sz="2000" dirty="0">
                <a:solidFill>
                  <a:srgbClr val="002060"/>
                </a:solidFill>
              </a:rPr>
              <a:t>Thu thập thông tin về yêu cầu, mong muốn của khách hàng.</a:t>
            </a:r>
          </a:p>
          <a:p>
            <a:pPr marL="620713" lvl="1" indent="-344488" algn="just">
              <a:buFont typeface="Wingdings" panose="05000000000000000000" pitchFamily="2" charset="2"/>
              <a:buChar char="Ø"/>
            </a:pPr>
            <a:r>
              <a:rPr lang="vi-VN" sz="2000" dirty="0">
                <a:solidFill>
                  <a:srgbClr val="002060"/>
                </a:solidFill>
              </a:rPr>
              <a:t>Xác định loại hình dịch vụ hoặc sự kiện cần tổ chức.</a:t>
            </a:r>
          </a:p>
          <a:p>
            <a:pPr marL="285750" indent="-285750">
              <a:buFont typeface="Wingdings" panose="05000000000000000000" pitchFamily="2" charset="2"/>
              <a:buChar char="v"/>
            </a:pPr>
            <a:r>
              <a:rPr lang="vi-VN" sz="2000" b="1" dirty="0">
                <a:solidFill>
                  <a:srgbClr val="002060"/>
                </a:solidFill>
              </a:rPr>
              <a:t>Lên ý tưởng và xác định chủ đề:</a:t>
            </a:r>
            <a:endParaRPr lang="vi-VN" sz="2000" dirty="0">
              <a:solidFill>
                <a:srgbClr val="002060"/>
              </a:solidFill>
            </a:endParaRPr>
          </a:p>
          <a:p>
            <a:pPr marL="620713" lvl="1" indent="-344488" algn="just">
              <a:buFont typeface="Wingdings" panose="05000000000000000000" pitchFamily="2" charset="2"/>
              <a:buChar char="Ø"/>
            </a:pPr>
            <a:r>
              <a:rPr lang="vi-VN" sz="2000" dirty="0">
                <a:solidFill>
                  <a:srgbClr val="002060"/>
                </a:solidFill>
              </a:rPr>
              <a:t>Xác định chủ đề phù hợp với sự kiện hoặc dịch vụ.</a:t>
            </a:r>
          </a:p>
          <a:p>
            <a:pPr marL="620713" lvl="1" indent="-344488" algn="just">
              <a:buFont typeface="Wingdings" panose="05000000000000000000" pitchFamily="2" charset="2"/>
              <a:buChar char="Ø"/>
            </a:pPr>
            <a:r>
              <a:rPr lang="vi-VN" sz="2000" dirty="0">
                <a:solidFill>
                  <a:srgbClr val="002060"/>
                </a:solidFill>
              </a:rPr>
              <a:t>Tạo ra các ý tưởng sáng tạo để thu hút khách hàng.</a:t>
            </a:r>
          </a:p>
          <a:p>
            <a:pPr marL="285750" indent="-285750">
              <a:buFont typeface="Wingdings" panose="05000000000000000000" pitchFamily="2" charset="2"/>
              <a:buChar char="v"/>
            </a:pPr>
            <a:r>
              <a:rPr lang="vi-VN" sz="2000" b="1" dirty="0">
                <a:solidFill>
                  <a:srgbClr val="002060"/>
                </a:solidFill>
              </a:rPr>
              <a:t>Lập ngân sách chi tiết:</a:t>
            </a:r>
            <a:endParaRPr lang="vi-VN" sz="2000" dirty="0">
              <a:solidFill>
                <a:srgbClr val="002060"/>
              </a:solidFill>
            </a:endParaRPr>
          </a:p>
          <a:p>
            <a:pPr marL="620713" lvl="1" indent="-344488" algn="just">
              <a:buFont typeface="Wingdings" panose="05000000000000000000" pitchFamily="2" charset="2"/>
              <a:buChar char="Ø"/>
            </a:pPr>
            <a:r>
              <a:rPr lang="vi-VN" sz="2000" dirty="0">
                <a:solidFill>
                  <a:srgbClr val="002060"/>
                </a:solidFill>
              </a:rPr>
              <a:t>Tính toán chi phí nguyên vật liệu, nhân sự, thiết bị.</a:t>
            </a:r>
          </a:p>
          <a:p>
            <a:pPr marL="620713" lvl="1" indent="-344488" algn="just">
              <a:buFont typeface="Wingdings" panose="05000000000000000000" pitchFamily="2" charset="2"/>
              <a:buChar char="Ø"/>
            </a:pPr>
            <a:r>
              <a:rPr lang="vi-VN" sz="2000" dirty="0">
                <a:solidFill>
                  <a:srgbClr val="002060"/>
                </a:solidFill>
              </a:rPr>
              <a:t>Dự trù các khoản chi phí phát sinh và tối ưu hóa ngân sách.</a:t>
            </a:r>
          </a:p>
        </p:txBody>
      </p:sp>
      <p:sp>
        <p:nvSpPr>
          <p:cNvPr id="5" name="TextBox 4">
            <a:extLst>
              <a:ext uri="{FF2B5EF4-FFF2-40B4-BE49-F238E27FC236}">
                <a16:creationId xmlns:a16="http://schemas.microsoft.com/office/drawing/2014/main" id="{86F9BD2F-5E26-C7A7-405D-803E21BD179D}"/>
              </a:ext>
            </a:extLst>
          </p:cNvPr>
          <p:cNvSpPr txBox="1"/>
          <p:nvPr/>
        </p:nvSpPr>
        <p:spPr>
          <a:xfrm>
            <a:off x="137460" y="1170994"/>
            <a:ext cx="6072996" cy="461665"/>
          </a:xfrm>
          <a:prstGeom prst="rect">
            <a:avLst/>
          </a:prstGeom>
          <a:noFill/>
        </p:spPr>
        <p:txBody>
          <a:bodyPr wrap="square">
            <a:spAutoFit/>
          </a:bodyPr>
          <a:lstStyle/>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Quy trình lập kế hoạch dịch vụ và sự kiện</a:t>
            </a:r>
          </a:p>
        </p:txBody>
      </p:sp>
      <p:sp>
        <p:nvSpPr>
          <p:cNvPr id="7" name="TextBox 6">
            <a:extLst>
              <a:ext uri="{FF2B5EF4-FFF2-40B4-BE49-F238E27FC236}">
                <a16:creationId xmlns:a16="http://schemas.microsoft.com/office/drawing/2014/main" id="{7C5FF20E-C054-6B9B-E71B-66FF8C7A7AA8}"/>
              </a:ext>
            </a:extLst>
          </p:cNvPr>
          <p:cNvSpPr txBox="1"/>
          <p:nvPr/>
        </p:nvSpPr>
        <p:spPr>
          <a:xfrm>
            <a:off x="6474563" y="1947724"/>
            <a:ext cx="5469146" cy="3939540"/>
          </a:xfrm>
          <a:prstGeom prst="rect">
            <a:avLst/>
          </a:prstGeom>
          <a:noFill/>
        </p:spPr>
        <p:txBody>
          <a:bodyPr wrap="square">
            <a:spAutoFit/>
          </a:bodyPr>
          <a:lstStyle/>
          <a:p>
            <a:pPr marL="342900" indent="-342900" algn="just">
              <a:spcBef>
                <a:spcPts val="1200"/>
              </a:spcBef>
              <a:buFont typeface="Wingdings" panose="05000000000000000000" pitchFamily="2" charset="2"/>
              <a:buChar char="v"/>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Lên lịch trình cụ thể:</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620713" lvl="1" indent="-344488" algn="just">
              <a:spcBef>
                <a:spcPts val="1200"/>
              </a:spcBef>
              <a:buFont typeface="Wingdings" panose="05000000000000000000" pitchFamily="2" charset="2"/>
              <a:buChar char="Ø"/>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Đặt mốc thời gian cho từng hoạt động trong sự kiện, từ chuẩn bị đến thực hiện.</a:t>
            </a:r>
          </a:p>
          <a:p>
            <a:pPr marL="620713" lvl="1" indent="-344488" algn="just">
              <a:spcBef>
                <a:spcPts val="1200"/>
              </a:spcBef>
              <a:buFont typeface="Wingdings" panose="05000000000000000000" pitchFamily="2" charset="2"/>
              <a:buChar char="Ø"/>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chia nhiệm vụ cụ thể cho từng nhân viên hoặc nhóm nhân viên.</a:t>
            </a:r>
          </a:p>
          <a:p>
            <a:pPr marL="342900" indent="-342900" algn="just">
              <a:spcBef>
                <a:spcPts val="1200"/>
              </a:spcBef>
              <a:buFont typeface="Wingdings" panose="05000000000000000000" pitchFamily="2" charset="2"/>
              <a:buChar char="v"/>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công trách nhiệm:</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620713" lvl="1" indent="-344488" algn="just">
              <a:spcBef>
                <a:spcPts val="1200"/>
              </a:spcBef>
              <a:buFont typeface="Wingdings" panose="05000000000000000000" pitchFamily="2" charset="2"/>
              <a:buChar char="Ø"/>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Giao nhiệm vụ rõ ràng cho từng bộ phận như bếp, phục vụ, pha chế, tạp vụ.</a:t>
            </a:r>
          </a:p>
          <a:p>
            <a:pPr marL="620713" lvl="1" indent="-344488" algn="just">
              <a:spcBef>
                <a:spcPts val="1200"/>
              </a:spcBef>
              <a:buFont typeface="Wingdings" panose="05000000000000000000" pitchFamily="2" charset="2"/>
              <a:buChar char="Ø"/>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mọi nhân sự hiểu rõ vai trò của mình và phối hợp hiệu quả</a:t>
            </a:r>
            <a:r>
              <a:rPr lang="vi-VN" sz="2000" dirty="0"/>
              <a:t>.</a:t>
            </a:r>
          </a:p>
        </p:txBody>
      </p:sp>
      <p:sp>
        <p:nvSpPr>
          <p:cNvPr id="9" name="TextBox 8">
            <a:extLst>
              <a:ext uri="{FF2B5EF4-FFF2-40B4-BE49-F238E27FC236}">
                <a16:creationId xmlns:a16="http://schemas.microsoft.com/office/drawing/2014/main" id="{51BC27FB-EE42-4843-9E5C-9C96E78D46D1}"/>
              </a:ext>
            </a:extLst>
          </p:cNvPr>
          <p:cNvSpPr txBox="1"/>
          <p:nvPr/>
        </p:nvSpPr>
        <p:spPr>
          <a:xfrm>
            <a:off x="6992148" y="1072983"/>
            <a:ext cx="4433976" cy="461665"/>
          </a:xfrm>
          <a:prstGeom prst="rect">
            <a:avLst/>
          </a:prstGeom>
          <a:noFill/>
        </p:spPr>
        <p:txBody>
          <a:bodyPr wrap="square">
            <a:spAutoFit/>
          </a:bodyPr>
          <a:lstStyle/>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Xây dựng kế hoạch chi tiết</a:t>
            </a:r>
          </a:p>
        </p:txBody>
      </p:sp>
    </p:spTree>
    <p:extLst>
      <p:ext uri="{BB962C8B-B14F-4D97-AF65-F5344CB8AC3E}">
        <p14:creationId xmlns:p14="http://schemas.microsoft.com/office/powerpoint/2010/main" val="191001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659CA2-C729-89CF-40F8-7293462B7BF6}"/>
              </a:ext>
            </a:extLst>
          </p:cNvPr>
          <p:cNvSpPr txBox="1"/>
          <p:nvPr/>
        </p:nvSpPr>
        <p:spPr>
          <a:xfrm>
            <a:off x="306801" y="1102578"/>
            <a:ext cx="5858773" cy="5509200"/>
          </a:xfrm>
          <a:prstGeom prst="rect">
            <a:avLst/>
          </a:prstGeom>
          <a:noFill/>
        </p:spPr>
        <p:txBody>
          <a:bodyPr wrap="square">
            <a:spAutoFit/>
          </a:bodyPr>
          <a:lstStyle/>
          <a:p>
            <a:pPr marL="342900" indent="-342900" algn="just">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Triển khai kế hoạch dịch vụ và sự kiện</a:t>
            </a:r>
          </a:p>
          <a:p>
            <a:pPr marL="342900" indent="-342900" algn="just">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Chuẩn bị và set-up:</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buFont typeface="Wingdings" panose="05000000000000000000" pitchFamily="2" charset="2"/>
              <a:buChar char="Ø"/>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Chuẩn bị không gian, thiết bị, nguyên liệu cần thiết.</a:t>
            </a:r>
          </a:p>
          <a:p>
            <a:pPr marL="800100" lvl="1" indent="-342900" algn="just">
              <a:buFont typeface="Wingdings" panose="05000000000000000000" pitchFamily="2" charset="2"/>
              <a:buChar char="Ø"/>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mọi thứ sẵn sàng trước khi sự kiện diễn ra.</a:t>
            </a:r>
          </a:p>
          <a:p>
            <a:pPr marL="342900" indent="-342900" algn="just">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Giám sát và điều chỉnh:</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buFont typeface="Wingdings" panose="05000000000000000000" pitchFamily="2" charset="2"/>
              <a:buChar char="Ø"/>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Giám sát toàn bộ quá trình thực hiện, sẵn sàng điều chỉnh khi cần thiết.</a:t>
            </a:r>
          </a:p>
          <a:p>
            <a:pPr marL="800100" lvl="1" indent="-342900" algn="just">
              <a:buFont typeface="Wingdings" panose="05000000000000000000" pitchFamily="2" charset="2"/>
              <a:buChar char="Ø"/>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mọi hoạt động diễn ra suôn sẻ, đáp ứng tiêu chuẩn đề ra.</a:t>
            </a:r>
          </a:p>
          <a:p>
            <a:pPr marL="342900" indent="-342900" algn="just">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 giá và cải thiện:</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buFont typeface="Wingdings" panose="05000000000000000000" pitchFamily="2" charset="2"/>
              <a:buChar char="Ø"/>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Sau khi sự kiện kết thúc, đánh giá kết quả thực hiện so với kế hoạch.</a:t>
            </a:r>
          </a:p>
          <a:p>
            <a:pPr marL="800100" lvl="1" indent="-342900" algn="just">
              <a:buFont typeface="Wingdings" panose="05000000000000000000" pitchFamily="2" charset="2"/>
              <a:buChar char="Ø"/>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Rút kinh nghiệm và cải thiện cho những sự kiện tương lai.</a:t>
            </a:r>
          </a:p>
        </p:txBody>
      </p:sp>
      <p:sp>
        <p:nvSpPr>
          <p:cNvPr id="5" name="TextBox 4">
            <a:extLst>
              <a:ext uri="{FF2B5EF4-FFF2-40B4-BE49-F238E27FC236}">
                <a16:creationId xmlns:a16="http://schemas.microsoft.com/office/drawing/2014/main" id="{4463F589-0E60-6B01-4B4E-DD68526ABF0D}"/>
              </a:ext>
            </a:extLst>
          </p:cNvPr>
          <p:cNvSpPr txBox="1"/>
          <p:nvPr/>
        </p:nvSpPr>
        <p:spPr>
          <a:xfrm>
            <a:off x="6307222" y="548580"/>
            <a:ext cx="5657490" cy="6063198"/>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yếu tố ảnh hưởng đến kế hoạch dịch vụ và sự kiện</a:t>
            </a:r>
          </a:p>
          <a:p>
            <a:pPr marL="342900" indent="-342900" algn="just">
              <a:spcBef>
                <a:spcPts val="1200"/>
              </a:spcBef>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Thời gian và địa điểm:</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1200"/>
              </a:spcBef>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Lựa chọn thời gian và địa điểm phù hợp, tối ưu hóa hiệu quả tổ chức.</a:t>
            </a:r>
          </a:p>
          <a:p>
            <a:pPr marL="342900" indent="-342900" algn="just">
              <a:spcBef>
                <a:spcPts val="1200"/>
              </a:spcBef>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Ngân sách:</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1200"/>
              </a:spcBef>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kế hoạch nằm trong giới hạn ngân sách cho phép.</a:t>
            </a:r>
          </a:p>
          <a:p>
            <a:pPr marL="342900" indent="-342900" algn="just">
              <a:spcBef>
                <a:spcPts val="1200"/>
              </a:spcBef>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Đội ngũ nhân sự:</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1200"/>
              </a:spcBef>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có đủ nhân lực và năng lực để thực hiện kế hoạch.</a:t>
            </a:r>
          </a:p>
          <a:p>
            <a:pPr marL="342900" indent="-342900" algn="just">
              <a:spcBef>
                <a:spcPts val="1200"/>
              </a:spcBef>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Yêu cầu đặc biệt của khách hàng: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1200"/>
              </a:spcBef>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chỉnh kế hoạch theo yêu cầu cá nhân hóa của khách hàng, nếu có.</a:t>
            </a:r>
          </a:p>
        </p:txBody>
      </p:sp>
    </p:spTree>
    <p:extLst>
      <p:ext uri="{BB962C8B-B14F-4D97-AF65-F5344CB8AC3E}">
        <p14:creationId xmlns:p14="http://schemas.microsoft.com/office/powerpoint/2010/main" val="417232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FF5852-B3CE-3D0E-3A17-2B530ADAD24B}"/>
              </a:ext>
            </a:extLst>
          </p:cNvPr>
          <p:cNvSpPr txBox="1"/>
          <p:nvPr/>
        </p:nvSpPr>
        <p:spPr>
          <a:xfrm>
            <a:off x="106141" y="1103483"/>
            <a:ext cx="8606185" cy="461665"/>
          </a:xfrm>
          <a:prstGeom prst="rect">
            <a:avLst/>
          </a:prstGeom>
          <a:noFill/>
        </p:spPr>
        <p:txBody>
          <a:bodyPr wrap="square">
            <a:spAutoFit/>
          </a:bodyPr>
          <a:lstStyle/>
          <a:p>
            <a:pPr lvl="1"/>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KIỂM SOÁT CHẤT LƯỢNG VÀ CHI PHÍ.</a:t>
            </a:r>
          </a:p>
        </p:txBody>
      </p:sp>
      <p:sp>
        <p:nvSpPr>
          <p:cNvPr id="5" name="TextBox 4">
            <a:extLst>
              <a:ext uri="{FF2B5EF4-FFF2-40B4-BE49-F238E27FC236}">
                <a16:creationId xmlns:a16="http://schemas.microsoft.com/office/drawing/2014/main" id="{90DFD851-2ACB-7459-70CF-7AAC7050FEA4}"/>
              </a:ext>
            </a:extLst>
          </p:cNvPr>
          <p:cNvSpPr txBox="1"/>
          <p:nvPr/>
        </p:nvSpPr>
        <p:spPr>
          <a:xfrm>
            <a:off x="398003" y="1663139"/>
            <a:ext cx="5923283" cy="5016758"/>
          </a:xfrm>
          <a:prstGeom prst="rect">
            <a:avLst/>
          </a:prstGeom>
          <a:noFill/>
        </p:spPr>
        <p:txBody>
          <a:bodyPr wrap="square">
            <a:spAutoFit/>
          </a:bodyPr>
          <a:lstStyle/>
          <a:p>
            <a:pPr marL="342900" indent="-34290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chất lượng</a:t>
            </a:r>
          </a:p>
          <a:p>
            <a:pPr>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yếu tố ảnh hưởng đến chất lượng:</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Nguyên liệu đầu vào</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Quy trình chế biến</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phục vụ</a:t>
            </a:r>
          </a:p>
          <a:p>
            <a:pPr marL="342900" indent="-34290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phương pháp kiểm soát chất lượng:</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Đào tạo nhân viên</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hiện các quy trình kiểm tra chất lượng</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Phản hồi từ khách hàng</a:t>
            </a:r>
          </a:p>
        </p:txBody>
      </p:sp>
      <p:sp>
        <p:nvSpPr>
          <p:cNvPr id="7" name="TextBox 6">
            <a:extLst>
              <a:ext uri="{FF2B5EF4-FFF2-40B4-BE49-F238E27FC236}">
                <a16:creationId xmlns:a16="http://schemas.microsoft.com/office/drawing/2014/main" id="{505E2261-1F1D-1318-3782-20CFDECAAE07}"/>
              </a:ext>
            </a:extLst>
          </p:cNvPr>
          <p:cNvSpPr txBox="1"/>
          <p:nvPr/>
        </p:nvSpPr>
        <p:spPr>
          <a:xfrm>
            <a:off x="6644965" y="1541025"/>
            <a:ext cx="5440894" cy="4647426"/>
          </a:xfrm>
          <a:prstGeom prst="rect">
            <a:avLst/>
          </a:prstGeom>
          <a:noFill/>
        </p:spPr>
        <p:txBody>
          <a:bodyPr wrap="square">
            <a:spAutoFit/>
          </a:bodyPr>
          <a:lstStyle/>
          <a:p>
            <a:pPr marL="342900" indent="-34290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chi phí</a:t>
            </a:r>
          </a:p>
          <a:p>
            <a:pPr marL="342900" indent="-342900">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loại chi phí trong bộ phận F&amp;B:</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 phí nguyên liệu</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 phí lao động</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 phí bảo trì và quản lý</a:t>
            </a:r>
          </a:p>
          <a:p>
            <a:pPr marL="342900" indent="-342900">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phương pháp kiểm soát chi phí:</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Theo dõi và phân tích chi phí</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Đàm phán với nhà cung cấp</a:t>
            </a:r>
          </a:p>
          <a:p>
            <a:pPr marL="800100" lvl="1" indent="-342900">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tồn kho hiệu quả</a:t>
            </a:r>
          </a:p>
        </p:txBody>
      </p:sp>
    </p:spTree>
    <p:extLst>
      <p:ext uri="{BB962C8B-B14F-4D97-AF65-F5344CB8AC3E}">
        <p14:creationId xmlns:p14="http://schemas.microsoft.com/office/powerpoint/2010/main" val="1052718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4E3877-3F33-ACCB-C976-E79322D1D03C}"/>
              </a:ext>
            </a:extLst>
          </p:cNvPr>
          <p:cNvSpPr txBox="1"/>
          <p:nvPr/>
        </p:nvSpPr>
        <p:spPr>
          <a:xfrm>
            <a:off x="483455" y="1243708"/>
            <a:ext cx="4921370" cy="5078313"/>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Kỹ thuật kiểm soát chất lượng</a:t>
            </a:r>
          </a:p>
          <a:p>
            <a:pPr marL="342900" indent="-342900" algn="just">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tra chất lượng định kỳ:</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34988" lvl="1" indent="-36195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Quy trình kiểm tra chất lượng sản phẩm</a:t>
            </a:r>
          </a:p>
          <a:p>
            <a:pPr marL="534988" lvl="1" indent="-36195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tra vệ sinh và an toàn thực phẩm</a:t>
            </a:r>
          </a:p>
          <a:p>
            <a:pPr marL="342900" indent="-342900" algn="just">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Sử dụng công nghệ:</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34988" lvl="1" indent="-36195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 thống quản lý chất lượng (QMS)</a:t>
            </a:r>
          </a:p>
          <a:p>
            <a:pPr marL="534988" lvl="1" indent="-36195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Phần mềm kiểm tra và báo cáo</a:t>
            </a:r>
          </a:p>
        </p:txBody>
      </p:sp>
      <p:sp>
        <p:nvSpPr>
          <p:cNvPr id="5" name="TextBox 4">
            <a:extLst>
              <a:ext uri="{FF2B5EF4-FFF2-40B4-BE49-F238E27FC236}">
                <a16:creationId xmlns:a16="http://schemas.microsoft.com/office/drawing/2014/main" id="{F1A70C66-7E2E-FFB0-7518-66DF2B125618}"/>
              </a:ext>
            </a:extLst>
          </p:cNvPr>
          <p:cNvSpPr txBox="1"/>
          <p:nvPr/>
        </p:nvSpPr>
        <p:spPr>
          <a:xfrm>
            <a:off x="6263153" y="1243708"/>
            <a:ext cx="5559724" cy="4708981"/>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Kỹ thuật kiểm soát chi phí</a:t>
            </a:r>
          </a:p>
          <a:p>
            <a:pPr marL="342900" indent="-342900" algn="just">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Xây dựng ngân sách và dự toán:</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Lên kế hoạch ngân sách cho từng khoản mục</a:t>
            </a:r>
          </a:p>
          <a:p>
            <a:pPr marL="800100" lvl="1" indent="-34290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Theo dõi và điều chỉnh ngân sách định kỳ</a:t>
            </a:r>
          </a:p>
          <a:p>
            <a:pPr marL="342900" indent="-342900" algn="just">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hóa quy trình làm việc:</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 giá hiệu quả công việc</a:t>
            </a:r>
          </a:p>
          <a:p>
            <a:pPr marL="800100" lvl="1" indent="-34290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Cải tiến quy trình chế biến và phục vụ</a:t>
            </a:r>
          </a:p>
        </p:txBody>
      </p:sp>
    </p:spTree>
    <p:extLst>
      <p:ext uri="{BB962C8B-B14F-4D97-AF65-F5344CB8AC3E}">
        <p14:creationId xmlns:p14="http://schemas.microsoft.com/office/powerpoint/2010/main" val="2540981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AEC0A2-67A6-D920-413E-02A8C1504427}"/>
              </a:ext>
            </a:extLst>
          </p:cNvPr>
          <p:cNvSpPr txBox="1"/>
          <p:nvPr/>
        </p:nvSpPr>
        <p:spPr>
          <a:xfrm>
            <a:off x="685801" y="1345230"/>
            <a:ext cx="7445828" cy="461665"/>
          </a:xfrm>
          <a:prstGeom prst="rect">
            <a:avLst/>
          </a:prstGeom>
          <a:noFill/>
        </p:spPr>
        <p:txBody>
          <a:bodyPr wrap="square">
            <a:spAutoFit/>
          </a:bodyPr>
          <a:lstStyle/>
          <a:p>
            <a:pPr lvl="1"/>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 </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KIỂM SOÁT </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THỰC ĐƠN NHÀ HÀNG</a:t>
            </a:r>
            <a:endPar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4F3E248B-63CD-FEB7-E6DF-FE08D8BA2398}"/>
              </a:ext>
            </a:extLst>
          </p:cNvPr>
          <p:cNvSpPr txBox="1"/>
          <p:nvPr/>
        </p:nvSpPr>
        <p:spPr>
          <a:xfrm>
            <a:off x="633323" y="2434832"/>
            <a:ext cx="10925354" cy="3797258"/>
          </a:xfrm>
          <a:prstGeom prst="rect">
            <a:avLst/>
          </a:prstGeom>
          <a:noFill/>
        </p:spPr>
        <p:txBody>
          <a:bodyPr wrap="square">
            <a:spAutoFit/>
          </a:bodyPr>
          <a:lstStyle/>
          <a:p>
            <a:pPr lvl="0" algn="just">
              <a:lnSpc>
                <a:spcPct val="115000"/>
              </a:lnSpc>
              <a:spcBef>
                <a:spcPts val="1200"/>
              </a:spcBef>
              <a:spcAft>
                <a:spcPts val="800"/>
              </a:spcAft>
              <a:buSzPts val="1000"/>
              <a:tabLst>
                <a:tab pos="4572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2900" lvl="0" indent="-342900" algn="just">
              <a:lnSpc>
                <a:spcPct val="115000"/>
              </a:lnSpc>
              <a:spcBef>
                <a:spcPts val="1200"/>
              </a:spcBef>
              <a:spcAft>
                <a:spcPts val="800"/>
              </a:spcAft>
              <a:buSzPct val="100000"/>
              <a:buFont typeface="Wingdings" panose="05000000000000000000" pitchFamily="2" charset="2"/>
              <a:buChar char="v"/>
              <a:tabLst>
                <a:tab pos="457200" algn="l"/>
              </a:tabLst>
            </a:pP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danh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đồ</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2900" lvl="0" indent="-342900" algn="just">
              <a:lnSpc>
                <a:spcPct val="115000"/>
              </a:lnSpc>
              <a:spcBef>
                <a:spcPts val="1200"/>
              </a:spcBef>
              <a:spcAft>
                <a:spcPts val="800"/>
              </a:spcAft>
              <a:buSzPct val="100000"/>
              <a:buFont typeface="Wingdings" panose="05000000000000000000" pitchFamily="2" charset="2"/>
              <a:buChar char="v"/>
              <a:tabLst>
                <a:tab pos="457200" algn="l"/>
              </a:tabLst>
            </a:pP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Nó</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giao</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còn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phản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ánh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phong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2900" lvl="0" indent="-342900" algn="just">
              <a:lnSpc>
                <a:spcPct val="115000"/>
              </a:lnSpc>
              <a:spcBef>
                <a:spcPts val="1200"/>
              </a:spcBef>
              <a:spcAft>
                <a:spcPts val="800"/>
              </a:spcAft>
              <a:buSzPct val="100000"/>
              <a:buFont typeface="Wingdings" panose="05000000000000000000" pitchFamily="2" charset="2"/>
              <a:buChar char="v"/>
              <a:tabLst>
                <a:tab pos="457200" algn="l"/>
              </a:tabLst>
            </a:pP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sao</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dễ</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hấp</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dẫn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phù</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tượng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mục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4173627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04FC6C-0274-8AC4-A828-300EC2ACD4FD}"/>
              </a:ext>
            </a:extLst>
          </p:cNvPr>
          <p:cNvSpPr txBox="1"/>
          <p:nvPr/>
        </p:nvSpPr>
        <p:spPr>
          <a:xfrm>
            <a:off x="5956542" y="210369"/>
            <a:ext cx="6098874" cy="558743"/>
          </a:xfrm>
          <a:prstGeom prst="rect">
            <a:avLst/>
          </a:prstGeom>
          <a:noFill/>
        </p:spPr>
        <p:txBody>
          <a:bodyPr wrap="square">
            <a:spAutoFit/>
          </a:bodyPr>
          <a:lstStyle/>
          <a:p>
            <a:pPr>
              <a:lnSpc>
                <a:spcPct val="115000"/>
              </a:lnSpc>
              <a:spcBef>
                <a:spcPts val="1200"/>
              </a:spcBef>
              <a:spcAft>
                <a:spcPts val="800"/>
              </a:spcAft>
              <a:buSzPts val="1000"/>
              <a:tabLst>
                <a:tab pos="457200" algn="l"/>
              </a:tabLst>
            </a:pPr>
            <a:r>
              <a:rPr lang="fr-FR" sz="28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CÁC LOẠI THỰC ĐƠN</a:t>
            </a:r>
            <a:endParaRPr lang="en-US" sz="28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AB618072-7F75-64DC-8B24-DBE603C19549}"/>
              </a:ext>
            </a:extLst>
          </p:cNvPr>
          <p:cNvSpPr txBox="1"/>
          <p:nvPr/>
        </p:nvSpPr>
        <p:spPr>
          <a:xfrm>
            <a:off x="136584" y="1144938"/>
            <a:ext cx="6098874" cy="5262979"/>
          </a:xfrm>
          <a:prstGeom prst="rect">
            <a:avLst/>
          </a:prstGeom>
          <a:noFill/>
        </p:spPr>
        <p:txBody>
          <a:bodyPr wrap="square">
            <a:spAutoFit/>
          </a:bodyPr>
          <a:lstStyle/>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Thực đơn tự chọn (buffet menu)</a:t>
            </a:r>
          </a:p>
          <a:p>
            <a:pPr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Đặc điểm:</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tự chọn món ăn từ một loạt các món đã được chuẩn bị sẵn.</a:t>
            </a:r>
          </a:p>
          <a:p>
            <a:pPr marL="742950" lvl="1" indent="-285750" algn="just">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Thường được sử dụng trong các bữa tiệc, sự kiện, hoặc tại các nhà hàng buffet.</a:t>
            </a:r>
          </a:p>
          <a:p>
            <a:pPr marL="742950" lvl="1" indent="-285750" algn="just">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 cả thường được tính theo số lượng khách hoặc theo khẩu phần.</a:t>
            </a:r>
          </a:p>
          <a:p>
            <a:pPr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minh họa:</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Buffet sáng tại khách sạn: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Gồm các món như bánh mì, phô mai, trái cây tươi, trứng ốp la, súp, và các loại nước ép.</a:t>
            </a:r>
          </a:p>
        </p:txBody>
      </p:sp>
      <p:sp>
        <p:nvSpPr>
          <p:cNvPr id="7" name="TextBox 6">
            <a:extLst>
              <a:ext uri="{FF2B5EF4-FFF2-40B4-BE49-F238E27FC236}">
                <a16:creationId xmlns:a16="http://schemas.microsoft.com/office/drawing/2014/main" id="{834865AE-DD92-16E9-7FA5-BDA24BC59AE0}"/>
              </a:ext>
            </a:extLst>
          </p:cNvPr>
          <p:cNvSpPr txBox="1"/>
          <p:nvPr/>
        </p:nvSpPr>
        <p:spPr>
          <a:xfrm>
            <a:off x="6165012" y="854386"/>
            <a:ext cx="5890404" cy="5632311"/>
          </a:xfrm>
          <a:prstGeom prst="rect">
            <a:avLst/>
          </a:prstGeom>
          <a:noFill/>
        </p:spPr>
        <p:txBody>
          <a:bodyPr wrap="square">
            <a:spAutoFit/>
          </a:bodyPr>
          <a:lstStyle/>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Thực đơn theo món ăn (À la carte menu)</a:t>
            </a:r>
          </a:p>
          <a:p>
            <a:pPr>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Đặc điểm:</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lựa chọn từng món ăn từ danh sách các món trong thực đơn.</a:t>
            </a: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 món ăn có giá riêng và được chuẩn bị theo yêu cầu của khách hàng.</a:t>
            </a: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Thường được sử dụng trong các nhà hàng cao cấp hoặc nhà hàng phục vụ theo phong cách ẩm thực cụ thể.</a:t>
            </a:r>
          </a:p>
          <a:p>
            <a:pPr>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minh họa:</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tại nhà hàng Ý:</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có thể chọn từ các món như mỳ Ý Carbonara, pizza Margherita, hay món tráng miệng Tiramisu.</a:t>
            </a:r>
          </a:p>
        </p:txBody>
      </p:sp>
    </p:spTree>
    <p:extLst>
      <p:ext uri="{BB962C8B-B14F-4D97-AF65-F5344CB8AC3E}">
        <p14:creationId xmlns:p14="http://schemas.microsoft.com/office/powerpoint/2010/main" val="3640115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3CD01C-CD0D-C744-7F70-0AC2801B33E1}"/>
              </a:ext>
            </a:extLst>
          </p:cNvPr>
          <p:cNvSpPr txBox="1"/>
          <p:nvPr/>
        </p:nvSpPr>
        <p:spPr>
          <a:xfrm>
            <a:off x="520616" y="1632500"/>
            <a:ext cx="11011619" cy="3046988"/>
          </a:xfrm>
          <a:prstGeom prst="rect">
            <a:avLst/>
          </a:prstGeom>
          <a:noFill/>
        </p:spPr>
        <p:txBody>
          <a:bodyPr wrap="square">
            <a:spAutoFit/>
          </a:bodyPr>
          <a:lstStyle/>
          <a:p>
            <a:pPr algn="just"/>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Thực đơn theo bữa (set menu)</a:t>
            </a:r>
          </a:p>
          <a:p>
            <a:pPr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Đặc điểm:</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 bữa ăn hoàn chỉnh với các món đã được lựa chọn sẵn.</a:t>
            </a:r>
          </a:p>
          <a:p>
            <a:pPr marL="742950" lvl="1" indent="-285750" algn="just">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trả một mức giá cố định cho toàn bộ bữa ăn.</a:t>
            </a:r>
          </a:p>
          <a:p>
            <a:pPr marL="742950" lvl="1" indent="-285750" algn="just">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Thường gồm một hoặc nhiều món khai vị, món chính và món tráng miệng.</a:t>
            </a:r>
          </a:p>
          <a:p>
            <a:pPr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minh họa:</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cho bữa trưa tại nhà hàng Việt: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Gồm gỏi cuốn (món khai vị), phở bò (món chính), và chè tráng miệng.</a:t>
            </a:r>
          </a:p>
        </p:txBody>
      </p:sp>
    </p:spTree>
    <p:extLst>
      <p:ext uri="{BB962C8B-B14F-4D97-AF65-F5344CB8AC3E}">
        <p14:creationId xmlns:p14="http://schemas.microsoft.com/office/powerpoint/2010/main" val="4079721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526378-F8AE-02D5-FA16-F0926B274C4C}"/>
              </a:ext>
            </a:extLst>
          </p:cNvPr>
          <p:cNvSpPr txBox="1"/>
          <p:nvPr/>
        </p:nvSpPr>
        <p:spPr>
          <a:xfrm>
            <a:off x="475225" y="401444"/>
            <a:ext cx="6098874" cy="461665"/>
          </a:xfrm>
          <a:prstGeom prst="rect">
            <a:avLst/>
          </a:prstGeom>
          <a:noFill/>
        </p:spPr>
        <p:txBody>
          <a:bodyPr wrap="square">
            <a:spAutoFit/>
          </a:bodyPr>
          <a:lstStyle/>
          <a:p>
            <a:r>
              <a:rPr lang="vi-VN" sz="2400" b="1" dirty="0">
                <a:highlight>
                  <a:srgbClr val="FFFF00"/>
                </a:highlight>
              </a:rPr>
              <a:t>Các Loại Thực Đơn Khác</a:t>
            </a:r>
          </a:p>
        </p:txBody>
      </p:sp>
      <p:sp>
        <p:nvSpPr>
          <p:cNvPr id="6" name="TextBox 5">
            <a:extLst>
              <a:ext uri="{FF2B5EF4-FFF2-40B4-BE49-F238E27FC236}">
                <a16:creationId xmlns:a16="http://schemas.microsoft.com/office/drawing/2014/main" id="{0E85DF86-AF2C-01D6-33A8-6785E23055FA}"/>
              </a:ext>
            </a:extLst>
          </p:cNvPr>
          <p:cNvSpPr txBox="1"/>
          <p:nvPr/>
        </p:nvSpPr>
        <p:spPr>
          <a:xfrm>
            <a:off x="359626" y="1615905"/>
            <a:ext cx="5581466" cy="4832092"/>
          </a:xfrm>
          <a:prstGeom prst="rect">
            <a:avLst/>
          </a:prstGeom>
          <a:noFill/>
        </p:spPr>
        <p:txBody>
          <a:bodyPr wrap="square">
            <a:spAutoFit/>
          </a:bodyPr>
          <a:lstStyle/>
          <a:p>
            <a:pPr marL="285750" indent="-285750" algn="just">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 niệm:</a:t>
            </a:r>
          </a:p>
          <a:p>
            <a:pPr algn="just">
              <a:buNone/>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 loại thực đơn mà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tự lựa chọn món ăn</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theo sở thích từ nhiều món được trưng bày sẵn trên quầy.</a:t>
            </a:r>
            <a:r>
              <a:rPr lang="en-US"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thường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 một mức giá cố định</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để dùng không giới hạn trong phạm vi món được phục vụ.</a:t>
            </a:r>
          </a:p>
          <a:p>
            <a:pPr marL="285750" indent="-285750" algn="just">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Đặc điểm:</a:t>
            </a:r>
          </a:p>
          <a:p>
            <a:pPr marL="342900" indent="-342900" algn="just">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Món ăn được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bày sẵn theo nhóm</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(khai vị – món chính – tráng miệng – đồ uống).</a:t>
            </a:r>
          </a:p>
          <a:p>
            <a:pPr marL="342900" indent="-342900" algn="just">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có thể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tự phục vụ</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hoặc có nhân viên hỗ trợ tại quầy.</a:t>
            </a:r>
          </a:p>
          <a:p>
            <a:pPr marL="342900" indent="-342900" algn="just">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Thường dùng trong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sạn, nhà hàng lớn, sự kiện, tiệc cưới, hội nghị.</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buFont typeface="Wingdings" panose="05000000000000000000" pitchFamily="2" charset="2"/>
              <a:buChar char="q"/>
            </a:pPr>
            <a:endParaRPr lang="vi-VN" sz="2200" dirty="0">
              <a:solidFill>
                <a:srgbClr val="002060"/>
              </a:solidFill>
              <a:ea typeface="Microsoft GothicNeo" panose="020B0500000101010101" pitchFamily="34" charset="-127"/>
              <a:cs typeface="Microsoft GothicNeo" panose="020B0500000101010101" pitchFamily="34" charset="-127"/>
            </a:endParaRPr>
          </a:p>
        </p:txBody>
      </p:sp>
      <p:sp>
        <p:nvSpPr>
          <p:cNvPr id="8" name="TextBox 7">
            <a:extLst>
              <a:ext uri="{FF2B5EF4-FFF2-40B4-BE49-F238E27FC236}">
                <a16:creationId xmlns:a16="http://schemas.microsoft.com/office/drawing/2014/main" id="{EE863460-9D8C-AC41-96A5-C02E34B28561}"/>
              </a:ext>
            </a:extLst>
          </p:cNvPr>
          <p:cNvSpPr txBox="1"/>
          <p:nvPr/>
        </p:nvSpPr>
        <p:spPr>
          <a:xfrm>
            <a:off x="359627" y="959093"/>
            <a:ext cx="6398012" cy="461665"/>
          </a:xfrm>
          <a:prstGeom prst="rect">
            <a:avLst/>
          </a:prstGeom>
          <a:solidFill>
            <a:srgbClr val="FFFF00"/>
          </a:solidFill>
        </p:spPr>
        <p:txBody>
          <a:bodyPr wrap="square">
            <a:spAutoFit/>
          </a:bodyPr>
          <a:lstStyle/>
          <a:p>
            <a:r>
              <a:rPr lang="vi-VN" sz="2400" b="1" dirty="0">
                <a:solidFill>
                  <a:srgbClr val="002060"/>
                </a:solidFill>
                <a:ea typeface="Microsoft GothicNeo" panose="020B0500000101010101" pitchFamily="34" charset="-127"/>
                <a:cs typeface="Microsoft GothicNeo" panose="020B0500000101010101" pitchFamily="34" charset="-127"/>
              </a:rPr>
              <a:t>1. THỰC ĐƠN TỰ CHỌN (BUFFET MENU)</a:t>
            </a:r>
          </a:p>
        </p:txBody>
      </p:sp>
      <p:sp>
        <p:nvSpPr>
          <p:cNvPr id="10" name="TextBox 9">
            <a:extLst>
              <a:ext uri="{FF2B5EF4-FFF2-40B4-BE49-F238E27FC236}">
                <a16:creationId xmlns:a16="http://schemas.microsoft.com/office/drawing/2014/main" id="{563D318F-E40F-9234-FC36-5ECC8BCEAF1D}"/>
              </a:ext>
            </a:extLst>
          </p:cNvPr>
          <p:cNvSpPr txBox="1"/>
          <p:nvPr/>
        </p:nvSpPr>
        <p:spPr>
          <a:xfrm>
            <a:off x="6574098" y="1544620"/>
            <a:ext cx="5258275" cy="4708981"/>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Ưu điểm:</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Tạo cảm giác </a:t>
            </a: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tự do lựa chọn</a:t>
            </a: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 cho khách.</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Phục vụ nhanh</a:t>
            </a: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 nhiều khách cùng lúc.</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Giúp </a:t>
            </a: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quảng bá đa dạng món ăn</a:t>
            </a: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 của nhà hàng.</a:t>
            </a:r>
            <a:endParaRPr kumimoji="0" lang="en-US" sz="2000" b="0" i="0" u="none" strike="noStrike" kern="1200" cap="none" spc="0" normalizeH="0" baseline="0" noProof="0" dirty="0">
              <a:ln>
                <a:noFill/>
              </a:ln>
              <a:solidFill>
                <a:srgbClr val="002060"/>
              </a:solidFill>
              <a:effectLst/>
              <a:uLnTx/>
              <a:uFillTx/>
              <a:latin typeface="Microsoft GothicNeo" panose="020B0500000101010101" pitchFamily="34" charset="-127"/>
              <a:ea typeface="Microsoft GothicNeo" panose="020B0500000101010101" pitchFamily="34" charset="-127"/>
              <a:cs typeface="Microsoft GothicNeo" panose="020B0500000101010101" pitchFamily="34" charset="-127"/>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 Hạn chế:</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Khó kiểm soát </a:t>
            </a: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lượng tiêu thụ và hao hụt nguyên liệu.</a:t>
            </a:r>
            <a:endPar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Dễ xảy ra </a:t>
            </a: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lãng phí thực phẩm</a:t>
            </a: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 nếu khách lấy nhiều.</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Ví dụ minh họa:</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Tiệc </a:t>
            </a:r>
            <a:r>
              <a:rPr kumimoji="0" lang="vi-VN" sz="2000" b="1"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buffet sáng tại khách sạn 4 sao</a:t>
            </a:r>
            <a:r>
              <a:rPr kumimoji="0" lang="vi-VN" sz="2000" b="0" i="0" u="none" strike="noStrike" kern="1200" cap="none" spc="0" normalizeH="0" baseline="0" noProof="0" dirty="0">
                <a:ln>
                  <a:noFill/>
                </a:ln>
                <a:solidFill>
                  <a:srgbClr val="002060"/>
                </a:solidFill>
                <a:effectLst/>
                <a:uLnTx/>
                <a:uFillTx/>
                <a:latin typeface="Arial" panose="020B0604020202020204" pitchFamily="34" charset="0"/>
                <a:ea typeface="Microsoft GothicNeo" panose="020B0500000101010101" pitchFamily="34" charset="-127"/>
                <a:cs typeface="Microsoft GothicNeo" panose="020B0500000101010101" pitchFamily="34" charset="-127"/>
              </a:rPr>
              <a:t> gồm các quầy: bánh mì – salad – món nóng (trứng, xúc xích, bún, phở) – tráng miệng (trái cây, bánh ngọt) – cà phê, nước ép.</a:t>
            </a:r>
            <a:endParaRPr lang="en-US" dirty="0"/>
          </a:p>
        </p:txBody>
      </p:sp>
    </p:spTree>
    <p:extLst>
      <p:ext uri="{BB962C8B-B14F-4D97-AF65-F5344CB8AC3E}">
        <p14:creationId xmlns:p14="http://schemas.microsoft.com/office/powerpoint/2010/main" val="3734907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FB08C0-02A8-604A-EBF6-7DEF417F6096}"/>
              </a:ext>
            </a:extLst>
          </p:cNvPr>
          <p:cNvSpPr txBox="1"/>
          <p:nvPr/>
        </p:nvSpPr>
        <p:spPr>
          <a:xfrm>
            <a:off x="409324" y="1790076"/>
            <a:ext cx="6910968" cy="5170646"/>
          </a:xfrm>
          <a:prstGeom prst="rect">
            <a:avLst/>
          </a:prstGeom>
          <a:noFill/>
        </p:spPr>
        <p:txBody>
          <a:bodyPr wrap="square">
            <a:spAutoFit/>
          </a:bodyPr>
          <a:lstStyle/>
          <a:p>
            <a:pPr>
              <a:buNone/>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Khái niệm:</a:t>
            </a:r>
          </a:p>
          <a:p>
            <a:pPr>
              <a:buNone/>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 thực đơn mà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 món ăn được niêm yết giá riêng</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chọn từng món theo sở thích</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buNone/>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Đặc điểm:</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Gồm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danh sách món đa dạng</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với giá riêng cho từng món.</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Phục vụ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linh hoạt theo nhu cầu từng khách.</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Thường có trong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nhà hàng phục vụ gọi món (fine dining, casual dining).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Ưu điểm:</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Đáp ứng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đa dạng khẩu vị cá nhân.</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Dễ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chi phí nguyên liệu và giá bán.</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khả năng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bán chéo (cross-selling)</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nhờ gợi ý món.</a:t>
            </a:r>
          </a:p>
          <a:p>
            <a:pPr>
              <a:buNone/>
            </a:pP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0A137F16-61B6-0CE1-AA01-7ECBA48FC957}"/>
              </a:ext>
            </a:extLst>
          </p:cNvPr>
          <p:cNvSpPr txBox="1"/>
          <p:nvPr/>
        </p:nvSpPr>
        <p:spPr>
          <a:xfrm>
            <a:off x="632348" y="990333"/>
            <a:ext cx="9576109" cy="461665"/>
          </a:xfrm>
          <a:prstGeom prst="rect">
            <a:avLst/>
          </a:prstGeom>
          <a:solidFill>
            <a:srgbClr val="FFFF00"/>
          </a:solidFill>
        </p:spPr>
        <p:txBody>
          <a:bodyPr wrap="square">
            <a:spAutoFit/>
          </a:bodyPr>
          <a:lstStyle/>
          <a:p>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 THỰC ĐƠN THEO MÓN ĂN (À LA CARTE MENU)</a:t>
            </a:r>
          </a:p>
        </p:txBody>
      </p:sp>
      <p:sp>
        <p:nvSpPr>
          <p:cNvPr id="9" name="TextBox 8">
            <a:extLst>
              <a:ext uri="{FF2B5EF4-FFF2-40B4-BE49-F238E27FC236}">
                <a16:creationId xmlns:a16="http://schemas.microsoft.com/office/drawing/2014/main" id="{EEDA637A-4D66-9F56-3070-EB38E822F00D}"/>
              </a:ext>
            </a:extLst>
          </p:cNvPr>
          <p:cNvSpPr txBox="1"/>
          <p:nvPr/>
        </p:nvSpPr>
        <p:spPr>
          <a:xfrm>
            <a:off x="7767267" y="2068855"/>
            <a:ext cx="4114801" cy="4154984"/>
          </a:xfrm>
          <a:prstGeom prst="rect">
            <a:avLst/>
          </a:prstGeom>
          <a:noFill/>
        </p:spPr>
        <p:txBody>
          <a:bodyPr wrap="square">
            <a:spAutoFit/>
          </a:bodyPr>
          <a:lstStyle/>
          <a:p>
            <a:r>
              <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Hạn chế:</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Thời gian phục vụ lâu hơn vì món làm theo yêu cầu.</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Cần đội ngũ bếp và phục vụ chuyên nghiệp.</a:t>
            </a:r>
          </a:p>
          <a:p>
            <a:r>
              <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minh họa:</a:t>
            </a:r>
          </a:p>
          <a:p>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nhà hàng gọi món:</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Súp bí đỏ: 65.000đ</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Salad cá ngừ: 90.000đ</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Bò bít tết sốt tiêu đen: 220.000đ</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Kem vani: 45.000đ</a:t>
            </a:r>
            <a:endParaRPr lang="en-US"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93302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879026F-FF9D-0C49-0539-B13200A8D7A4}"/>
              </a:ext>
            </a:extLst>
          </p:cNvPr>
          <p:cNvSpPr txBox="1"/>
          <p:nvPr/>
        </p:nvSpPr>
        <p:spPr>
          <a:xfrm>
            <a:off x="323751" y="1053604"/>
            <a:ext cx="6094140" cy="769441"/>
          </a:xfrm>
          <a:prstGeom prst="rect">
            <a:avLst/>
          </a:prstGeom>
          <a:solidFill>
            <a:srgbClr val="FFFF00"/>
          </a:solidFill>
        </p:spPr>
        <p:txBody>
          <a:bodyPr wrap="square">
            <a:spAutoFit/>
          </a:bodyPr>
          <a:lstStyle/>
          <a:p>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 THỰC ĐƠN THEO BỮA (SET MENU / TABLE D’HÔTE)</a:t>
            </a:r>
          </a:p>
        </p:txBody>
      </p:sp>
      <p:sp>
        <p:nvSpPr>
          <p:cNvPr id="5" name="TextBox 4">
            <a:extLst>
              <a:ext uri="{FF2B5EF4-FFF2-40B4-BE49-F238E27FC236}">
                <a16:creationId xmlns:a16="http://schemas.microsoft.com/office/drawing/2014/main" id="{B1DE4101-24F8-D253-8D00-37D59BE32C5C}"/>
              </a:ext>
            </a:extLst>
          </p:cNvPr>
          <p:cNvSpPr txBox="1"/>
          <p:nvPr/>
        </p:nvSpPr>
        <p:spPr>
          <a:xfrm>
            <a:off x="323751" y="2123879"/>
            <a:ext cx="5383251" cy="4832092"/>
          </a:xfrm>
          <a:prstGeom prst="rect">
            <a:avLst/>
          </a:prstGeom>
          <a:noFill/>
        </p:spPr>
        <p:txBody>
          <a:bodyPr wrap="square">
            <a:spAutoFit/>
          </a:bodyPr>
          <a:lstStyle/>
          <a:p>
            <a:pPr>
              <a:buNone/>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Khái niệm:</a:t>
            </a:r>
          </a:p>
          <a:p>
            <a:pPr>
              <a:buNone/>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 loại thực đơn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gồm nhiều món ăn được sắp xếp theo trình tự bữa ăn</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với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 cố định cho cả suất ăn.</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Đặc điểm:</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Món ăn được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định sẵn số lượng và thứ tự</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(khai vị → món chính → tráng miệng).</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không chọn từng món</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mà chọn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 set.</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Thường dùng trong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tiệc, hội nghị, khách đoàn, hay nhà hàng phục vụ trọn gói.</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endParaRPr lang="vi-VN" sz="2200" dirty="0"/>
          </a:p>
        </p:txBody>
      </p:sp>
      <p:sp>
        <p:nvSpPr>
          <p:cNvPr id="9" name="TextBox 8">
            <a:extLst>
              <a:ext uri="{FF2B5EF4-FFF2-40B4-BE49-F238E27FC236}">
                <a16:creationId xmlns:a16="http://schemas.microsoft.com/office/drawing/2014/main" id="{1A940E92-FF34-6773-4BED-DB9ADEC68F6E}"/>
              </a:ext>
            </a:extLst>
          </p:cNvPr>
          <p:cNvSpPr txBox="1"/>
          <p:nvPr/>
        </p:nvSpPr>
        <p:spPr>
          <a:xfrm>
            <a:off x="6251553" y="1292882"/>
            <a:ext cx="5656454" cy="5170646"/>
          </a:xfrm>
          <a:prstGeom prst="rect">
            <a:avLst/>
          </a:prstGeom>
          <a:noFill/>
        </p:spPr>
        <p:txBody>
          <a:bodyPr wrap="square">
            <a:spAutoFit/>
          </a:bodyPr>
          <a:lstStyle/>
          <a:p>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Ưu điểm:</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Dễ tổ chức và phục vụ nhanh cho nhiều khách.</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tốt chi phí và thời gian.</a:t>
            </a:r>
          </a:p>
          <a:p>
            <a:r>
              <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Hạn chế:</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Thiếu tính linh hoạt cho khách chọn món.</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Dễ gây đơn điệu nếu thực đơn không thay đổi thường xuyên.</a:t>
            </a:r>
          </a:p>
          <a:p>
            <a:r>
              <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minh họa:</a:t>
            </a:r>
          </a:p>
          <a:p>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bữa trưa 3 món (Set Menu 250.000đ):</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Khai vị: Súp gà ngô non</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Món chính: Cá hồi sốt chanh dây ăn kèm khoai tây nghiền</a:t>
            </a:r>
          </a:p>
          <a:p>
            <a:pPr marL="342900" indent="-342900">
              <a:buFont typeface="Wingdings" panose="05000000000000000000" pitchFamily="2" charset="2"/>
              <a:buChar char="ü"/>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Tráng miệng: Bánh flan và trà nóng</a:t>
            </a:r>
          </a:p>
        </p:txBody>
      </p:sp>
    </p:spTree>
    <p:extLst>
      <p:ext uri="{BB962C8B-B14F-4D97-AF65-F5344CB8AC3E}">
        <p14:creationId xmlns:p14="http://schemas.microsoft.com/office/powerpoint/2010/main" val="3594060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393465-5B65-E2B6-F09D-0A337BD88D2C}"/>
              </a:ext>
            </a:extLst>
          </p:cNvPr>
          <p:cNvSpPr txBox="1"/>
          <p:nvPr/>
        </p:nvSpPr>
        <p:spPr>
          <a:xfrm>
            <a:off x="303628" y="1840770"/>
            <a:ext cx="10713533" cy="4524315"/>
          </a:xfrm>
          <a:prstGeom prst="rect">
            <a:avLst/>
          </a:prstGeom>
          <a:noFill/>
        </p:spPr>
        <p:txBody>
          <a:bodyPr wrap="square">
            <a:spAutoFit/>
          </a:bodyPr>
          <a:lstStyle/>
          <a:p>
            <a:pPr>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Theo mục đích sử dụng:</a:t>
            </a: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tiệc:</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Dùng cho đám cưới, hội nghị, sinh nhật, lễ kỷ niệm.</a:t>
            </a: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dinh dưỡng: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Dành cho khách ăn kiêng, ăn chay, bệnh nhân.</a:t>
            </a: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trẻ em: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Món nhẹ, khẩu phần nhỏ, phù hợp độ tuổi.</a:t>
            </a:r>
          </a:p>
          <a:p>
            <a:pPr>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Theo thời gian phục vụ:</a:t>
            </a: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sáng / trưa / tối.</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theo mùa:</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Mùa hè (món lạnh, salad), mùa đông (món nóng, hầm).</a:t>
            </a:r>
          </a:p>
          <a:p>
            <a:pPr>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Theo hình thức phục vụ:</a:t>
            </a: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cố định (Fixed menu):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Không thay đổi thường xuyên.</a:t>
            </a: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luân phiên (Cyclic menu):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Thay đổi theo chu kỳ (tuần/tháng).</a:t>
            </a:r>
          </a:p>
          <a:p>
            <a:pPr marL="342900" indent="-342900">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đơn đặc biệt (Special menu):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Dành cho dịp lễ, sự kiện đặc biệt.</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F94685C1-E0CF-8AC1-3F4B-36B069D39D3A}"/>
              </a:ext>
            </a:extLst>
          </p:cNvPr>
          <p:cNvSpPr txBox="1"/>
          <p:nvPr/>
        </p:nvSpPr>
        <p:spPr>
          <a:xfrm>
            <a:off x="526653" y="1088755"/>
            <a:ext cx="7368168" cy="461665"/>
          </a:xfrm>
          <a:prstGeom prst="rect">
            <a:avLst/>
          </a:prstGeom>
          <a:solidFill>
            <a:srgbClr val="FFFF00"/>
          </a:solidFill>
        </p:spPr>
        <p:txBody>
          <a:bodyPr wrap="square">
            <a:spAutoFit/>
          </a:bodyPr>
          <a:lstStyle/>
          <a:p>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4. CÁC CÁCH PHÂN LOẠI THỰC ĐƠN KHÁC</a:t>
            </a:r>
          </a:p>
        </p:txBody>
      </p:sp>
    </p:spTree>
    <p:extLst>
      <p:ext uri="{BB962C8B-B14F-4D97-AF65-F5344CB8AC3E}">
        <p14:creationId xmlns:p14="http://schemas.microsoft.com/office/powerpoint/2010/main" val="2986397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0AFD668-26C5-42DF-0F09-26961FD2C039}"/>
              </a:ext>
            </a:extLst>
          </p:cNvPr>
          <p:cNvSpPr txBox="1"/>
          <p:nvPr/>
        </p:nvSpPr>
        <p:spPr>
          <a:xfrm>
            <a:off x="5994109" y="288235"/>
            <a:ext cx="6098874" cy="461665"/>
          </a:xfrm>
          <a:prstGeom prst="rect">
            <a:avLst/>
          </a:prstGeom>
          <a:noFill/>
        </p:spPr>
        <p:txBody>
          <a:bodyPr wrap="square">
            <a:spAutoFit/>
          </a:bodyPr>
          <a:lstStyle/>
          <a:p>
            <a:r>
              <a:rPr lang="vi-VN" sz="2400" b="1" dirty="0">
                <a:highlight>
                  <a:srgbClr val="FFFF00"/>
                </a:highlight>
              </a:rPr>
              <a:t>Các Loại Thực Đơn Khác</a:t>
            </a:r>
          </a:p>
        </p:txBody>
      </p:sp>
      <p:sp>
        <p:nvSpPr>
          <p:cNvPr id="2" name="Rectangle 1">
            <a:extLst>
              <a:ext uri="{FF2B5EF4-FFF2-40B4-BE49-F238E27FC236}">
                <a16:creationId xmlns:a16="http://schemas.microsoft.com/office/drawing/2014/main" id="{3FBF30B2-53E8-0116-4324-27F854AEC1C3}"/>
              </a:ext>
            </a:extLst>
          </p:cNvPr>
          <p:cNvSpPr>
            <a:spLocks noChangeArrowheads="1"/>
          </p:cNvSpPr>
          <p:nvPr/>
        </p:nvSpPr>
        <p:spPr bwMode="auto">
          <a:xfrm>
            <a:off x="365185" y="1071801"/>
            <a:ext cx="11461630" cy="57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ts val="600"/>
              </a:spcBef>
              <a:spcAft>
                <a:spcPct val="0"/>
              </a:spcAft>
              <a:buClrTx/>
              <a:buSzTx/>
              <a:buFont typeface="Wingdings" panose="05000000000000000000" pitchFamily="2" charset="2"/>
              <a:buChar char="q"/>
              <a:tabLst/>
            </a:pP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Theo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(Daily Menu):</a:t>
            </a:r>
            <a:endPar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23900" marR="0" lvl="0" indent="-361950" algn="l" defTabSz="914400" rtl="0" eaLnBrk="0" fontAlgn="base" latinLnBrk="0" hangingPunct="0">
              <a:lnSpc>
                <a:spcPct val="100000"/>
              </a:lnSpc>
              <a:spcBef>
                <a:spcPts val="600"/>
              </a:spcBef>
              <a:spcAft>
                <a:spcPct val="0"/>
              </a:spcAft>
              <a:buClrTx/>
              <a:buSzTx/>
              <a:buFont typeface="Wingdings" panose="05000000000000000000" pitchFamily="2" charset="2"/>
              <a:buChar char="ü"/>
              <a:tabLst/>
            </a:pP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thay</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đổi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tùy</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nguyên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liệu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tươi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sẵn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yêu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723900" marR="0" lvl="0" indent="-361950" algn="l" defTabSz="914400" rtl="0" eaLnBrk="0" fontAlgn="base" latinLnBrk="0" hangingPunct="0">
              <a:lnSpc>
                <a:spcPct val="100000"/>
              </a:lnSpc>
              <a:spcBef>
                <a:spcPts val="600"/>
              </a:spcBef>
              <a:spcAft>
                <a:spcPct val="0"/>
              </a:spcAft>
              <a:buClrTx/>
              <a:buSzTx/>
              <a:buFont typeface="Wingdings" panose="05000000000000000000" pitchFamily="2" charset="2"/>
              <a:buChar char="ü"/>
              <a:tabLst/>
            </a:pP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mỗi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tuần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tươi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Hai,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chay</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a:t>
            </a:r>
          </a:p>
          <a:p>
            <a:pPr marL="342900" marR="0" lvl="0" indent="-342900" algn="l" defTabSz="914400" rtl="0" eaLnBrk="0" fontAlgn="base" latinLnBrk="0" hangingPunct="0">
              <a:lnSpc>
                <a:spcPct val="100000"/>
              </a:lnSpc>
              <a:spcBef>
                <a:spcPts val="600"/>
              </a:spcBef>
              <a:spcAft>
                <a:spcPct val="0"/>
              </a:spcAft>
              <a:buClrTx/>
              <a:buSzTx/>
              <a:buFont typeface="Wingdings" panose="05000000000000000000" pitchFamily="2" charset="2"/>
              <a:buChar char="q"/>
              <a:tabLst/>
            </a:pP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Cho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Dịp</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(Special Occasion Menu):</a:t>
            </a:r>
            <a:endPar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23900" marR="0" lvl="0" indent="-361950" algn="l" defTabSz="914400" rtl="0" eaLnBrk="0" fontAlgn="base" latinLnBrk="0" hangingPunct="0">
              <a:lnSpc>
                <a:spcPct val="100000"/>
              </a:lnSpc>
              <a:spcBef>
                <a:spcPts val="600"/>
              </a:spcBef>
              <a:spcAft>
                <a:spcPct val="0"/>
              </a:spcAft>
              <a:buClrTx/>
              <a:buSzTx/>
              <a:buFont typeface="Wingdings" panose="05000000000000000000" pitchFamily="2" charset="2"/>
              <a:buChar char="ü"/>
              <a:tabLst/>
            </a:pP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dành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riêng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dịp</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Sinh,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Nguyên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cưới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723900" marR="0" lvl="0" indent="-361950" algn="l" defTabSz="914400" rtl="0" eaLnBrk="0" fontAlgn="base" latinLnBrk="0" hangingPunct="0">
              <a:lnSpc>
                <a:spcPct val="100000"/>
              </a:lnSpc>
              <a:spcBef>
                <a:spcPts val="600"/>
              </a:spcBef>
              <a:spcAft>
                <a:spcPct val="0"/>
              </a:spcAft>
              <a:buClrTx/>
              <a:buSzTx/>
              <a:buFont typeface="Wingdings" panose="05000000000000000000" pitchFamily="2" charset="2"/>
              <a:buChar char="ü"/>
              <a:tabLst/>
            </a:pP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cưới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khai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vị</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súp</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tôm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hùm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bò</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bít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tráng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miệng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bánh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cưới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600"/>
              </a:spcBef>
              <a:spcAft>
                <a:spcPct val="0"/>
              </a:spcAft>
              <a:buClrTx/>
              <a:buSzTx/>
              <a:buFont typeface="Wingdings" panose="05000000000000000000" pitchFamily="2" charset="2"/>
              <a:buChar char="q"/>
              <a:tabLst/>
            </a:pP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Dinh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Dưỡng</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(Dietary Menu):</a:t>
            </a:r>
            <a:endPar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23900" marR="0" lvl="0" indent="-361950" algn="l" defTabSz="914400" rtl="0" eaLnBrk="0" fontAlgn="base" latinLnBrk="0" hangingPunct="0">
              <a:lnSpc>
                <a:spcPct val="100000"/>
              </a:lnSpc>
              <a:spcBef>
                <a:spcPts val="600"/>
              </a:spcBef>
              <a:spcAft>
                <a:spcPct val="0"/>
              </a:spcAft>
              <a:buClrTx/>
              <a:buSzTx/>
              <a:buFont typeface="Wingdings" panose="05000000000000000000" pitchFamily="2" charset="2"/>
              <a:buChar char="ü"/>
              <a:tabLst/>
            </a:pP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dành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nhóm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yêu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dinh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dưỡng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chẳng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chay</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chế</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cân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723900" marR="0" lvl="0" indent="-361950" algn="l" defTabSz="914400" rtl="0" eaLnBrk="0" fontAlgn="base" latinLnBrk="0" hangingPunct="0">
              <a:lnSpc>
                <a:spcPct val="100000"/>
              </a:lnSpc>
              <a:spcBef>
                <a:spcPts val="600"/>
              </a:spcBef>
              <a:spcAft>
                <a:spcPct val="0"/>
              </a:spcAft>
              <a:buClrTx/>
              <a:buSzTx/>
              <a:buFont typeface="Wingdings" panose="05000000000000000000" pitchFamily="2" charset="2"/>
              <a:buChar char="ü"/>
              <a:tabLst/>
            </a:pP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chay</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rau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xào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salad,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gạo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lứt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433228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61787F-7E0A-40DA-36B1-E5F47978F2BB}"/>
              </a:ext>
            </a:extLst>
          </p:cNvPr>
          <p:cNvSpPr txBox="1"/>
          <p:nvPr/>
        </p:nvSpPr>
        <p:spPr>
          <a:xfrm>
            <a:off x="414068" y="1269583"/>
            <a:ext cx="5679058" cy="5062924"/>
          </a:xfrm>
          <a:prstGeom prst="rect">
            <a:avLst/>
          </a:prstGeom>
          <a:noFill/>
        </p:spPr>
        <p:txBody>
          <a:bodyPr wrap="square">
            <a:spAutoFit/>
          </a:bodyPr>
          <a:lstStyle/>
          <a:p>
            <a:pPr>
              <a:spcBef>
                <a:spcPts val="1200"/>
              </a:spcBef>
            </a:pPr>
            <a:r>
              <a:rPr lang="vi-VN" sz="24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 Các yếu tố ảnh hưởng đến doanh thu:</a:t>
            </a:r>
          </a:p>
          <a:p>
            <a:pPr marL="285750" indent="-28575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lượng khách hàng:</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lượng khách hàng càng lớn, doanh thu càng cao.</a:t>
            </a: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Ảnh hưởng trực tiếp từ khả năng thu hút khách hàng đến nhà hàng.</a:t>
            </a:r>
            <a:endParaRPr lang="vi-VN"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spcBef>
                <a:spcPts val="6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 cả thực đơn:</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 cả hợp lý và cân đối giữa giá trị và chất lượng giúp tối ưu hóa doanh thu.</a:t>
            </a: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chỉnh giá cả theo xu hướng thị trường và chi phí đầu vào.</a:t>
            </a:r>
          </a:p>
        </p:txBody>
      </p:sp>
      <p:sp>
        <p:nvSpPr>
          <p:cNvPr id="5" name="TextBox 4">
            <a:extLst>
              <a:ext uri="{FF2B5EF4-FFF2-40B4-BE49-F238E27FC236}">
                <a16:creationId xmlns:a16="http://schemas.microsoft.com/office/drawing/2014/main" id="{6DB3FB71-6EBF-9F81-39E5-103643B244EC}"/>
              </a:ext>
            </a:extLst>
          </p:cNvPr>
          <p:cNvSpPr txBox="1"/>
          <p:nvPr/>
        </p:nvSpPr>
        <p:spPr>
          <a:xfrm>
            <a:off x="6271591" y="-20593"/>
            <a:ext cx="5249173" cy="1174745"/>
          </a:xfrm>
          <a:prstGeom prst="rect">
            <a:avLst/>
          </a:prstGeom>
          <a:noFill/>
        </p:spPr>
        <p:txBody>
          <a:bodyPr wrap="square">
            <a:spAutoFit/>
          </a:bodyPr>
          <a:lstStyle/>
          <a:p>
            <a:pPr algn="ctr">
              <a:lnSpc>
                <a:spcPct val="115000"/>
              </a:lnSpc>
              <a:spcAft>
                <a:spcPts val="800"/>
              </a:spcAft>
            </a:pPr>
            <a:r>
              <a:rPr lang="en-US"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 QUẢN TRỊ DOANH THU NHÀ HÀNG</a:t>
            </a:r>
          </a:p>
        </p:txBody>
      </p:sp>
      <p:sp>
        <p:nvSpPr>
          <p:cNvPr id="7" name="TextBox 6">
            <a:extLst>
              <a:ext uri="{FF2B5EF4-FFF2-40B4-BE49-F238E27FC236}">
                <a16:creationId xmlns:a16="http://schemas.microsoft.com/office/drawing/2014/main" id="{B25BF070-A131-F0B0-561C-4719464AA0A0}"/>
              </a:ext>
            </a:extLst>
          </p:cNvPr>
          <p:cNvSpPr txBox="1"/>
          <p:nvPr/>
        </p:nvSpPr>
        <p:spPr>
          <a:xfrm>
            <a:off x="6093126" y="1751516"/>
            <a:ext cx="6098874" cy="4539704"/>
          </a:xfrm>
          <a:prstGeom prst="rect">
            <a:avLst/>
          </a:prstGeom>
          <a:noFill/>
        </p:spPr>
        <p:txBody>
          <a:bodyPr wrap="square">
            <a:spAutoFit/>
          </a:bodyPr>
          <a:lstStyle/>
          <a:p>
            <a:pPr marL="285750" indent="-285750">
              <a:spcBef>
                <a:spcPts val="6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 phí nguyên liệu:</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 phí nguyên liệu ảnh hưởng lớn đến lợi nhuận.</a:t>
            </a: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hiệu quả chi phí nguyên liệu giúp duy trì mức lợi nhuận cao hơn.</a:t>
            </a:r>
          </a:p>
          <a:p>
            <a:pPr marL="285750" indent="-285750">
              <a:spcBef>
                <a:spcPts val="6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Chất lượng dịch vụ:</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Chất lượng dịch vụ tốt giúp giữ chân khách hàng và tăng doanh thu qua việc khách hàng quay lại.</a:t>
            </a:r>
          </a:p>
          <a:p>
            <a:pPr marL="742950" lvl="1" indent="-285750">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không đạt yêu cầu có thể làm giảm doanh thu do mất khách hàng.</a:t>
            </a:r>
          </a:p>
        </p:txBody>
      </p:sp>
    </p:spTree>
    <p:extLst>
      <p:ext uri="{BB962C8B-B14F-4D97-AF65-F5344CB8AC3E}">
        <p14:creationId xmlns:p14="http://schemas.microsoft.com/office/powerpoint/2010/main" val="2857337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8DB3A6-9C1D-1097-4EE1-C60524396DDF}"/>
              </a:ext>
            </a:extLst>
          </p:cNvPr>
          <p:cNvSpPr txBox="1"/>
          <p:nvPr/>
        </p:nvSpPr>
        <p:spPr>
          <a:xfrm>
            <a:off x="119206" y="1255087"/>
            <a:ext cx="6142446" cy="4616648"/>
          </a:xfrm>
          <a:prstGeom prst="rect">
            <a:avLst/>
          </a:prstGeom>
          <a:noFill/>
        </p:spPr>
        <p:txBody>
          <a:bodyPr wrap="square">
            <a:spAutoFit/>
          </a:bodyPr>
          <a:lstStyle/>
          <a:p>
            <a:pPr>
              <a:spcBef>
                <a:spcPts val="1200"/>
              </a:spcBef>
            </a:pPr>
            <a:r>
              <a:rPr lang="vi-VN" sz="2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Chiến lược tăng doanh thu:</a:t>
            </a:r>
          </a:p>
          <a:p>
            <a:pPr algn="just">
              <a:spcBef>
                <a:spcPts val="600"/>
              </a:spcBef>
              <a:buFont typeface="Arial" panose="020B0604020202020204" pitchFamily="34" charset="0"/>
              <a:buChar char="•"/>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hóa thực đơn:</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Xây dựng thực đơn với các món ăn có lợi nhuận cao và phù hợp với xu hướng.</a:t>
            </a:r>
          </a:p>
          <a:p>
            <a:pPr marL="742950" lvl="1" indent="-285750">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Cập nhật thường xuyên thực đơn để hấp dẫn khách hàng và duy trì sự mới mẻ.</a:t>
            </a:r>
          </a:p>
          <a:p>
            <a:pPr>
              <a:spcBef>
                <a:spcPts val="600"/>
              </a:spcBef>
              <a:buFont typeface="Arial" panose="020B0604020202020204" pitchFamily="34" charset="0"/>
              <a:buChar char="•"/>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các chương trình khuyến mãi và sự kiện đặc biệt:</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Khuyến mãi đặc biệt vào các dịp lễ hoặc cuối tuần để thu hút thêm khách hàng.</a:t>
            </a:r>
          </a:p>
          <a:p>
            <a:pPr marL="742950" lvl="1" indent="-285750">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theo chủ đề để tạo điểm nhấn và thu hút khách hàng mới.</a:t>
            </a:r>
          </a:p>
        </p:txBody>
      </p:sp>
      <p:sp>
        <p:nvSpPr>
          <p:cNvPr id="5" name="TextBox 4">
            <a:extLst>
              <a:ext uri="{FF2B5EF4-FFF2-40B4-BE49-F238E27FC236}">
                <a16:creationId xmlns:a16="http://schemas.microsoft.com/office/drawing/2014/main" id="{08A6C9E2-9072-2FA9-7CCA-533FBAC84F47}"/>
              </a:ext>
            </a:extLst>
          </p:cNvPr>
          <p:cNvSpPr txBox="1"/>
          <p:nvPr/>
        </p:nvSpPr>
        <p:spPr>
          <a:xfrm>
            <a:off x="6689034" y="1255737"/>
            <a:ext cx="5105464" cy="5093702"/>
          </a:xfrm>
          <a:prstGeom prst="rect">
            <a:avLst/>
          </a:prstGeom>
          <a:noFill/>
        </p:spPr>
        <p:txBody>
          <a:bodyPr wrap="square">
            <a:spAutoFit/>
          </a:bodyPr>
          <a:lstStyle/>
          <a:p>
            <a:pPr algn="just">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 cao chất lượng dịch vụ và trải nghiệm khách hàng:</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spcBef>
                <a:spcPts val="600"/>
              </a:spcBef>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Đào tạo nhân viên nâng cao kỹ năng phục vụ và kỹ năng giao tiếp với khách hàng.</a:t>
            </a:r>
          </a:p>
          <a:p>
            <a:pPr marL="742950" lvl="1" indent="-285750" algn="just">
              <a:spcBef>
                <a:spcPts val="600"/>
              </a:spcBef>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Cải thiện không gian nhà hàng và môi trường phục vụ để tạo ấn tượng tốt.</a:t>
            </a:r>
          </a:p>
          <a:p>
            <a:pPr algn="just">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chi phí hiệu quả:</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spcBef>
                <a:spcPts val="600"/>
              </a:spcBef>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chặt chẽ chi phí nguyên liệu và vận hành để tối đa hóa lợi nhuận.</a:t>
            </a:r>
          </a:p>
          <a:p>
            <a:pPr marL="742950" lvl="1" indent="-285750" algn="just">
              <a:spcBef>
                <a:spcPts val="600"/>
              </a:spcBef>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Áp dụng các phương pháp mua sắm thông minh và kiểm soát lượng hàng tồn kho.</a:t>
            </a:r>
            <a:endParaRPr lang="vi-VN" sz="2000" dirty="0"/>
          </a:p>
        </p:txBody>
      </p:sp>
    </p:spTree>
    <p:extLst>
      <p:ext uri="{BB962C8B-B14F-4D97-AF65-F5344CB8AC3E}">
        <p14:creationId xmlns:p14="http://schemas.microsoft.com/office/powerpoint/2010/main" val="2597174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7C1681-46A8-D320-BE36-0B887E91CF1F}"/>
              </a:ext>
            </a:extLst>
          </p:cNvPr>
          <p:cNvSpPr txBox="1"/>
          <p:nvPr/>
        </p:nvSpPr>
        <p:spPr>
          <a:xfrm>
            <a:off x="406566" y="1037345"/>
            <a:ext cx="11063377" cy="5447645"/>
          </a:xfrm>
          <a:prstGeom prst="rect">
            <a:avLst/>
          </a:prstGeom>
          <a:noFill/>
        </p:spPr>
        <p:txBody>
          <a:bodyPr wrap="square">
            <a:spAutoFit/>
          </a:bodyPr>
          <a:lstStyle/>
          <a:p>
            <a:pPr algn="just">
              <a:spcBef>
                <a:spcPts val="1200"/>
              </a:spcBef>
            </a:pPr>
            <a:r>
              <a:rPr lang="vi-VN" sz="24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Ví dụ minh họa:</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Chiến lược "upselling":</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spcBef>
                <a:spcPts val="1200"/>
              </a:spcBef>
              <a:buFont typeface="Wingdings" panose="05000000000000000000" pitchFamily="2" charset="2"/>
              <a:buChar char="v"/>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 viên gợi ý khách hàng chọn thêm các món ăn hoặc đồ uống cao cấp như rượu vang, món tráng miệng đặc biệt, hoặc các combo đồ ăn uống.</a:t>
            </a:r>
          </a:p>
          <a:p>
            <a:pPr marL="800100" lvl="1" indent="-342900" algn="just">
              <a:spcBef>
                <a:spcPts val="1200"/>
              </a:spcBef>
              <a:buFont typeface="Wingdings" panose="05000000000000000000" pitchFamily="2" charset="2"/>
              <a:buChar char="v"/>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Khi khách hàng chọn món chính, nhân viên có thể gợi ý thêm một món khai vị nhẹ nhàng hoặc một loại nước uống đặc biệt, giúp tăng giá trị hóa đơn trung bình.</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doanh thu qua chương trình khuyến mãi:</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spcBef>
                <a:spcPts val="1200"/>
              </a:spcBef>
              <a:buFont typeface="Wingdings" panose="05000000000000000000" pitchFamily="2" charset="2"/>
              <a:buChar char="v"/>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chương trình "Happy Hour" với giá ưu đãi cho đồ uống từ 4-6 giờ chiều, thu hút thêm lượng khách hàng ngoài giờ cao điểm.</a:t>
            </a:r>
          </a:p>
          <a:p>
            <a:pPr marL="800100" lvl="1" indent="-342900" algn="just">
              <a:spcBef>
                <a:spcPts val="1200"/>
              </a:spcBef>
              <a:buFont typeface="Wingdings" panose="05000000000000000000" pitchFamily="2" charset="2"/>
              <a:buChar char="v"/>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Khách hàng có thể được giảm 20% cho món chính khi đặt bàn trước qua điện thoại hoặc ứng dụng di động.</a:t>
            </a:r>
          </a:p>
        </p:txBody>
      </p:sp>
    </p:spTree>
    <p:extLst>
      <p:ext uri="{BB962C8B-B14F-4D97-AF65-F5344CB8AC3E}">
        <p14:creationId xmlns:p14="http://schemas.microsoft.com/office/powerpoint/2010/main" val="3590539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E44F3-D1B4-C119-4A30-B7823EB2A978}"/>
              </a:ext>
            </a:extLst>
          </p:cNvPr>
          <p:cNvSpPr>
            <a:spLocks noGrp="1"/>
          </p:cNvSpPr>
          <p:nvPr>
            <p:ph type="title"/>
          </p:nvPr>
        </p:nvSpPr>
        <p:spPr>
          <a:xfrm>
            <a:off x="212176" y="1298191"/>
            <a:ext cx="11353800" cy="460065"/>
          </a:xfrm>
        </p:spPr>
        <p:txBody>
          <a:bodyPr>
            <a:normAutofit fontScale="90000"/>
          </a:bodyPr>
          <a:lstStyle/>
          <a:p>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bản</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3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hang  </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0E56116-7D41-35A1-580A-A932D0C75009}"/>
                  </a:ext>
                </a:extLst>
              </p:cNvPr>
              <p:cNvSpPr txBox="1"/>
              <p:nvPr/>
            </p:nvSpPr>
            <p:spPr>
              <a:xfrm>
                <a:off x="359464" y="2068810"/>
                <a:ext cx="11059223" cy="4533933"/>
              </a:xfrm>
              <a:prstGeom prst="rect">
                <a:avLst/>
              </a:prstGeom>
              <a:noFill/>
            </p:spPr>
            <p:txBody>
              <a:bodyPr wrap="square">
                <a:spAutoFit/>
              </a:bodyPr>
              <a:lstStyle/>
              <a:p>
                <a:pPr>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thức tổng quát: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a:p>
                <a:pPr>
                  <a:buNone/>
                </a:pPr>
                <a14:m>
                  <m:oMathPara xmlns:m="http://schemas.openxmlformats.org/officeDocument/2006/math">
                    <m:oMathParaPr>
                      <m:jc m:val="centerGroup"/>
                    </m:oMathParaPr>
                    <m:oMath xmlns:m="http://schemas.openxmlformats.org/officeDocument/2006/math">
                      <m:r>
                        <m:rPr>
                          <m:nor/>
                        </m:rPr>
                        <a:rPr lang="vi-VN" sz="2400" b="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Doanh</m:t>
                      </m:r>
                      <m:r>
                        <m:rPr>
                          <m:nor/>
                        </m:rPr>
                        <a:rPr lang="vi-VN"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thu</m:t>
                      </m:r>
                      <m:r>
                        <a:rPr lang="vi-VN" sz="2400" b="1" i="0">
                          <a:solidFill>
                            <a:srgbClr val="FF0000"/>
                          </a:solidFill>
                          <a:latin typeface="Cambria Math" panose="02040503050406030204" pitchFamily="18" charset="0"/>
                        </a:rPr>
                        <m:t>=</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S</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ố</m:t>
                      </m:r>
                      <m:r>
                        <m:rPr>
                          <m:nor/>
                        </m:rPr>
                        <a:rPr lang="ar-AE"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l</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ượ</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ng</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kh</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á</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ch</m:t>
                      </m:r>
                      <m:r>
                        <a:rPr lang="vi-VN" sz="2400" b="1" i="0">
                          <a:solidFill>
                            <a:srgbClr val="FF0000"/>
                          </a:solidFill>
                          <a:latin typeface="Cambria Math" panose="02040503050406030204" pitchFamily="18" charset="0"/>
                        </a:rPr>
                        <m:t>×</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M</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ứ</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chi</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ti</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ê</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u</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trung</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b</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ì</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nh</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m</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ỗ</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i</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kh</m:t>
                      </m:r>
                      <m:r>
                        <m:rPr>
                          <m:nor/>
                        </m:rPr>
                        <a:rPr lang="en-US" sz="24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á</m:t>
                      </m:r>
                      <m:r>
                        <m:rPr>
                          <m:nor/>
                        </m:rPr>
                        <a:rPr lang="vi-VN" sz="24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ch</m:t>
                      </m:r>
                    </m:oMath>
                  </m:oMathPara>
                </a14:m>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Giải thích:</a:t>
                </a:r>
              </a:p>
              <a:p>
                <a:pPr>
                  <a:buFont typeface="Arial" panose="020B0604020202020204" pitchFamily="34" charset="0"/>
                  <a:buChar char="•"/>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(Revenue):</a:t>
                </a:r>
                <a:b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 tổng số tiền mà nhà hàng thu được từ việc bán hàng hóa và dịch vụ (thức ăn, đồ uống, phí phục vụ,…).</a:t>
                </a:r>
              </a:p>
              <a:p>
                <a:pPr>
                  <a:buFont typeface="Arial" panose="020B0604020202020204" pitchFamily="34" charset="0"/>
                  <a:buChar char="•"/>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Số lượng khách (Number of Guests):</a:t>
                </a:r>
                <a:b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 số khách hàng đến và sử dụng dịch vụ trong một khoảng thời gian (ngày, tuần, tháng,…).</a:t>
                </a:r>
              </a:p>
              <a:p>
                <a:pPr>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Mức chi tiêu trung bình mỗi khách (Average Check / Average Spending per Customer):</a:t>
                </a:r>
                <a:b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 số tiền trung bình mà mỗi khách chi tiêu trong một lần ăn uống tại nhà hàng.</a:t>
                </a:r>
              </a:p>
            </p:txBody>
          </p:sp>
        </mc:Choice>
        <mc:Fallback>
          <p:sp>
            <p:nvSpPr>
              <p:cNvPr id="5" name="TextBox 4">
                <a:extLst>
                  <a:ext uri="{FF2B5EF4-FFF2-40B4-BE49-F238E27FC236}">
                    <a16:creationId xmlns:a16="http://schemas.microsoft.com/office/drawing/2014/main" id="{60E56116-7D41-35A1-580A-A932D0C75009}"/>
                  </a:ext>
                </a:extLst>
              </p:cNvPr>
              <p:cNvSpPr txBox="1">
                <a:spLocks noRot="1" noChangeAspect="1" noMove="1" noResize="1" noEditPoints="1" noAdjustHandles="1" noChangeArrowheads="1" noChangeShapeType="1" noTextEdit="1"/>
              </p:cNvSpPr>
              <p:nvPr/>
            </p:nvSpPr>
            <p:spPr>
              <a:xfrm>
                <a:off x="359464" y="2068810"/>
                <a:ext cx="11059223" cy="4533933"/>
              </a:xfrm>
              <a:prstGeom prst="rect">
                <a:avLst/>
              </a:prstGeom>
              <a:blipFill>
                <a:blip r:embed="rId2"/>
                <a:stretch>
                  <a:fillRect l="-882" t="-1075" r="-55" b="-2016"/>
                </a:stretch>
              </a:blipFill>
            </p:spPr>
            <p:txBody>
              <a:bodyPr/>
              <a:lstStyle/>
              <a:p>
                <a:r>
                  <a:rPr lang="en-US">
                    <a:noFill/>
                  </a:rPr>
                  <a:t> </a:t>
                </a:r>
              </a:p>
            </p:txBody>
          </p:sp>
        </mc:Fallback>
      </mc:AlternateContent>
    </p:spTree>
    <p:extLst>
      <p:ext uri="{BB962C8B-B14F-4D97-AF65-F5344CB8AC3E}">
        <p14:creationId xmlns:p14="http://schemas.microsoft.com/office/powerpoint/2010/main" val="395426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03F6ED-586F-0C93-7417-4F28B00E78F2}"/>
              </a:ext>
            </a:extLst>
          </p:cNvPr>
          <p:cNvSpPr txBox="1"/>
          <p:nvPr/>
        </p:nvSpPr>
        <p:spPr>
          <a:xfrm>
            <a:off x="627256" y="751344"/>
            <a:ext cx="10624324" cy="2677656"/>
          </a:xfrm>
          <a:prstGeom prst="rect">
            <a:avLst/>
          </a:prstGeom>
          <a:noFill/>
        </p:spPr>
        <p:txBody>
          <a:bodyPr wrap="square">
            <a:spAutoFit/>
          </a:bodyPr>
          <a:lstStyle/>
          <a:p>
            <a:pPr algn="just">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Ý nghĩa trong quản trị doanh thu:</a:t>
            </a:r>
          </a:p>
          <a:p>
            <a:pPr marL="342900" indent="-342900" algn="just">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Giúp nhà quản lý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tích yếu tố ảnh hưởng đến doanh thu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(lượng khách hay chi tiêu trung bình).</a:t>
            </a:r>
          </a:p>
          <a:p>
            <a:pPr marL="342900" indent="-342900" algn="just">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 cơ sở để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xây dựng chiến lược tăng doanh thu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342900" algn="just">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lượng khách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(qua marketing, khuyến mãi, cải thiện dịch vụ).</a:t>
            </a:r>
          </a:p>
          <a:p>
            <a:pPr marL="800100" lvl="1" indent="-342900" algn="just">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mức chi tiêu trung bình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(bán kèm, gợi ý món, combo, upselling).</a:t>
            </a:r>
          </a:p>
          <a:p>
            <a:pPr marL="342900" indent="-342900" algn="just">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Dễ dàng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so sánh kết quả kinh doanh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theo ngày/tuần/tháng.</a:t>
            </a:r>
          </a:p>
        </p:txBody>
      </p:sp>
      <p:graphicFrame>
        <p:nvGraphicFramePr>
          <p:cNvPr id="10" name="Table 9">
            <a:extLst>
              <a:ext uri="{FF2B5EF4-FFF2-40B4-BE49-F238E27FC236}">
                <a16:creationId xmlns:a16="http://schemas.microsoft.com/office/drawing/2014/main" id="{658E8FE0-B3D2-269A-4068-E927F5FFCA9E}"/>
              </a:ext>
            </a:extLst>
          </p:cNvPr>
          <p:cNvGraphicFramePr>
            <a:graphicFrameLocks noGrp="1"/>
          </p:cNvGraphicFramePr>
          <p:nvPr/>
        </p:nvGraphicFramePr>
        <p:xfrm>
          <a:off x="735980" y="3753736"/>
          <a:ext cx="10515600" cy="2194560"/>
        </p:xfrm>
        <a:graphic>
          <a:graphicData uri="http://schemas.openxmlformats.org/drawingml/2006/table">
            <a:tbl>
              <a:tblPr/>
              <a:tblGrid>
                <a:gridCol w="3505200">
                  <a:extLst>
                    <a:ext uri="{9D8B030D-6E8A-4147-A177-3AD203B41FA5}">
                      <a16:colId xmlns:a16="http://schemas.microsoft.com/office/drawing/2014/main" val="224113051"/>
                    </a:ext>
                  </a:extLst>
                </a:gridCol>
                <a:gridCol w="2358483">
                  <a:extLst>
                    <a:ext uri="{9D8B030D-6E8A-4147-A177-3AD203B41FA5}">
                      <a16:colId xmlns:a16="http://schemas.microsoft.com/office/drawing/2014/main" val="1630169613"/>
                    </a:ext>
                  </a:extLst>
                </a:gridCol>
                <a:gridCol w="4651917">
                  <a:extLst>
                    <a:ext uri="{9D8B030D-6E8A-4147-A177-3AD203B41FA5}">
                      <a16:colId xmlns:a16="http://schemas.microsoft.com/office/drawing/2014/main" val="1408740271"/>
                    </a:ext>
                  </a:extLst>
                </a:gridCol>
              </a:tblGrid>
              <a:tr h="0">
                <a:tc>
                  <a:txBody>
                    <a:bodyPr/>
                    <a:lstStyle/>
                    <a:p>
                      <a:pPr>
                        <a:buNone/>
                      </a:pP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Thành </a:t>
                      </a: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phần</a:t>
                      </a:r>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Ký</a:t>
                      </a: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a:t>
                      </a:r>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a:t>
                      </a: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Ý </a:t>
                      </a: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a:t>
                      </a:r>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542405"/>
                  </a:ext>
                </a:extLst>
              </a:tr>
              <a:tr h="0">
                <a:tc>
                  <a:txBody>
                    <a:bodyPr/>
                    <a:lstStyle/>
                    <a:p>
                      <a:pPr>
                        <a:buNone/>
                      </a:pPr>
                      <a:r>
                        <a:rPr lang="en-US" sz="2000" b="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(Revenue)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 = N ×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4364865"/>
                  </a:ext>
                </a:extLst>
              </a:tr>
              <a:tr h="0">
                <a:tc>
                  <a:txBody>
                    <a:bodyPr/>
                    <a:lstStyle/>
                    <a:p>
                      <a:pPr>
                        <a:buNone/>
                      </a:pPr>
                      <a:r>
                        <a:rPr lang="en-US" sz="2000" b="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lượng khách (Number of Guests)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0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3937588"/>
                  </a:ext>
                </a:extLst>
              </a:tr>
              <a:tr h="0">
                <a:tc>
                  <a:txBody>
                    <a:bodyPr/>
                    <a:lstStyle/>
                    <a:p>
                      <a:pPr>
                        <a:buNone/>
                      </a:pPr>
                      <a:r>
                        <a:rPr lang="en-US" sz="2000" b="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Mức chi tiêu trung bình (Average Check)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 = R ÷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4628800"/>
                  </a:ext>
                </a:extLst>
              </a:tr>
            </a:tbl>
          </a:graphicData>
        </a:graphic>
      </p:graphicFrame>
    </p:spTree>
    <p:extLst>
      <p:ext uri="{BB962C8B-B14F-4D97-AF65-F5344CB8AC3E}">
        <p14:creationId xmlns:p14="http://schemas.microsoft.com/office/powerpoint/2010/main" val="3565099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A12919E-1DAB-77BA-28D2-EC9BC48E77C5}"/>
                  </a:ext>
                </a:extLst>
              </p:cNvPr>
              <p:cNvSpPr txBox="1"/>
              <p:nvPr/>
            </p:nvSpPr>
            <p:spPr>
              <a:xfrm>
                <a:off x="428109" y="1023301"/>
                <a:ext cx="11084312" cy="5549853"/>
              </a:xfrm>
              <a:prstGeom prst="rect">
                <a:avLst/>
              </a:prstGeom>
              <a:noFill/>
            </p:spPr>
            <p:txBody>
              <a:bodyPr wrap="square">
                <a:spAutoFit/>
              </a:bodyPr>
              <a:lstStyle/>
              <a:p>
                <a:pPr>
                  <a:buNone/>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REVPASH – REVENUE PER AVAILABLE SEAT HOUR</a:t>
                </a:r>
              </a:p>
              <a:p>
                <a:pPr>
                  <a:buNone/>
                </a:pPr>
                <a:r>
                  <a:rPr lang="vi-VN" sz="2000" i="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trên mỗi ghế khả dụng trong một giờ)</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Công thức:</a:t>
                </a:r>
              </a:p>
              <a:p>
                <a:pPr>
                  <a:buNone/>
                </a:pPr>
                <a14:m>
                  <m:oMathPara xmlns:m="http://schemas.openxmlformats.org/officeDocument/2006/math">
                    <m:oMathParaPr>
                      <m:jc m:val="centerGroup"/>
                    </m:oMathParaPr>
                    <m:oMath xmlns:m="http://schemas.openxmlformats.org/officeDocument/2006/math">
                      <m:r>
                        <m:rPr>
                          <m:nor/>
                        </m:rPr>
                        <a:rPr lang="vi-VN" sz="2000" b="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RevPASH</m:t>
                      </m:r>
                      <m:r>
                        <a:rPr lang="vi-VN" sz="2000" b="1" i="0">
                          <a:solidFill>
                            <a:srgbClr val="FF0000"/>
                          </a:solidFill>
                          <a:latin typeface="Cambria Math" panose="02040503050406030204" pitchFamily="18" charset="0"/>
                        </a:rPr>
                        <m:t>=</m:t>
                      </m:r>
                      <m:f>
                        <m:fPr>
                          <m:ctrlPr>
                            <a:rPr lang="ar-AE" sz="2000" b="1" i="1">
                              <a:solidFill>
                                <a:srgbClr val="FF0000"/>
                              </a:solidFill>
                              <a:latin typeface="Cambria Math" panose="02040503050406030204" pitchFamily="18" charset="0"/>
                            </a:rPr>
                          </m:ctrlPr>
                        </m:fPr>
                        <m:num>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ổ</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ng</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doanh</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thu</m:t>
                          </m:r>
                        </m:num>
                        <m:den>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S</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ố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gh</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ế </m:t>
                          </m:r>
                          <m:r>
                            <m:rPr>
                              <m:nor/>
                            </m:rPr>
                            <a:rPr lang="ar-AE"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kh</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ả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d</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ụ</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ng</m:t>
                          </m:r>
                          <m:r>
                            <a:rPr lang="vi-VN" sz="2000" b="1" i="0">
                              <a:solidFill>
                                <a:srgbClr val="FF0000"/>
                              </a:solidFill>
                              <a:latin typeface="Cambria Math" panose="02040503050406030204" pitchFamily="18" charset="0"/>
                            </a:rPr>
                            <m:t>×</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S</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ố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gi</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ờ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ho</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ạ</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độ</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ng</m:t>
                          </m:r>
                        </m:den>
                      </m:f>
                    </m:oMath>
                  </m:oMathPara>
                </a14:m>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Giải thích:</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 số này cho biết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 ghế trong nhà hàng mang lại bao nhiêu doanh thu mỗi giờ</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Giúp nhà quản lý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 giá hiệu quả sử dụng không gian và thời gian hoạt động</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của nhà hàng.</a:t>
                </a:r>
              </a:p>
              <a:p>
                <a:pPr>
                  <a:buNone/>
                </a:pP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Ý nghĩa quản trị:</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Nếu RevPASH thấp → có thể do:</a:t>
                </a:r>
              </a:p>
              <a:p>
                <a:pPr marL="742950" lvl="1" indent="-285750">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ít trong khung giờ đó (cần marketing khung giờ thấp điểm).</a:t>
                </a:r>
              </a:p>
              <a:p>
                <a:pPr marL="742950" lvl="1" indent="-285750">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Mức chi tiêu trung bình thấp (cần upselling, combo).</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Nếu RevPASH cao → chứng tỏ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bàn ghế được khai thác hiệu quả</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và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thu/giờ tối ưu</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buNone/>
                </a:pPr>
                <a:r>
                  <a:rPr lang="en-US"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a:t>
                </a:r>
                <a:r>
                  <a:rPr lang="en-US"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Nhà hàng có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80 ghế</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mở cửa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8 giờ/ngày</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trong ngày =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64.000.000 VNĐ</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buNone/>
                </a:pPr>
                <a14:m>
                  <m:oMathPara xmlns:m="http://schemas.openxmlformats.org/officeDocument/2006/math">
                    <m:oMathParaPr>
                      <m:jc m:val="centerGroup"/>
                    </m:oMathParaPr>
                    <m:oMath xmlns:m="http://schemas.openxmlformats.org/officeDocument/2006/math">
                      <m:r>
                        <m:rPr>
                          <m:nor/>
                        </m:rPr>
                        <a:rPr lang="vi-VN" sz="2000" b="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RevPASH</m:t>
                      </m:r>
                      <m:r>
                        <a:rPr lang="vi-VN" sz="2000" b="0" i="0">
                          <a:solidFill>
                            <a:srgbClr val="002060"/>
                          </a:solidFill>
                          <a:latin typeface="Cambria Math" panose="02040503050406030204" pitchFamily="18" charset="0"/>
                        </a:rPr>
                        <m:t>=</m:t>
                      </m:r>
                      <m:f>
                        <m:fPr>
                          <m:ctrlPr>
                            <a:rPr lang="ar-AE" sz="2000" b="0" i="1">
                              <a:solidFill>
                                <a:srgbClr val="002060"/>
                              </a:solidFill>
                              <a:latin typeface="Cambria Math" panose="02040503050406030204" pitchFamily="18" charset="0"/>
                            </a:rPr>
                          </m:ctrlPr>
                        </m:fPr>
                        <m:num>
                          <m:r>
                            <a:rPr lang="ar-AE" sz="2000" b="0" i="0">
                              <a:solidFill>
                                <a:srgbClr val="002060"/>
                              </a:solidFill>
                              <a:latin typeface="Cambria Math" panose="02040503050406030204" pitchFamily="18" charset="0"/>
                            </a:rPr>
                            <m:t>64</m:t>
                          </m:r>
                          <m:r>
                            <a:rPr lang="ar-AE" sz="2000" b="0" i="0">
                              <a:solidFill>
                                <a:srgbClr val="002060"/>
                              </a:solidFill>
                              <a:latin typeface="Cambria Math" panose="02040503050406030204" pitchFamily="18" charset="0"/>
                            </a:rPr>
                            <m:t>.</m:t>
                          </m:r>
                          <m:r>
                            <a:rPr lang="ar-AE" sz="2000" b="0" i="0">
                              <a:solidFill>
                                <a:srgbClr val="002060"/>
                              </a:solidFill>
                              <a:latin typeface="Cambria Math" panose="02040503050406030204" pitchFamily="18" charset="0"/>
                            </a:rPr>
                            <m:t>000</m:t>
                          </m:r>
                          <m:r>
                            <a:rPr lang="ar-AE" sz="2000" b="0" i="0">
                              <a:solidFill>
                                <a:srgbClr val="002060"/>
                              </a:solidFill>
                              <a:latin typeface="Cambria Math" panose="02040503050406030204" pitchFamily="18" charset="0"/>
                            </a:rPr>
                            <m:t>.</m:t>
                          </m:r>
                          <m:r>
                            <a:rPr lang="ar-AE" sz="2000" b="0" i="0">
                              <a:solidFill>
                                <a:srgbClr val="002060"/>
                              </a:solidFill>
                              <a:latin typeface="Cambria Math" panose="02040503050406030204" pitchFamily="18" charset="0"/>
                            </a:rPr>
                            <m:t>000</m:t>
                          </m:r>
                        </m:num>
                        <m:den>
                          <m:r>
                            <a:rPr lang="ar-AE" sz="2000" b="0" i="0">
                              <a:solidFill>
                                <a:srgbClr val="002060"/>
                              </a:solidFill>
                              <a:latin typeface="Cambria Math" panose="02040503050406030204" pitchFamily="18" charset="0"/>
                            </a:rPr>
                            <m:t>80</m:t>
                          </m:r>
                          <m:r>
                            <a:rPr lang="ar-AE" sz="2000" b="0" i="0">
                              <a:solidFill>
                                <a:srgbClr val="002060"/>
                              </a:solidFill>
                              <a:latin typeface="Cambria Math" panose="02040503050406030204" pitchFamily="18" charset="0"/>
                            </a:rPr>
                            <m:t>×</m:t>
                          </m:r>
                          <m:r>
                            <a:rPr lang="ar-AE" sz="2000" b="0" i="0">
                              <a:solidFill>
                                <a:srgbClr val="002060"/>
                              </a:solidFill>
                              <a:latin typeface="Cambria Math" panose="02040503050406030204" pitchFamily="18" charset="0"/>
                            </a:rPr>
                            <m:t>8</m:t>
                          </m:r>
                        </m:den>
                      </m:f>
                      <m:r>
                        <a:rPr lang="ar-AE" sz="2000" b="0" i="0">
                          <a:solidFill>
                            <a:srgbClr val="002060"/>
                          </a:solidFill>
                          <a:latin typeface="Cambria Math" panose="02040503050406030204" pitchFamily="18" charset="0"/>
                        </a:rPr>
                        <m:t>=</m:t>
                      </m:r>
                      <m:r>
                        <a:rPr lang="ar-AE" sz="2000" b="0" i="0">
                          <a:solidFill>
                            <a:srgbClr val="002060"/>
                          </a:solidFill>
                          <a:latin typeface="Cambria Math" panose="02040503050406030204" pitchFamily="18" charset="0"/>
                        </a:rPr>
                        <m:t>100</m:t>
                      </m:r>
                      <m:r>
                        <a:rPr lang="ar-AE" sz="2000" b="0" i="0">
                          <a:solidFill>
                            <a:srgbClr val="002060"/>
                          </a:solidFill>
                          <a:latin typeface="Cambria Math" panose="02040503050406030204" pitchFamily="18" charset="0"/>
                        </a:rPr>
                        <m:t>.</m:t>
                      </m:r>
                      <m:r>
                        <a:rPr lang="ar-AE" sz="2000" b="0" i="0">
                          <a:solidFill>
                            <a:srgbClr val="002060"/>
                          </a:solidFill>
                          <a:latin typeface="Cambria Math" panose="02040503050406030204" pitchFamily="18" charset="0"/>
                        </a:rPr>
                        <m:t>000</m:t>
                      </m:r>
                      <m:r>
                        <m:rPr>
                          <m:nor/>
                        </m:rPr>
                        <a:rPr lang="ar-AE"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VN</m:t>
                      </m:r>
                      <m:r>
                        <m:rPr>
                          <m:nor/>
                        </m:rPr>
                        <a:rPr lang="vi-VN"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Đ/</m:t>
                      </m:r>
                      <m:r>
                        <m:rPr>
                          <m:nor/>
                        </m:rPr>
                        <a:rPr lang="vi-VN"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gh</m:t>
                      </m:r>
                      <m:limUpp>
                        <m:limUppPr>
                          <m:ctrlPr>
                            <a:rPr lang="ar-AE" sz="2000" b="0" i="1">
                              <a:solidFill>
                                <a:srgbClr val="002060"/>
                              </a:solidFill>
                              <a:latin typeface="Cambria Math" panose="02040503050406030204" pitchFamily="18" charset="0"/>
                            </a:rPr>
                          </m:ctrlPr>
                        </m:limUppPr>
                        <m:e>
                          <m:limUpp>
                            <m:limUppPr>
                              <m:ctrlPr>
                                <a:rPr lang="ar-AE" sz="2000" b="0" i="1">
                                  <a:solidFill>
                                    <a:srgbClr val="002060"/>
                                  </a:solidFill>
                                  <a:latin typeface="Cambria Math" panose="02040503050406030204" pitchFamily="18" charset="0"/>
                                </a:rPr>
                              </m:ctrlPr>
                            </m:limUppPr>
                            <m:e>
                              <m:r>
                                <m:rPr>
                                  <m:nor/>
                                </m:rPr>
                                <a:rPr lang="vi-VN"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e</m:t>
                              </m:r>
                            </m:e>
                            <m:lim>
                              <m:r>
                                <a:rPr lang="ar-AE" sz="2000" b="0" i="0">
                                  <a:solidFill>
                                    <a:srgbClr val="002060"/>
                                  </a:solidFill>
                                  <a:latin typeface="Cambria Math" panose="02040503050406030204" pitchFamily="18" charset="0"/>
                                </a:rPr>
                                <m:t>ˆ</m:t>
                              </m:r>
                            </m:lim>
                          </m:limUpp>
                        </m:e>
                        <m:lim>
                          <m:r>
                            <a:rPr lang="ar-AE" sz="2000" b="0" i="0">
                              <a:solidFill>
                                <a:srgbClr val="002060"/>
                              </a:solidFill>
                              <a:latin typeface="Cambria Math" panose="02040503050406030204" pitchFamily="18" charset="0"/>
                            </a:rPr>
                            <m:t>ˊ</m:t>
                          </m:r>
                        </m:lim>
                      </m:limUpp>
                      <m:r>
                        <m:rPr>
                          <m:nor/>
                        </m:rPr>
                        <a:rPr lang="ar-AE"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m:t>
                      </m:r>
                      <m:r>
                        <m:rPr>
                          <m:nor/>
                        </m:rPr>
                        <a:rPr lang="vi-VN"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gi</m:t>
                      </m:r>
                      <m:r>
                        <m:rPr>
                          <m:nor/>
                        </m:rPr>
                        <a:rPr lang="vi-VN" sz="2000" b="0"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ờ</m:t>
                      </m:r>
                    </m:oMath>
                  </m:oMathPara>
                </a14:m>
                <a:endParaRPr lang="vi-VN" sz="2000" b="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Mỗi ghế trong 1 giờ mang lại trung bình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100.000 VNĐ</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doanh thu.</a:t>
                </a:r>
              </a:p>
            </p:txBody>
          </p:sp>
        </mc:Choice>
        <mc:Fallback>
          <p:sp>
            <p:nvSpPr>
              <p:cNvPr id="5" name="TextBox 4">
                <a:extLst>
                  <a:ext uri="{FF2B5EF4-FFF2-40B4-BE49-F238E27FC236}">
                    <a16:creationId xmlns:a16="http://schemas.microsoft.com/office/drawing/2014/main" id="{BA12919E-1DAB-77BA-28D2-EC9BC48E77C5}"/>
                  </a:ext>
                </a:extLst>
              </p:cNvPr>
              <p:cNvSpPr txBox="1">
                <a:spLocks noRot="1" noChangeAspect="1" noMove="1" noResize="1" noEditPoints="1" noAdjustHandles="1" noChangeArrowheads="1" noChangeShapeType="1" noTextEdit="1"/>
              </p:cNvSpPr>
              <p:nvPr/>
            </p:nvSpPr>
            <p:spPr>
              <a:xfrm>
                <a:off x="428109" y="1023301"/>
                <a:ext cx="11084312" cy="5549853"/>
              </a:xfrm>
              <a:prstGeom prst="rect">
                <a:avLst/>
              </a:prstGeom>
              <a:blipFill>
                <a:blip r:embed="rId2"/>
                <a:stretch>
                  <a:fillRect l="-825" t="-879" b="-1099"/>
                </a:stretch>
              </a:blipFill>
            </p:spPr>
            <p:txBody>
              <a:bodyPr/>
              <a:lstStyle/>
              <a:p>
                <a:r>
                  <a:rPr lang="en-US">
                    <a:noFill/>
                  </a:rPr>
                  <a:t> </a:t>
                </a:r>
              </a:p>
            </p:txBody>
          </p:sp>
        </mc:Fallback>
      </mc:AlternateContent>
    </p:spTree>
    <p:extLst>
      <p:ext uri="{BB962C8B-B14F-4D97-AF65-F5344CB8AC3E}">
        <p14:creationId xmlns:p14="http://schemas.microsoft.com/office/powerpoint/2010/main" val="3437741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7F5510A-9690-5967-E79A-995C18C98C0C}"/>
                  </a:ext>
                </a:extLst>
              </p:cNvPr>
              <p:cNvSpPr txBox="1"/>
              <p:nvPr/>
            </p:nvSpPr>
            <p:spPr>
              <a:xfrm>
                <a:off x="294699" y="1433152"/>
                <a:ext cx="11463454" cy="4777398"/>
              </a:xfrm>
              <a:prstGeom prst="rect">
                <a:avLst/>
              </a:prstGeom>
              <a:noFill/>
            </p:spPr>
            <p:txBody>
              <a:bodyPr wrap="square">
                <a:spAutoFit/>
              </a:bodyPr>
              <a:lstStyle/>
              <a:p>
                <a:pPr>
                  <a:buNone/>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SEAT TURNOVER RATE – TỶ LỆ QUAY VÒNG GHẾ</a:t>
                </a:r>
              </a:p>
              <a:p>
                <a:pPr>
                  <a:buNone/>
                </a:pPr>
                <a:r>
                  <a:rPr lang="vi-VN" sz="2000" i="1" dirty="0">
                    <a:solidFill>
                      <a:srgbClr val="002060"/>
                    </a:solidFill>
                  </a:rPr>
                  <a:t>(</a:t>
                </a:r>
                <a:r>
                  <a:rPr lang="vi-VN" sz="2000" i="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Còn gọi là Table Turnover Ratio)</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Công thức:</a:t>
                </a:r>
              </a:p>
              <a:p>
                <a:pPr>
                  <a:buNone/>
                </a:pPr>
                <a14:m>
                  <m:oMathPara xmlns:m="http://schemas.openxmlformats.org/officeDocument/2006/math">
                    <m:oMathParaPr>
                      <m:jc m:val="centerGroup"/>
                    </m:oMathParaPr>
                    <m:oMath xmlns:m="http://schemas.openxmlformats.org/officeDocument/2006/math">
                      <m:r>
                        <m:rPr>
                          <m:nor/>
                        </m:rPr>
                        <a:rPr lang="vi-VN" sz="2000" b="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Seat</m:t>
                      </m:r>
                      <m:r>
                        <m:rPr>
                          <m:nor/>
                        </m:rPr>
                        <a:rPr lang="vi-VN"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Turnover</m:t>
                      </m:r>
                      <m:r>
                        <m:rPr>
                          <m:nor/>
                        </m:rPr>
                        <a:rPr lang="vi-VN"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Rate</m:t>
                      </m:r>
                      <m:r>
                        <a:rPr lang="vi-VN" sz="2000" b="1" i="0">
                          <a:solidFill>
                            <a:srgbClr val="FF0000"/>
                          </a:solidFill>
                          <a:latin typeface="Cambria Math" panose="02040503050406030204" pitchFamily="18" charset="0"/>
                        </a:rPr>
                        <m:t>=</m:t>
                      </m:r>
                      <m:f>
                        <m:fPr>
                          <m:ctrlPr>
                            <a:rPr lang="ar-AE" sz="2000" b="1" i="1">
                              <a:solidFill>
                                <a:srgbClr val="FF0000"/>
                              </a:solidFill>
                              <a:latin typeface="Cambria Math" panose="02040503050406030204" pitchFamily="18" charset="0"/>
                            </a:rPr>
                          </m:ctrlPr>
                        </m:fPr>
                        <m:num>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ổ</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ng</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s</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ố </m:t>
                          </m:r>
                          <m:r>
                            <m:rPr>
                              <m:nor/>
                            </m:rPr>
                            <a:rPr lang="ar-AE"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kh</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á</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ch</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ph</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ụ</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v</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ụ</m:t>
                          </m:r>
                        </m:num>
                        <m:den>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ổ</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ng</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s</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ố</m:t>
                          </m:r>
                          <m:r>
                            <m:rPr>
                              <m:nor/>
                            </m:rPr>
                            <a:rPr lang="ar-AE"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gh</m:t>
                          </m:r>
                          <m:r>
                            <a:rPr lang="en-US" sz="2000" b="1" i="1" smtClean="0">
                              <a:solidFill>
                                <a:srgbClr val="FF0000"/>
                              </a:solidFill>
                              <a:latin typeface="Cambria Math" panose="02040503050406030204" pitchFamily="18" charset="0"/>
                              <a:ea typeface="Microsoft Sans Serif" panose="020B0604020202020204" pitchFamily="34" charset="0"/>
                              <a:cs typeface="Microsoft Sans Serif" panose="020B0604020202020204" pitchFamily="34" charset="0"/>
                            </a:rPr>
                            <m:t>ế</m:t>
                          </m:r>
                        </m:den>
                      </m:f>
                    </m:oMath>
                  </m:oMathPara>
                </a14:m>
                <a:endParaRPr lang="ar-AE"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Giải thích:</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Biểu thị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 ghế được sử dụng bao nhiêu lần</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trong một ca hoặc một ngày.</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 biết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tần suất thay khách</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giúp đánh giá khả năng phục vụ của nhà hàng.</a:t>
                </a:r>
              </a:p>
              <a:p>
                <a:pPr>
                  <a:buNone/>
                </a:pP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Ý nghĩa quản trị:</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Tỷ lệ quay vòng ghế cao →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nhà hàng phục vụ nhanh, khách luân chuyển nhiều</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tối ưu không gian.</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Tỷ lệ quá thấp →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bàn bị trống lâu</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cần cải thiện quy trình phục vụ hoặc thu hút khách.</a:t>
                </a:r>
              </a:p>
              <a:p>
                <a:pPr>
                  <a:buNone/>
                </a:pP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a:t>
                </a:r>
                <a:r>
                  <a:rPr lang="en-US"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Nhà hàng có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100 ghế</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0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rong một buổi tối phục vụ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300 khách.</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14:m>
                  <m:oMathPara xmlns:m="http://schemas.openxmlformats.org/officeDocument/2006/math">
                    <m:oMathParaPr>
                      <m:jc m:val="centerGroup"/>
                    </m:oMathParaPr>
                    <m:oMath xmlns:m="http://schemas.openxmlformats.org/officeDocument/2006/math">
                      <m:r>
                        <m:rPr>
                          <m:nor/>
                        </m:rPr>
                        <a:rPr lang="vi-VN" sz="2000" b="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Seat</m:t>
                      </m:r>
                      <m:r>
                        <m:rPr>
                          <m:nor/>
                        </m:rPr>
                        <a:rPr lang="vi-VN" sz="2000" b="1"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Turnover</m:t>
                      </m:r>
                      <m:r>
                        <m:rPr>
                          <m:nor/>
                        </m:rPr>
                        <a:rPr lang="vi-VN" sz="2000" b="1"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m:t>Rate</m:t>
                      </m:r>
                      <m:r>
                        <a:rPr lang="vi-VN" sz="2000" b="1" i="0">
                          <a:solidFill>
                            <a:srgbClr val="002060"/>
                          </a:solidFill>
                          <a:latin typeface="Cambria Math" panose="02040503050406030204" pitchFamily="18" charset="0"/>
                        </a:rPr>
                        <m:t>=</m:t>
                      </m:r>
                      <m:f>
                        <m:fPr>
                          <m:ctrlPr>
                            <a:rPr lang="ar-AE" sz="2000" b="1" i="1">
                              <a:solidFill>
                                <a:srgbClr val="002060"/>
                              </a:solidFill>
                              <a:latin typeface="Cambria Math" panose="02040503050406030204" pitchFamily="18" charset="0"/>
                            </a:rPr>
                          </m:ctrlPr>
                        </m:fPr>
                        <m:num>
                          <m:r>
                            <a:rPr lang="ar-AE" sz="2000" b="1" i="0">
                              <a:solidFill>
                                <a:srgbClr val="002060"/>
                              </a:solidFill>
                              <a:latin typeface="Cambria Math" panose="02040503050406030204" pitchFamily="18" charset="0"/>
                            </a:rPr>
                            <m:t>𝟑𝟎𝟎</m:t>
                          </m:r>
                        </m:num>
                        <m:den>
                          <m:r>
                            <a:rPr lang="ar-AE" sz="2000" b="1" i="0">
                              <a:solidFill>
                                <a:srgbClr val="002060"/>
                              </a:solidFill>
                              <a:latin typeface="Cambria Math" panose="02040503050406030204" pitchFamily="18" charset="0"/>
                            </a:rPr>
                            <m:t>𝟏𝟎𝟎</m:t>
                          </m:r>
                        </m:den>
                      </m:f>
                      <m:r>
                        <a:rPr lang="ar-AE" sz="2000" b="1" i="0">
                          <a:solidFill>
                            <a:srgbClr val="002060"/>
                          </a:solidFill>
                          <a:latin typeface="Cambria Math" panose="02040503050406030204" pitchFamily="18" charset="0"/>
                        </a:rPr>
                        <m:t>=</m:t>
                      </m:r>
                      <m:r>
                        <a:rPr lang="ar-AE" sz="2000" b="1" i="0">
                          <a:solidFill>
                            <a:srgbClr val="002060"/>
                          </a:solidFill>
                          <a:latin typeface="Cambria Math" panose="02040503050406030204" pitchFamily="18" charset="0"/>
                        </a:rPr>
                        <m:t>𝟑</m:t>
                      </m:r>
                    </m:oMath>
                  </m:oMathPara>
                </a14:m>
                <a:endParaRPr lang="ar-AE"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ar-AE"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Trung bình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 ghế được sử dụng 3 lần/buổi tối</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mc:Choice>
        <mc:Fallback>
          <p:sp>
            <p:nvSpPr>
              <p:cNvPr id="5" name="TextBox 4">
                <a:extLst>
                  <a:ext uri="{FF2B5EF4-FFF2-40B4-BE49-F238E27FC236}">
                    <a16:creationId xmlns:a16="http://schemas.microsoft.com/office/drawing/2014/main" id="{B7F5510A-9690-5967-E79A-995C18C98C0C}"/>
                  </a:ext>
                </a:extLst>
              </p:cNvPr>
              <p:cNvSpPr txBox="1">
                <a:spLocks noRot="1" noChangeAspect="1" noMove="1" noResize="1" noEditPoints="1" noAdjustHandles="1" noChangeArrowheads="1" noChangeShapeType="1" noTextEdit="1"/>
              </p:cNvSpPr>
              <p:nvPr/>
            </p:nvSpPr>
            <p:spPr>
              <a:xfrm>
                <a:off x="294699" y="1433152"/>
                <a:ext cx="11463454" cy="4777398"/>
              </a:xfrm>
              <a:prstGeom prst="rect">
                <a:avLst/>
              </a:prstGeom>
              <a:blipFill>
                <a:blip r:embed="rId2"/>
                <a:stretch>
                  <a:fillRect l="-797" t="-1020" b="-1403"/>
                </a:stretch>
              </a:blipFill>
            </p:spPr>
            <p:txBody>
              <a:bodyPr/>
              <a:lstStyle/>
              <a:p>
                <a:r>
                  <a:rPr lang="en-US">
                    <a:noFill/>
                  </a:rPr>
                  <a:t> </a:t>
                </a:r>
              </a:p>
            </p:txBody>
          </p:sp>
        </mc:Fallback>
      </mc:AlternateContent>
    </p:spTree>
    <p:extLst>
      <p:ext uri="{BB962C8B-B14F-4D97-AF65-F5344CB8AC3E}">
        <p14:creationId xmlns:p14="http://schemas.microsoft.com/office/powerpoint/2010/main" val="19402592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B5F0899-8137-89D4-7E3D-7A6396AD8C53}"/>
                  </a:ext>
                </a:extLst>
              </p:cNvPr>
              <p:cNvSpPr txBox="1"/>
              <p:nvPr/>
            </p:nvSpPr>
            <p:spPr>
              <a:xfrm>
                <a:off x="721112" y="1128195"/>
                <a:ext cx="10749776" cy="5300362"/>
              </a:xfrm>
              <a:prstGeom prst="rect">
                <a:avLst/>
              </a:prstGeom>
              <a:noFill/>
            </p:spPr>
            <p:txBody>
              <a:bodyPr wrap="square">
                <a:spAutoFit/>
              </a:bodyPr>
              <a:lstStyle/>
              <a:p>
                <a:pPr>
                  <a:buNone/>
                </a:pP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AVERAGE CHECK – MỨC CHI TIÊU TRUNG BÌNH MỖI KHÁCH</a:t>
                </a:r>
              </a:p>
              <a:p>
                <a:pPr>
                  <a:buNone/>
                </a:pPr>
                <a:r>
                  <a:rPr lang="vi-VN" sz="2000" i="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(Đã học ở phần cơ bản, dùng để kết hợp các chỉ số khác)</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14:m>
                  <m:oMathPara xmlns:m="http://schemas.openxmlformats.org/officeDocument/2006/math">
                    <m:oMathParaPr>
                      <m:jc m:val="centerGroup"/>
                    </m:oMathParaPr>
                    <m:oMath xmlns:m="http://schemas.openxmlformats.org/officeDocument/2006/math">
                      <m:r>
                        <m:rPr>
                          <m:nor/>
                        </m:rPr>
                        <a:rPr lang="vi-VN" sz="2000" b="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Average</m:t>
                      </m:r>
                      <m:r>
                        <m:rPr>
                          <m:nor/>
                        </m:rPr>
                        <a:rPr lang="vi-VN"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Check</m:t>
                      </m:r>
                      <m:r>
                        <a:rPr lang="vi-VN" sz="2000" b="1" i="0">
                          <a:solidFill>
                            <a:srgbClr val="FF0000"/>
                          </a:solidFill>
                          <a:latin typeface="Cambria Math" panose="02040503050406030204" pitchFamily="18" charset="0"/>
                        </a:rPr>
                        <m:t>=</m:t>
                      </m:r>
                      <m:f>
                        <m:fPr>
                          <m:ctrlPr>
                            <a:rPr lang="ar-AE" sz="2000" b="1" i="1">
                              <a:solidFill>
                                <a:srgbClr val="FF0000"/>
                              </a:solidFill>
                              <a:latin typeface="Cambria Math" panose="02040503050406030204" pitchFamily="18" charset="0"/>
                            </a:rPr>
                          </m:ctrlPr>
                        </m:fPr>
                        <m:num>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Doanh</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thu</m:t>
                          </m:r>
                        </m:num>
                        <m:den>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S</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ố</m:t>
                          </m:r>
                          <m:r>
                            <m:rPr>
                              <m:nor/>
                            </m:rPr>
                            <a:rPr lang="ar-AE"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 </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kh</m:t>
                          </m:r>
                          <m:r>
                            <m:rPr>
                              <m:nor/>
                            </m:rPr>
                            <a:rPr lang="en-US" sz="2000" b="1" i="1"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á</m:t>
                          </m:r>
                          <m:r>
                            <m:rPr>
                              <m:nor/>
                            </m:rPr>
                            <a:rPr lang="vi-VN" sz="2000" b="1" i="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m:t>ch</m:t>
                          </m:r>
                        </m:den>
                      </m:f>
                    </m:oMath>
                  </m:oMathPara>
                </a14:m>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endParaRPr lang="ar-AE"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Doanh thu = 40.000.000 VNĐ, khách = 200 → Average Check = 200.000 VNĐ.</a:t>
                </a:r>
              </a:p>
              <a:p>
                <a:pPr>
                  <a:buNone/>
                </a:pPr>
                <a:b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b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REVPASH KẾT HỢP VỚI SEAT TURNOVER RATE</a:t>
                </a:r>
              </a:p>
              <a:p>
                <a:pPr>
                  <a:buNone/>
                </a:pPr>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None/>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Ý nghĩa kết hợp:</a:t>
                </a:r>
              </a:p>
              <a:p>
                <a:pPr>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RevPASH</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đo hiệu quả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không gian – thời gian</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Seat Turnover Rate</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đo hiệu quả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vận hành – phục vụ</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Kết hợp hai chỉ số giúp nhà hàng:</a:t>
                </a:r>
              </a:p>
              <a:p>
                <a:pPr marL="742950" lvl="1" indent="-285750">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Xác định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giờ cao điểm – thấp điểm.</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Ra quyết định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chỉnh ca làm, giá, chương trình khuyến mãi.</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buFont typeface="Arial" panose="020B0604020202020204" pitchFamily="34" charset="0"/>
                  <a:buChar char="•"/>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theo từng khung giờ.</a:t>
                </a: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mc:Choice>
        <mc:Fallback>
          <p:sp>
            <p:nvSpPr>
              <p:cNvPr id="5" name="TextBox 4">
                <a:extLst>
                  <a:ext uri="{FF2B5EF4-FFF2-40B4-BE49-F238E27FC236}">
                    <a16:creationId xmlns:a16="http://schemas.microsoft.com/office/drawing/2014/main" id="{1B5F0899-8137-89D4-7E3D-7A6396AD8C53}"/>
                  </a:ext>
                </a:extLst>
              </p:cNvPr>
              <p:cNvSpPr txBox="1">
                <a:spLocks noRot="1" noChangeAspect="1" noMove="1" noResize="1" noEditPoints="1" noAdjustHandles="1" noChangeArrowheads="1" noChangeShapeType="1" noTextEdit="1"/>
              </p:cNvSpPr>
              <p:nvPr/>
            </p:nvSpPr>
            <p:spPr>
              <a:xfrm>
                <a:off x="721112" y="1128195"/>
                <a:ext cx="10749776" cy="5300362"/>
              </a:xfrm>
              <a:prstGeom prst="rect">
                <a:avLst/>
              </a:prstGeom>
              <a:blipFill>
                <a:blip r:embed="rId2"/>
                <a:stretch>
                  <a:fillRect l="-567" t="-575" b="-1034"/>
                </a:stretch>
              </a:blipFill>
            </p:spPr>
            <p:txBody>
              <a:bodyPr/>
              <a:lstStyle/>
              <a:p>
                <a:r>
                  <a:rPr lang="en-US">
                    <a:noFill/>
                  </a:rPr>
                  <a:t> </a:t>
                </a:r>
              </a:p>
            </p:txBody>
          </p:sp>
        </mc:Fallback>
      </mc:AlternateContent>
    </p:spTree>
    <p:extLst>
      <p:ext uri="{BB962C8B-B14F-4D97-AF65-F5344CB8AC3E}">
        <p14:creationId xmlns:p14="http://schemas.microsoft.com/office/powerpoint/2010/main" val="712382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F462BBA-217C-3D6C-892E-C14AF0BF3BB9}"/>
              </a:ext>
            </a:extLst>
          </p:cNvPr>
          <p:cNvGraphicFramePr>
            <a:graphicFrameLocks noGrp="1"/>
          </p:cNvGraphicFramePr>
          <p:nvPr>
            <p:extLst>
              <p:ext uri="{D42A27DB-BD31-4B8C-83A1-F6EECF244321}">
                <p14:modId xmlns:p14="http://schemas.microsoft.com/office/powerpoint/2010/main" val="3809168370"/>
              </p:ext>
            </p:extLst>
          </p:nvPr>
        </p:nvGraphicFramePr>
        <p:xfrm>
          <a:off x="645074" y="2113059"/>
          <a:ext cx="10383642" cy="4023360"/>
        </p:xfrm>
        <a:graphic>
          <a:graphicData uri="http://schemas.openxmlformats.org/drawingml/2006/table">
            <a:tbl>
              <a:tblPr/>
              <a:tblGrid>
                <a:gridCol w="2907578">
                  <a:extLst>
                    <a:ext uri="{9D8B030D-6E8A-4147-A177-3AD203B41FA5}">
                      <a16:colId xmlns:a16="http://schemas.microsoft.com/office/drawing/2014/main" val="2066822174"/>
                    </a:ext>
                  </a:extLst>
                </a:gridCol>
                <a:gridCol w="3738032">
                  <a:extLst>
                    <a:ext uri="{9D8B030D-6E8A-4147-A177-3AD203B41FA5}">
                      <a16:colId xmlns:a16="http://schemas.microsoft.com/office/drawing/2014/main" val="1326077758"/>
                    </a:ext>
                  </a:extLst>
                </a:gridCol>
                <a:gridCol w="3738032">
                  <a:extLst>
                    <a:ext uri="{9D8B030D-6E8A-4147-A177-3AD203B41FA5}">
                      <a16:colId xmlns:a16="http://schemas.microsoft.com/office/drawing/2014/main" val="2880307495"/>
                    </a:ext>
                  </a:extLst>
                </a:gridCol>
              </a:tblGrid>
              <a:tr h="0">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thức</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Ý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2219751"/>
                  </a:ext>
                </a:extLst>
              </a:tr>
              <a:tr h="0">
                <a:tc>
                  <a:txBody>
                    <a:bodyPr/>
                    <a:lstStyle/>
                    <a:p>
                      <a:pPr>
                        <a:buNone/>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RevPATH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(Revenue per Available Table Hour)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bàn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Giờ</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theo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bàn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giờ</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phù</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hợp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nhỏ</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5446281"/>
                  </a:ext>
                </a:extLst>
              </a:tr>
              <a:tr h="0">
                <a:tc>
                  <a:txBody>
                    <a:bodyPr/>
                    <a:lstStyle/>
                    <a:p>
                      <a:pPr>
                        <a:buNone/>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Customer Turnover Rate</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US" sz="24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khách / Giờ hoạt động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khung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802452"/>
                  </a:ext>
                </a:extLst>
              </a:tr>
              <a:tr h="0">
                <a:tc>
                  <a:txBody>
                    <a:bodyPr/>
                    <a:lstStyle/>
                    <a:p>
                      <a:pPr>
                        <a:buNone/>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Revenue Mix</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US" sz="24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từng loại sản phẩm / Tổng doanh thu × 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tỷ</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từ</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món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ăn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đồ</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4325208"/>
                  </a:ext>
                </a:extLst>
              </a:tr>
            </a:tbl>
          </a:graphicData>
        </a:graphic>
      </p:graphicFrame>
      <p:sp>
        <p:nvSpPr>
          <p:cNvPr id="7" name="TextBox 6">
            <a:extLst>
              <a:ext uri="{FF2B5EF4-FFF2-40B4-BE49-F238E27FC236}">
                <a16:creationId xmlns:a16="http://schemas.microsoft.com/office/drawing/2014/main" id="{F3522247-3F55-4D71-1B1C-CE7ED13E01EF}"/>
              </a:ext>
            </a:extLst>
          </p:cNvPr>
          <p:cNvSpPr txBox="1"/>
          <p:nvPr/>
        </p:nvSpPr>
        <p:spPr>
          <a:xfrm>
            <a:off x="466655" y="1108334"/>
            <a:ext cx="3122341" cy="523220"/>
          </a:xfrm>
          <a:prstGeom prst="rect">
            <a:avLst/>
          </a:prstGeom>
          <a:noFill/>
        </p:spPr>
        <p:txBody>
          <a:bodyPr wrap="square" rtlCol="0">
            <a:spAutoFit/>
          </a:bodyPr>
          <a:lstStyle/>
          <a:p>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Tóm</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lại</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771171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BA48DE6-1274-6081-F84C-418A773D7846}"/>
              </a:ext>
            </a:extLst>
          </p:cNvPr>
          <p:cNvGraphicFramePr>
            <a:graphicFrameLocks noGrp="1"/>
          </p:cNvGraphicFramePr>
          <p:nvPr/>
        </p:nvGraphicFramePr>
        <p:xfrm>
          <a:off x="737839" y="1574800"/>
          <a:ext cx="10881732" cy="3749040"/>
        </p:xfrm>
        <a:graphic>
          <a:graphicData uri="http://schemas.openxmlformats.org/drawingml/2006/table">
            <a:tbl>
              <a:tblPr>
                <a:tableStyleId>{ED083AE6-46FA-4A59-8FB0-9F97EB10719F}</a:tableStyleId>
              </a:tblPr>
              <a:tblGrid>
                <a:gridCol w="2720433">
                  <a:extLst>
                    <a:ext uri="{9D8B030D-6E8A-4147-A177-3AD203B41FA5}">
                      <a16:colId xmlns:a16="http://schemas.microsoft.com/office/drawing/2014/main" val="543392840"/>
                    </a:ext>
                  </a:extLst>
                </a:gridCol>
                <a:gridCol w="2720433">
                  <a:extLst>
                    <a:ext uri="{9D8B030D-6E8A-4147-A177-3AD203B41FA5}">
                      <a16:colId xmlns:a16="http://schemas.microsoft.com/office/drawing/2014/main" val="4087226637"/>
                    </a:ext>
                  </a:extLst>
                </a:gridCol>
                <a:gridCol w="2720433">
                  <a:extLst>
                    <a:ext uri="{9D8B030D-6E8A-4147-A177-3AD203B41FA5}">
                      <a16:colId xmlns:a16="http://schemas.microsoft.com/office/drawing/2014/main" val="3754336135"/>
                    </a:ext>
                  </a:extLst>
                </a:gridCol>
                <a:gridCol w="2720433">
                  <a:extLst>
                    <a:ext uri="{9D8B030D-6E8A-4147-A177-3AD203B41FA5}">
                      <a16:colId xmlns:a16="http://schemas.microsoft.com/office/drawing/2014/main" val="3300704084"/>
                    </a:ext>
                  </a:extLst>
                </a:gridCol>
              </a:tblGrid>
              <a:tr h="0">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solidFill>
                      <a:srgbClr val="92D050"/>
                    </a:solidFill>
                  </a:tcPr>
                </a:tc>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Viết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tắt</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solidFill>
                      <a:srgbClr val="92D050"/>
                    </a:solidFill>
                  </a:tcPr>
                </a:tc>
                <a:tc>
                  <a:txBody>
                    <a:bodyPr/>
                    <a:lstStyle/>
                    <a:p>
                      <a:pP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thức</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solidFill>
                      <a:srgbClr val="92D050"/>
                    </a:solidFill>
                  </a:tcPr>
                </a:tc>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Mục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solidFill>
                      <a:srgbClr val="92D050"/>
                    </a:solidFill>
                  </a:tcPr>
                </a:tc>
                <a:extLst>
                  <a:ext uri="{0D108BD9-81ED-4DB2-BD59-A6C34878D82A}">
                    <a16:rowId xmlns:a16="http://schemas.microsoft.com/office/drawing/2014/main" val="2586021578"/>
                  </a:ext>
                </a:extLst>
              </a:tr>
              <a:tr h="0">
                <a:tc>
                  <a:txBody>
                    <a:bodyPr/>
                    <a:lstStyle/>
                    <a:p>
                      <a:pPr>
                        <a:buNone/>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cơ bản</a:t>
                      </a:r>
                    </a:p>
                  </a:txBody>
                  <a:tcPr anchor="ctr">
                    <a:solidFill>
                      <a:schemeClr val="accent2">
                        <a:lumMod val="60000"/>
                        <a:lumOff val="40000"/>
                      </a:schemeClr>
                    </a:solidFill>
                  </a:tcPr>
                </a:tc>
                <a:tc>
                  <a:txBody>
                    <a:bodyPr/>
                    <a:lstStyle/>
                    <a:p>
                      <a:pPr algn="ct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 = N × A</a:t>
                      </a:r>
                    </a:p>
                  </a:txBody>
                  <a:tcPr anchor="ctr"/>
                </a:tc>
                <a:tc>
                  <a:txBody>
                    <a:bodyPr/>
                    <a:lstStyle/>
                    <a:p>
                      <a:pPr algn="ct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Chi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TB</a:t>
                      </a:r>
                    </a:p>
                  </a:txBody>
                  <a:tcPr anchor="ctr"/>
                </a:tc>
                <a:tc>
                  <a:txBody>
                    <a:bodyPr/>
                    <a:lstStyle/>
                    <a:p>
                      <a:pPr algn="ct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nhập</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extLst>
                  <a:ext uri="{0D108BD9-81ED-4DB2-BD59-A6C34878D82A}">
                    <a16:rowId xmlns:a16="http://schemas.microsoft.com/office/drawing/2014/main" val="2500513530"/>
                  </a:ext>
                </a:extLst>
              </a:tr>
              <a:tr h="0">
                <a:tc>
                  <a:txBody>
                    <a:bodyPr/>
                    <a:lstStyle/>
                    <a:p>
                      <a:pPr>
                        <a:buNone/>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RevPASH</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solidFill>
                      <a:schemeClr val="accent2">
                        <a:lumMod val="60000"/>
                        <a:lumOff val="40000"/>
                      </a:schemeClr>
                    </a:solidFill>
                  </a:tcPr>
                </a:tc>
                <a:tc>
                  <a:txBody>
                    <a:bodyPr/>
                    <a:lstStyle/>
                    <a:p>
                      <a:pPr algn="ct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R /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ghế</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Giờ</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txBody>
                  <a:tcPr anchor="ctr"/>
                </a:tc>
                <a:tc>
                  <a:txBody>
                    <a:bodyPr/>
                    <a:lstStyle/>
                    <a:p>
                      <a:pPr algn="ctr">
                        <a:buNone/>
                      </a:pPr>
                      <a:r>
                        <a:rPr lang="en-US" sz="24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Đo doanh thu/ghế/giờ</a:t>
                      </a:r>
                    </a:p>
                  </a:txBody>
                  <a:tcPr anchor="ctr"/>
                </a:tc>
                <a:tc>
                  <a:txBody>
                    <a:bodyPr/>
                    <a:lstStyle/>
                    <a:p>
                      <a:pPr algn="ct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gian</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extLst>
                  <a:ext uri="{0D108BD9-81ED-4DB2-BD59-A6C34878D82A}">
                    <a16:rowId xmlns:a16="http://schemas.microsoft.com/office/drawing/2014/main" val="808450408"/>
                  </a:ext>
                </a:extLst>
              </a:tr>
              <a:tr h="0">
                <a:tc>
                  <a:txBody>
                    <a:bodyPr/>
                    <a:lstStyle/>
                    <a:p>
                      <a:pP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Seat Turnover Rate</a:t>
                      </a:r>
                    </a:p>
                  </a:txBody>
                  <a:tcPr anchor="ctr">
                    <a:solidFill>
                      <a:schemeClr val="accent2">
                        <a:lumMod val="60000"/>
                        <a:lumOff val="40000"/>
                      </a:schemeClr>
                    </a:solidFill>
                  </a:tcPr>
                </a:tc>
                <a:tc>
                  <a:txBody>
                    <a:bodyPr/>
                    <a:lstStyle/>
                    <a:p>
                      <a:pPr algn="ctr">
                        <a:buNone/>
                      </a:pPr>
                      <a:r>
                        <a:rPr lang="en-US" sz="24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Số khách / Số ghế</a:t>
                      </a:r>
                    </a:p>
                  </a:txBody>
                  <a:tcPr anchor="ctr"/>
                </a:tc>
                <a:tc>
                  <a:txBody>
                    <a:bodyPr/>
                    <a:lstStyle/>
                    <a:p>
                      <a:pPr algn="ctr">
                        <a:buNone/>
                      </a:pPr>
                      <a:r>
                        <a:rPr lang="en-US" sz="24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Tần suất sử dụng ghế</a:t>
                      </a:r>
                    </a:p>
                  </a:txBody>
                  <a:tcPr anchor="ctr"/>
                </a:tc>
                <a:tc>
                  <a:txBody>
                    <a:bodyPr/>
                    <a:lstStyle/>
                    <a:p>
                      <a:pPr algn="ct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vận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hành</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extLst>
                  <a:ext uri="{0D108BD9-81ED-4DB2-BD59-A6C34878D82A}">
                    <a16:rowId xmlns:a16="http://schemas.microsoft.com/office/drawing/2014/main" val="1839596157"/>
                  </a:ext>
                </a:extLst>
              </a:tr>
              <a:tr h="0">
                <a:tc>
                  <a:txBody>
                    <a:bodyPr/>
                    <a:lstStyle/>
                    <a:p>
                      <a:pP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Average Check</a:t>
                      </a:r>
                    </a:p>
                  </a:txBody>
                  <a:tcPr anchor="ctr">
                    <a:solidFill>
                      <a:schemeClr val="accent2">
                        <a:lumMod val="60000"/>
                        <a:lumOff val="40000"/>
                      </a:schemeClr>
                    </a:solidFill>
                  </a:tcPr>
                </a:tc>
                <a:tc>
                  <a:txBody>
                    <a:bodyPr/>
                    <a:lstStyle/>
                    <a:p>
                      <a:pPr algn="ctr">
                        <a:buNone/>
                      </a:pPr>
                      <a:r>
                        <a:rPr lang="en-US" sz="24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R / N</a:t>
                      </a:r>
                    </a:p>
                  </a:txBody>
                  <a:tcPr anchor="ctr"/>
                </a:tc>
                <a:tc>
                  <a:txBody>
                    <a:bodyPr/>
                    <a:lstStyle/>
                    <a:p>
                      <a:pPr algn="ctr">
                        <a:buNone/>
                      </a:pPr>
                      <a:r>
                        <a:rPr lang="en-US" sz="24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 tiêu TB/khách</a:t>
                      </a:r>
                    </a:p>
                  </a:txBody>
                  <a:tcPr anchor="ctr"/>
                </a:tc>
                <a:tc>
                  <a:txBody>
                    <a:bodyPr/>
                    <a:lstStyle/>
                    <a:p>
                      <a:pPr algn="ctr">
                        <a:buNone/>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bán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extLst>
                  <a:ext uri="{0D108BD9-81ED-4DB2-BD59-A6C34878D82A}">
                    <a16:rowId xmlns:a16="http://schemas.microsoft.com/office/drawing/2014/main" val="2567533102"/>
                  </a:ext>
                </a:extLst>
              </a:tr>
            </a:tbl>
          </a:graphicData>
        </a:graphic>
      </p:graphicFrame>
    </p:spTree>
    <p:extLst>
      <p:ext uri="{BB962C8B-B14F-4D97-AF65-F5344CB8AC3E}">
        <p14:creationId xmlns:p14="http://schemas.microsoft.com/office/powerpoint/2010/main" val="34712232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38DDFE-CE25-18F3-D3DE-5200F6C406C6}"/>
              </a:ext>
            </a:extLst>
          </p:cNvPr>
          <p:cNvSpPr txBox="1"/>
          <p:nvPr/>
        </p:nvSpPr>
        <p:spPr>
          <a:xfrm>
            <a:off x="698021" y="1550130"/>
            <a:ext cx="5141343" cy="646331"/>
          </a:xfrm>
          <a:prstGeom prst="rect">
            <a:avLst/>
          </a:prstGeom>
          <a:noFill/>
        </p:spPr>
        <p:txBody>
          <a:bodyPr wrap="square" rtlCol="0">
            <a:spAutoFit/>
          </a:bodyPr>
          <a:lstStyle/>
          <a:p>
            <a:r>
              <a:rPr lang="en-US" sz="36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TỔNG KẾT </a:t>
            </a:r>
            <a:endParaRPr lang="vi-VN" sz="36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A72AC6C6-1FFC-0C05-0800-01126796D219}"/>
              </a:ext>
            </a:extLst>
          </p:cNvPr>
          <p:cNvSpPr txBox="1"/>
          <p:nvPr/>
        </p:nvSpPr>
        <p:spPr>
          <a:xfrm>
            <a:off x="572937" y="2378613"/>
            <a:ext cx="11046125" cy="3508653"/>
          </a:xfrm>
          <a:prstGeom prst="rect">
            <a:avLst/>
          </a:prstGeom>
          <a:noFill/>
        </p:spPr>
        <p:txBody>
          <a:bodyPr wrap="square">
            <a:spAutoFit/>
          </a:bodyPr>
          <a:lstStyle/>
          <a:p>
            <a:pPr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và Nhiệm vụ của Bộ phận Ẩm thực:</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Cung cấp dịch vụ ăn uống: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Bộ phận ẩm thực không chỉ cung cấp dịch vụ cho khách lưu trú mà còn mở rộng đến khách hàng bên ngoài, tạo nguồn thu ổn định và quan trọng cho khách sạn.</a:t>
            </a:r>
          </a:p>
          <a:p>
            <a:pPr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Đóng góp doanh thu: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Là một trong những nguồn doanh thu chính, bộ phận ẩm thực đóng vai trò quyết định trong việc duy trì và phát triển khách sạn.</a:t>
            </a:r>
          </a:p>
          <a:p>
            <a:pPr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 ấn tượng: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Trải nghiệm ẩm thực chất lượng cao là yếu tố quan trọng nâng cao sự hài lòng và lòng trung thành của khách hàng.</a:t>
            </a:r>
          </a:p>
        </p:txBody>
      </p:sp>
    </p:spTree>
    <p:extLst>
      <p:ext uri="{BB962C8B-B14F-4D97-AF65-F5344CB8AC3E}">
        <p14:creationId xmlns:p14="http://schemas.microsoft.com/office/powerpoint/2010/main" val="2976623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5CB831B5-034B-DFC5-6A52-6BBF8C2DBE72}"/>
              </a:ext>
            </a:extLst>
          </p:cNvPr>
          <p:cNvSpPr>
            <a:spLocks noChangeArrowheads="1"/>
          </p:cNvSpPr>
          <p:nvPr/>
        </p:nvSpPr>
        <p:spPr bwMode="auto">
          <a:xfrm>
            <a:off x="392127" y="1702460"/>
            <a:ext cx="1157664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tối</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ưu</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qua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sao</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coi</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nhập</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ra</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ấn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tượng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tốt</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chân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Bạn nghĩ gì về việc quản lý và vận hành nhà hàng? Đâu là những thách thức lớn nhất mà bộ phận ẩm thực phải đối mặt?</a:t>
            </a: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vi-VN"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và cung cấp dịch vụ tiệc và hội nghị có tầm quan trọng như thế nào đối với doanh thu và danh tiếng của khách sạn?</a:t>
            </a: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 đánh giá thế nào về tầm quan trọng của việc kiểm soát chất lượng và chi phí trong hoạt động của bộ phận ẩm thực?</a:t>
            </a:r>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loại thực đơn khác nhau (À la carte, Table d'hôte, Set Menu, Buffet) có ảnh hưởng thế nào đến sự lựa chọn và trải nghiệm của khách hàng?</a:t>
            </a:r>
            <a:r>
              <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vi-VN"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 bạn, yếu tố nào có ảnh hưởng lớn nhất đến doanh thu của nhà hàng?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sao</a:t>
            </a:r>
            <a:r>
              <a:rPr lang="en-US" alt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vi-VN"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Bạn nghĩ rằng việc tối ưu hóa thực đơn có thể mang lại những lợi ích gì cho nhà hàng?</a:t>
            </a: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2" name="TextBox 11">
            <a:extLst>
              <a:ext uri="{FF2B5EF4-FFF2-40B4-BE49-F238E27FC236}">
                <a16:creationId xmlns:a16="http://schemas.microsoft.com/office/drawing/2014/main" id="{8D1C37B2-E4F9-CF73-ACFE-4E0CBBD68674}"/>
              </a:ext>
            </a:extLst>
          </p:cNvPr>
          <p:cNvSpPr txBox="1"/>
          <p:nvPr/>
        </p:nvSpPr>
        <p:spPr>
          <a:xfrm>
            <a:off x="392127" y="1133435"/>
            <a:ext cx="5526657" cy="646331"/>
          </a:xfrm>
          <a:prstGeom prst="rect">
            <a:avLst/>
          </a:prstGeom>
          <a:noFill/>
        </p:spPr>
        <p:txBody>
          <a:bodyPr wrap="square" rtlCol="0">
            <a:spAutoFit/>
          </a:bodyPr>
          <a:lstStyle/>
          <a:p>
            <a:r>
              <a:rPr lang="en-US" sz="36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CÂU HỎI ÔN TẬP </a:t>
            </a:r>
            <a:endParaRPr lang="vi-VN" sz="36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5899130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F33F9D-B266-4532-B63A-39E17391B0E7}"/>
              </a:ext>
            </a:extLst>
          </p:cNvPr>
          <p:cNvSpPr txBox="1"/>
          <p:nvPr/>
        </p:nvSpPr>
        <p:spPr>
          <a:xfrm>
            <a:off x="370625" y="2095759"/>
            <a:ext cx="11271848" cy="3900363"/>
          </a:xfrm>
          <a:prstGeom prst="rect">
            <a:avLst/>
          </a:prstGeom>
          <a:noFill/>
        </p:spPr>
        <p:txBody>
          <a:bodyPr wrap="square">
            <a:spAutoFit/>
          </a:bodyPr>
          <a:lstStyle/>
          <a:p>
            <a:pPr algn="just">
              <a:lnSpc>
                <a:spcPct val="150000"/>
              </a:lnSpc>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Làm thế nào để bộ phận ẩm thực có thể tối ưu hóa trải nghiệm của khách hàng thông qua dịch vụ ăn uống?</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lnSpc>
                <a:spcPct val="150000"/>
              </a:lnSpc>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lnSpc>
                <a:spcPct val="150000"/>
              </a:lnSpc>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ẩm thực có thể tối ưu hóa trải nghiệm của khách hàng bằng cách cung cấp các món ăn và dịch vụ đa dạng, sáng tạo trong thực đơn, nâng cao chất lượng phục vụ, và đảm bảo môi trường ăn uống thoải mái. Họ cũng cần chú trọng đến phản hồi của khách hàng để cải tiến dịch vụ liên tục.</a:t>
            </a:r>
          </a:p>
        </p:txBody>
      </p:sp>
      <p:sp>
        <p:nvSpPr>
          <p:cNvPr id="4" name="TextBox 3">
            <a:extLst>
              <a:ext uri="{FF2B5EF4-FFF2-40B4-BE49-F238E27FC236}">
                <a16:creationId xmlns:a16="http://schemas.microsoft.com/office/drawing/2014/main" id="{91FA4566-4277-5033-21A4-C3AD3930F8C0}"/>
              </a:ext>
            </a:extLst>
          </p:cNvPr>
          <p:cNvSpPr txBox="1"/>
          <p:nvPr/>
        </p:nvSpPr>
        <p:spPr>
          <a:xfrm>
            <a:off x="221099" y="1175256"/>
            <a:ext cx="9057736" cy="523220"/>
          </a:xfrm>
          <a:prstGeom prst="rect">
            <a:avLst/>
          </a:prstGeom>
          <a:noFill/>
        </p:spPr>
        <p:txBody>
          <a:bodyPr wrap="square" rtlCol="0">
            <a:spAutoFit/>
          </a:bodyPr>
          <a:lstStyle/>
          <a:p>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CÂU HỎI THẢO LUẬN- GỢI Ý TRẢ LỜI </a:t>
            </a:r>
            <a:endPar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957055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7A1134-8351-B47D-36A5-942A2ED4F559}"/>
              </a:ext>
            </a:extLst>
          </p:cNvPr>
          <p:cNvSpPr txBox="1"/>
          <p:nvPr/>
        </p:nvSpPr>
        <p:spPr>
          <a:xfrm>
            <a:off x="286485" y="1285901"/>
            <a:ext cx="11559396" cy="2059538"/>
          </a:xfrm>
          <a:prstGeom prst="rect">
            <a:avLst/>
          </a:prstGeom>
          <a:noFill/>
        </p:spPr>
        <p:txBody>
          <a:bodyPr wrap="square">
            <a:spAutoFit/>
          </a:bodyPr>
          <a:lstStyle/>
          <a:p>
            <a:pPr algn="just">
              <a:lnSpc>
                <a:spcPct val="150000"/>
              </a:lnSpc>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Tại sao bộ phận ẩm thực được coi là một trong những nguồn thu nhập chính của khách sạn?</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lnSpc>
                <a:spcPct val="150000"/>
              </a:lnSpc>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ẩm thực đóng góp phần lớn vào doanh thu khách sạn thông qua các hoạt động như nhà hàng, quầy bar, tiệc và sự kiện. Ngoài ra, dịch vụ ăn uống chất lượng cao giúp thu hút không chỉ khách hàng nội trú mà còn cả khách hàng từ bên ngoài.</a:t>
            </a:r>
          </a:p>
        </p:txBody>
      </p:sp>
      <p:sp>
        <p:nvSpPr>
          <p:cNvPr id="5" name="TextBox 4">
            <a:extLst>
              <a:ext uri="{FF2B5EF4-FFF2-40B4-BE49-F238E27FC236}">
                <a16:creationId xmlns:a16="http://schemas.microsoft.com/office/drawing/2014/main" id="{15B8E74E-E365-4666-2688-06230665400C}"/>
              </a:ext>
            </a:extLst>
          </p:cNvPr>
          <p:cNvSpPr txBox="1"/>
          <p:nvPr/>
        </p:nvSpPr>
        <p:spPr>
          <a:xfrm>
            <a:off x="385876" y="3531873"/>
            <a:ext cx="11559396" cy="2567369"/>
          </a:xfrm>
          <a:prstGeom prst="rect">
            <a:avLst/>
          </a:prstGeom>
          <a:noFill/>
        </p:spPr>
        <p:txBody>
          <a:bodyPr wrap="square">
            <a:spAutoFit/>
          </a:bodyPr>
          <a:lstStyle/>
          <a:p>
            <a:pPr>
              <a:lnSpc>
                <a:spcPct val="150000"/>
              </a:lnSpc>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 yếu tố nào trong dịch vụ ăn uống có thể tạo ra ấn tượng tốt và giúp giữ chân khách hàng?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Chất lượng món ăn, phong cách phục vụ chuyên nghiệp, không gian ăn uống thoải mái và hấp dẫn, cùng với sự tận tâm của nhân viên là những yếu tố quan trọng giúp tạo ấn tượng tốt và giữ chân khách hàng.</a:t>
            </a:r>
          </a:p>
        </p:txBody>
      </p:sp>
    </p:spTree>
    <p:extLst>
      <p:ext uri="{BB962C8B-B14F-4D97-AF65-F5344CB8AC3E}">
        <p14:creationId xmlns:p14="http://schemas.microsoft.com/office/powerpoint/2010/main" val="28957097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870E7B-E886-C4A8-802D-C573C990632F}"/>
              </a:ext>
            </a:extLst>
          </p:cNvPr>
          <p:cNvSpPr txBox="1"/>
          <p:nvPr/>
        </p:nvSpPr>
        <p:spPr>
          <a:xfrm>
            <a:off x="506083" y="2256783"/>
            <a:ext cx="11179834" cy="3500254"/>
          </a:xfrm>
          <a:prstGeom prst="rect">
            <a:avLst/>
          </a:prstGeom>
          <a:noFill/>
        </p:spPr>
        <p:txBody>
          <a:bodyPr wrap="square">
            <a:spAutoFit/>
          </a:bodyPr>
          <a:lstStyle/>
          <a:p>
            <a:pPr algn="just">
              <a:lnSpc>
                <a:spcPct val="150000"/>
              </a:lnSpc>
              <a:spcBef>
                <a:spcPts val="6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 nghĩ gì về việc quản lý và vận hành nhà hàng? Đâu là những thách thức lớn nhất mà bộ phận ẩm thực phải đối mặt?</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lnSpc>
                <a:spcPct val="150000"/>
              </a:lnSpc>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và vận hành nhà hàng đòi hỏi sự kết hợp giữa kỹ năng quản lý con người, quản lý tài chính, và đảm bảo chất lượng dịch vụ.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lnSpc>
                <a:spcPct val="150000"/>
              </a:lnSpc>
              <a:spcBef>
                <a:spcPts val="6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 thách thức lớn nhất có thể bao gồm duy trì chất lượng món ăn đồng đều, quản lý nhân sự hiệu quả, và kiểm soát chi phí một cách hợp lý.</a:t>
            </a:r>
          </a:p>
        </p:txBody>
      </p:sp>
    </p:spTree>
    <p:extLst>
      <p:ext uri="{BB962C8B-B14F-4D97-AF65-F5344CB8AC3E}">
        <p14:creationId xmlns:p14="http://schemas.microsoft.com/office/powerpoint/2010/main" val="2992009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0B3851-53B9-2187-CE61-374ADBB5767D}"/>
              </a:ext>
            </a:extLst>
          </p:cNvPr>
          <p:cNvSpPr txBox="1"/>
          <p:nvPr/>
        </p:nvSpPr>
        <p:spPr>
          <a:xfrm>
            <a:off x="269483" y="1109077"/>
            <a:ext cx="10597550" cy="830997"/>
          </a:xfrm>
          <a:prstGeom prst="rect">
            <a:avLst/>
          </a:prstGeom>
          <a:noFill/>
        </p:spPr>
        <p:txBody>
          <a:bodyPr wrap="square">
            <a:spAutoFit/>
          </a:bodyPr>
          <a:lstStyle/>
          <a:p>
            <a:pPr algn="just">
              <a:spcBef>
                <a:spcPts val="6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và cung cấp dịch vụ tiệc và hội nghị có tầm quan trọng như thế nào đối với doanh thu và danh tiếng của khách sạn?</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530A6AD2-8493-A2A7-F9B4-FCE35EE2D82F}"/>
              </a:ext>
            </a:extLst>
          </p:cNvPr>
          <p:cNvSpPr txBox="1"/>
          <p:nvPr/>
        </p:nvSpPr>
        <p:spPr>
          <a:xfrm>
            <a:off x="388752" y="1940074"/>
            <a:ext cx="11671539" cy="4770537"/>
          </a:xfrm>
          <a:prstGeom prst="rect">
            <a:avLst/>
          </a:prstGeom>
          <a:noFill/>
        </p:spPr>
        <p:txBody>
          <a:bodyPr wrap="square">
            <a:spAutoFit/>
          </a:bodyPr>
          <a:lstStyle/>
          <a:p>
            <a:pPr algn="just"/>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Tầm quan trọng của dịch vụ tiệc và hội nghị:</a:t>
            </a:r>
            <a:endPar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buFont typeface="+mj-lt"/>
              <a:buAutoNum type="arabicPeriod"/>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Nguồn thu nhập đáng kể:</a:t>
            </a:r>
            <a:endPar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buFont typeface="Wingdings" panose="05000000000000000000" pitchFamily="2" charset="2"/>
              <a:buChar char="q"/>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trực tiếp:</a:t>
            </a:r>
            <a:r>
              <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Dịch vụ tiệc và hội nghị đóng góp trực tiếp vào doanh thu khách sạn thông qua các khoản phí thuê phòng hội nghị, dịch vụ ăn uống, và các tiện ích liên quan như trang trí, âm thanh, ánh sáng, v.v.</a:t>
            </a:r>
          </a:p>
          <a:p>
            <a:pPr marL="800100" lvl="1" indent="-342900" algn="just">
              <a:buFont typeface="Wingdings" panose="05000000000000000000" pitchFamily="2" charset="2"/>
              <a:buChar char="q"/>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 thu gián tiếp:</a:t>
            </a:r>
            <a:r>
              <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Các sự kiện thành công có thể thúc đẩy nhu cầu sử dụng các dịch vụ khác của khách sạn, chẳng hạn như lưu trú, spa, hoặc các dịch vụ giải trí khác, góp phần tăng tổng doanh thu.</a:t>
            </a:r>
          </a:p>
          <a:p>
            <a:pPr algn="just">
              <a:buFont typeface="+mj-lt"/>
              <a:buAutoNum type="arabicPeriod"/>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Xây dựng danh tiếng và thương hiệu:</a:t>
            </a:r>
            <a:endPar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buFont typeface="Wingdings" panose="05000000000000000000" pitchFamily="2" charset="2"/>
              <a:buChar char="q"/>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Định vị thị trường:</a:t>
            </a:r>
            <a:r>
              <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Việc tổ chức các sự kiện lớn, quan trọng, hay có sự tham gia của các nhân vật nổi tiếng sẽ nâng cao uy tín và thương hiệu của khách sạn trên thị trường.</a:t>
            </a:r>
          </a:p>
          <a:p>
            <a:pPr marL="800100" lvl="1" indent="-342900" algn="just">
              <a:buFont typeface="Wingdings" panose="05000000000000000000" pitchFamily="2" charset="2"/>
              <a:buChar char="q"/>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trung thành:</a:t>
            </a:r>
            <a:r>
              <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tổ chức thành công các sự kiện sẽ tạo được ấn tượng tốt với khách hàng, giúp họ quay lại sử dụng dịch vụ trong tương lai và giới thiệu cho bạn bè, đồng nghiệp, từ đó tạo nên một cộng đồng khách hàng trung thành.</a:t>
            </a:r>
            <a:endParaRPr lang="en-US"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US"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 hút thêm khách hàng và đối tác:</a:t>
            </a:r>
            <a:endPar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23900" indent="-274638">
              <a:buFont typeface="Wingdings" panose="05000000000000000000" pitchFamily="2" charset="2"/>
              <a:buChar char="q"/>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Mở rộng đối tượng khách hàng:</a:t>
            </a:r>
            <a:r>
              <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có thể thu hút thêm nhiều khách hàng mới từ các công ty, tổ chức hoặc cá nhân có nhu cầu tổ chức sự kiện, từ đó mở rộng thị trường và đối tượng khách hàng.</a:t>
            </a:r>
          </a:p>
          <a:p>
            <a:pPr marL="723900" indent="-274638">
              <a:buFont typeface="Wingdings" panose="05000000000000000000" pitchFamily="2" charset="2"/>
              <a:buChar char="q"/>
            </a:pPr>
            <a:r>
              <a:rPr lang="vi-VN" sz="1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cường quan hệ đối tác:</a:t>
            </a:r>
            <a:r>
              <a:rPr lang="vi-VN"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Thành công trong việc tổ chức các sự kiện có thể dẫn đến việc ký kết thêm nhiều hợp đồng hợp tác dài hạn với các đối tác chiến lược như các công ty tổ chức sự kiện, nhà cung cấp dịch vụ, và các doanh nghiệp khác.</a:t>
            </a:r>
          </a:p>
          <a:p>
            <a:pPr lvl="1" algn="just"/>
            <a:endParaRPr lang="en-US" sz="16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099281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D626B4-23BD-C9A0-AE44-899F5D51CE9F}"/>
              </a:ext>
            </a:extLst>
          </p:cNvPr>
          <p:cNvSpPr txBox="1"/>
          <p:nvPr/>
        </p:nvSpPr>
        <p:spPr>
          <a:xfrm>
            <a:off x="295362" y="1199258"/>
            <a:ext cx="11283351" cy="212365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 đánh giá thế nào về tầm quan trọng của việc kiểm soát chất lượng và chi phí trong hoạt động của bộ phận ẩm thực?</a:t>
            </a:r>
            <a:r>
              <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chất lượng và chi phí là yếu tố sống còn đối với bộ phận ẩm thực. Chất lượng món ăn và dịch vụ không chỉ ảnh hưởng đến sự hài lòng của khách hàng mà còn là yếu tố quyết định để họ quay lại. Bên cạnh đó, kiểm soát chi phí hiệu quả giúp đảm bảo lợi nhuận cho khách sạn trong khi vẫn duy trì mức giá cạnh tranh.</a:t>
            </a:r>
            <a:endPar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DBFB4DCE-66B8-7683-638A-DE08B8D61C19}"/>
              </a:ext>
            </a:extLst>
          </p:cNvPr>
          <p:cNvSpPr txBox="1"/>
          <p:nvPr/>
        </p:nvSpPr>
        <p:spPr>
          <a:xfrm>
            <a:off x="295362" y="4029546"/>
            <a:ext cx="11421372" cy="2123658"/>
          </a:xfrm>
          <a:prstGeom prst="rect">
            <a:avLst/>
          </a:prstGeom>
          <a:noFill/>
        </p:spPr>
        <p:txBody>
          <a:bodyPr wrap="square">
            <a:spAutoFit/>
          </a:bodyPr>
          <a:lstStyle/>
          <a:p>
            <a:pPr algn="just"/>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loại thực đơn khác nhau (À la carte, Table d'hôte, Set Menu, Buffet) có ảnh hưởng thế nào đến sự lựa chọn và trải nghiệm của khách hàng?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loại thực đơn khác nhau mang đến trải nghiệm và sự lựa chọn khác nhau cho khách hàng. Thực đơn À la carte cho phép khách hàng tự do chọn món theo sở thích, trong khi Table d'hôte và Set Menu mang lại sự tiện lợi với mức giá cố định. Buffet mang lại cảm giác tự do và thoải mái khi khách hàng có thể tự phục vụ từ nhiều lựa chọn khác nhau.</a:t>
            </a:r>
          </a:p>
        </p:txBody>
      </p:sp>
    </p:spTree>
    <p:extLst>
      <p:ext uri="{BB962C8B-B14F-4D97-AF65-F5344CB8AC3E}">
        <p14:creationId xmlns:p14="http://schemas.microsoft.com/office/powerpoint/2010/main" val="25857650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6B7AF2-EA96-A40D-A87C-5E13DC7F8A9D}"/>
              </a:ext>
            </a:extLst>
          </p:cNvPr>
          <p:cNvSpPr>
            <a:spLocks noChangeArrowheads="1"/>
          </p:cNvSpPr>
          <p:nvPr/>
        </p:nvSpPr>
        <p:spPr bwMode="auto">
          <a:xfrm>
            <a:off x="416196" y="1549979"/>
            <a:ext cx="11359608"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ảnh</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hưởng</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nhất</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sao</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ảnh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hưởng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nhất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vì</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quyết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Dù</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cả</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nếu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đủ</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thì</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cũng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đạt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mục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nghĩ</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rằng</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tối</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ưu</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mang</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lại</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lợi</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ích</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ưu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mỗi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cải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thiện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lợi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nhuận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lòng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Bằng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giới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thiệu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chiến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"upselling,"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khai</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thác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thêm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2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2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25911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16DF-09CB-54BA-FCEC-4291FB4E5E92}"/>
            </a:ext>
          </a:extLst>
        </p:cNvPr>
        <p:cNvGrpSpPr/>
        <p:nvPr/>
      </p:nvGrpSpPr>
      <p:grpSpPr>
        <a:xfrm>
          <a:off x="0" y="0"/>
          <a:ext cx="0" cy="0"/>
          <a:chOff x="0" y="0"/>
          <a:chExt cx="0" cy="0"/>
        </a:xfrm>
      </p:grpSpPr>
      <p:pic>
        <p:nvPicPr>
          <p:cNvPr id="7" name="Picture 6" descr="Artboard 1 copy 2">
            <a:extLst>
              <a:ext uri="{FF2B5EF4-FFF2-40B4-BE49-F238E27FC236}">
                <a16:creationId xmlns:a16="http://schemas.microsoft.com/office/drawing/2014/main" id="{E6A4F3F9-0FEC-4E3F-08A2-4A44859816B6}"/>
              </a:ext>
            </a:extLst>
          </p:cNvPr>
          <p:cNvPicPr>
            <a:picLocks noChangeAspect="1"/>
          </p:cNvPicPr>
          <p:nvPr/>
        </p:nvPicPr>
        <p:blipFill>
          <a:blip r:embed="rId2"/>
          <a:stretch>
            <a:fillRect/>
          </a:stretch>
        </p:blipFill>
        <p:spPr>
          <a:xfrm>
            <a:off x="0" y="0"/>
            <a:ext cx="12190730" cy="6857365"/>
          </a:xfrm>
          <a:prstGeom prst="rect">
            <a:avLst/>
          </a:prstGeom>
        </p:spPr>
      </p:pic>
      <p:pic>
        <p:nvPicPr>
          <p:cNvPr id="2" name="Picture 1" descr="Artboard 1 copy 2">
            <a:extLst>
              <a:ext uri="{FF2B5EF4-FFF2-40B4-BE49-F238E27FC236}">
                <a16:creationId xmlns:a16="http://schemas.microsoft.com/office/drawing/2014/main" id="{53769216-72F2-774D-261C-BF7C2A666905}"/>
              </a:ext>
            </a:extLst>
          </p:cNvPr>
          <p:cNvPicPr>
            <a:picLocks noChangeAspect="1"/>
          </p:cNvPicPr>
          <p:nvPr/>
        </p:nvPicPr>
        <p:blipFill>
          <a:blip r:embed="rId3"/>
          <a:stretch>
            <a:fillRect/>
          </a:stretch>
        </p:blipFill>
        <p:spPr>
          <a:xfrm>
            <a:off x="0" y="0"/>
            <a:ext cx="12190730" cy="6857365"/>
          </a:xfrm>
          <a:prstGeom prst="rect">
            <a:avLst/>
          </a:prstGeom>
        </p:spPr>
      </p:pic>
      <p:pic>
        <p:nvPicPr>
          <p:cNvPr id="5" name="Picture 4" descr="A black screen with a black background&#10;&#10;AI-generated content may be incorrect.">
            <a:extLst>
              <a:ext uri="{FF2B5EF4-FFF2-40B4-BE49-F238E27FC236}">
                <a16:creationId xmlns:a16="http://schemas.microsoft.com/office/drawing/2014/main" id="{D5AE7117-3E90-A63B-048E-1FC0045AD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635"/>
            <a:ext cx="12191999" cy="6858000"/>
          </a:xfrm>
          <a:prstGeom prst="rect">
            <a:avLst/>
          </a:prstGeom>
        </p:spPr>
      </p:pic>
    </p:spTree>
    <p:extLst>
      <p:ext uri="{BB962C8B-B14F-4D97-AF65-F5344CB8AC3E}">
        <p14:creationId xmlns:p14="http://schemas.microsoft.com/office/powerpoint/2010/main" val="39192563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7379</Words>
  <Application>Microsoft Office PowerPoint</Application>
  <PresentationFormat>Widescreen</PresentationFormat>
  <Paragraphs>549</Paragraphs>
  <Slides>54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Microsoft GothicNeo</vt:lpstr>
      <vt:lpstr>Arial</vt:lpstr>
      <vt:lpstr>Calibri</vt:lpstr>
      <vt:lpstr>Calibri Light</vt:lpstr>
      <vt:lpstr>Cambria Math</vt:lpstr>
      <vt:lpstr>Microsoft Sans Serif</vt:lpstr>
      <vt:lpstr>Times New Roman</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Công thức cơ bản trong quản lý doanh thu Nhà hang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VHU ThanhLL</dc:creator>
  <cp:lastModifiedBy>VHU ThanhLL</cp:lastModifiedBy>
  <cp:revision>3</cp:revision>
  <dcterms:created xsi:type="dcterms:W3CDTF">2025-10-18T00:38:07Z</dcterms:created>
  <dcterms:modified xsi:type="dcterms:W3CDTF">2025-10-19T04:32:00Z</dcterms:modified>
</cp:coreProperties>
</file>