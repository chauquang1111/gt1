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380" r:id="rId2"/>
    <p:sldId id="257" r:id="rId3"/>
    <p:sldId id="313" r:id="rId4"/>
    <p:sldId id="383" r:id="rId5"/>
    <p:sldId id="384" r:id="rId6"/>
    <p:sldId id="381" r:id="rId7"/>
    <p:sldId id="318" r:id="rId8"/>
    <p:sldId id="317" r:id="rId9"/>
    <p:sldId id="319" r:id="rId10"/>
    <p:sldId id="330" r:id="rId11"/>
    <p:sldId id="331" r:id="rId12"/>
    <p:sldId id="388" r:id="rId13"/>
    <p:sldId id="320" r:id="rId14"/>
    <p:sldId id="321" r:id="rId15"/>
    <p:sldId id="322" r:id="rId16"/>
    <p:sldId id="323" r:id="rId17"/>
    <p:sldId id="385" r:id="rId18"/>
    <p:sldId id="387" r:id="rId19"/>
    <p:sldId id="386" r:id="rId20"/>
    <p:sldId id="389" r:id="rId21"/>
    <p:sldId id="325" r:id="rId22"/>
    <p:sldId id="326" r:id="rId23"/>
    <p:sldId id="327" r:id="rId24"/>
    <p:sldId id="328" r:id="rId25"/>
    <p:sldId id="329" r:id="rId26"/>
    <p:sldId id="379"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3" autoAdjust="0"/>
    <p:restoredTop sz="94660"/>
  </p:normalViewPr>
  <p:slideViewPr>
    <p:cSldViewPr snapToGrid="0">
      <p:cViewPr varScale="1">
        <p:scale>
          <a:sx n="77" d="100"/>
          <a:sy n="77" d="100"/>
        </p:scale>
        <p:origin x="74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EB6250-229E-4EB9-9B07-C15A6B53CAAD}" type="datetimeFigureOut">
              <a:rPr lang="en-US" smtClean="0"/>
              <a:t>25-Oct-25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0C04D0-CB01-4345-91A8-15ED0A2E42FA}" type="slidenum">
              <a:rPr lang="en-US" smtClean="0"/>
              <a:t>‹#›</a:t>
            </a:fld>
            <a:endParaRPr lang="en-US"/>
          </a:p>
        </p:txBody>
      </p:sp>
    </p:spTree>
    <p:extLst>
      <p:ext uri="{BB962C8B-B14F-4D97-AF65-F5344CB8AC3E}">
        <p14:creationId xmlns:p14="http://schemas.microsoft.com/office/powerpoint/2010/main" val="2308130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195703-381E-4D13-9EA2-BC83D76C341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06498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0C04D0-CB01-4345-91A8-15ED0A2E42FA}" type="slidenum">
              <a:rPr lang="en-US" smtClean="0"/>
              <a:t>12</a:t>
            </a:fld>
            <a:endParaRPr lang="en-US"/>
          </a:p>
        </p:txBody>
      </p:sp>
    </p:spTree>
    <p:extLst>
      <p:ext uri="{BB962C8B-B14F-4D97-AF65-F5344CB8AC3E}">
        <p14:creationId xmlns:p14="http://schemas.microsoft.com/office/powerpoint/2010/main" val="7911147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FADDBA6-7898-4A7E-81D8-4315F9153EB6}" type="datetimeFigureOut">
              <a:rPr lang="en-US" smtClean="0"/>
              <a:t>25-Oct-25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351576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ADDBA6-7898-4A7E-81D8-4315F9153EB6}" type="datetimeFigureOut">
              <a:rPr lang="en-US" smtClean="0"/>
              <a:t>25-Oct-25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22113998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FADDBA6-7898-4A7E-81D8-4315F9153EB6}" type="datetimeFigureOut">
              <a:rPr lang="en-US" smtClean="0"/>
              <a:t>25-Oct-25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16549118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FADDBA6-7898-4A7E-81D8-4315F9153EB6}" type="datetimeFigureOut">
              <a:rPr lang="en-US" smtClean="0"/>
              <a:t>25-Oct-25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4035397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FADDBA6-7898-4A7E-81D8-4315F9153EB6}" type="datetimeFigureOut">
              <a:rPr lang="en-US" smtClean="0"/>
              <a:t>25-Oct-25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2973065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ADDBA6-7898-4A7E-81D8-4315F9153EB6}" type="datetimeFigureOut">
              <a:rPr lang="en-US" smtClean="0"/>
              <a:t>25-Oct-25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2548112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ADDBA6-7898-4A7E-81D8-4315F9153EB6}" type="datetimeFigureOut">
              <a:rPr lang="en-US" smtClean="0"/>
              <a:t>25-Oct-25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19451923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ADDBA6-7898-4A7E-81D8-4315F9153EB6}" type="datetimeFigureOut">
              <a:rPr lang="en-US" smtClean="0"/>
              <a:t>25-Oct-25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1770431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ADDBA6-7898-4A7E-81D8-4315F9153EB6}" type="datetimeFigureOut">
              <a:rPr lang="en-US" smtClean="0"/>
              <a:t>25-Oct-25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3714936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ADDBA6-7898-4A7E-81D8-4315F9153EB6}" type="datetimeFigureOut">
              <a:rPr lang="en-US" smtClean="0"/>
              <a:t>25-Oct-25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130456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38200" y="6356350"/>
            <a:ext cx="2743200" cy="365125"/>
          </a:xfrm>
          <a:prstGeom prst="rect">
            <a:avLst/>
          </a:prstGeom>
        </p:spPr>
        <p:txBody>
          <a:bodyPr/>
          <a:lstStyle/>
          <a:p>
            <a:fld id="{B5D40311-D2C8-4007-B8EC-A7E1A9E8CEE2}" type="datetimeFigureOut">
              <a:rPr lang="en-US" smtClean="0"/>
              <a:t>25-Oct-25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466D83D6-630B-4019-815A-F2FC81903338}" type="slidenum">
              <a:rPr lang="en-US" smtClean="0"/>
              <a:t>‹#›</a:t>
            </a:fld>
            <a:endParaRPr lang="en-US"/>
          </a:p>
        </p:txBody>
      </p:sp>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2" y="428"/>
            <a:ext cx="12190476" cy="6857143"/>
          </a:xfrm>
          <a:prstGeom prst="rect">
            <a:avLst/>
          </a:prstGeom>
        </p:spPr>
      </p:pic>
    </p:spTree>
    <p:extLst>
      <p:ext uri="{BB962C8B-B14F-4D97-AF65-F5344CB8AC3E}">
        <p14:creationId xmlns:p14="http://schemas.microsoft.com/office/powerpoint/2010/main" val="20140595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5D40311-D2C8-4007-B8EC-A7E1A9E8CEE2}" type="datetimeFigureOut">
              <a:rPr lang="en-US" smtClean="0"/>
              <a:t>25-Oct-25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466D83D6-630B-4019-815A-F2FC81903338}" type="slidenum">
              <a:rPr lang="en-US" smtClean="0"/>
              <a:t>‹#›</a:t>
            </a:fld>
            <a:endParaRPr lang="en-US"/>
          </a:p>
        </p:txBody>
      </p:sp>
    </p:spTree>
    <p:extLst>
      <p:ext uri="{BB962C8B-B14F-4D97-AF65-F5344CB8AC3E}">
        <p14:creationId xmlns:p14="http://schemas.microsoft.com/office/powerpoint/2010/main" val="10401884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7462816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600576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ADDBA6-7898-4A7E-81D8-4315F9153EB6}" type="datetimeFigureOut">
              <a:rPr lang="en-US" smtClean="0"/>
              <a:t>25-Oct-25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E2A7F9-E658-489E-9D02-A8C67FB1B49C}" type="slidenum">
              <a:rPr lang="en-US" smtClean="0"/>
              <a:t>‹#›</a:t>
            </a:fld>
            <a:endParaRPr lang="en-US"/>
          </a:p>
        </p:txBody>
      </p:sp>
    </p:spTree>
    <p:extLst>
      <p:ext uri="{BB962C8B-B14F-4D97-AF65-F5344CB8AC3E}">
        <p14:creationId xmlns:p14="http://schemas.microsoft.com/office/powerpoint/2010/main" val="36003718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rtboard 1"/>
          <p:cNvPicPr>
            <a:picLocks noChangeAspect="1"/>
          </p:cNvPicPr>
          <p:nvPr/>
        </p:nvPicPr>
        <p:blipFill>
          <a:blip r:embed="rId3"/>
          <a:stretch>
            <a:fillRect/>
          </a:stretch>
        </p:blipFill>
        <p:spPr>
          <a:xfrm>
            <a:off x="0" y="-9413"/>
            <a:ext cx="12190730" cy="6857365"/>
          </a:xfrm>
          <a:prstGeom prst="rect">
            <a:avLst/>
          </a:prstGeom>
        </p:spPr>
      </p:pic>
      <p:sp>
        <p:nvSpPr>
          <p:cNvPr id="5" name="TextBox 6"/>
          <p:cNvSpPr txBox="1"/>
          <p:nvPr/>
        </p:nvSpPr>
        <p:spPr>
          <a:xfrm>
            <a:off x="6941584" y="4196532"/>
            <a:ext cx="4562946" cy="95866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Giảng</a:t>
            </a: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2000"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viên</a:t>
            </a: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2000"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ThS</a:t>
            </a: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Lý Liệt Thanh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Thời</a:t>
            </a: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2000"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lượng</a:t>
            </a: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30 </a:t>
            </a:r>
            <a:r>
              <a:rPr kumimoji="0" lang="en-US" sz="2000"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tiết</a:t>
            </a:r>
            <a:endParaRPr kumimoji="0" lang="vi-VN"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pic>
        <p:nvPicPr>
          <p:cNvPr id="9" name="Picture 8" descr="Untitled-4"/>
          <p:cNvPicPr>
            <a:picLocks noChangeAspect="1"/>
          </p:cNvPicPr>
          <p:nvPr/>
        </p:nvPicPr>
        <p:blipFill>
          <a:blip r:embed="rId4"/>
          <a:stretch>
            <a:fillRect/>
          </a:stretch>
        </p:blipFill>
        <p:spPr>
          <a:xfrm>
            <a:off x="6790055" y="985520"/>
            <a:ext cx="4866005" cy="1176020"/>
          </a:xfrm>
          <a:prstGeom prst="rect">
            <a:avLst/>
          </a:prstGeom>
        </p:spPr>
      </p:pic>
      <p:sp>
        <p:nvSpPr>
          <p:cNvPr id="7" name="TextBox 16">
            <a:extLst>
              <a:ext uri="{FF2B5EF4-FFF2-40B4-BE49-F238E27FC236}">
                <a16:creationId xmlns:a16="http://schemas.microsoft.com/office/drawing/2014/main" id="{F4DAA269-80D9-0965-13FC-31B6B3CE4AAD}"/>
              </a:ext>
            </a:extLst>
          </p:cNvPr>
          <p:cNvSpPr txBox="1"/>
          <p:nvPr/>
        </p:nvSpPr>
        <p:spPr>
          <a:xfrm>
            <a:off x="5561474" y="2703065"/>
            <a:ext cx="7017816" cy="95410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C000"/>
                </a:solidFill>
                <a:effectLst/>
                <a:uLnTx/>
                <a:uFillTx/>
                <a:latin typeface="Times New Roman" panose="02020603050405020304" pitchFamily="18" charset="0"/>
                <a:ea typeface="+mn-ea"/>
                <a:cs typeface="Times New Roman" panose="02020603050405020304" pitchFamily="18" charset="0"/>
              </a:rPr>
              <a:t>TỔNG QUAN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C000"/>
                </a:solidFill>
                <a:effectLst/>
                <a:uLnTx/>
                <a:uFillTx/>
                <a:latin typeface="Times New Roman" panose="02020603050405020304" pitchFamily="18" charset="0"/>
                <a:ea typeface="+mn-ea"/>
                <a:cs typeface="Times New Roman" panose="02020603050405020304" pitchFamily="18" charset="0"/>
              </a:rPr>
              <a:t>QUẢN TRỊ KHÁCH SẠN </a:t>
            </a:r>
          </a:p>
        </p:txBody>
      </p:sp>
      <p:pic>
        <p:nvPicPr>
          <p:cNvPr id="8" name="Picture 7">
            <a:extLst>
              <a:ext uri="{FF2B5EF4-FFF2-40B4-BE49-F238E27FC236}">
                <a16:creationId xmlns:a16="http://schemas.microsoft.com/office/drawing/2014/main" id="{6813C165-78AF-FA6C-0ECE-9DFD5530E5D5}"/>
              </a:ext>
            </a:extLst>
          </p:cNvPr>
          <p:cNvPicPr>
            <a:picLocks noChangeAspect="1"/>
          </p:cNvPicPr>
          <p:nvPr/>
        </p:nvPicPr>
        <p:blipFill>
          <a:blip r:embed="rId5"/>
          <a:stretch>
            <a:fillRect/>
          </a:stretch>
        </p:blipFill>
        <p:spPr>
          <a:xfrm>
            <a:off x="0" y="-153600"/>
            <a:ext cx="12192000" cy="7011600"/>
          </a:xfrm>
          <a:prstGeom prst="rect">
            <a:avLst/>
          </a:prstGeom>
        </p:spPr>
      </p:pic>
    </p:spTree>
    <p:extLst>
      <p:ext uri="{BB962C8B-B14F-4D97-AF65-F5344CB8AC3E}">
        <p14:creationId xmlns:p14="http://schemas.microsoft.com/office/powerpoint/2010/main" val="4122598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CE89D-F5E8-E54B-7E31-EB19AA8EB20B}"/>
              </a:ext>
            </a:extLst>
          </p:cNvPr>
          <p:cNvSpPr txBox="1"/>
          <p:nvPr/>
        </p:nvSpPr>
        <p:spPr>
          <a:xfrm>
            <a:off x="1066800" y="2092269"/>
            <a:ext cx="10058400" cy="212365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6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TỔNG QUAN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6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QUẢN TRỊ KHÁCH SẠN </a:t>
            </a:r>
            <a:endParaRPr kumimoji="0" lang="vi-VN" sz="66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1397118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967845-BD81-70EA-7817-C87B727B0981}"/>
              </a:ext>
            </a:extLst>
          </p:cNvPr>
          <p:cNvSpPr txBox="1"/>
          <p:nvPr/>
        </p:nvSpPr>
        <p:spPr>
          <a:xfrm>
            <a:off x="502278" y="1615989"/>
            <a:ext cx="640080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MỤC TIÊU  MÔN HỌC </a:t>
            </a:r>
            <a:endParaRPr kumimoji="0" lang="vi-VN" sz="32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4" name="TextBox 3">
            <a:extLst>
              <a:ext uri="{FF2B5EF4-FFF2-40B4-BE49-F238E27FC236}">
                <a16:creationId xmlns:a16="http://schemas.microsoft.com/office/drawing/2014/main" id="{02C6DCF9-2315-620C-C476-599EC479915E}"/>
              </a:ext>
            </a:extLst>
          </p:cNvPr>
          <p:cNvSpPr txBox="1"/>
          <p:nvPr/>
        </p:nvSpPr>
        <p:spPr>
          <a:xfrm>
            <a:off x="502278" y="2571177"/>
            <a:ext cx="11344760" cy="3604898"/>
          </a:xfrm>
          <a:prstGeom prst="rect">
            <a:avLst/>
          </a:prstGeom>
          <a:noFill/>
        </p:spPr>
        <p:txBody>
          <a:bodyPr wrap="square">
            <a:spAutoFit/>
          </a:bodyPr>
          <a:lstStyle/>
          <a:p>
            <a:pPr marL="285750" marR="0" lvl="0" indent="-285750" algn="just" defTabSz="914400" rtl="0" eaLnBrk="1" fontAlgn="auto" latinLnBrk="0" hangingPunct="1">
              <a:lnSpc>
                <a:spcPct val="115000"/>
              </a:lnSpc>
              <a:spcBef>
                <a:spcPts val="1200"/>
              </a:spcBef>
              <a:spcAft>
                <a:spcPts val="300"/>
              </a:spcAft>
              <a:buClrTx/>
              <a:buSzTx/>
              <a:buFont typeface="Wingdings" panose="05000000000000000000" pitchFamily="2" charset="2"/>
              <a:buChar char="q"/>
              <a:tabLst/>
              <a:defRPr/>
            </a:pP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Cung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cấp</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cho</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người</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học</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những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kiến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thức</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chung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về</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cơ</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cấu</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tổ</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phân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công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lao</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vai</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trò</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nhiệm</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85750" marR="0" lvl="0" indent="-285750" algn="just" defTabSz="914400" rtl="0" eaLnBrk="1" fontAlgn="auto" latinLnBrk="0" hangingPunct="1">
              <a:lnSpc>
                <a:spcPct val="115000"/>
              </a:lnSpc>
              <a:spcBef>
                <a:spcPts val="1200"/>
              </a:spcBef>
              <a:spcAft>
                <a:spcPts val="300"/>
              </a:spcAft>
              <a:buClrTx/>
              <a:buSzTx/>
              <a:buFont typeface="Wingdings" panose="05000000000000000000" pitchFamily="2" charset="2"/>
              <a:buChar char="q"/>
              <a:tabLst/>
              <a:defRPr/>
            </a:pP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Trang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bị</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kiến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thức</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về</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mối</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quan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hệ</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giữa</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85750" marR="0" lvl="0" indent="-285750" algn="just" defTabSz="914400" rtl="0" eaLnBrk="1" fontAlgn="auto" latinLnBrk="0" hangingPunct="1">
              <a:lnSpc>
                <a:spcPct val="115000"/>
              </a:lnSpc>
              <a:spcBef>
                <a:spcPts val="1200"/>
              </a:spcBef>
              <a:spcAft>
                <a:spcPts val="300"/>
              </a:spcAft>
              <a:buClrTx/>
              <a:buSzTx/>
              <a:buFont typeface="Wingdings" panose="05000000000000000000" pitchFamily="2" charset="2"/>
              <a:buChar char="q"/>
              <a:tabLst/>
              <a:defRPr/>
            </a:pP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Phát</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triển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giao</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tiếp</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hiệu</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quả</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giữa</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xây</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dựng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mối</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quan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hệ</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giữa</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85750" marR="0" lvl="0" indent="-285750" algn="just" defTabSz="914400" rtl="0" eaLnBrk="1" fontAlgn="auto" latinLnBrk="0" hangingPunct="1">
              <a:lnSpc>
                <a:spcPct val="115000"/>
              </a:lnSpc>
              <a:spcBef>
                <a:spcPts val="1200"/>
              </a:spcBef>
              <a:spcAft>
                <a:spcPts val="300"/>
              </a:spcAft>
              <a:buClrTx/>
              <a:buSzTx/>
              <a:buFont typeface="Wingdings" panose="05000000000000000000" pitchFamily="2" charset="2"/>
              <a:buChar char="q"/>
              <a:tabLst/>
              <a:defRPr/>
            </a:pP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Phát</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triển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kỹ</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năng</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phân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tích</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lập</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luận</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thuyết</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trình</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hiệu</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quả</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p>
        </p:txBody>
      </p:sp>
    </p:spTree>
    <p:extLst>
      <p:ext uri="{BB962C8B-B14F-4D97-AF65-F5344CB8AC3E}">
        <p14:creationId xmlns:p14="http://schemas.microsoft.com/office/powerpoint/2010/main" val="2308817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344ED3-5042-BBEE-12C1-34C48731D4BA}"/>
              </a:ext>
            </a:extLst>
          </p:cNvPr>
          <p:cNvSpPr txBox="1"/>
          <p:nvPr/>
        </p:nvSpPr>
        <p:spPr>
          <a:xfrm>
            <a:off x="5366657" y="238499"/>
            <a:ext cx="650799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NỘI DUNG CHƯƠNG TRÌNH  </a:t>
            </a:r>
            <a:endParaRPr kumimoji="0" lang="vi-VN" sz="2800" b="1" i="0" u="none" strike="noStrike" kern="1200" cap="none" spc="0" normalizeH="0" baseline="0" noProof="0" dirty="0">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graphicFrame>
        <p:nvGraphicFramePr>
          <p:cNvPr id="4" name="Table 3">
            <a:extLst>
              <a:ext uri="{FF2B5EF4-FFF2-40B4-BE49-F238E27FC236}">
                <a16:creationId xmlns:a16="http://schemas.microsoft.com/office/drawing/2014/main" id="{5C02EC93-EA35-C460-37CD-2B7687E052C0}"/>
              </a:ext>
            </a:extLst>
          </p:cNvPr>
          <p:cNvGraphicFramePr>
            <a:graphicFrameLocks noGrp="1"/>
          </p:cNvGraphicFramePr>
          <p:nvPr/>
        </p:nvGraphicFramePr>
        <p:xfrm>
          <a:off x="294468" y="1064125"/>
          <a:ext cx="10879810" cy="1820802"/>
        </p:xfrm>
        <a:graphic>
          <a:graphicData uri="http://schemas.openxmlformats.org/drawingml/2006/table">
            <a:tbl>
              <a:tblPr>
                <a:tableStyleId>{5C22544A-7EE6-4342-B048-85BDC9FD1C3A}</a:tableStyleId>
              </a:tblPr>
              <a:tblGrid>
                <a:gridCol w="1789205">
                  <a:extLst>
                    <a:ext uri="{9D8B030D-6E8A-4147-A177-3AD203B41FA5}">
                      <a16:colId xmlns:a16="http://schemas.microsoft.com/office/drawing/2014/main" val="2368574806"/>
                    </a:ext>
                  </a:extLst>
                </a:gridCol>
                <a:gridCol w="9090605">
                  <a:extLst>
                    <a:ext uri="{9D8B030D-6E8A-4147-A177-3AD203B41FA5}">
                      <a16:colId xmlns:a16="http://schemas.microsoft.com/office/drawing/2014/main" val="470480153"/>
                    </a:ext>
                  </a:extLst>
                </a:gridCol>
              </a:tblGrid>
              <a:tr h="0">
                <a:tc>
                  <a:txBody>
                    <a:bodyPr/>
                    <a:lstStyle/>
                    <a:p>
                      <a:pPr algn="ctr">
                        <a:lnSpc>
                          <a:spcPct val="115000"/>
                        </a:lnSpc>
                        <a:spcAft>
                          <a:spcPts val="300"/>
                        </a:spcAft>
                      </a:pPr>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1</a:t>
                      </a:r>
                    </a:p>
                  </a:txBody>
                  <a:tcPr marL="66299" marR="66299" marT="0" marB="0" anchor="ctr"/>
                </a:tc>
                <a:tc>
                  <a:txBody>
                    <a:bodyPr/>
                    <a:lstStyle/>
                    <a:p>
                      <a:r>
                        <a:rPr lang="en-US" sz="19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Tổng</a:t>
                      </a:r>
                      <a:r>
                        <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về</a:t>
                      </a:r>
                      <a:r>
                        <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476048800"/>
                  </a:ext>
                </a:extLst>
              </a:tr>
              <a:tr h="202581">
                <a:tc>
                  <a:txBody>
                    <a:bodyPr/>
                    <a:lstStyle/>
                    <a:p>
                      <a:pPr algn="ctr">
                        <a:lnSpc>
                          <a:spcPct val="115000"/>
                        </a:lnSpc>
                        <a:spcAft>
                          <a:spcPts val="300"/>
                        </a:spcAft>
                      </a:pPr>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1.1.</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Lịch sử hình thành và phát triển của ngành kinh doanh khách sạn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3460742267"/>
                  </a:ext>
                </a:extLst>
              </a:tr>
              <a:tr h="202581">
                <a:tc>
                  <a:txBody>
                    <a:bodyPr/>
                    <a:lstStyle/>
                    <a:p>
                      <a:pPr algn="ctr">
                        <a:lnSpc>
                          <a:spcPct val="115000"/>
                        </a:lnSpc>
                        <a:spcAft>
                          <a:spcPts val="300"/>
                        </a:spcAft>
                      </a:pPr>
                      <a:r>
                        <a:rPr lang="nl-NL"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1.2.</a:t>
                      </a:r>
                      <a:endParaRPr lang="en-US"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r>
                        <a:rPr lang="vi-VN"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 khái niệm cơ bản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1411431812"/>
                  </a:ext>
                </a:extLst>
              </a:tr>
              <a:tr h="202581">
                <a:tc>
                  <a:txBody>
                    <a:bodyPr/>
                    <a:lstStyle/>
                    <a:p>
                      <a:pPr algn="ctr">
                        <a:lnSpc>
                          <a:spcPct val="115000"/>
                        </a:lnSpc>
                        <a:spcAft>
                          <a:spcPts val="300"/>
                        </a:spcAft>
                      </a:pPr>
                      <a:r>
                        <a:rPr lang="nl-NL"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1.3.</a:t>
                      </a:r>
                      <a:endParaRPr lang="en-US"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Phân loại và xếp hạng khách sạn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3615906"/>
                  </a:ext>
                </a:extLst>
              </a:tr>
              <a:tr h="202581">
                <a:tc>
                  <a:txBody>
                    <a:bodyPr/>
                    <a:lstStyle/>
                    <a:p>
                      <a:pPr algn="ctr">
                        <a:lnSpc>
                          <a:spcPct val="115000"/>
                        </a:lnSpc>
                        <a:spcAft>
                          <a:spcPts val="300"/>
                        </a:spcAft>
                      </a:pPr>
                      <a:r>
                        <a:rPr lang="nl-NL"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1.4.</a:t>
                      </a:r>
                      <a:endParaRPr lang="en-US"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Cơ cấu tổ chức của khách sạn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3973927035"/>
                  </a:ext>
                </a:extLst>
              </a:tr>
              <a:tr h="202581">
                <a:tc>
                  <a:txBody>
                    <a:bodyPr/>
                    <a:lstStyle/>
                    <a:p>
                      <a:pPr algn="ctr">
                        <a:lnSpc>
                          <a:spcPct val="115000"/>
                        </a:lnSpc>
                        <a:spcAft>
                          <a:spcPts val="300"/>
                        </a:spcAft>
                      </a:pPr>
                      <a:r>
                        <a:rPr lang="nl-NL"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1.5.</a:t>
                      </a:r>
                      <a:endParaRPr lang="en-US"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Xu hướng phát triển của ngành kinh doanh khách sạn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94786579"/>
                  </a:ext>
                </a:extLst>
              </a:tr>
            </a:tbl>
          </a:graphicData>
        </a:graphic>
      </p:graphicFrame>
      <p:graphicFrame>
        <p:nvGraphicFramePr>
          <p:cNvPr id="5" name="Table 4">
            <a:extLst>
              <a:ext uri="{FF2B5EF4-FFF2-40B4-BE49-F238E27FC236}">
                <a16:creationId xmlns:a16="http://schemas.microsoft.com/office/drawing/2014/main" id="{AB456307-816C-D06D-B254-47B52FD6CFAC}"/>
              </a:ext>
            </a:extLst>
          </p:cNvPr>
          <p:cNvGraphicFramePr>
            <a:graphicFrameLocks noGrp="1"/>
          </p:cNvGraphicFramePr>
          <p:nvPr/>
        </p:nvGraphicFramePr>
        <p:xfrm>
          <a:off x="282474" y="2966519"/>
          <a:ext cx="10864312" cy="1820802"/>
        </p:xfrm>
        <a:graphic>
          <a:graphicData uri="http://schemas.openxmlformats.org/drawingml/2006/table">
            <a:tbl>
              <a:tblPr>
                <a:tableStyleId>{5C22544A-7EE6-4342-B048-85BDC9FD1C3A}</a:tableStyleId>
              </a:tblPr>
              <a:tblGrid>
                <a:gridCol w="1768609">
                  <a:extLst>
                    <a:ext uri="{9D8B030D-6E8A-4147-A177-3AD203B41FA5}">
                      <a16:colId xmlns:a16="http://schemas.microsoft.com/office/drawing/2014/main" val="2865336541"/>
                    </a:ext>
                  </a:extLst>
                </a:gridCol>
                <a:gridCol w="9095703">
                  <a:extLst>
                    <a:ext uri="{9D8B030D-6E8A-4147-A177-3AD203B41FA5}">
                      <a16:colId xmlns:a16="http://schemas.microsoft.com/office/drawing/2014/main" val="2930767451"/>
                    </a:ext>
                  </a:extLst>
                </a:gridCol>
              </a:tblGrid>
              <a:tr h="202581">
                <a:tc>
                  <a:txBody>
                    <a:bodyPr/>
                    <a:lstStyle/>
                    <a:p>
                      <a:pPr marL="0" algn="ctr" defTabSz="914400" rtl="0" eaLnBrk="1" latinLnBrk="0" hangingPunct="1">
                        <a:lnSpc>
                          <a:spcPct val="115000"/>
                        </a:lnSpc>
                        <a:spcAft>
                          <a:spcPts val="300"/>
                        </a:spcAft>
                      </a:pPr>
                      <a:r>
                        <a:rPr lang="nl-NL"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2</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tiền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sảnh</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622322330"/>
                  </a:ext>
                </a:extLst>
              </a:tr>
              <a:tr h="202581">
                <a:tc>
                  <a:txBody>
                    <a:bodyPr/>
                    <a:lstStyle/>
                    <a:p>
                      <a:pPr marL="0" algn="ctr" defTabSz="914400" rtl="0" eaLnBrk="1" latinLnBrk="0" hangingPunct="1">
                        <a:lnSpc>
                          <a:spcPct val="115000"/>
                        </a:lnSpc>
                        <a:spcAft>
                          <a:spcPts val="300"/>
                        </a:spcAft>
                      </a:pPr>
                      <a:r>
                        <a:rPr lang="vi-VN"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a:t>
                      </a:r>
                      <a:r>
                        <a:rPr lang="nl-NL"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pPr marL="0" algn="l" defTabSz="914400" rtl="0" eaLnBrk="1" latinLnBrk="0" hangingPunct="1">
                        <a:lnSpc>
                          <a:spcPct val="115000"/>
                        </a:lnSpc>
                        <a:spcAft>
                          <a:spcPts val="300"/>
                        </a:spcAft>
                      </a:pPr>
                      <a:r>
                        <a:rPr lang="nl-NL"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Vai trò, nhiệm vụ của bộ phận tiền sảnh</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816642246"/>
                  </a:ext>
                </a:extLst>
              </a:tr>
              <a:tr h="202581">
                <a:tc>
                  <a:txBody>
                    <a:bodyPr/>
                    <a:lstStyle/>
                    <a:p>
                      <a:pPr marL="0" algn="ctr" defTabSz="914400" rtl="0" eaLnBrk="1" latinLnBrk="0" hangingPunct="1">
                        <a:lnSpc>
                          <a:spcPct val="115000"/>
                        </a:lnSpc>
                        <a:spcAft>
                          <a:spcPts val="300"/>
                        </a:spcAft>
                      </a:pPr>
                      <a:r>
                        <a:rPr lang="vi-VN"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a:t>
                      </a:r>
                      <a:r>
                        <a:rPr lang="nl-NL"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Cơ</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cấu</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chức</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97162349"/>
                  </a:ext>
                </a:extLst>
              </a:tr>
              <a:tr h="202581">
                <a:tc>
                  <a:txBody>
                    <a:bodyPr/>
                    <a:lstStyle/>
                    <a:p>
                      <a:pPr marL="0" algn="ctr" defTabSz="914400" rtl="0" eaLnBrk="1" latinLnBrk="0" hangingPunct="1">
                        <a:lnSpc>
                          <a:spcPct val="115000"/>
                        </a:lnSpc>
                        <a:spcAft>
                          <a:spcPts val="300"/>
                        </a:spcAft>
                      </a:pP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2.3.</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Mối</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hệ</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với</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815115883"/>
                  </a:ext>
                </a:extLst>
              </a:tr>
              <a:tr h="202581">
                <a:tc>
                  <a:txBody>
                    <a:bodyPr/>
                    <a:lstStyle/>
                    <a:p>
                      <a:pPr marL="0" algn="ctr" defTabSz="914400" rtl="0" eaLnBrk="1" latinLnBrk="0" hangingPunct="1">
                        <a:lnSpc>
                          <a:spcPct val="115000"/>
                        </a:lnSpc>
                        <a:spcAft>
                          <a:spcPts val="300"/>
                        </a:spcAft>
                      </a:pP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2.4.</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tiền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sảnh</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268459174"/>
                  </a:ext>
                </a:extLst>
              </a:tr>
              <a:tr h="202581">
                <a:tc>
                  <a:txBody>
                    <a:bodyPr/>
                    <a:lstStyle/>
                    <a:p>
                      <a:pPr marL="0" algn="ctr" defTabSz="914400" rtl="0" eaLnBrk="1" latinLnBrk="0" hangingPunct="1">
                        <a:lnSpc>
                          <a:spcPct val="115000"/>
                        </a:lnSpc>
                        <a:spcAft>
                          <a:spcPts val="300"/>
                        </a:spcAft>
                      </a:pP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2.5.</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trị</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doanh</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thu</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một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số</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chỉ</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tiêu</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đánh</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giá</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lưu</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trú</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598625922"/>
                  </a:ext>
                </a:extLst>
              </a:tr>
            </a:tbl>
          </a:graphicData>
        </a:graphic>
      </p:graphicFrame>
      <p:graphicFrame>
        <p:nvGraphicFramePr>
          <p:cNvPr id="6" name="Table 5">
            <a:extLst>
              <a:ext uri="{FF2B5EF4-FFF2-40B4-BE49-F238E27FC236}">
                <a16:creationId xmlns:a16="http://schemas.microsoft.com/office/drawing/2014/main" id="{984F8D1D-637F-34F3-59F8-5195603D0825}"/>
              </a:ext>
            </a:extLst>
          </p:cNvPr>
          <p:cNvGraphicFramePr>
            <a:graphicFrameLocks noGrp="1"/>
          </p:cNvGraphicFramePr>
          <p:nvPr/>
        </p:nvGraphicFramePr>
        <p:xfrm>
          <a:off x="294468" y="4862436"/>
          <a:ext cx="10864312" cy="1652775"/>
        </p:xfrm>
        <a:graphic>
          <a:graphicData uri="http://schemas.openxmlformats.org/drawingml/2006/table">
            <a:tbl>
              <a:tblPr>
                <a:tableStyleId>{5C22544A-7EE6-4342-B048-85BDC9FD1C3A}</a:tableStyleId>
              </a:tblPr>
              <a:tblGrid>
                <a:gridCol w="1840797">
                  <a:extLst>
                    <a:ext uri="{9D8B030D-6E8A-4147-A177-3AD203B41FA5}">
                      <a16:colId xmlns:a16="http://schemas.microsoft.com/office/drawing/2014/main" val="854789265"/>
                    </a:ext>
                  </a:extLst>
                </a:gridCol>
                <a:gridCol w="9023515">
                  <a:extLst>
                    <a:ext uri="{9D8B030D-6E8A-4147-A177-3AD203B41FA5}">
                      <a16:colId xmlns:a16="http://schemas.microsoft.com/office/drawing/2014/main" val="3956250642"/>
                    </a:ext>
                  </a:extLst>
                </a:gridCol>
              </a:tblGrid>
              <a:tr h="438907">
                <a:tc>
                  <a:txBody>
                    <a:bodyPr/>
                    <a:lstStyle/>
                    <a:p>
                      <a:pPr marL="0" algn="ctr" defTabSz="914400" rtl="0" eaLnBrk="1" latinLnBrk="0" hangingPunct="1">
                        <a:lnSpc>
                          <a:spcPct val="115000"/>
                        </a:lnSpc>
                        <a:spcAft>
                          <a:spcPts val="300"/>
                        </a:spcAft>
                      </a:pPr>
                      <a:r>
                        <a:rPr lang="nl-NL"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3</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buồng</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1421414538"/>
                  </a:ext>
                </a:extLst>
              </a:tr>
              <a:tr h="202581">
                <a:tc>
                  <a:txBody>
                    <a:bodyPr/>
                    <a:lstStyle/>
                    <a:p>
                      <a:pPr marL="0" algn="ctr" defTabSz="914400" rtl="0" eaLnBrk="1" latinLnBrk="0" hangingPunct="1">
                        <a:lnSpc>
                          <a:spcPct val="115000"/>
                        </a:lnSpc>
                        <a:spcAft>
                          <a:spcPts val="300"/>
                        </a:spcAft>
                      </a:pP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3.1.</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Vai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trò</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nhiệm</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buồng</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1860183992"/>
                  </a:ext>
                </a:extLst>
              </a:tr>
              <a:tr h="202581">
                <a:tc>
                  <a:txBody>
                    <a:bodyPr/>
                    <a:lstStyle/>
                    <a:p>
                      <a:pPr marL="0" algn="ctr" defTabSz="914400" rtl="0" eaLnBrk="1" latinLnBrk="0" hangingPunct="1">
                        <a:lnSpc>
                          <a:spcPct val="115000"/>
                        </a:lnSpc>
                        <a:spcAft>
                          <a:spcPts val="300"/>
                        </a:spcAft>
                      </a:pPr>
                      <a:r>
                        <a:rPr lang="en-US" sz="1900" kern="12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3.2.</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Cơ</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cấu</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buồng</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2108601257"/>
                  </a:ext>
                </a:extLst>
              </a:tr>
              <a:tr h="202581">
                <a:tc>
                  <a:txBody>
                    <a:bodyPr/>
                    <a:lstStyle/>
                    <a:p>
                      <a:pPr marL="0" algn="ctr" defTabSz="914400" rtl="0" eaLnBrk="1" latinLnBrk="0" hangingPunct="1">
                        <a:lnSpc>
                          <a:spcPct val="115000"/>
                        </a:lnSpc>
                        <a:spcAft>
                          <a:spcPts val="300"/>
                        </a:spcAft>
                      </a:pPr>
                      <a:r>
                        <a:rPr lang="en-US" sz="1900" kern="12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3.3.</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Mối</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hệ</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với</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436790897"/>
                  </a:ext>
                </a:extLst>
              </a:tr>
              <a:tr h="202581">
                <a:tc>
                  <a:txBody>
                    <a:bodyPr/>
                    <a:lstStyle/>
                    <a:p>
                      <a:pPr marL="0" algn="ctr" defTabSz="914400" rtl="0" eaLnBrk="1" latinLnBrk="0" hangingPunct="1">
                        <a:lnSpc>
                          <a:spcPct val="115000"/>
                        </a:lnSpc>
                        <a:spcAft>
                          <a:spcPts val="300"/>
                        </a:spcAft>
                      </a:pPr>
                      <a:r>
                        <a:rPr lang="en-US" sz="1900" kern="12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3.4.</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buồng</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261867572"/>
                  </a:ext>
                </a:extLst>
              </a:tr>
            </a:tbl>
          </a:graphicData>
        </a:graphic>
      </p:graphicFrame>
    </p:spTree>
    <p:extLst>
      <p:ext uri="{BB962C8B-B14F-4D97-AF65-F5344CB8AC3E}">
        <p14:creationId xmlns:p14="http://schemas.microsoft.com/office/powerpoint/2010/main" val="1382293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959A0C7-29CF-59A1-87D6-891D77B6B41D}"/>
              </a:ext>
            </a:extLst>
          </p:cNvPr>
          <p:cNvGraphicFramePr>
            <a:graphicFrameLocks noGrp="1"/>
          </p:cNvGraphicFramePr>
          <p:nvPr/>
        </p:nvGraphicFramePr>
        <p:xfrm>
          <a:off x="539120" y="1204126"/>
          <a:ext cx="10515600" cy="1517335"/>
        </p:xfrm>
        <a:graphic>
          <a:graphicData uri="http://schemas.openxmlformats.org/drawingml/2006/table">
            <a:tbl>
              <a:tblPr>
                <a:tableStyleId>{5C22544A-7EE6-4342-B048-85BDC9FD1C3A}</a:tableStyleId>
              </a:tblPr>
              <a:tblGrid>
                <a:gridCol w="1885964">
                  <a:extLst>
                    <a:ext uri="{9D8B030D-6E8A-4147-A177-3AD203B41FA5}">
                      <a16:colId xmlns:a16="http://schemas.microsoft.com/office/drawing/2014/main" val="1106697701"/>
                    </a:ext>
                  </a:extLst>
                </a:gridCol>
                <a:gridCol w="8629636">
                  <a:extLst>
                    <a:ext uri="{9D8B030D-6E8A-4147-A177-3AD203B41FA5}">
                      <a16:colId xmlns:a16="http://schemas.microsoft.com/office/drawing/2014/main" val="3632730796"/>
                    </a:ext>
                  </a:extLst>
                </a:gridCol>
              </a:tblGrid>
              <a:tr h="202581">
                <a:tc>
                  <a:txBody>
                    <a:bodyPr/>
                    <a:lstStyle/>
                    <a:p>
                      <a:pPr algn="ctr">
                        <a:lnSpc>
                          <a:spcPct val="115000"/>
                        </a:lnSpc>
                        <a:spcAft>
                          <a:spcPts val="300"/>
                        </a:spcAft>
                      </a:pPr>
                      <a:r>
                        <a:rPr lang="nl-NL"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4</a:t>
                      </a:r>
                    </a:p>
                  </a:txBody>
                  <a:tcPr marL="66299" marR="66299" marT="0" marB="0" anchor="ctr"/>
                </a:tc>
                <a:tc>
                  <a:txBody>
                    <a:bodyPr/>
                    <a:lstStyle/>
                    <a:p>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ẩm</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169803711"/>
                  </a:ext>
                </a:extLst>
              </a:tr>
              <a:tr h="202581">
                <a:tc>
                  <a:txBody>
                    <a:bodyPr/>
                    <a:lstStyle/>
                    <a:p>
                      <a:pPr algn="ctr">
                        <a:lnSpc>
                          <a:spcPct val="115000"/>
                        </a:lnSpc>
                        <a:spcAft>
                          <a:spcPts val="300"/>
                        </a:spcAft>
                      </a:pP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4.1.</a:t>
                      </a:r>
                    </a:p>
                  </a:txBody>
                  <a:tcPr marL="66299" marR="66299" marT="0" marB="0" anchor="ctr"/>
                </a:tc>
                <a:tc>
                  <a:txBody>
                    <a:bodyPr/>
                    <a:lstStyle/>
                    <a:p>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Vai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trò</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nhiệm</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ẩm</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4210564237"/>
                  </a:ext>
                </a:extLst>
              </a:tr>
              <a:tr h="202581">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4.2.</a:t>
                      </a:r>
                    </a:p>
                  </a:txBody>
                  <a:tcPr marL="66299" marR="66299" marT="0" marB="0" anchor="ctr"/>
                </a:tc>
                <a:tc>
                  <a:txBody>
                    <a:bodyPr/>
                    <a:lstStyle/>
                    <a:p>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Cơ</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cấu</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F&amp;B</a:t>
                      </a:r>
                    </a:p>
                  </a:txBody>
                  <a:tcPr marL="66299" marR="66299" marT="0" marB="0" anchor="ctr"/>
                </a:tc>
                <a:extLst>
                  <a:ext uri="{0D108BD9-81ED-4DB2-BD59-A6C34878D82A}">
                    <a16:rowId xmlns:a16="http://schemas.microsoft.com/office/drawing/2014/main" val="2371487698"/>
                  </a:ext>
                </a:extLst>
              </a:tr>
              <a:tr h="202581">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4.3.</a:t>
                      </a:r>
                    </a:p>
                  </a:txBody>
                  <a:tcPr marL="66299" marR="66299" marT="0" marB="0" anchor="ctr"/>
                </a:tc>
                <a:tc>
                  <a:txBody>
                    <a:bodyPr/>
                    <a:lstStyle/>
                    <a:p>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ẩm</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584694603"/>
                  </a:ext>
                </a:extLst>
              </a:tr>
              <a:tr h="202581">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4.4.</a:t>
                      </a:r>
                    </a:p>
                  </a:txBody>
                  <a:tcPr marL="66299" marR="66299" marT="0" marB="0" anchor="ctr"/>
                </a:tc>
                <a:tc>
                  <a:txBody>
                    <a:bodyPr/>
                    <a:lstStyle/>
                    <a:p>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trị</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doanh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nhà</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723191977"/>
                  </a:ext>
                </a:extLst>
              </a:tr>
            </a:tbl>
          </a:graphicData>
        </a:graphic>
      </p:graphicFrame>
      <p:graphicFrame>
        <p:nvGraphicFramePr>
          <p:cNvPr id="3" name="Table 2">
            <a:extLst>
              <a:ext uri="{FF2B5EF4-FFF2-40B4-BE49-F238E27FC236}">
                <a16:creationId xmlns:a16="http://schemas.microsoft.com/office/drawing/2014/main" id="{B464C6B4-70F7-3FB2-26DA-6951DE608222}"/>
              </a:ext>
            </a:extLst>
          </p:cNvPr>
          <p:cNvGraphicFramePr>
            <a:graphicFrameLocks noGrp="1"/>
          </p:cNvGraphicFramePr>
          <p:nvPr/>
        </p:nvGraphicFramePr>
        <p:xfrm>
          <a:off x="539120" y="2962388"/>
          <a:ext cx="10515600" cy="933223"/>
        </p:xfrm>
        <a:graphic>
          <a:graphicData uri="http://schemas.openxmlformats.org/drawingml/2006/table">
            <a:tbl>
              <a:tblPr>
                <a:tableStyleId>{5C22544A-7EE6-4342-B048-85BDC9FD1C3A}</a:tableStyleId>
              </a:tblPr>
              <a:tblGrid>
                <a:gridCol w="1885964">
                  <a:extLst>
                    <a:ext uri="{9D8B030D-6E8A-4147-A177-3AD203B41FA5}">
                      <a16:colId xmlns:a16="http://schemas.microsoft.com/office/drawing/2014/main" val="755161747"/>
                    </a:ext>
                  </a:extLst>
                </a:gridCol>
                <a:gridCol w="8629636">
                  <a:extLst>
                    <a:ext uri="{9D8B030D-6E8A-4147-A177-3AD203B41FA5}">
                      <a16:colId xmlns:a16="http://schemas.microsoft.com/office/drawing/2014/main" val="3531639564"/>
                    </a:ext>
                  </a:extLst>
                </a:gridCol>
              </a:tblGrid>
              <a:tr h="202581">
                <a:tc>
                  <a:txBody>
                    <a:bodyPr/>
                    <a:lstStyle/>
                    <a:p>
                      <a:pPr algn="ctr">
                        <a:lnSpc>
                          <a:spcPct val="115000"/>
                        </a:lnSpc>
                        <a:spcAft>
                          <a:spcPts val="300"/>
                        </a:spcAft>
                      </a:pPr>
                      <a:r>
                        <a:rPr lang="nl-NL"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5</a:t>
                      </a:r>
                    </a:p>
                  </a:txBody>
                  <a:tcPr marL="66299" marR="66299" marT="0" marB="0" anchor="ctr"/>
                </a:tc>
                <a:tc>
                  <a:txBody>
                    <a:bodyPr/>
                    <a:lstStyle/>
                    <a:p>
                      <a:pPr>
                        <a:lnSpc>
                          <a:spcPct val="115000"/>
                        </a:lnSpc>
                        <a:spcAft>
                          <a:spcPts val="300"/>
                        </a:spcAft>
                      </a:pP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bổ</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sung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2978253117"/>
                  </a:ext>
                </a:extLst>
              </a:tr>
              <a:tr h="202581">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5.1.</a:t>
                      </a:r>
                    </a:p>
                  </a:txBody>
                  <a:tcPr marL="66299" marR="66299" marT="0" marB="0" anchor="ctr"/>
                </a:tc>
                <a:tc>
                  <a:txBody>
                    <a:bodyPr/>
                    <a:lstStyle/>
                    <a:p>
                      <a:pPr>
                        <a:lnSpc>
                          <a:spcPct val="115000"/>
                        </a:lnSpc>
                        <a:spcAft>
                          <a:spcPts val="300"/>
                        </a:spcAft>
                      </a:pPr>
                      <a:r>
                        <a:rPr lang="fr-FR"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Tổng quan về dịch vụ bổ sung trong kinh doanh khách sạn</a:t>
                      </a:r>
                      <a:endPar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95552319"/>
                  </a:ext>
                </a:extLst>
              </a:tr>
              <a:tr h="326289">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5.2.</a:t>
                      </a:r>
                    </a:p>
                  </a:txBody>
                  <a:tcPr marL="66299" marR="66299" marT="0" marB="0" anchor="ctr"/>
                </a:tc>
                <a:tc>
                  <a:txBody>
                    <a:bodyPr/>
                    <a:lstStyle/>
                    <a:p>
                      <a:pPr>
                        <a:lnSpc>
                          <a:spcPct val="115000"/>
                        </a:lnSpc>
                        <a:spcAft>
                          <a:spcPts val="300"/>
                        </a:spcAft>
                      </a:pP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Một</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số</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loại</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hình</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bổ</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sung</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563458410"/>
                  </a:ext>
                </a:extLst>
              </a:tr>
            </a:tbl>
          </a:graphicData>
        </a:graphic>
      </p:graphicFrame>
      <p:graphicFrame>
        <p:nvGraphicFramePr>
          <p:cNvPr id="4" name="Table 3">
            <a:extLst>
              <a:ext uri="{FF2B5EF4-FFF2-40B4-BE49-F238E27FC236}">
                <a16:creationId xmlns:a16="http://schemas.microsoft.com/office/drawing/2014/main" id="{306905C3-CFCB-DEEE-0C8A-DDCC89F69DE1}"/>
              </a:ext>
            </a:extLst>
          </p:cNvPr>
          <p:cNvGraphicFramePr>
            <a:graphicFrameLocks noGrp="1"/>
          </p:cNvGraphicFramePr>
          <p:nvPr/>
        </p:nvGraphicFramePr>
        <p:xfrm>
          <a:off x="539120" y="4136538"/>
          <a:ext cx="10515600" cy="1827334"/>
        </p:xfrm>
        <a:graphic>
          <a:graphicData uri="http://schemas.openxmlformats.org/drawingml/2006/table">
            <a:tbl>
              <a:tblPr>
                <a:tableStyleId>{5C22544A-7EE6-4342-B048-85BDC9FD1C3A}</a:tableStyleId>
              </a:tblPr>
              <a:tblGrid>
                <a:gridCol w="1885964">
                  <a:extLst>
                    <a:ext uri="{9D8B030D-6E8A-4147-A177-3AD203B41FA5}">
                      <a16:colId xmlns:a16="http://schemas.microsoft.com/office/drawing/2014/main" val="398876781"/>
                    </a:ext>
                  </a:extLst>
                </a:gridCol>
                <a:gridCol w="8629636">
                  <a:extLst>
                    <a:ext uri="{9D8B030D-6E8A-4147-A177-3AD203B41FA5}">
                      <a16:colId xmlns:a16="http://schemas.microsoft.com/office/drawing/2014/main" val="2654551777"/>
                    </a:ext>
                  </a:extLst>
                </a:gridCol>
              </a:tblGrid>
              <a:tr h="202581">
                <a:tc>
                  <a:txBody>
                    <a:bodyPr/>
                    <a:lstStyle/>
                    <a:p>
                      <a:pPr algn="ctr">
                        <a:lnSpc>
                          <a:spcPct val="115000"/>
                        </a:lnSpc>
                        <a:spcAft>
                          <a:spcPts val="300"/>
                        </a:spcAft>
                      </a:pPr>
                      <a:r>
                        <a:rPr lang="nl-NL"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6</a:t>
                      </a:r>
                    </a:p>
                  </a:txBody>
                  <a:tcPr marL="66299" marR="66299" marT="0" marB="0" anchor="ctr"/>
                </a:tc>
                <a:tc>
                  <a:txBody>
                    <a:bodyPr/>
                    <a:lstStyle/>
                    <a:p>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 chức sự kiện trong khách sạn</a:t>
                      </a:r>
                    </a:p>
                  </a:txBody>
                  <a:tcPr marL="66299" marR="66299" marT="0" marB="0" anchor="ctr"/>
                </a:tc>
                <a:extLst>
                  <a:ext uri="{0D108BD9-81ED-4DB2-BD59-A6C34878D82A}">
                    <a16:rowId xmlns:a16="http://schemas.microsoft.com/office/drawing/2014/main" val="2364313024"/>
                  </a:ext>
                </a:extLst>
              </a:tr>
              <a:tr h="202581">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6.1.</a:t>
                      </a:r>
                    </a:p>
                  </a:txBody>
                  <a:tcPr marL="66299" marR="66299" marT="0" marB="0" anchor="ctr"/>
                </a:tc>
                <a:tc>
                  <a:txBody>
                    <a:bodyPr/>
                    <a:lstStyle/>
                    <a:p>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Tổng quan về tổ chức sự kiện trong khách sạn</a:t>
                      </a:r>
                    </a:p>
                  </a:txBody>
                  <a:tcPr marL="66299" marR="66299" marT="0" marB="0" anchor="ctr"/>
                </a:tc>
                <a:extLst>
                  <a:ext uri="{0D108BD9-81ED-4DB2-BD59-A6C34878D82A}">
                    <a16:rowId xmlns:a16="http://schemas.microsoft.com/office/drawing/2014/main" val="973537183"/>
                  </a:ext>
                </a:extLst>
              </a:tr>
              <a:tr h="305100">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6.2.</a:t>
                      </a:r>
                    </a:p>
                  </a:txBody>
                  <a:tcPr marL="66299" marR="66299" marT="0" marB="0" anchor="ctr"/>
                </a:tc>
                <a:tc>
                  <a:txBody>
                    <a:bodyPr/>
                    <a:lstStyle/>
                    <a:p>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Vai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trò</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sư</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kiện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707355642"/>
                  </a:ext>
                </a:extLst>
              </a:tr>
              <a:tr h="305100">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6.3.</a:t>
                      </a:r>
                    </a:p>
                  </a:txBody>
                  <a:tcPr marL="66299" marR="66299" marT="0" marB="0" anchor="ctr"/>
                </a:tc>
                <a:tc>
                  <a:txBody>
                    <a:bodyPr/>
                    <a:lstStyle/>
                    <a:p>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Các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thành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phần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tham</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gia</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sư</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kiện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1716912530"/>
                  </a:ext>
                </a:extLst>
              </a:tr>
              <a:tr h="305100">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6.4.</a:t>
                      </a:r>
                    </a:p>
                  </a:txBody>
                  <a:tcPr marL="66299" marR="66299" marT="0" marB="0" anchor="ctr"/>
                </a:tc>
                <a:tc>
                  <a:txBody>
                    <a:bodyPr/>
                    <a:lstStyle/>
                    <a:p>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 thành phần trong ban tổ chức sự kiện</a:t>
                      </a:r>
                    </a:p>
                  </a:txBody>
                  <a:tcPr marL="66299" marR="66299" marT="0" marB="0" anchor="ctr"/>
                </a:tc>
                <a:extLst>
                  <a:ext uri="{0D108BD9-81ED-4DB2-BD59-A6C34878D82A}">
                    <a16:rowId xmlns:a16="http://schemas.microsoft.com/office/drawing/2014/main" val="333648669"/>
                  </a:ext>
                </a:extLst>
              </a:tr>
              <a:tr h="305100">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6.5.</a:t>
                      </a:r>
                    </a:p>
                  </a:txBody>
                  <a:tcPr marL="66299" marR="66299" marT="0" marB="0" anchor="ctr"/>
                </a:tc>
                <a:tc>
                  <a:txBody>
                    <a:bodyPr/>
                    <a:lstStyle/>
                    <a:p>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Quy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trình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957633178"/>
                  </a:ext>
                </a:extLst>
              </a:tr>
            </a:tbl>
          </a:graphicData>
        </a:graphic>
      </p:graphicFrame>
    </p:spTree>
    <p:extLst>
      <p:ext uri="{BB962C8B-B14F-4D97-AF65-F5344CB8AC3E}">
        <p14:creationId xmlns:p14="http://schemas.microsoft.com/office/powerpoint/2010/main" val="1489965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C8C1CB-E887-ECF7-6125-537F06A05485}"/>
              </a:ext>
            </a:extLst>
          </p:cNvPr>
          <p:cNvSpPr txBox="1"/>
          <p:nvPr/>
        </p:nvSpPr>
        <p:spPr>
          <a:xfrm>
            <a:off x="537940" y="1848298"/>
            <a:ext cx="4850969"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TÀI LIỆU THAM KHẢO </a:t>
            </a:r>
            <a:endParaRPr kumimoji="0" lang="vi-VN" sz="32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4" name="TextBox 3">
            <a:extLst>
              <a:ext uri="{FF2B5EF4-FFF2-40B4-BE49-F238E27FC236}">
                <a16:creationId xmlns:a16="http://schemas.microsoft.com/office/drawing/2014/main" id="{99A60FD1-86A1-7739-A279-033C5F439FDA}"/>
              </a:ext>
            </a:extLst>
          </p:cNvPr>
          <p:cNvSpPr txBox="1"/>
          <p:nvPr/>
        </p:nvSpPr>
        <p:spPr>
          <a:xfrm>
            <a:off x="537940" y="2923179"/>
            <a:ext cx="11344759" cy="2718501"/>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300"/>
              </a:spcAft>
              <a:buClrTx/>
              <a:buSzTx/>
              <a:buFontTx/>
              <a:buNone/>
              <a:tabLst/>
              <a:defRPr/>
            </a:pPr>
            <a:r>
              <a:rPr kumimoji="0" lang="vi-VN" sz="2400" b="1" i="0" u="none" strike="noStrike" kern="1200" cap="none" spc="0" normalizeH="0" baseline="0" noProof="0" dirty="0">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Tài liệu chính</a:t>
            </a:r>
            <a:endParaRPr kumimoji="0" lang="en-US" sz="2400" b="1" i="0" u="none" strike="noStrike" kern="1200" cap="none" spc="0" normalizeH="0" baseline="0" noProof="0" dirty="0">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457200" marR="0" lvl="0" indent="0" algn="just" defTabSz="914400" rtl="0" eaLnBrk="1" fontAlgn="auto" latinLnBrk="0" hangingPunct="1">
              <a:lnSpc>
                <a:spcPct val="115000"/>
              </a:lnSpc>
              <a:spcBef>
                <a:spcPts val="0"/>
              </a:spcBef>
              <a:spcAft>
                <a:spcPts val="300"/>
              </a:spcAft>
              <a:buClrTx/>
              <a:buSzTx/>
              <a:buFontTx/>
              <a:buNone/>
              <a:tabLst>
                <a:tab pos="685800" algn="l"/>
              </a:tabLst>
              <a:defRPr/>
            </a:pPr>
            <a:r>
              <a:rPr kumimoji="0" lang="vi-VN"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Phạm Xuân Hậu (chủ biên), (2019), </a:t>
            </a:r>
            <a:r>
              <a:rPr kumimoji="0" lang="vi-VN" sz="2400" b="1" i="1"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Giáo trình Tổng quan Quản trị khách sạn,</a:t>
            </a:r>
            <a:r>
              <a:rPr kumimoji="0" lang="vi-VN"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NXB.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Kinh</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tế</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TP. </a:t>
            </a:r>
            <a:r>
              <a:rPr kumimoji="0" lang="en-US" sz="2400" b="1" i="0" u="none" strike="noStrike" kern="1200" cap="none" spc="0" normalizeH="0" baseline="0" noProof="0" dirty="0" err="1">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Hồ</a:t>
            </a: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Chí Minh.</a:t>
            </a:r>
          </a:p>
          <a:p>
            <a:pPr marL="0" marR="0" lvl="0" indent="0" algn="l" defTabSz="914400" rtl="0" eaLnBrk="1" fontAlgn="auto" latinLnBrk="0" hangingPunct="1">
              <a:lnSpc>
                <a:spcPct val="115000"/>
              </a:lnSpc>
              <a:spcBef>
                <a:spcPts val="0"/>
              </a:spcBef>
              <a:spcAft>
                <a:spcPts val="300"/>
              </a:spcAft>
              <a:buClrTx/>
              <a:buSzTx/>
              <a:buFontTx/>
              <a:buNone/>
              <a:tabLst/>
              <a:defRPr/>
            </a:pPr>
            <a:r>
              <a:rPr kumimoji="0" lang="vi-VN"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vi-VN" sz="2400" b="1" i="0" u="none" strike="noStrike" kern="1200" cap="none" spc="0" normalizeH="0" baseline="0" noProof="0" dirty="0">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Tài liệu </a:t>
            </a:r>
            <a:r>
              <a:rPr kumimoji="0" lang="en-US" sz="2400" b="1" i="0" u="none" strike="noStrike" kern="1200" cap="none" spc="0" normalizeH="0" baseline="0" noProof="0" dirty="0" err="1">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tham</a:t>
            </a:r>
            <a:r>
              <a:rPr kumimoji="0" lang="en-US" sz="2400" b="1" i="0" u="none" strike="noStrike" kern="1200" cap="none" spc="0" normalizeH="0" baseline="0" noProof="0" dirty="0">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sz="2400" b="1" i="0" u="none" strike="noStrike" kern="1200" cap="none" spc="0" normalizeH="0" baseline="0" noProof="0" dirty="0" err="1">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khảo</a:t>
            </a:r>
            <a:endParaRPr kumimoji="0" lang="en-US" sz="2400" b="1" i="0" u="none" strike="noStrike" kern="1200" cap="none" spc="0" normalizeH="0" baseline="0" noProof="0" dirty="0">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marR="0" lvl="0" indent="0" algn="just" defTabSz="914400" rtl="0" eaLnBrk="1" fontAlgn="auto" latinLnBrk="0" hangingPunct="1">
              <a:lnSpc>
                <a:spcPct val="115000"/>
              </a:lnSpc>
              <a:spcBef>
                <a:spcPts val="0"/>
              </a:spcBef>
              <a:spcAft>
                <a:spcPts val="300"/>
              </a:spcAft>
              <a:buClrTx/>
              <a:buSzTx/>
              <a:buFontTx/>
              <a:buNone/>
              <a:tabLst>
                <a:tab pos="457200" algn="l"/>
              </a:tabLst>
              <a:defRPr/>
            </a:pPr>
            <a:r>
              <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vi-VN"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Bài giảng Tổng quan về Quản trị khách sạn (giảng viên cung cấp), Lưu hành nội bộ.</a:t>
            </a:r>
            <a:endParaRPr kumimoji="0" lang="en-US" sz="24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543300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C91BF58-6AF9-0D5B-617E-83F219DB6C36}"/>
              </a:ext>
            </a:extLst>
          </p:cNvPr>
          <p:cNvSpPr txBox="1"/>
          <p:nvPr/>
        </p:nvSpPr>
        <p:spPr>
          <a:xfrm>
            <a:off x="166339" y="1506226"/>
            <a:ext cx="10466717" cy="1277337"/>
          </a:xfrm>
          <a:prstGeom prst="rect">
            <a:avLst/>
          </a:prstGeom>
          <a:noFill/>
        </p:spPr>
        <p:txBody>
          <a:bodyPr wrap="square">
            <a:spAutoFit/>
          </a:bodyPr>
          <a:lstStyle/>
          <a:p>
            <a:pPr algn="ctr">
              <a:lnSpc>
                <a:spcPct val="115000"/>
              </a:lnSpc>
              <a:spcAft>
                <a:spcPts val="800"/>
              </a:spcAft>
            </a:pPr>
            <a:r>
              <a:rPr lang="nl-NL" sz="3200" b="1" kern="100"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3200" b="1" kern="100"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6  </a:t>
            </a:r>
          </a:p>
          <a:p>
            <a:pPr algn="ctr">
              <a:lnSpc>
                <a:spcPct val="115000"/>
              </a:lnSpc>
              <a:spcAft>
                <a:spcPts val="800"/>
              </a:spcAft>
            </a:pPr>
            <a:r>
              <a:rPr lang="en-US" sz="3200" b="1" kern="100"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TỔ CHỨC SỰ KIỆN TRONG KHÁCH SẠN</a:t>
            </a:r>
          </a:p>
        </p:txBody>
      </p:sp>
      <p:sp>
        <p:nvSpPr>
          <p:cNvPr id="4" name="TextBox 3">
            <a:extLst>
              <a:ext uri="{FF2B5EF4-FFF2-40B4-BE49-F238E27FC236}">
                <a16:creationId xmlns:a16="http://schemas.microsoft.com/office/drawing/2014/main" id="{E2C1741C-600B-6EAA-BADF-5F39F3FABAFC}"/>
              </a:ext>
            </a:extLst>
          </p:cNvPr>
          <p:cNvSpPr txBox="1"/>
          <p:nvPr/>
        </p:nvSpPr>
        <p:spPr>
          <a:xfrm>
            <a:off x="1739190" y="3106280"/>
            <a:ext cx="9380884" cy="2526013"/>
          </a:xfrm>
          <a:prstGeom prst="rect">
            <a:avLst/>
          </a:prstGeom>
          <a:noFill/>
        </p:spPr>
        <p:txBody>
          <a:bodyPr wrap="square">
            <a:spAutoFit/>
          </a:bodyPr>
          <a:lstStyle/>
          <a:p>
            <a:pPr marL="285750" indent="-285750" algn="just">
              <a:lnSpc>
                <a:spcPct val="115000"/>
              </a:lnSpc>
              <a:buFont typeface="Wingdings" panose="05000000000000000000" pitchFamily="2" charset="2"/>
              <a:buChar char="q"/>
            </a:pPr>
            <a:r>
              <a:rPr lang="vi-VN" sz="28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Tổng quan về tổ chức sự kiện trong khách sạn</a:t>
            </a:r>
            <a:endParaRPr lang="en-US" sz="28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285750" indent="-285750" algn="just">
              <a:lnSpc>
                <a:spcPct val="115000"/>
              </a:lnSpc>
              <a:buFont typeface="Wingdings" panose="05000000000000000000" pitchFamily="2" charset="2"/>
              <a:buChar char="q"/>
            </a:pPr>
            <a:r>
              <a:rPr lang="vi-VN" sz="28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Vai trò của tổ chức sự kiện</a:t>
            </a:r>
            <a:endParaRPr lang="en-US" sz="28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285750" indent="-285750" algn="just">
              <a:lnSpc>
                <a:spcPct val="115000"/>
              </a:lnSpc>
              <a:buFont typeface="Wingdings" panose="05000000000000000000" pitchFamily="2" charset="2"/>
              <a:buChar char="q"/>
            </a:pPr>
            <a:r>
              <a:rPr lang="vi-VN" sz="28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Các thành phần tham gia trong sự kiện</a:t>
            </a:r>
            <a:endParaRPr lang="en-US" sz="28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285750" indent="-285750" algn="just">
              <a:lnSpc>
                <a:spcPct val="115000"/>
              </a:lnSpc>
              <a:buFont typeface="Wingdings" panose="05000000000000000000" pitchFamily="2" charset="2"/>
              <a:buChar char="q"/>
            </a:pPr>
            <a:r>
              <a:rPr lang="vi-VN" sz="28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 thành phần trong ban tổ chức sự kiện</a:t>
            </a:r>
            <a:endParaRPr lang="en-US" sz="28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285750" indent="-285750" algn="just">
              <a:lnSpc>
                <a:spcPct val="115000"/>
              </a:lnSpc>
              <a:buFont typeface="Wingdings" panose="05000000000000000000" pitchFamily="2" charset="2"/>
              <a:buChar char="q"/>
            </a:pPr>
            <a:r>
              <a:rPr lang="vi-VN" sz="28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Quy trình tổ chức sự kiện trong khách sạn</a:t>
            </a:r>
            <a:endParaRPr lang="en-US" sz="18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13736748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F5D0D1E-FAE5-4589-9ED6-5D677D704958}"/>
              </a:ext>
            </a:extLst>
          </p:cNvPr>
          <p:cNvSpPr txBox="1"/>
          <p:nvPr/>
        </p:nvSpPr>
        <p:spPr>
          <a:xfrm>
            <a:off x="378373" y="2416407"/>
            <a:ext cx="6098582" cy="584775"/>
          </a:xfrm>
          <a:prstGeom prst="rect">
            <a:avLst/>
          </a:prstGeom>
          <a:noFill/>
        </p:spPr>
        <p:txBody>
          <a:bodyPr wrap="square">
            <a:spAutoFit/>
          </a:bodyPr>
          <a:lstStyle/>
          <a:p>
            <a:r>
              <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MỤC TIÊU BÀI HỌC </a:t>
            </a:r>
          </a:p>
        </p:txBody>
      </p:sp>
      <p:sp>
        <p:nvSpPr>
          <p:cNvPr id="6" name="Rectangle 2">
            <a:extLst>
              <a:ext uri="{FF2B5EF4-FFF2-40B4-BE49-F238E27FC236}">
                <a16:creationId xmlns:a16="http://schemas.microsoft.com/office/drawing/2014/main" id="{4F3D4FAD-0F58-EE79-13D3-8BB4A8C31826}"/>
              </a:ext>
            </a:extLst>
          </p:cNvPr>
          <p:cNvSpPr>
            <a:spLocks noChangeArrowheads="1"/>
          </p:cNvSpPr>
          <p:nvPr/>
        </p:nvSpPr>
        <p:spPr bwMode="auto">
          <a:xfrm>
            <a:off x="378373" y="3247274"/>
            <a:ext cx="11435253" cy="2238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Hiểu</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niệm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về</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loại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hình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KS-NH.</a:t>
            </a: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Nắm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rõ</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vai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trò</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quan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trọng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đối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với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Xác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định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thành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phần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tham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gia</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ban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Hiểu</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quy</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trình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p>
        </p:txBody>
      </p:sp>
    </p:spTree>
    <p:extLst>
      <p:ext uri="{BB962C8B-B14F-4D97-AF65-F5344CB8AC3E}">
        <p14:creationId xmlns:p14="http://schemas.microsoft.com/office/powerpoint/2010/main" val="1315533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FD04471-ACAF-7732-1900-06DCF4C21748}"/>
              </a:ext>
            </a:extLst>
          </p:cNvPr>
          <p:cNvSpPr txBox="1"/>
          <p:nvPr/>
        </p:nvSpPr>
        <p:spPr>
          <a:xfrm>
            <a:off x="201723" y="1708330"/>
            <a:ext cx="11080631" cy="657039"/>
          </a:xfrm>
          <a:prstGeom prst="rect">
            <a:avLst/>
          </a:prstGeom>
          <a:noFill/>
        </p:spPr>
        <p:txBody>
          <a:bodyPr wrap="square">
            <a:spAutoFit/>
          </a:bodyPr>
          <a:lstStyle/>
          <a:p>
            <a:pPr algn="ctr">
              <a:lnSpc>
                <a:spcPct val="150000"/>
              </a:lnSpc>
              <a:spcAft>
                <a:spcPts val="300"/>
              </a:spcAft>
            </a:pPr>
            <a:r>
              <a:rPr lang="fr-FR" sz="28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1. TỔNG QUAN VỀ TỔ CHỨC SỰ KIỆN TRONG KHÁCH SẠN</a:t>
            </a:r>
            <a:endParaRPr lang="en-US" sz="28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3" name="TextBox 2">
            <a:extLst>
              <a:ext uri="{FF2B5EF4-FFF2-40B4-BE49-F238E27FC236}">
                <a16:creationId xmlns:a16="http://schemas.microsoft.com/office/drawing/2014/main" id="{6A7FE7BE-C389-5C5C-FCAB-1B4C0274A333}"/>
              </a:ext>
            </a:extLst>
          </p:cNvPr>
          <p:cNvSpPr txBox="1"/>
          <p:nvPr/>
        </p:nvSpPr>
        <p:spPr>
          <a:xfrm>
            <a:off x="667657" y="2911300"/>
            <a:ext cx="10856686" cy="2238370"/>
          </a:xfrm>
          <a:prstGeom prst="rect">
            <a:avLst/>
          </a:prstGeom>
          <a:noFill/>
        </p:spPr>
        <p:txBody>
          <a:bodyPr wrap="square">
            <a:spAutoFit/>
          </a:bodyPr>
          <a:lstStyle/>
          <a:p>
            <a:pPr algn="just">
              <a:lnSpc>
                <a:spcPct val="150000"/>
              </a:lnSpc>
            </a:pPr>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KHÁI NIỆM VỀ TỔ CHỨC SỰ KIỆN:</a:t>
            </a:r>
            <a:endParaRPr lang="vi-VN" sz="2400"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lnSpc>
                <a:spcPct val="150000"/>
              </a:lnSpc>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 chức sự kiện là quá trình lập kế hoạch, điều phối và quản lý các hoạt động để tạo ra một sự kiện đặc biệt trong khách sạn hoặc nhà hàng.</a:t>
            </a:r>
          </a:p>
          <a:p>
            <a:pPr marL="342900" indent="-342900" algn="just">
              <a:lnSpc>
                <a:spcPct val="150000"/>
              </a:lnSpc>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Mục đích của sự kiện có thể là thương mại, giải trí, giáo dục, hoặc xã hội.</a:t>
            </a:r>
          </a:p>
        </p:txBody>
      </p:sp>
    </p:spTree>
    <p:extLst>
      <p:ext uri="{BB962C8B-B14F-4D97-AF65-F5344CB8AC3E}">
        <p14:creationId xmlns:p14="http://schemas.microsoft.com/office/powerpoint/2010/main" val="405115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75CED475-D73A-EC67-A7E0-F2C91E0512E6}"/>
              </a:ext>
            </a:extLst>
          </p:cNvPr>
          <p:cNvSpPr>
            <a:spLocks noChangeArrowheads="1"/>
          </p:cNvSpPr>
          <p:nvPr/>
        </p:nvSpPr>
        <p:spPr bwMode="auto">
          <a:xfrm>
            <a:off x="561833" y="1019692"/>
            <a:ext cx="11068334"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vi-VN" sz="24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CÁC LOẠI HÌNH SỰ KIỆN TRONG KHÁCH SẠN - NHÀ HÀNG:</a:t>
            </a:r>
            <a:endParaRPr lang="vi-VN" sz="2400"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kinh</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doanh</a:t>
            </a:r>
            <a:r>
              <a:rPr kumimoji="0" lang="en-US" altLang="en-US" sz="2400" b="0"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Hội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nghị</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hội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thảo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triển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lãm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gặp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gỡ</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đối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lễ</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ký</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kết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hợp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đồng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Buổi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giới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thiệu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sản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phẩm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mới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giáo</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dục</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khoa </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học</a:t>
            </a:r>
            <a:r>
              <a:rPr kumimoji="0" lang="en-US" altLang="en-US" sz="2400" b="0"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Hội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thảo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hội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nghị</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chuyên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đề</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về</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khoa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học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nghiên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cứu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lớp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đào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tạo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khóa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học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ngắn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hoặc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trình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trao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đổi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kiến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thức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văn</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hóa</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truyền</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thống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Lễ</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hội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văn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hóa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truyền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thống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nhằm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tôn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giá</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trị</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văn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hóa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sử</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kỷ</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niệm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ngày</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lễ</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lớn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Tết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Nguyên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Trung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âm</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nhạc</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nghệ</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thuật</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giải</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trí</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buổi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hòa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biểu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diễn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nghệ</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thuật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triển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lãm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tranh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ảnh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Dạ</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tiệc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gala,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lễ</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trao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giải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biểu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diễn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thời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trang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2335228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D11561B4-F8CC-94B2-EFC1-0705F1F43154}"/>
              </a:ext>
            </a:extLst>
          </p:cNvPr>
          <p:cNvSpPr>
            <a:spLocks noChangeArrowheads="1"/>
          </p:cNvSpPr>
          <p:nvPr/>
        </p:nvSpPr>
        <p:spPr bwMode="auto">
          <a:xfrm>
            <a:off x="705134" y="1695054"/>
            <a:ext cx="10781731"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thể</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thao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buổi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giao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liên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quan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đến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thể</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thao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như</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họp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báo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trước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giải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đấu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lễ</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trao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giải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sau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trận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đấu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liên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quan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đến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giải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đấu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lớn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như</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tennis, golf,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hoặc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chạy</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marathon.</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chính</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thống</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nhà</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nước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Hội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nghị</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nước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đón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tiếp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đoàn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đại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biểu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chính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phủ</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Tiệc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chiêu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đãi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quốc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tế</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lễ</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kỷ</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niệm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ngày</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quốc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ngày</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truyền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thống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truyền</a:t>
            </a:r>
            <a:r>
              <a:rPr kumimoji="0" lang="en-US" altLang="en-US" sz="2400" b="1" i="0" u="none" strike="noStrike" cap="none" normalizeH="0" baseline="0" dirty="0">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thông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Ra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mắt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phim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buổi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họp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báo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giới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thiệu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sản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phẩm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mới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bá</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thương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mời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KOLs, Influencers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tham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089974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5ECB46-C109-244D-03B6-84634071DEE2}"/>
              </a:ext>
            </a:extLst>
          </p:cNvPr>
          <p:cNvSpPr txBox="1"/>
          <p:nvPr/>
        </p:nvSpPr>
        <p:spPr>
          <a:xfrm>
            <a:off x="326337" y="1090357"/>
            <a:ext cx="5488055" cy="5139869"/>
          </a:xfrm>
          <a:prstGeom prst="rect">
            <a:avLst/>
          </a:prstGeom>
          <a:noFill/>
        </p:spPr>
        <p:txBody>
          <a:bodyPr wrap="square">
            <a:spAutoFit/>
          </a:bodyPr>
          <a:lstStyle/>
          <a:p>
            <a:pPr algn="just">
              <a:buNone/>
            </a:pPr>
            <a:r>
              <a:rPr lang="vi-VN" sz="2400" b="1" dirty="0">
                <a:solidFill>
                  <a:srgbClr val="FF0000"/>
                </a:solidFill>
                <a:latin typeface="+mj-lt"/>
              </a:rPr>
              <a:t>Sự kiện chính thống / Sự kiện của nhà nước</a:t>
            </a:r>
            <a:r>
              <a:rPr lang="vi-VN" sz="2000" b="1" dirty="0">
                <a:solidFill>
                  <a:srgbClr val="002060"/>
                </a:solidFill>
                <a:latin typeface="+mj-lt"/>
              </a:rPr>
              <a:t>”</a:t>
            </a:r>
            <a:r>
              <a:rPr lang="vi-VN" sz="2000" dirty="0">
                <a:solidFill>
                  <a:srgbClr val="002060"/>
                </a:solidFill>
                <a:latin typeface="+mj-lt"/>
              </a:rPr>
              <a:t> được gọi như vậy vì những lý do sau:</a:t>
            </a:r>
          </a:p>
          <a:p>
            <a:pPr algn="just">
              <a:buFont typeface="+mj-lt"/>
              <a:buAutoNum type="arabicPeriod"/>
            </a:pPr>
            <a:r>
              <a:rPr lang="vi-VN" sz="2000" b="1" dirty="0">
                <a:solidFill>
                  <a:srgbClr val="002060"/>
                </a:solidFill>
                <a:latin typeface="+mj-lt"/>
              </a:rPr>
              <a:t>Được tổ chức bởi cơ quan, tổ chức nhà nước</a:t>
            </a:r>
            <a:br>
              <a:rPr lang="vi-VN" sz="2000" dirty="0">
                <a:solidFill>
                  <a:srgbClr val="002060"/>
                </a:solidFill>
                <a:latin typeface="+mj-lt"/>
              </a:rPr>
            </a:br>
            <a:r>
              <a:rPr lang="vi-VN" sz="2000" dirty="0">
                <a:solidFill>
                  <a:srgbClr val="002060"/>
                </a:solidFill>
                <a:latin typeface="+mj-lt"/>
              </a:rPr>
              <a:t>Đây là các sự kiện do Chính phủ, các bộ, ngành, địa phương hoặc tổ chức chính trị - xã hội đứng ra tổ chức, quản lý và điều hành.</a:t>
            </a:r>
          </a:p>
          <a:p>
            <a:pPr algn="just">
              <a:buFont typeface="+mj-lt"/>
              <a:buAutoNum type="arabicPeriod"/>
            </a:pPr>
            <a:r>
              <a:rPr lang="vi-VN" sz="2000" b="1" dirty="0">
                <a:solidFill>
                  <a:srgbClr val="002060"/>
                </a:solidFill>
                <a:latin typeface="+mj-lt"/>
              </a:rPr>
              <a:t>Có mục tiêu phục vụ lợi ích công cộng, xã hội hoặc quốc gia</a:t>
            </a:r>
            <a:r>
              <a:rPr lang="en-US" sz="2000" b="1" dirty="0">
                <a:solidFill>
                  <a:srgbClr val="002060"/>
                </a:solidFill>
                <a:latin typeface="+mj-lt"/>
              </a:rPr>
              <a:t> : </a:t>
            </a:r>
            <a:r>
              <a:rPr lang="vi-VN" sz="2000" dirty="0">
                <a:solidFill>
                  <a:srgbClr val="002060"/>
                </a:solidFill>
                <a:latin typeface="+mj-lt"/>
              </a:rPr>
              <a:t>Khác với sự kiện thương mại hay giải trí, các sự kiện chính thống hướng đến việc tuyên truyền, kỷ niệm, phổ biến chính sách, giáo dục, hay thúc đẩy phát triển văn hóa – xã hội.</a:t>
            </a:r>
          </a:p>
          <a:p>
            <a:pPr algn="just">
              <a:buFont typeface="+mj-lt"/>
              <a:buAutoNum type="arabicPeriod"/>
            </a:pPr>
            <a:r>
              <a:rPr lang="vi-VN" sz="2000" b="1" dirty="0">
                <a:solidFill>
                  <a:srgbClr val="002060"/>
                </a:solidFill>
                <a:latin typeface="+mj-lt"/>
              </a:rPr>
              <a:t>Tuân thủ quy định, nghi thức và quy trình nghiêm ngặt</a:t>
            </a:r>
            <a:r>
              <a:rPr lang="en-US" sz="2000" b="1" dirty="0">
                <a:solidFill>
                  <a:srgbClr val="002060"/>
                </a:solidFill>
                <a:latin typeface="+mj-lt"/>
              </a:rPr>
              <a:t> </a:t>
            </a:r>
            <a:r>
              <a:rPr lang="en-US" sz="2000" b="1" dirty="0" err="1">
                <a:solidFill>
                  <a:srgbClr val="002060"/>
                </a:solidFill>
                <a:latin typeface="+mj-lt"/>
              </a:rPr>
              <a:t>như</a:t>
            </a:r>
            <a:r>
              <a:rPr lang="en-US" sz="2000" b="1" dirty="0">
                <a:solidFill>
                  <a:srgbClr val="002060"/>
                </a:solidFill>
                <a:latin typeface="+mj-lt"/>
              </a:rPr>
              <a:t> </a:t>
            </a:r>
            <a:r>
              <a:rPr lang="vi-VN" sz="2000" dirty="0">
                <a:solidFill>
                  <a:srgbClr val="002060"/>
                </a:solidFill>
                <a:latin typeface="+mj-lt"/>
              </a:rPr>
              <a:t>lễ chào cờ, nghi thức khai mạc, phát biểu của lãnh đạo, sử dụng quốc kỳ – quốc ca, bố trí an ninh, và lễ tân theo đúng quy chuẩn nhà nước.</a:t>
            </a:r>
          </a:p>
        </p:txBody>
      </p:sp>
      <p:sp>
        <p:nvSpPr>
          <p:cNvPr id="7" name="TextBox 6">
            <a:extLst>
              <a:ext uri="{FF2B5EF4-FFF2-40B4-BE49-F238E27FC236}">
                <a16:creationId xmlns:a16="http://schemas.microsoft.com/office/drawing/2014/main" id="{53C2CCD3-8557-905F-8E25-FA9029BEA642}"/>
              </a:ext>
            </a:extLst>
          </p:cNvPr>
          <p:cNvSpPr txBox="1"/>
          <p:nvPr/>
        </p:nvSpPr>
        <p:spPr>
          <a:xfrm>
            <a:off x="6649278" y="1244246"/>
            <a:ext cx="5216385" cy="5016758"/>
          </a:xfrm>
          <a:prstGeom prst="rect">
            <a:avLst/>
          </a:prstGeom>
          <a:noFill/>
        </p:spPr>
        <p:txBody>
          <a:bodyPr wrap="square">
            <a:spAutoFit/>
          </a:bodyPr>
          <a:lstStyle/>
          <a:p>
            <a:pPr marL="342900" indent="-342900" algn="just">
              <a:buFont typeface="+mj-lt"/>
              <a:buAutoNum type="arabicPeriod" startAt="4"/>
            </a:pPr>
            <a:r>
              <a:rPr lang="vi-VN" sz="2000" b="1" dirty="0">
                <a:solidFill>
                  <a:srgbClr val="002060"/>
                </a:solidFill>
                <a:latin typeface="+mj-lt"/>
              </a:rPr>
              <a:t>Mang tính biểu tượng, thể hiện hình ảnh của quốc gia</a:t>
            </a:r>
            <a:br>
              <a:rPr lang="vi-VN" sz="2000" dirty="0">
                <a:solidFill>
                  <a:srgbClr val="002060"/>
                </a:solidFill>
                <a:latin typeface="+mj-lt"/>
              </a:rPr>
            </a:br>
            <a:r>
              <a:rPr lang="vi-VN" sz="2000" dirty="0">
                <a:solidFill>
                  <a:srgbClr val="002060"/>
                </a:solidFill>
                <a:latin typeface="+mj-lt"/>
              </a:rPr>
              <a:t>→ Các sự kiện này thể hiện tinh thần, văn hóa, và hình ảnh chính thống của đất nước, nên được tổ chức trang trọng và có sự giám sát chặt chẽ.</a:t>
            </a:r>
          </a:p>
          <a:p>
            <a:pPr marL="342900" indent="-342900" algn="just">
              <a:buFont typeface="+mj-lt"/>
              <a:buAutoNum type="arabicPeriod" startAt="4"/>
            </a:pPr>
            <a:r>
              <a:rPr lang="vi-VN" sz="2000" b="1" dirty="0">
                <a:solidFill>
                  <a:srgbClr val="002060"/>
                </a:solidFill>
                <a:latin typeface="+mj-lt"/>
              </a:rPr>
              <a:t>Ví dụ về sự kiện chính thống/nhà nước:</a:t>
            </a:r>
            <a:endParaRPr lang="vi-VN" sz="2000" dirty="0">
              <a:solidFill>
                <a:srgbClr val="002060"/>
              </a:solidFill>
              <a:latin typeface="+mj-lt"/>
            </a:endParaRPr>
          </a:p>
          <a:p>
            <a:pPr marL="742950" lvl="1" indent="-285750" algn="just">
              <a:buFont typeface="+mj-lt"/>
              <a:buAutoNum type="arabicPeriod"/>
            </a:pPr>
            <a:r>
              <a:rPr lang="vi-VN" sz="2000" dirty="0">
                <a:solidFill>
                  <a:srgbClr val="002060"/>
                </a:solidFill>
                <a:latin typeface="+mj-lt"/>
              </a:rPr>
              <a:t>Lễ kỷ niệm các ngày truyền thống ngành, địa phương</a:t>
            </a:r>
          </a:p>
          <a:p>
            <a:pPr marL="742950" lvl="1" indent="-285750" algn="just">
              <a:buFont typeface="+mj-lt"/>
              <a:buAutoNum type="arabicPeriod"/>
            </a:pPr>
            <a:r>
              <a:rPr lang="vi-VN" sz="2000" dirty="0">
                <a:solidFill>
                  <a:srgbClr val="002060"/>
                </a:solidFill>
                <a:latin typeface="+mj-lt"/>
              </a:rPr>
              <a:t>Hội nghị ASEAN do Việt Nam đăng cai</a:t>
            </a:r>
            <a:endParaRPr lang="en-US" sz="2000" dirty="0">
              <a:solidFill>
                <a:srgbClr val="002060"/>
              </a:solidFill>
              <a:latin typeface="+mj-lt"/>
            </a:endParaRPr>
          </a:p>
          <a:p>
            <a:pPr lvl="1" algn="just"/>
            <a:endParaRPr lang="vi-VN" sz="2000" dirty="0">
              <a:solidFill>
                <a:srgbClr val="002060"/>
              </a:solidFill>
              <a:latin typeface="+mj-lt"/>
            </a:endParaRPr>
          </a:p>
          <a:p>
            <a:pPr algn="just">
              <a:buNone/>
            </a:pPr>
            <a:r>
              <a:rPr lang="vi-VN" sz="2000" b="1" dirty="0">
                <a:solidFill>
                  <a:srgbClr val="002060"/>
                </a:solidFill>
                <a:latin typeface="+mj-lt"/>
              </a:rPr>
              <a:t>Tóm lại:</a:t>
            </a:r>
            <a:r>
              <a:rPr lang="en-US" sz="2000" b="1" dirty="0">
                <a:solidFill>
                  <a:srgbClr val="002060"/>
                </a:solidFill>
                <a:latin typeface="+mj-lt"/>
              </a:rPr>
              <a:t> </a:t>
            </a:r>
            <a:r>
              <a:rPr lang="vi-VN" sz="2000" dirty="0">
                <a:solidFill>
                  <a:srgbClr val="002060"/>
                </a:solidFill>
                <a:latin typeface="+mj-lt"/>
              </a:rPr>
              <a:t>Gọi là </a:t>
            </a:r>
            <a:r>
              <a:rPr lang="vi-VN" sz="2000" i="1" dirty="0">
                <a:solidFill>
                  <a:srgbClr val="002060"/>
                </a:solidFill>
                <a:latin typeface="+mj-lt"/>
              </a:rPr>
              <a:t>“sự kiện chính thống”</a:t>
            </a:r>
            <a:r>
              <a:rPr lang="vi-VN" sz="2000" dirty="0">
                <a:solidFill>
                  <a:srgbClr val="002060"/>
                </a:solidFill>
                <a:latin typeface="+mj-lt"/>
              </a:rPr>
              <a:t> hay </a:t>
            </a:r>
            <a:r>
              <a:rPr lang="vi-VN" sz="2000" i="1" dirty="0">
                <a:solidFill>
                  <a:srgbClr val="002060"/>
                </a:solidFill>
                <a:latin typeface="+mj-lt"/>
              </a:rPr>
              <a:t>“sự kiện của nhà nước”</a:t>
            </a:r>
            <a:r>
              <a:rPr lang="vi-VN" sz="2000" dirty="0">
                <a:solidFill>
                  <a:srgbClr val="002060"/>
                </a:solidFill>
                <a:latin typeface="+mj-lt"/>
              </a:rPr>
              <a:t> vì nó </a:t>
            </a:r>
            <a:r>
              <a:rPr lang="vi-VN" sz="2000" b="1" dirty="0">
                <a:solidFill>
                  <a:srgbClr val="002060"/>
                </a:solidFill>
                <a:latin typeface="+mj-lt"/>
              </a:rPr>
              <a:t>được tổ chức bởi cơ quan công quyền, mang tính nghi lễ, có mục đích chính trị – xã hội, và đại diện cho hình ảnh, giá trị chính thức của quốc gia.</a:t>
            </a:r>
            <a:endParaRPr lang="vi-VN" sz="2000" dirty="0">
              <a:solidFill>
                <a:srgbClr val="002060"/>
              </a:solidFill>
              <a:latin typeface="+mj-lt"/>
            </a:endParaRPr>
          </a:p>
        </p:txBody>
      </p:sp>
    </p:spTree>
    <p:extLst>
      <p:ext uri="{BB962C8B-B14F-4D97-AF65-F5344CB8AC3E}">
        <p14:creationId xmlns:p14="http://schemas.microsoft.com/office/powerpoint/2010/main" val="963866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954C2C-6B9F-F5D9-135D-7C07F5CD21F3}"/>
              </a:ext>
            </a:extLst>
          </p:cNvPr>
          <p:cNvSpPr txBox="1"/>
          <p:nvPr/>
        </p:nvSpPr>
        <p:spPr>
          <a:xfrm>
            <a:off x="408272" y="1515940"/>
            <a:ext cx="9768116" cy="4401205"/>
          </a:xfrm>
          <a:prstGeom prst="rect">
            <a:avLst/>
          </a:prstGeom>
          <a:noFill/>
        </p:spPr>
        <p:txBody>
          <a:bodyPr wrap="square">
            <a:spAutoFit/>
          </a:bodyPr>
          <a:lstStyle/>
          <a:p>
            <a:pPr lvl="1" algn="just">
              <a:spcBef>
                <a:spcPts val="1200"/>
              </a:spcBef>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Ví dụ :</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742950" lvl="1" indent="-285750" algn="just">
              <a:spcBef>
                <a:spcPts val="1200"/>
              </a:spcBef>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Hội nghị và hội thảo (MICE</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Meetings, Incentives, Conferences, Exhibitions)</a:t>
            </a: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Được tổ chức cho các doanh nghiệp, tổ chức để trao đổi thông tin, đào tạo, và thảo luận các chủ đề quan trọng.</a:t>
            </a:r>
          </a:p>
          <a:p>
            <a:pPr marL="742950" lvl="1" indent="-285750" algn="just">
              <a:spcBef>
                <a:spcPts val="1200"/>
              </a:spcBef>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Tiệc cưới:</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Một trong những loại hình sự kiện phổ biến nhất trong khách sạn, bao gồm cả lễ cưới và tiệc cưới.</a:t>
            </a:r>
          </a:p>
          <a:p>
            <a:pPr marL="742950" lvl="1" indent="-285750" algn="just">
              <a:spcBef>
                <a:spcPts val="1200"/>
              </a:spcBef>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Tiệc gala và các sự kiện xã hội:</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Các sự kiện trang trọng như gala dinner, từ thiện, hoặc các buổi lễ trao giải.</a:t>
            </a:r>
          </a:p>
          <a:p>
            <a:pPr marL="742950" lvl="1" indent="-285750" algn="just">
              <a:spcBef>
                <a:spcPts val="1200"/>
              </a:spcBef>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Sự kiện văn hóa và giải trí:</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Buổi biểu diễn âm nhạc, triển lãm nghệ thuật, hoặc các buổi biểu diễn văn hóa.</a:t>
            </a:r>
          </a:p>
        </p:txBody>
      </p:sp>
    </p:spTree>
    <p:extLst>
      <p:ext uri="{BB962C8B-B14F-4D97-AF65-F5344CB8AC3E}">
        <p14:creationId xmlns:p14="http://schemas.microsoft.com/office/powerpoint/2010/main" val="1283366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DB657B-40FF-1880-4FC4-D31988DBC9C3}"/>
              </a:ext>
            </a:extLst>
          </p:cNvPr>
          <p:cNvSpPr txBox="1"/>
          <p:nvPr/>
        </p:nvSpPr>
        <p:spPr>
          <a:xfrm>
            <a:off x="549412" y="1993300"/>
            <a:ext cx="10740571" cy="4154984"/>
          </a:xfrm>
          <a:prstGeom prst="rect">
            <a:avLst/>
          </a:prstGeom>
          <a:noFill/>
        </p:spPr>
        <p:txBody>
          <a:bodyPr wrap="square">
            <a:spAutoFit/>
          </a:bodyPr>
          <a:lstStyle/>
          <a:p>
            <a:pPr marL="342900" indent="-342900" algn="just">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Gia tăng doanh thu cho khách sạn:</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lvl="1" algn="just"/>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Sự kiện giúp tăng công suất phòng, doanh thu từ dịch vụ ăn uống, và các dịch vụ bổ sung khác.</a:t>
            </a:r>
          </a:p>
          <a:p>
            <a:pPr marL="342900" indent="-342900" algn="just">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Nâng cao uy tín và thương hiệu:</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lvl="1" algn="just"/>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 sạn tổ chức thành công nhiều sự kiện lớn sẽ xây dựng được uy tín và thương hiệu trong mắt khách hàng.</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461963" lvl="1" indent="-461963" algn="just">
              <a:buFont typeface="Wingdings" panose="05000000000000000000" pitchFamily="2" charset="2"/>
              <a:buChar char="q"/>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Gia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tăng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trải</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nghiệm</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Tạo</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dấu</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ấn</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sự</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hài</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lòng</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thúc</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đẩy</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quay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lại</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p>
          <a:p>
            <a:pPr marL="461963" lvl="1" indent="-461963" algn="just">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Tạo ra cơ hội hợp tác và phát triển:</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lvl="1" algn="just"/>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 chức sự kiện giúp khách sạn kết nối với các đối tác tiềm năng và mở rộng mạng lưới khách hàng.</a:t>
            </a:r>
          </a:p>
        </p:txBody>
      </p:sp>
      <p:sp>
        <p:nvSpPr>
          <p:cNvPr id="5" name="TextBox 4">
            <a:extLst>
              <a:ext uri="{FF2B5EF4-FFF2-40B4-BE49-F238E27FC236}">
                <a16:creationId xmlns:a16="http://schemas.microsoft.com/office/drawing/2014/main" id="{82739A17-116E-9F1A-E7D4-A7C0504B17F3}"/>
              </a:ext>
            </a:extLst>
          </p:cNvPr>
          <p:cNvSpPr txBox="1"/>
          <p:nvPr/>
        </p:nvSpPr>
        <p:spPr>
          <a:xfrm>
            <a:off x="771895" y="1300896"/>
            <a:ext cx="8781143" cy="523220"/>
          </a:xfrm>
          <a:prstGeom prst="rect">
            <a:avLst/>
          </a:prstGeom>
          <a:noFill/>
        </p:spPr>
        <p:txBody>
          <a:bodyPr wrap="square">
            <a:spAutoFit/>
          </a:bodyPr>
          <a:lstStyle/>
          <a:p>
            <a:r>
              <a:rPr lang="en-US" sz="28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2. </a:t>
            </a:r>
            <a:r>
              <a:rPr lang="vi-VN" sz="28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VAI TRÒ CỦA TỔ CHỨC SỰ KIỆN</a:t>
            </a:r>
          </a:p>
        </p:txBody>
      </p:sp>
    </p:spTree>
    <p:extLst>
      <p:ext uri="{BB962C8B-B14F-4D97-AF65-F5344CB8AC3E}">
        <p14:creationId xmlns:p14="http://schemas.microsoft.com/office/powerpoint/2010/main" val="30265399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F2E8FC-2E5E-D448-30C2-60D403FA8BF1}"/>
              </a:ext>
            </a:extLst>
          </p:cNvPr>
          <p:cNvSpPr txBox="1"/>
          <p:nvPr/>
        </p:nvSpPr>
        <p:spPr>
          <a:xfrm>
            <a:off x="401719" y="1195830"/>
            <a:ext cx="10493828" cy="523220"/>
          </a:xfrm>
          <a:prstGeom prst="rect">
            <a:avLst/>
          </a:prstGeom>
          <a:noFill/>
        </p:spPr>
        <p:txBody>
          <a:bodyPr wrap="square">
            <a:spAutoFit/>
          </a:bodyPr>
          <a:lstStyle/>
          <a:p>
            <a:r>
              <a:rPr lang="en-US" sz="28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3. CÁC THÀNH PHẦN THAM GIA TRONG SỰ KIỆN</a:t>
            </a:r>
            <a:endParaRPr lang="vi-VN" sz="28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5" name="Rectangle 2">
            <a:extLst>
              <a:ext uri="{FF2B5EF4-FFF2-40B4-BE49-F238E27FC236}">
                <a16:creationId xmlns:a16="http://schemas.microsoft.com/office/drawing/2014/main" id="{A91F4115-722B-329D-D381-59CE74C492EF}"/>
              </a:ext>
            </a:extLst>
          </p:cNvPr>
          <p:cNvSpPr>
            <a:spLocks noChangeArrowheads="1"/>
          </p:cNvSpPr>
          <p:nvPr/>
        </p:nvSpPr>
        <p:spPr bwMode="auto">
          <a:xfrm>
            <a:off x="401719" y="1830265"/>
            <a:ext cx="11316516" cy="4454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mời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Người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tham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chính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bao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gồm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đối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viên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hoặc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công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chúng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Người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hoặc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chịu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nhiệm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lên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kế</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điều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phối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cung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Bao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gồm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cung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âm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thanh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ánh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sáng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phẩm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đồ</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uống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trang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trí</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thiết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bị</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Ban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viên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bao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gồm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viên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phục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kỹ</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thuật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p:txBody>
      </p:sp>
    </p:spTree>
    <p:extLst>
      <p:ext uri="{BB962C8B-B14F-4D97-AF65-F5344CB8AC3E}">
        <p14:creationId xmlns:p14="http://schemas.microsoft.com/office/powerpoint/2010/main" val="4160959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FB91EE-659E-BD0B-EA7B-73334989E85C}"/>
              </a:ext>
            </a:extLst>
          </p:cNvPr>
          <p:cNvSpPr txBox="1"/>
          <p:nvPr/>
        </p:nvSpPr>
        <p:spPr>
          <a:xfrm>
            <a:off x="324463" y="2039119"/>
            <a:ext cx="11248572" cy="4401205"/>
          </a:xfrm>
          <a:prstGeom prst="rect">
            <a:avLst/>
          </a:prstGeom>
          <a:noFill/>
        </p:spPr>
        <p:txBody>
          <a:bodyPr wrap="square">
            <a:spAutoFit/>
          </a:bodyPr>
          <a:lstStyle/>
          <a:p>
            <a:pPr marL="342900" indent="-342900" algn="just">
              <a:spcBef>
                <a:spcPts val="12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Trưởng ban tổ chức:</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Chịu trách nhiệm chung về việc lập kế hoạch và thực hiện sự kiện.</a:t>
            </a:r>
          </a:p>
          <a:p>
            <a:pPr marL="342900" indent="-342900" algn="just">
              <a:spcBef>
                <a:spcPts val="12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 phận kinh doanh:</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Tìm kiếm khách hàng, ký kết hợp đồng và đảm bảo các yêu cầu của khách hàng được đáp ứng.</a:t>
            </a:r>
          </a:p>
          <a:p>
            <a:pPr marL="342900" indent="-342900" algn="just">
              <a:spcBef>
                <a:spcPts val="12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 phận kỹ thuật:</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Đảm bảo hệ thống âm thanh, ánh sáng, và các thiết bị kỹ thuật hoạt động suôn sẻ.</a:t>
            </a:r>
          </a:p>
          <a:p>
            <a:pPr marL="342900" indent="-342900" algn="just">
              <a:spcBef>
                <a:spcPts val="12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 phận F&amp;B (Thực phẩm &amp; Đồ uống):</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Phụ trách cung cấp thực phẩm và đồ uống cho sự kiện, bao gồm cả việc lên thực đơn và phục vụ.</a:t>
            </a:r>
          </a:p>
          <a:p>
            <a:pPr marL="342900" indent="-342900" algn="just">
              <a:spcBef>
                <a:spcPts val="12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Nhóm điều phối sự kiện:</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Đảm bảo mọi hoạt động diễn ra đúng lịch trình và xử lý các tình huống phát sinh.</a:t>
            </a:r>
          </a:p>
        </p:txBody>
      </p:sp>
      <p:sp>
        <p:nvSpPr>
          <p:cNvPr id="5" name="TextBox 4">
            <a:extLst>
              <a:ext uri="{FF2B5EF4-FFF2-40B4-BE49-F238E27FC236}">
                <a16:creationId xmlns:a16="http://schemas.microsoft.com/office/drawing/2014/main" id="{BC1BB8B7-9186-CEFB-5352-5E0716F4D416}"/>
              </a:ext>
            </a:extLst>
          </p:cNvPr>
          <p:cNvSpPr txBox="1"/>
          <p:nvPr/>
        </p:nvSpPr>
        <p:spPr>
          <a:xfrm>
            <a:off x="324463" y="1302579"/>
            <a:ext cx="11248572" cy="523220"/>
          </a:xfrm>
          <a:prstGeom prst="rect">
            <a:avLst/>
          </a:prstGeom>
          <a:noFill/>
        </p:spPr>
        <p:txBody>
          <a:bodyPr wrap="square">
            <a:spAutoFit/>
          </a:bodyPr>
          <a:lstStyle/>
          <a:p>
            <a:pPr algn="just"/>
            <a:r>
              <a:rPr lang="en-US" sz="28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4. </a:t>
            </a:r>
            <a:r>
              <a:rPr lang="vi-VN" sz="28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C</a:t>
            </a:r>
            <a:r>
              <a:rPr lang="en-US" sz="28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ÁC </a:t>
            </a:r>
            <a:r>
              <a:rPr lang="vi-VN" sz="28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THÀNH PHẦN TRONG BAN TỔ CHỨC SỰ KIỆN</a:t>
            </a:r>
          </a:p>
        </p:txBody>
      </p:sp>
    </p:spTree>
    <p:extLst>
      <p:ext uri="{BB962C8B-B14F-4D97-AF65-F5344CB8AC3E}">
        <p14:creationId xmlns:p14="http://schemas.microsoft.com/office/powerpoint/2010/main" val="24200843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1665B17-DF97-3878-DAF3-41E7620D9DF8}"/>
              </a:ext>
            </a:extLst>
          </p:cNvPr>
          <p:cNvSpPr txBox="1"/>
          <p:nvPr/>
        </p:nvSpPr>
        <p:spPr>
          <a:xfrm>
            <a:off x="432620" y="2199486"/>
            <a:ext cx="5466736" cy="3877985"/>
          </a:xfrm>
          <a:prstGeom prst="rect">
            <a:avLst/>
          </a:prstGeom>
          <a:noFill/>
        </p:spPr>
        <p:txBody>
          <a:bodyPr wrap="square">
            <a:spAutoFit/>
          </a:bodyPr>
          <a:lstStyle/>
          <a:p>
            <a:pPr algn="just">
              <a:spcBef>
                <a:spcPts val="1200"/>
              </a:spcBef>
              <a:buNone/>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 Tiếp nhận yêu cầu khách hàng</a:t>
            </a:r>
          </a:p>
          <a:p>
            <a:pPr marL="511175" indent="-511175" algn="just">
              <a:spcBef>
                <a:spcPts val="1200"/>
              </a:spcBef>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 phận </a:t>
            </a: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Sales/Event</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tiếp xúc trực tiếp hoặc qua email, điện thoại.</a:t>
            </a:r>
          </a:p>
          <a:p>
            <a:pPr marL="511175" indent="-511175" algn="just">
              <a:spcBef>
                <a:spcPts val="1200"/>
              </a:spcBef>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Thu thập thông tin cơ bản: loại sự kiện, số lượng khách, thời gian, ngân sách, yêu cầu đặc biệt.</a:t>
            </a:r>
          </a:p>
          <a:p>
            <a:pPr marL="511175" indent="-511175" algn="just">
              <a:spcBef>
                <a:spcPts val="1200"/>
              </a:spcBef>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Lập </a:t>
            </a: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biên bản yêu cầu (Event Order)</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để chuyển cho các bộ phận liên quan.</a:t>
            </a:r>
          </a:p>
        </p:txBody>
      </p:sp>
      <p:sp>
        <p:nvSpPr>
          <p:cNvPr id="7" name="TextBox 6">
            <a:extLst>
              <a:ext uri="{FF2B5EF4-FFF2-40B4-BE49-F238E27FC236}">
                <a16:creationId xmlns:a16="http://schemas.microsoft.com/office/drawing/2014/main" id="{C0B4EB21-D943-98FB-1F4C-39F059CA8189}"/>
              </a:ext>
            </a:extLst>
          </p:cNvPr>
          <p:cNvSpPr txBox="1"/>
          <p:nvPr/>
        </p:nvSpPr>
        <p:spPr>
          <a:xfrm>
            <a:off x="6430297" y="2199486"/>
            <a:ext cx="5329083" cy="4016484"/>
          </a:xfrm>
          <a:prstGeom prst="rect">
            <a:avLst/>
          </a:prstGeom>
          <a:noFill/>
        </p:spPr>
        <p:txBody>
          <a:bodyPr wrap="square">
            <a:spAutoFit/>
          </a:bodyPr>
          <a:lstStyle/>
          <a:p>
            <a:pPr algn="just">
              <a:spcBef>
                <a:spcPts val="600"/>
              </a:spcBef>
              <a:buNone/>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 Lập kế hoạch &amp; báo giá</a:t>
            </a:r>
          </a:p>
          <a:p>
            <a:pPr marL="344488" indent="-344488" algn="just">
              <a:spcBef>
                <a:spcPts val="600"/>
              </a:spcBef>
              <a:buFont typeface="Arial" panose="020B0604020202020204" pitchFamily="34" charset="0"/>
              <a:buChar char="•"/>
              <a:tabLst>
                <a:tab pos="285750" algn="l"/>
              </a:tabLst>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Xác định:</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địa điểm (phòng họp, ballroom, ngoài trời), thời gian, dịch vụ đi kèm (ẩm thực, âm thanh, ánh sáng).</a:t>
            </a:r>
          </a:p>
          <a:p>
            <a:pPr marL="344488" indent="-344488" algn="just">
              <a:spcBef>
                <a:spcPts val="600"/>
              </a:spcBef>
              <a:buFont typeface="Arial" panose="020B0604020202020204" pitchFamily="34" charset="0"/>
              <a:buChar char="•"/>
              <a:tabLst>
                <a:tab pos="285750" algn="l"/>
              </a:tabLst>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Chuẩn bị </a:t>
            </a: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proposal</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báo giá chi tiết</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(gồm thực đơn, set up, dịch vụ cộng thêm).</a:t>
            </a:r>
          </a:p>
          <a:p>
            <a:pPr marL="344488" indent="-344488" algn="just">
              <a:spcBef>
                <a:spcPts val="600"/>
              </a:spcBef>
              <a:buFont typeface="Arial" panose="020B0604020202020204" pitchFamily="34" charset="0"/>
              <a:buChar char="•"/>
              <a:tabLst>
                <a:tab pos="285750" algn="l"/>
              </a:tabLst>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Trình khách hàng duyệt &amp; thương lượng.</a:t>
            </a:r>
          </a:p>
        </p:txBody>
      </p:sp>
      <p:sp>
        <p:nvSpPr>
          <p:cNvPr id="9" name="TextBox 8">
            <a:extLst>
              <a:ext uri="{FF2B5EF4-FFF2-40B4-BE49-F238E27FC236}">
                <a16:creationId xmlns:a16="http://schemas.microsoft.com/office/drawing/2014/main" id="{9FC9B21A-56C4-74B9-6290-4F53D667D050}"/>
              </a:ext>
            </a:extLst>
          </p:cNvPr>
          <p:cNvSpPr txBox="1"/>
          <p:nvPr/>
        </p:nvSpPr>
        <p:spPr>
          <a:xfrm>
            <a:off x="1710813" y="1087142"/>
            <a:ext cx="8839199" cy="95410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5. C</a:t>
            </a:r>
            <a:r>
              <a:rPr lang="en-US" sz="28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ÁC BƯỚC</a:t>
            </a:r>
            <a:r>
              <a:rPr kumimoji="0" lang="en-US" sz="2800" b="1" i="0" u="none" strike="noStrike" kern="1200" cap="none" spc="0" normalizeH="0" baseline="0" noProof="0" dirty="0">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TRONG </a:t>
            </a:r>
            <a:r>
              <a:rPr kumimoji="0" lang="vi-VN" sz="2800" b="1" i="0" u="none" strike="noStrike" kern="1200" cap="none" spc="0" normalizeH="0" baseline="0" noProof="0" dirty="0">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QUY TRÌNH </a:t>
            </a:r>
            <a:r>
              <a:rPr lang="en-US" sz="28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NHẬN VÀ </a:t>
            </a:r>
            <a:endParaRPr kumimoji="0" lang="en-US" sz="2800" b="1" i="0" u="none" strike="noStrike" kern="1200" cap="none" spc="0" normalizeH="0" baseline="0" noProof="0" dirty="0">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2800" b="1" i="0" u="none" strike="noStrike" kern="1200" cap="none" spc="0" normalizeH="0" baseline="0" noProof="0" dirty="0">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TỔ CHỨC SỰ KIỆN TRONG KHÁCH SẠN</a:t>
            </a:r>
            <a:r>
              <a:rPr kumimoji="0" lang="en-US" sz="2800" b="1" i="0" u="none" strike="noStrike" kern="1200" cap="none" spc="0" normalizeH="0" baseline="0" noProof="0" dirty="0">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endParaRPr kumimoji="0" lang="vi-VN" sz="2800" b="1" i="0" u="none" strike="noStrike" kern="1200" cap="none" spc="0" normalizeH="0" baseline="0" noProof="0" dirty="0">
              <a:ln>
                <a:noFill/>
              </a:ln>
              <a:solidFill>
                <a:srgbClr val="FF000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1278267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28DEC-95D8-4B1A-0828-BF06D387B8F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928EECC-1BA2-A77B-7E5B-3D63FE3516A5}"/>
              </a:ext>
            </a:extLst>
          </p:cNvPr>
          <p:cNvSpPr txBox="1"/>
          <p:nvPr/>
        </p:nvSpPr>
        <p:spPr>
          <a:xfrm>
            <a:off x="491613" y="1490007"/>
            <a:ext cx="4591665" cy="3877985"/>
          </a:xfrm>
          <a:prstGeom prst="rect">
            <a:avLst/>
          </a:prstGeom>
          <a:noFill/>
        </p:spPr>
        <p:txBody>
          <a:bodyPr wrap="square">
            <a:spAutoFit/>
          </a:bodyPr>
          <a:lstStyle/>
          <a:p>
            <a:pPr marL="461963" indent="-461963" algn="just">
              <a:spcBef>
                <a:spcPts val="1200"/>
              </a:spcBef>
              <a:buNone/>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3. Ký hợp đồng</a:t>
            </a:r>
          </a:p>
          <a:p>
            <a:pPr marL="461963" indent="-461963" algn="just">
              <a:spcBef>
                <a:spcPts val="1200"/>
              </a:spcBef>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Thống nhất toàn bộ nội dung: chi phí, đặt cọc, dịch vụ kèm theo.</a:t>
            </a:r>
          </a:p>
          <a:p>
            <a:pPr marL="461963" indent="-461963" algn="just">
              <a:spcBef>
                <a:spcPts val="1200"/>
              </a:spcBef>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Ký hợp đồng chính thức giữa khách sạn và khách hàng.</a:t>
            </a:r>
          </a:p>
          <a:p>
            <a:pPr marL="461963" indent="-461963" algn="just">
              <a:spcBef>
                <a:spcPts val="1200"/>
              </a:spcBef>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Xác định người liên hệ chính của hai bên để thuận tiện phối hợp.</a:t>
            </a:r>
          </a:p>
        </p:txBody>
      </p:sp>
      <p:sp>
        <p:nvSpPr>
          <p:cNvPr id="5" name="TextBox 4">
            <a:extLst>
              <a:ext uri="{FF2B5EF4-FFF2-40B4-BE49-F238E27FC236}">
                <a16:creationId xmlns:a16="http://schemas.microsoft.com/office/drawing/2014/main" id="{F766D681-EB48-9208-E1F5-87B67D305EB0}"/>
              </a:ext>
            </a:extLst>
          </p:cNvPr>
          <p:cNvSpPr txBox="1"/>
          <p:nvPr/>
        </p:nvSpPr>
        <p:spPr>
          <a:xfrm>
            <a:off x="6184491" y="1441555"/>
            <a:ext cx="5112774" cy="4524315"/>
          </a:xfrm>
          <a:prstGeom prst="rect">
            <a:avLst/>
          </a:prstGeom>
          <a:noFill/>
        </p:spPr>
        <p:txBody>
          <a:bodyPr wrap="square">
            <a:spAutoFit/>
          </a:bodyPr>
          <a:lstStyle/>
          <a:p>
            <a:pPr marL="461963" indent="-461963" algn="just">
              <a:buNone/>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4. Chuẩn bị &amp; phối hợp</a:t>
            </a:r>
          </a:p>
          <a:p>
            <a:pPr marL="461963" indent="-461963" algn="just">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Banquet team:</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sắp xếp bàn tiệc, chuẩn bị thực đơn, thử món.</a:t>
            </a:r>
          </a:p>
          <a:p>
            <a:pPr marL="461963" indent="-461963" algn="just">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Kỹ thuật (AV/IT):</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kiểm tra âm thanh, ánh sáng, màn hình, internet.</a:t>
            </a:r>
          </a:p>
          <a:p>
            <a:pPr marL="461963" indent="-461963" algn="just">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Housekeeping:</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dọn dẹp, bố trí phòng.</a:t>
            </a:r>
          </a:p>
          <a:p>
            <a:pPr marL="461963" indent="-461963" algn="just">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Decor team:</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trang trí hoa, backdrop, sân khấu.</a:t>
            </a:r>
          </a:p>
          <a:p>
            <a:pPr marL="461963" indent="-461963" algn="just">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 chức </a:t>
            </a: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rehearsal (tổng duyệt)</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nếu cần.</a:t>
            </a:r>
          </a:p>
        </p:txBody>
      </p:sp>
    </p:spTree>
    <p:extLst>
      <p:ext uri="{BB962C8B-B14F-4D97-AF65-F5344CB8AC3E}">
        <p14:creationId xmlns:p14="http://schemas.microsoft.com/office/powerpoint/2010/main" val="14947786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D79D9DF-E33D-9F06-9840-CF351B255E0E}"/>
              </a:ext>
            </a:extLst>
          </p:cNvPr>
          <p:cNvSpPr txBox="1"/>
          <p:nvPr/>
        </p:nvSpPr>
        <p:spPr>
          <a:xfrm>
            <a:off x="442452" y="1467318"/>
            <a:ext cx="5358580" cy="4401205"/>
          </a:xfrm>
          <a:prstGeom prst="rect">
            <a:avLst/>
          </a:prstGeom>
          <a:noFill/>
        </p:spPr>
        <p:txBody>
          <a:bodyPr wrap="square">
            <a:spAutoFit/>
          </a:bodyPr>
          <a:lstStyle/>
          <a:p>
            <a:pPr marL="403225" indent="-403225" algn="just">
              <a:spcBef>
                <a:spcPts val="1200"/>
              </a:spcBef>
              <a:buNone/>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5. Triển khai sự kiện</a:t>
            </a:r>
          </a:p>
          <a:p>
            <a:pPr marL="403225" indent="-403225" algn="just">
              <a:spcBef>
                <a:spcPts val="1200"/>
              </a:spcBef>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Đón tiếp khách:</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lễ tân hướng dẫn, cung cấp bảng tên, sơ đồ chỗ ngồi.</a:t>
            </a:r>
          </a:p>
          <a:p>
            <a:pPr marL="403225" indent="-403225" algn="just">
              <a:spcBef>
                <a:spcPts val="1200"/>
              </a:spcBef>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Trong sự kiện:</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phục vụ món ăn, hỗ trợ kỹ thuật, MC dẫn chương trình.</a:t>
            </a:r>
          </a:p>
          <a:p>
            <a:pPr marL="403225" indent="-403225" algn="just">
              <a:spcBef>
                <a:spcPts val="1200"/>
              </a:spcBef>
              <a:buFont typeface="Arial" panose="020B0604020202020204" pitchFamily="34" charset="0"/>
              <a:buChar char="•"/>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Xử lý sự cố:</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mất điện, trục trặc âm thanh, khách đổi yêu cầu phút chót.</a:t>
            </a:r>
          </a:p>
          <a:p>
            <a:pPr marL="403225" indent="-403225" algn="just">
              <a:spcBef>
                <a:spcPts val="1200"/>
              </a:spcBef>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Đảm bảo khách hài lòng, sự kiện diễn ra trơn tru.</a:t>
            </a:r>
          </a:p>
        </p:txBody>
      </p:sp>
      <p:sp>
        <p:nvSpPr>
          <p:cNvPr id="7" name="TextBox 6">
            <a:extLst>
              <a:ext uri="{FF2B5EF4-FFF2-40B4-BE49-F238E27FC236}">
                <a16:creationId xmlns:a16="http://schemas.microsoft.com/office/drawing/2014/main" id="{18C8FDD6-D508-F1C6-146D-62F03AD857C8}"/>
              </a:ext>
            </a:extLst>
          </p:cNvPr>
          <p:cNvSpPr txBox="1"/>
          <p:nvPr/>
        </p:nvSpPr>
        <p:spPr>
          <a:xfrm>
            <a:off x="6538451" y="1600566"/>
            <a:ext cx="5122608" cy="4031873"/>
          </a:xfrm>
          <a:prstGeom prst="rect">
            <a:avLst/>
          </a:prstGeom>
          <a:noFill/>
        </p:spPr>
        <p:txBody>
          <a:bodyPr wrap="square">
            <a:spAutoFit/>
          </a:bodyPr>
          <a:lstStyle/>
          <a:p>
            <a:pPr marL="461963" indent="-461963" algn="just">
              <a:spcBef>
                <a:spcPts val="1200"/>
              </a:spcBef>
              <a:buNone/>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6. Kết thúc &amp; đánh giá</a:t>
            </a:r>
          </a:p>
          <a:p>
            <a:pPr marL="461963" indent="-461963" algn="just">
              <a:spcBef>
                <a:spcPts val="1200"/>
              </a:spcBef>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Dọn dẹp, trả lại không gian.</a:t>
            </a:r>
          </a:p>
          <a:p>
            <a:pPr marL="461963" indent="-461963" algn="just">
              <a:spcBef>
                <a:spcPts val="1200"/>
              </a:spcBef>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Lập </a:t>
            </a: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biên bản nghiệm thu</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&amp; thanh toán.</a:t>
            </a:r>
          </a:p>
          <a:p>
            <a:pPr marL="461963" indent="-461963" algn="just">
              <a:spcBef>
                <a:spcPts val="1200"/>
              </a:spcBef>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Gửi </a:t>
            </a: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phiếu khảo sát/feedback</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cho khách hàng.</a:t>
            </a:r>
          </a:p>
          <a:p>
            <a:pPr marL="461963" indent="-461963" algn="just">
              <a:spcBef>
                <a:spcPts val="1200"/>
              </a:spcBef>
              <a:buFont typeface="Arial" panose="020B0604020202020204" pitchFamily="34" charset="0"/>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Họp nội bộ rút kinh nghiệm (những điểm tốt &amp; điểm cần cải thiện).</a:t>
            </a:r>
          </a:p>
        </p:txBody>
      </p:sp>
    </p:spTree>
    <p:extLst>
      <p:ext uri="{BB962C8B-B14F-4D97-AF65-F5344CB8AC3E}">
        <p14:creationId xmlns:p14="http://schemas.microsoft.com/office/powerpoint/2010/main" val="4094420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08178B-FB57-DEEB-B2C8-75849232EEF7}"/>
              </a:ext>
            </a:extLst>
          </p:cNvPr>
          <p:cNvPicPr>
            <a:picLocks noChangeAspect="1"/>
          </p:cNvPicPr>
          <p:nvPr/>
        </p:nvPicPr>
        <p:blipFill>
          <a:blip r:embed="rId2"/>
          <a:stretch>
            <a:fillRect/>
          </a:stretch>
        </p:blipFill>
        <p:spPr>
          <a:xfrm>
            <a:off x="6374442" y="-308113"/>
            <a:ext cx="5701601" cy="7166113"/>
          </a:xfrm>
          <a:prstGeom prst="rect">
            <a:avLst/>
          </a:prstGeom>
        </p:spPr>
      </p:pic>
      <p:sp>
        <p:nvSpPr>
          <p:cNvPr id="6" name="TextBox 5">
            <a:extLst>
              <a:ext uri="{FF2B5EF4-FFF2-40B4-BE49-F238E27FC236}">
                <a16:creationId xmlns:a16="http://schemas.microsoft.com/office/drawing/2014/main" id="{23B85565-D83E-D3F0-9B5F-0C822647ACCB}"/>
              </a:ext>
            </a:extLst>
          </p:cNvPr>
          <p:cNvSpPr txBox="1"/>
          <p:nvPr/>
        </p:nvSpPr>
        <p:spPr>
          <a:xfrm>
            <a:off x="288236" y="1087904"/>
            <a:ext cx="6390860" cy="523220"/>
          </a:xfrm>
          <a:prstGeom prst="rect">
            <a:avLst/>
          </a:prstGeom>
          <a:noFill/>
        </p:spPr>
        <p:txBody>
          <a:bodyPr wrap="square" rtlCol="0">
            <a:spAutoFit/>
          </a:bodyPr>
          <a:lstStyle/>
          <a:p>
            <a:r>
              <a:rPr lang="en-US" sz="2800" b="1" dirty="0">
                <a:solidFill>
                  <a:srgbClr val="002060"/>
                </a:solidFill>
                <a:latin typeface="Times New Roman" panose="02020603050405020304" pitchFamily="18" charset="0"/>
                <a:cs typeface="Times New Roman" panose="02020603050405020304" pitchFamily="18" charset="0"/>
              </a:rPr>
              <a:t>B.E.O = BANQUET EVENT ORDER</a:t>
            </a:r>
          </a:p>
        </p:txBody>
      </p:sp>
      <p:pic>
        <p:nvPicPr>
          <p:cNvPr id="8" name="Picture 7">
            <a:extLst>
              <a:ext uri="{FF2B5EF4-FFF2-40B4-BE49-F238E27FC236}">
                <a16:creationId xmlns:a16="http://schemas.microsoft.com/office/drawing/2014/main" id="{B59D6DDA-1FD8-4F5E-91B3-826B6506F392}"/>
              </a:ext>
            </a:extLst>
          </p:cNvPr>
          <p:cNvPicPr>
            <a:picLocks noChangeAspect="1"/>
          </p:cNvPicPr>
          <p:nvPr/>
        </p:nvPicPr>
        <p:blipFill>
          <a:blip r:embed="rId3"/>
          <a:stretch>
            <a:fillRect/>
          </a:stretch>
        </p:blipFill>
        <p:spPr>
          <a:xfrm>
            <a:off x="307017" y="1611124"/>
            <a:ext cx="6067425" cy="4829175"/>
          </a:xfrm>
          <a:prstGeom prst="rect">
            <a:avLst/>
          </a:prstGeom>
        </p:spPr>
      </p:pic>
    </p:spTree>
    <p:extLst>
      <p:ext uri="{BB962C8B-B14F-4D97-AF65-F5344CB8AC3E}">
        <p14:creationId xmlns:p14="http://schemas.microsoft.com/office/powerpoint/2010/main" val="25626465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D01E9F-0BDA-59F1-FC71-79D8B2D3AE50}"/>
              </a:ext>
            </a:extLst>
          </p:cNvPr>
          <p:cNvSpPr txBox="1"/>
          <p:nvPr/>
        </p:nvSpPr>
        <p:spPr>
          <a:xfrm>
            <a:off x="657798" y="1283858"/>
            <a:ext cx="5784645" cy="523220"/>
          </a:xfrm>
          <a:prstGeom prst="rect">
            <a:avLst/>
          </a:prstGeom>
          <a:noFill/>
        </p:spPr>
        <p:txBody>
          <a:bodyPr wrap="square">
            <a:spAutoFit/>
          </a:bodyPr>
          <a:lstStyle/>
          <a:p>
            <a:r>
              <a:rPr lang="en-US" sz="28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CÂU HỎI THẢO LUẬN</a:t>
            </a:r>
            <a:endParaRPr lang="vi-VN" sz="28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4" name="Rectangle 1">
            <a:extLst>
              <a:ext uri="{FF2B5EF4-FFF2-40B4-BE49-F238E27FC236}">
                <a16:creationId xmlns:a16="http://schemas.microsoft.com/office/drawing/2014/main" id="{5982CB32-4BEF-A30B-80B0-ED2B21B4D3DF}"/>
              </a:ext>
            </a:extLst>
          </p:cNvPr>
          <p:cNvSpPr>
            <a:spLocks noChangeArrowheads="1"/>
          </p:cNvSpPr>
          <p:nvPr/>
        </p:nvSpPr>
        <p:spPr bwMode="auto">
          <a:xfrm>
            <a:off x="657798" y="2081277"/>
            <a:ext cx="10848455" cy="390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marR="0" lvl="0" indent="-51435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niệm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gì</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so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với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ngoài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514350" marR="0" lvl="0" indent="-51435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Làm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thế</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nào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để</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tại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trở</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nên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đáo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hút</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514350" marR="0" lvl="0" indent="-51435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Hãy</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thảo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luận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về</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vai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trò</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từng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thành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phần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ban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514350" marR="0" lvl="0" indent="-51435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Theo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bạn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quy</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trình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cần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cải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thiện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những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điểm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gì</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để</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nâng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cao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chất</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lượng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p>
        </p:txBody>
      </p:sp>
    </p:spTree>
    <p:extLst>
      <p:ext uri="{BB962C8B-B14F-4D97-AF65-F5344CB8AC3E}">
        <p14:creationId xmlns:p14="http://schemas.microsoft.com/office/powerpoint/2010/main" val="2451849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7BB7AD1-61E2-1A5D-0889-D108F0AB1495}"/>
              </a:ext>
            </a:extLst>
          </p:cNvPr>
          <p:cNvSpPr txBox="1"/>
          <p:nvPr/>
        </p:nvSpPr>
        <p:spPr>
          <a:xfrm>
            <a:off x="226375" y="953729"/>
            <a:ext cx="11739250" cy="5755422"/>
          </a:xfrm>
          <a:prstGeom prst="rect">
            <a:avLst/>
          </a:prstGeom>
          <a:noFill/>
        </p:spPr>
        <p:txBody>
          <a:bodyPr wrap="square">
            <a:spAutoFit/>
          </a:bodyPr>
          <a:lstStyle/>
          <a:p>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 </a:t>
            </a: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Khái niệm tổ chức sự kiện trong khách sạn có gì khác so với tổ chức sự kiện ngoài khách sạn?</a:t>
            </a:r>
            <a:endPar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spcBef>
                <a:spcPts val="600"/>
              </a:spcBef>
              <a:buFont typeface="Wingdings" panose="05000000000000000000" pitchFamily="2" charset="2"/>
              <a:buChar char="q"/>
            </a:pPr>
            <a:r>
              <a:rPr lang="vi-VN" sz="20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Tổ chức sự kiện trong khách sạn:</a:t>
            </a:r>
            <a:endParaRPr lang="vi-VN" sz="2000"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742950" lvl="1" indent="-285750">
              <a:spcBef>
                <a:spcPts val="600"/>
              </a:spcBef>
              <a:buFont typeface="Arial" panose="020B0604020202020204" pitchFamily="34" charset="0"/>
              <a:buChar char="•"/>
            </a:pP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Không gian đa dạng:</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Khách sạn thường cung cấp nhiều lựa chọn không gian như phòng hội nghị, phòng tiệc, sảnh đón khách, phù hợp cho nhiều loại hình sự kiện khác nhau.</a:t>
            </a:r>
          </a:p>
          <a:p>
            <a:pPr marL="742950" lvl="1" indent="-285750">
              <a:spcBef>
                <a:spcPts val="600"/>
              </a:spcBef>
              <a:buFont typeface="Arial" panose="020B0604020202020204" pitchFamily="34" charset="0"/>
              <a:buChar char="•"/>
            </a:pP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 vụ hỗ trợ:</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Khách sạn cung cấp các dịch vụ tiện ích bổ sung như ăn uống, âm thanh, ánh sáng, trang trí, và lưu trú, đảm bảo mọi yếu tố của sự kiện đều được quản lý chuyên nghiệp.</a:t>
            </a:r>
          </a:p>
          <a:p>
            <a:pPr marL="742950" lvl="1" indent="-285750">
              <a:spcBef>
                <a:spcPts val="600"/>
              </a:spcBef>
              <a:buFont typeface="Arial" panose="020B0604020202020204" pitchFamily="34" charset="0"/>
              <a:buChar char="•"/>
            </a:pP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Tính tiện lợi:</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Khách hàng có thể tiếp cận tất cả các dịch vụ trong một địa điểm duy nhất, từ chỗ ở đến dịch vụ tổ chức sự kiện.</a:t>
            </a:r>
          </a:p>
          <a:p>
            <a:pPr marL="342900" indent="-342900">
              <a:spcBef>
                <a:spcPts val="600"/>
              </a:spcBef>
              <a:buFont typeface="Wingdings" panose="05000000000000000000" pitchFamily="2" charset="2"/>
              <a:buChar char="q"/>
            </a:pPr>
            <a:r>
              <a:rPr lang="vi-VN" sz="20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Tổ chức sự kiện ngoài khách sạn:</a:t>
            </a:r>
            <a:endParaRPr lang="vi-VN" sz="2000"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742950" lvl="1" indent="-285750">
              <a:spcBef>
                <a:spcPts val="600"/>
              </a:spcBef>
              <a:buFont typeface="Arial" panose="020B0604020202020204" pitchFamily="34" charset="0"/>
              <a:buChar char="•"/>
            </a:pP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Tính linh hoạt về địa điểm:</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Sự kiện có thể tổ chức tại bất kỳ địa điểm nào như bãi biển, sân vườn, công viên, giúp tạo nên những trải nghiệm mới mẻ.</a:t>
            </a:r>
          </a:p>
          <a:p>
            <a:pPr marL="742950" lvl="1" indent="-285750">
              <a:spcBef>
                <a:spcPts val="600"/>
              </a:spcBef>
              <a:buFont typeface="Arial" panose="020B0604020202020204" pitchFamily="34" charset="0"/>
              <a:buChar char="•"/>
            </a:pP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Phụ thuộc vào dịch vụ bên ngoài:</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Thường phải thuê các dịch vụ bên ngoài như âm thanh, ánh sáng, ăn uống, và không có sự hỗ trợ toàn diện như khi tổ chức tại khách sạn.</a:t>
            </a:r>
          </a:p>
          <a:p>
            <a:pPr marL="742950" lvl="1" indent="-285750">
              <a:spcBef>
                <a:spcPts val="600"/>
              </a:spcBef>
              <a:buFont typeface="Arial" panose="020B0604020202020204" pitchFamily="34" charset="0"/>
              <a:buChar char="•"/>
            </a:pP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Thách thức trong quản lý:</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Việc điều phối và quản lý các dịch vụ từ nhiều nhà cung cấp khác nhau có thể phức tạp và tốn kém hơn.</a:t>
            </a:r>
          </a:p>
        </p:txBody>
      </p:sp>
    </p:spTree>
    <p:extLst>
      <p:ext uri="{BB962C8B-B14F-4D97-AF65-F5344CB8AC3E}">
        <p14:creationId xmlns:p14="http://schemas.microsoft.com/office/powerpoint/2010/main" val="21634719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B37525-B8C3-89ED-66C9-50729A09157F}"/>
              </a:ext>
            </a:extLst>
          </p:cNvPr>
          <p:cNvSpPr txBox="1"/>
          <p:nvPr/>
        </p:nvSpPr>
        <p:spPr>
          <a:xfrm>
            <a:off x="169022" y="1009130"/>
            <a:ext cx="11567885" cy="5509200"/>
          </a:xfrm>
          <a:prstGeom prst="rect">
            <a:avLst/>
          </a:prstGeom>
          <a:noFill/>
        </p:spPr>
        <p:txBody>
          <a:bodyPr wrap="square">
            <a:spAutoFit/>
          </a:bodyPr>
          <a:lstStyle/>
          <a:p>
            <a:pPr algn="just"/>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 Làm thế nào để sự kiện tổ chức tại khách sạn trở nên độc đáo và thu hút khách hàng?</a:t>
            </a:r>
          </a:p>
          <a:p>
            <a:pPr marL="457200" indent="-457200" algn="just">
              <a:spcBef>
                <a:spcPts val="12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Chủ đề sự kiện sáng tạo:</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Tạo ra những chủ đề mới lạ và hấp dẫn như "Dạ tiệc thập niên </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2030</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"Hành trình ẩm thực thế giới," hoặc "Đêm nhạc cổ điển trong lâu đài."</a:t>
            </a:r>
          </a:p>
          <a:p>
            <a:pPr marL="457200" indent="-457200" algn="just">
              <a:spcBef>
                <a:spcPts val="12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Tận dụng không gian độc đáo:</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Khai thác tối đa các không gian đẹp và độc đáo của khách sạn như sân thượng, hồ bơi, hoặc khu vườn để tổ chức sự kiện.</a:t>
            </a:r>
          </a:p>
          <a:p>
            <a:pPr marL="457200" indent="-457200" algn="just">
              <a:spcBef>
                <a:spcPts val="12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Trải nghiệm dịch vụ cao cấp:</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Cung cấp các dịch vụ VIP như dịch vụ ăn uống cao cấp, phòng chờ riêng, hoặc dịch vụ xe đưa đón để tạo cảm giác sang trọng cho khách hàng.</a:t>
            </a:r>
          </a:p>
          <a:p>
            <a:pPr marL="457200" indent="-457200" algn="just">
              <a:spcBef>
                <a:spcPts val="12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Công nghệ hiện đại:</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Sử dụng các công nghệ tiên tiến như hệ thống âm thanh ánh sáng chuyên nghiệp, trình diễn ánh sáng laser, màn hình LED lớn, hoặc livestream sự kiện.</a:t>
            </a:r>
          </a:p>
        </p:txBody>
      </p:sp>
    </p:spTree>
    <p:extLst>
      <p:ext uri="{BB962C8B-B14F-4D97-AF65-F5344CB8AC3E}">
        <p14:creationId xmlns:p14="http://schemas.microsoft.com/office/powerpoint/2010/main" val="5881584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FE920A-B42E-B087-4860-83F807A5ACE2}"/>
              </a:ext>
            </a:extLst>
          </p:cNvPr>
          <p:cNvSpPr txBox="1"/>
          <p:nvPr/>
        </p:nvSpPr>
        <p:spPr>
          <a:xfrm>
            <a:off x="371751" y="1023021"/>
            <a:ext cx="11059887" cy="5447645"/>
          </a:xfrm>
          <a:prstGeom prst="rect">
            <a:avLst/>
          </a:prstGeom>
          <a:noFill/>
        </p:spPr>
        <p:txBody>
          <a:bodyPr wrap="square">
            <a:spAutoFit/>
          </a:bodyPr>
          <a:lstStyle/>
          <a:p>
            <a:pPr algn="just"/>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3. Hãy thảo luận về vai trò của từng thành phần trong ban tổ chức sự kiện.</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just"/>
            <a:endPar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just">
              <a:buFont typeface="Arial" panose="020B0604020202020204" pitchFamily="34" charset="0"/>
              <a:buChar char="•"/>
            </a:pPr>
            <a:r>
              <a:rPr lang="vi-VN" sz="20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Trưởng ban tổ chức</a:t>
            </a: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Là người lãnh đạo, đưa ra các quyết định chiến lược và giám sát toàn bộ quá trình tổ chức sự kiện. Trưởng ban tổ chức chịu trách nhiệm về việc lập kế hoạch tổng thể, điều phối các bộ phận và đảm bảo sự kiện diễn ra thành công.</a:t>
            </a:r>
          </a:p>
          <a:p>
            <a:pPr algn="just">
              <a:buFont typeface="Arial" panose="020B0604020202020204" pitchFamily="34" charset="0"/>
              <a:buChar char="•"/>
            </a:pPr>
            <a:r>
              <a:rPr lang="vi-VN" sz="20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Bộ phận kinh doanh</a:t>
            </a: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Đảm bảo việc tìm kiếm và ký kết hợp đồng với khách hàng. Họ cũng có nhiệm vụ hiểu rõ nhu cầu của khách hàng và truyền đạt chúng một cách chính xác cho các bộ phận liên quan.</a:t>
            </a:r>
          </a:p>
          <a:p>
            <a:pPr algn="just">
              <a:buFont typeface="Arial" panose="020B0604020202020204" pitchFamily="34" charset="0"/>
              <a:buChar char="•"/>
            </a:pPr>
            <a:r>
              <a:rPr lang="vi-VN" sz="20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Bộ phận kỹ thuật</a:t>
            </a: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Đảm bảo tất cả các thiết bị âm thanh, ánh sáng, và kỹ thuật số hoạt động ổn định. Vai trò của họ là rất quan trọng để đảm bảo sự kiện diễn ra suôn sẻ và không gặp phải các trục trặc kỹ thuật.</a:t>
            </a:r>
          </a:p>
          <a:p>
            <a:pPr algn="just">
              <a:buFont typeface="Arial" panose="020B0604020202020204" pitchFamily="34" charset="0"/>
              <a:buChar char="•"/>
            </a:pPr>
            <a:r>
              <a:rPr lang="vi-VN" sz="20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Bộ phận F&amp;B</a:t>
            </a: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Cung cấp thực phẩm và đồ uống chất lượng cao cho khách hàng. Họ phải đảm bảo mọi khía cạnh về ẩm thực, từ lên thực đơn, chuẩn bị thực phẩm, đến phục vụ, đều đạt tiêu chuẩn cao.</a:t>
            </a:r>
          </a:p>
          <a:p>
            <a:pPr algn="just">
              <a:buFont typeface="Arial" panose="020B0604020202020204" pitchFamily="34" charset="0"/>
              <a:buChar char="•"/>
            </a:pPr>
            <a:r>
              <a:rPr lang="vi-VN" sz="20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Nhóm điều phối sự kiện</a:t>
            </a: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Đảm bảo tất cả các hoạt động trong sự kiện diễn ra đúng kế hoạch và thời gian. Họ cũng xử lý các tình huống bất ngờ và điều chỉnh kịp thời để đảm bảo sự kiện thành công.</a:t>
            </a:r>
          </a:p>
        </p:txBody>
      </p:sp>
    </p:spTree>
    <p:extLst>
      <p:ext uri="{BB962C8B-B14F-4D97-AF65-F5344CB8AC3E}">
        <p14:creationId xmlns:p14="http://schemas.microsoft.com/office/powerpoint/2010/main" val="34770740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37C3BB5-2A9D-089E-FCB4-70C5E6E9EE39}"/>
              </a:ext>
            </a:extLst>
          </p:cNvPr>
          <p:cNvSpPr txBox="1"/>
          <p:nvPr/>
        </p:nvSpPr>
        <p:spPr>
          <a:xfrm>
            <a:off x="303863" y="1071801"/>
            <a:ext cx="11593169" cy="5478423"/>
          </a:xfrm>
          <a:prstGeom prst="rect">
            <a:avLst/>
          </a:prstGeom>
          <a:noFill/>
        </p:spPr>
        <p:txBody>
          <a:bodyPr wrap="square">
            <a:spAutoFit/>
          </a:bodyPr>
          <a:lstStyle/>
          <a:p>
            <a:pPr algn="just"/>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4. Theo bạn, quy trình tổ chức sự kiện cần cải thiện những điểm gì để nâng cao chất lượng dịch vụ?</a:t>
            </a:r>
          </a:p>
          <a:p>
            <a:pPr marL="342900" indent="-342900" algn="just">
              <a:spcBef>
                <a:spcPts val="1200"/>
              </a:spcBef>
              <a:buFont typeface="Wingdings" panose="05000000000000000000" pitchFamily="2" charset="2"/>
              <a:buChar char="q"/>
            </a:pP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Tăng cường khảo sát nhu cầu khách hàng:</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Trước khi tổ chức sự kiện, cần có một cuộc khảo sát chi tiết để hiểu rõ nhu cầu và mong muốn của khách hàng. Điều này giúp đảm bảo sự kiện đáp ứng tốt hơn mong đợi của khách hàng.</a:t>
            </a:r>
          </a:p>
          <a:p>
            <a:pPr marL="342900" indent="-342900" algn="just">
              <a:spcBef>
                <a:spcPts val="1200"/>
              </a:spcBef>
              <a:buFont typeface="Wingdings" panose="05000000000000000000" pitchFamily="2" charset="2"/>
              <a:buChar char="q"/>
            </a:pP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Ứng dụng công nghệ trong quản lý:</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Sử dụng phần mềm quản lý sự kiện để điều phối các bộ phận và theo dõi tiến trình thực hiện. Công nghệ giúp giảm thiểu rủi ro và tăng cường hiệu quả trong việc quản lý sự kiện.</a:t>
            </a:r>
          </a:p>
          <a:p>
            <a:pPr marL="342900" indent="-342900" algn="just">
              <a:spcBef>
                <a:spcPts val="1200"/>
              </a:spcBef>
              <a:buFont typeface="Wingdings" panose="05000000000000000000" pitchFamily="2" charset="2"/>
              <a:buChar char="q"/>
            </a:pP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Đào tạo nhân viên:</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Đầu tư vào việc đào tạo kỹ năng cho nhân viên, đặc biệt là kỹ năng giao tiếp và xử lý tình huống, để họ có thể phục vụ khách hàng tốt hơn trong các sự kiện.</a:t>
            </a:r>
          </a:p>
          <a:p>
            <a:pPr marL="342900" indent="-342900" algn="just">
              <a:spcBef>
                <a:spcPts val="1200"/>
              </a:spcBef>
              <a:buFont typeface="Wingdings" panose="05000000000000000000" pitchFamily="2" charset="2"/>
              <a:buChar char="q"/>
            </a:pP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Tăng cường hợp tác với các nhà cung cấp:</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Xây dựng mối quan hệ đối tác mạnh mẽ với các nhà cung cấp dịch vụ để đảm bảo chất lượng và giá cả cạnh tranh. Việc này giúp sự kiện có thể đạt được chất lượng cao nhất với chi phí hợp lý.</a:t>
            </a:r>
          </a:p>
          <a:p>
            <a:pPr marL="342900" indent="-342900" algn="just">
              <a:spcBef>
                <a:spcPts val="1200"/>
              </a:spcBef>
              <a:buFont typeface="Wingdings" panose="05000000000000000000" pitchFamily="2" charset="2"/>
              <a:buChar char="q"/>
            </a:pP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Cải thiện quá trình đánh giá sau sự kiện:</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Sau khi sự kiện kết thúc, cần có một quá trình đánh giá toàn diện, thu thập phản hồi từ khách hàng, và rút ra những bài học để cải thiện cho các sự kiện tiếp theo.</a:t>
            </a:r>
          </a:p>
        </p:txBody>
      </p:sp>
    </p:spTree>
    <p:extLst>
      <p:ext uri="{BB962C8B-B14F-4D97-AF65-F5344CB8AC3E}">
        <p14:creationId xmlns:p14="http://schemas.microsoft.com/office/powerpoint/2010/main" val="26591135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B16DF-09CB-54BA-FCEC-4291FB4E5E92}"/>
            </a:ext>
          </a:extLst>
        </p:cNvPr>
        <p:cNvGrpSpPr/>
        <p:nvPr/>
      </p:nvGrpSpPr>
      <p:grpSpPr>
        <a:xfrm>
          <a:off x="0" y="0"/>
          <a:ext cx="0" cy="0"/>
          <a:chOff x="0" y="0"/>
          <a:chExt cx="0" cy="0"/>
        </a:xfrm>
      </p:grpSpPr>
      <p:pic>
        <p:nvPicPr>
          <p:cNvPr id="7" name="Picture 6" descr="Artboard 1 copy 2">
            <a:extLst>
              <a:ext uri="{FF2B5EF4-FFF2-40B4-BE49-F238E27FC236}">
                <a16:creationId xmlns:a16="http://schemas.microsoft.com/office/drawing/2014/main" id="{E6A4F3F9-0FEC-4E3F-08A2-4A44859816B6}"/>
              </a:ext>
            </a:extLst>
          </p:cNvPr>
          <p:cNvPicPr>
            <a:picLocks noChangeAspect="1"/>
          </p:cNvPicPr>
          <p:nvPr/>
        </p:nvPicPr>
        <p:blipFill>
          <a:blip r:embed="rId2"/>
          <a:stretch>
            <a:fillRect/>
          </a:stretch>
        </p:blipFill>
        <p:spPr>
          <a:xfrm>
            <a:off x="0" y="0"/>
            <a:ext cx="12190730" cy="6857365"/>
          </a:xfrm>
          <a:prstGeom prst="rect">
            <a:avLst/>
          </a:prstGeom>
        </p:spPr>
      </p:pic>
      <p:pic>
        <p:nvPicPr>
          <p:cNvPr id="2" name="Picture 1" descr="Artboard 1 copy 2">
            <a:extLst>
              <a:ext uri="{FF2B5EF4-FFF2-40B4-BE49-F238E27FC236}">
                <a16:creationId xmlns:a16="http://schemas.microsoft.com/office/drawing/2014/main" id="{53769216-72F2-774D-261C-BF7C2A666905}"/>
              </a:ext>
            </a:extLst>
          </p:cNvPr>
          <p:cNvPicPr>
            <a:picLocks noChangeAspect="1"/>
          </p:cNvPicPr>
          <p:nvPr/>
        </p:nvPicPr>
        <p:blipFill>
          <a:blip r:embed="rId3"/>
          <a:stretch>
            <a:fillRect/>
          </a:stretch>
        </p:blipFill>
        <p:spPr>
          <a:xfrm>
            <a:off x="0" y="0"/>
            <a:ext cx="12190730" cy="6857365"/>
          </a:xfrm>
          <a:prstGeom prst="rect">
            <a:avLst/>
          </a:prstGeom>
        </p:spPr>
      </p:pic>
      <p:pic>
        <p:nvPicPr>
          <p:cNvPr id="5" name="Picture 4" descr="A black screen with a black background&#10;&#10;AI-generated content may be incorrect.">
            <a:extLst>
              <a:ext uri="{FF2B5EF4-FFF2-40B4-BE49-F238E27FC236}">
                <a16:creationId xmlns:a16="http://schemas.microsoft.com/office/drawing/2014/main" id="{D5AE7117-3E90-A63B-048E-1FC0045ADA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635"/>
            <a:ext cx="12191999" cy="6858000"/>
          </a:xfrm>
          <a:prstGeom prst="rect">
            <a:avLst/>
          </a:prstGeom>
        </p:spPr>
      </p:pic>
    </p:spTree>
    <p:extLst>
      <p:ext uri="{BB962C8B-B14F-4D97-AF65-F5344CB8AC3E}">
        <p14:creationId xmlns:p14="http://schemas.microsoft.com/office/powerpoint/2010/main" val="391925634"/>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487</TotalTime>
  <Words>3397</Words>
  <Application>Microsoft Office PowerPoint</Application>
  <PresentationFormat>Widescreen</PresentationFormat>
  <Paragraphs>218</Paragraphs>
  <Slides>26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Calibri Light</vt:lpstr>
      <vt:lpstr>Microsoft Sans Serif</vt:lpstr>
      <vt:lpstr>Times New Roman</vt:lpstr>
      <vt:lpstr>Wingdings</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VHU ThanhLL</dc:creator>
  <cp:lastModifiedBy>VHU ThanhLL</cp:lastModifiedBy>
  <cp:revision>6</cp:revision>
  <dcterms:created xsi:type="dcterms:W3CDTF">2025-09-24T10:43:32Z</dcterms:created>
  <dcterms:modified xsi:type="dcterms:W3CDTF">2025-10-25T08:26:44Z</dcterms:modified>
</cp:coreProperties>
</file>