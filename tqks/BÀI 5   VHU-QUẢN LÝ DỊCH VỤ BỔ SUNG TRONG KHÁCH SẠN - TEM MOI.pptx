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380" r:id="rId2"/>
    <p:sldId id="257" r:id="rId3"/>
    <p:sldId id="313" r:id="rId4"/>
    <p:sldId id="383" r:id="rId5"/>
    <p:sldId id="384" r:id="rId6"/>
    <p:sldId id="381" r:id="rId7"/>
    <p:sldId id="318" r:id="rId8"/>
    <p:sldId id="317" r:id="rId9"/>
    <p:sldId id="319" r:id="rId10"/>
    <p:sldId id="320" r:id="rId11"/>
    <p:sldId id="385" r:id="rId12"/>
    <p:sldId id="386" r:id="rId13"/>
    <p:sldId id="387" r:id="rId14"/>
    <p:sldId id="389" r:id="rId15"/>
    <p:sldId id="388" r:id="rId16"/>
    <p:sldId id="390" r:id="rId17"/>
    <p:sldId id="391" r:id="rId18"/>
    <p:sldId id="392" r:id="rId19"/>
    <p:sldId id="321" r:id="rId20"/>
    <p:sldId id="326" r:id="rId21"/>
    <p:sldId id="342" r:id="rId22"/>
    <p:sldId id="328" r:id="rId23"/>
    <p:sldId id="329" r:id="rId24"/>
    <p:sldId id="330" r:id="rId25"/>
    <p:sldId id="331" r:id="rId26"/>
    <p:sldId id="332" r:id="rId27"/>
    <p:sldId id="333" r:id="rId28"/>
    <p:sldId id="334" r:id="rId29"/>
    <p:sldId id="335" r:id="rId30"/>
    <p:sldId id="336" r:id="rId31"/>
    <p:sldId id="337" r:id="rId32"/>
    <p:sldId id="338" r:id="rId33"/>
    <p:sldId id="339" r:id="rId34"/>
    <p:sldId id="379" r:id="rId35"/>
    <p:sldId id="393" r:id="rId36"/>
    <p:sldId id="395" r:id="rId37"/>
    <p:sldId id="39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C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B6250-229E-4EB9-9B07-C15A6B53CAAD}" type="datetimeFigureOut">
              <a:rPr lang="en-US" smtClean="0"/>
              <a:t>18-Oct-25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C04D0-CB01-4345-91A8-15ED0A2E42FA}" type="slidenum">
              <a:rPr lang="en-US" smtClean="0"/>
              <a:t>‹#›</a:t>
            </a:fld>
            <a:endParaRPr lang="en-US"/>
          </a:p>
        </p:txBody>
      </p:sp>
    </p:spTree>
    <p:extLst>
      <p:ext uri="{BB962C8B-B14F-4D97-AF65-F5344CB8AC3E}">
        <p14:creationId xmlns:p14="http://schemas.microsoft.com/office/powerpoint/2010/main" val="2308130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95703-381E-4D13-9EA2-BC83D76C34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649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EB86FC3-F7B5-4324-A3F3-E8DADC879DC2}" type="slidenum">
              <a:rPr lang="vi-VN" smtClean="0"/>
              <a:t>19</a:t>
            </a:fld>
            <a:endParaRPr lang="vi-VN"/>
          </a:p>
        </p:txBody>
      </p:sp>
    </p:spTree>
    <p:extLst>
      <p:ext uri="{BB962C8B-B14F-4D97-AF65-F5344CB8AC3E}">
        <p14:creationId xmlns:p14="http://schemas.microsoft.com/office/powerpoint/2010/main" val="3641154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ADDBA6-7898-4A7E-81D8-4315F9153EB6}" type="datetimeFigureOut">
              <a:rPr lang="en-US" smtClean="0"/>
              <a:t>18-Oct-25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5157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DBA6-7898-4A7E-81D8-4315F9153EB6}" type="datetimeFigureOut">
              <a:rPr lang="en-US" smtClean="0"/>
              <a:t>18-Oct-25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211399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ADDBA6-7898-4A7E-81D8-4315F9153EB6}" type="datetimeFigureOut">
              <a:rPr lang="en-US" smtClean="0"/>
              <a:t>18-Oct-25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65491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ADDBA6-7898-4A7E-81D8-4315F9153EB6}" type="datetimeFigureOut">
              <a:rPr lang="en-US" smtClean="0"/>
              <a:t>18-Oct-25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035397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ADDBA6-7898-4A7E-81D8-4315F9153EB6}" type="datetimeFigureOut">
              <a:rPr lang="en-US" smtClean="0"/>
              <a:t>18-Oct-25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97306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DBA6-7898-4A7E-81D8-4315F9153EB6}" type="datetimeFigureOut">
              <a:rPr lang="en-US" smtClean="0"/>
              <a:t>18-Oct-25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548112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18-Oct-25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945192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18-Oct-25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770431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18-Oct-25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714936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18-Oct-25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3045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18-Oct-25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2014059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18-Oct-25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040188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746281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60057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18-Oct-25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3600371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rtboard 1"/>
          <p:cNvPicPr>
            <a:picLocks noChangeAspect="1"/>
          </p:cNvPicPr>
          <p:nvPr/>
        </p:nvPicPr>
        <p:blipFill>
          <a:blip r:embed="rId3"/>
          <a:stretch>
            <a:fillRect/>
          </a:stretch>
        </p:blipFill>
        <p:spPr>
          <a:xfrm>
            <a:off x="0" y="-9413"/>
            <a:ext cx="12190730" cy="6857365"/>
          </a:xfrm>
          <a:prstGeom prst="rect">
            <a:avLst/>
          </a:prstGeom>
        </p:spPr>
      </p:pic>
      <p:sp>
        <p:nvSpPr>
          <p:cNvPr id="5" name="TextBox 6"/>
          <p:cNvSpPr txBox="1"/>
          <p:nvPr/>
        </p:nvSpPr>
        <p:spPr>
          <a:xfrm>
            <a:off x="6941584" y="4196532"/>
            <a:ext cx="4562946" cy="95866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Giảng</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viên</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ThS</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Lý Liệt Thanh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Thời</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lượng</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30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tiết</a:t>
            </a:r>
            <a:endParaRPr kumimoji="0" lang="vi-VN"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9" name="Picture 8" descr="Untitled-4"/>
          <p:cNvPicPr>
            <a:picLocks noChangeAspect="1"/>
          </p:cNvPicPr>
          <p:nvPr/>
        </p:nvPicPr>
        <p:blipFill>
          <a:blip r:embed="rId4"/>
          <a:stretch>
            <a:fillRect/>
          </a:stretch>
        </p:blipFill>
        <p:spPr>
          <a:xfrm>
            <a:off x="6790055" y="985520"/>
            <a:ext cx="4866005" cy="1176020"/>
          </a:xfrm>
          <a:prstGeom prst="rect">
            <a:avLst/>
          </a:prstGeom>
        </p:spPr>
      </p:pic>
      <p:sp>
        <p:nvSpPr>
          <p:cNvPr id="7" name="TextBox 16">
            <a:extLst>
              <a:ext uri="{FF2B5EF4-FFF2-40B4-BE49-F238E27FC236}">
                <a16:creationId xmlns:a16="http://schemas.microsoft.com/office/drawing/2014/main" id="{F4DAA269-80D9-0965-13FC-31B6B3CE4AAD}"/>
              </a:ext>
            </a:extLst>
          </p:cNvPr>
          <p:cNvSpPr txBox="1"/>
          <p:nvPr/>
        </p:nvSpPr>
        <p:spPr>
          <a:xfrm>
            <a:off x="5561474" y="2703065"/>
            <a:ext cx="70178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QUẢN TRỊ KHÁCH SẠN </a:t>
            </a:r>
          </a:p>
        </p:txBody>
      </p:sp>
      <p:pic>
        <p:nvPicPr>
          <p:cNvPr id="8" name="Picture 7">
            <a:extLst>
              <a:ext uri="{FF2B5EF4-FFF2-40B4-BE49-F238E27FC236}">
                <a16:creationId xmlns:a16="http://schemas.microsoft.com/office/drawing/2014/main" id="{6813C165-78AF-FA6C-0ECE-9DFD5530E5D5}"/>
              </a:ext>
            </a:extLst>
          </p:cNvPr>
          <p:cNvPicPr>
            <a:picLocks noChangeAspect="1"/>
          </p:cNvPicPr>
          <p:nvPr/>
        </p:nvPicPr>
        <p:blipFill>
          <a:blip r:embed="rId5"/>
          <a:stretch>
            <a:fillRect/>
          </a:stretch>
        </p:blipFill>
        <p:spPr>
          <a:xfrm>
            <a:off x="0" y="-153600"/>
            <a:ext cx="12192000" cy="7011600"/>
          </a:xfrm>
          <a:prstGeom prst="rect">
            <a:avLst/>
          </a:prstGeom>
        </p:spPr>
      </p:pic>
    </p:spTree>
    <p:extLst>
      <p:ext uri="{BB962C8B-B14F-4D97-AF65-F5344CB8AC3E}">
        <p14:creationId xmlns:p14="http://schemas.microsoft.com/office/powerpoint/2010/main" val="2413375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CE89D-F5E8-E54B-7E31-EB19AA8EB20B}"/>
              </a:ext>
            </a:extLst>
          </p:cNvPr>
          <p:cNvSpPr txBox="1"/>
          <p:nvPr/>
        </p:nvSpPr>
        <p:spPr>
          <a:xfrm>
            <a:off x="1066800" y="2092269"/>
            <a:ext cx="10058400" cy="212365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QUẢN TRỊ KHÁCH SẠN </a:t>
            </a:r>
            <a:endParaRPr kumimoji="0" lang="vi-VN"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9711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7845-BD81-70EA-7817-C87B727B0981}"/>
              </a:ext>
            </a:extLst>
          </p:cNvPr>
          <p:cNvSpPr txBox="1"/>
          <p:nvPr/>
        </p:nvSpPr>
        <p:spPr>
          <a:xfrm>
            <a:off x="502278" y="1615989"/>
            <a:ext cx="64008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MỤC TIÊU  MÔN HỌC </a:t>
            </a:r>
            <a:endParaRPr kumimoji="0" lang="vi-VN"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02C6DCF9-2315-620C-C476-599EC479915E}"/>
              </a:ext>
            </a:extLst>
          </p:cNvPr>
          <p:cNvSpPr txBox="1"/>
          <p:nvPr/>
        </p:nvSpPr>
        <p:spPr>
          <a:xfrm>
            <a:off x="502278" y="2571177"/>
            <a:ext cx="11344760" cy="3604898"/>
          </a:xfrm>
          <a:prstGeom prst="rect">
            <a:avLst/>
          </a:prstGeom>
          <a:noFill/>
        </p:spPr>
        <p:txBody>
          <a:bodyPr wrap="square">
            <a:spAutoFit/>
          </a:bodyPr>
          <a:lstStyle/>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chung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cấu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lao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giao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tích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lập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30881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44ED3-5042-BBEE-12C1-34C48731D4BA}"/>
              </a:ext>
            </a:extLst>
          </p:cNvPr>
          <p:cNvSpPr txBox="1"/>
          <p:nvPr/>
        </p:nvSpPr>
        <p:spPr>
          <a:xfrm>
            <a:off x="5366657" y="238499"/>
            <a:ext cx="65079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NỘI DUNG CHƯƠNG TRÌNH  </a:t>
            </a:r>
            <a:endParaRPr kumimoji="0" lang="vi-VN"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4" name="Table 3">
            <a:extLst>
              <a:ext uri="{FF2B5EF4-FFF2-40B4-BE49-F238E27FC236}">
                <a16:creationId xmlns:a16="http://schemas.microsoft.com/office/drawing/2014/main" id="{5C02EC93-EA35-C460-37CD-2B7687E052C0}"/>
              </a:ext>
            </a:extLst>
          </p:cNvPr>
          <p:cNvGraphicFramePr>
            <a:graphicFrameLocks noGrp="1"/>
          </p:cNvGraphicFramePr>
          <p:nvPr/>
        </p:nvGraphicFramePr>
        <p:xfrm>
          <a:off x="294468" y="1064125"/>
          <a:ext cx="10879810" cy="1820802"/>
        </p:xfrm>
        <a:graphic>
          <a:graphicData uri="http://schemas.openxmlformats.org/drawingml/2006/table">
            <a:tbl>
              <a:tblPr>
                <a:tableStyleId>{5C22544A-7EE6-4342-B048-85BDC9FD1C3A}</a:tableStyleId>
              </a:tblPr>
              <a:tblGrid>
                <a:gridCol w="1789205">
                  <a:extLst>
                    <a:ext uri="{9D8B030D-6E8A-4147-A177-3AD203B41FA5}">
                      <a16:colId xmlns:a16="http://schemas.microsoft.com/office/drawing/2014/main" val="2368574806"/>
                    </a:ext>
                  </a:extLst>
                </a:gridCol>
                <a:gridCol w="9090605">
                  <a:extLst>
                    <a:ext uri="{9D8B030D-6E8A-4147-A177-3AD203B41FA5}">
                      <a16:colId xmlns:a16="http://schemas.microsoft.com/office/drawing/2014/main" val="470480153"/>
                    </a:ext>
                  </a:extLst>
                </a:gridCol>
              </a:tblGrid>
              <a:tr h="0">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a:t>
                      </a:r>
                    </a:p>
                  </a:txBody>
                  <a:tcPr marL="66299" marR="66299" marT="0" marB="0" anchor="ctr"/>
                </a:tc>
                <a:tc>
                  <a:txBody>
                    <a:bodyPr/>
                    <a:lstStyle/>
                    <a:p>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476048800"/>
                  </a:ext>
                </a:extLst>
              </a:tr>
              <a:tr h="202581">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1.1.</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 sử hình thành và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460742267"/>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1.2.</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vi-VN"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khái niệm cơ bản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1411431812"/>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1.3.</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và xếp hạng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615906"/>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1.4.</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cấu tổ chức của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973927035"/>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94786579"/>
                  </a:ext>
                </a:extLst>
              </a:tr>
            </a:tbl>
          </a:graphicData>
        </a:graphic>
      </p:graphicFrame>
      <p:graphicFrame>
        <p:nvGraphicFramePr>
          <p:cNvPr id="5" name="Table 4">
            <a:extLst>
              <a:ext uri="{FF2B5EF4-FFF2-40B4-BE49-F238E27FC236}">
                <a16:creationId xmlns:a16="http://schemas.microsoft.com/office/drawing/2014/main" id="{AB456307-816C-D06D-B254-47B52FD6CFAC}"/>
              </a:ext>
            </a:extLst>
          </p:cNvPr>
          <p:cNvGraphicFramePr>
            <a:graphicFrameLocks noGrp="1"/>
          </p:cNvGraphicFramePr>
          <p:nvPr/>
        </p:nvGraphicFramePr>
        <p:xfrm>
          <a:off x="282474" y="2966519"/>
          <a:ext cx="10864312" cy="1820802"/>
        </p:xfrm>
        <a:graphic>
          <a:graphicData uri="http://schemas.openxmlformats.org/drawingml/2006/table">
            <a:tbl>
              <a:tblPr>
                <a:tableStyleId>{5C22544A-7EE6-4342-B048-85BDC9FD1C3A}</a:tableStyleId>
              </a:tblPr>
              <a:tblGrid>
                <a:gridCol w="1768609">
                  <a:extLst>
                    <a:ext uri="{9D8B030D-6E8A-4147-A177-3AD203B41FA5}">
                      <a16:colId xmlns:a16="http://schemas.microsoft.com/office/drawing/2014/main" val="2865336541"/>
                    </a:ext>
                  </a:extLst>
                </a:gridCol>
                <a:gridCol w="9095703">
                  <a:extLst>
                    <a:ext uri="{9D8B030D-6E8A-4147-A177-3AD203B41FA5}">
                      <a16:colId xmlns:a16="http://schemas.microsoft.com/office/drawing/2014/main" val="2930767451"/>
                    </a:ext>
                  </a:extLst>
                </a:gridCol>
              </a:tblGrid>
              <a:tr h="202581">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622322330"/>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nhiệm vụ của bộ phận tiền 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816642246"/>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97162349"/>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815115883"/>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268459174"/>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2.5.</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598625922"/>
                  </a:ext>
                </a:extLst>
              </a:tr>
            </a:tbl>
          </a:graphicData>
        </a:graphic>
      </p:graphicFrame>
      <p:graphicFrame>
        <p:nvGraphicFramePr>
          <p:cNvPr id="6" name="Table 5">
            <a:extLst>
              <a:ext uri="{FF2B5EF4-FFF2-40B4-BE49-F238E27FC236}">
                <a16:creationId xmlns:a16="http://schemas.microsoft.com/office/drawing/2014/main" id="{984F8D1D-637F-34F3-59F8-5195603D0825}"/>
              </a:ext>
            </a:extLst>
          </p:cNvPr>
          <p:cNvGraphicFramePr>
            <a:graphicFrameLocks noGrp="1"/>
          </p:cNvGraphicFramePr>
          <p:nvPr/>
        </p:nvGraphicFramePr>
        <p:xfrm>
          <a:off x="294468" y="4862436"/>
          <a:ext cx="10864312" cy="1652775"/>
        </p:xfrm>
        <a:graphic>
          <a:graphicData uri="http://schemas.openxmlformats.org/drawingml/2006/table">
            <a:tbl>
              <a:tblPr>
                <a:tableStyleId>{5C22544A-7EE6-4342-B048-85BDC9FD1C3A}</a:tableStyleId>
              </a:tblPr>
              <a:tblGrid>
                <a:gridCol w="1840797">
                  <a:extLst>
                    <a:ext uri="{9D8B030D-6E8A-4147-A177-3AD203B41FA5}">
                      <a16:colId xmlns:a16="http://schemas.microsoft.com/office/drawing/2014/main" val="854789265"/>
                    </a:ext>
                  </a:extLst>
                </a:gridCol>
                <a:gridCol w="9023515">
                  <a:extLst>
                    <a:ext uri="{9D8B030D-6E8A-4147-A177-3AD203B41FA5}">
                      <a16:colId xmlns:a16="http://schemas.microsoft.com/office/drawing/2014/main" val="3956250642"/>
                    </a:ext>
                  </a:extLst>
                </a:gridCol>
              </a:tblGrid>
              <a:tr h="438907">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421414538"/>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3.1.</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860183992"/>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10860125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3679089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61867572"/>
                  </a:ext>
                </a:extLst>
              </a:tr>
            </a:tbl>
          </a:graphicData>
        </a:graphic>
      </p:graphicFrame>
    </p:spTree>
    <p:extLst>
      <p:ext uri="{BB962C8B-B14F-4D97-AF65-F5344CB8AC3E}">
        <p14:creationId xmlns:p14="http://schemas.microsoft.com/office/powerpoint/2010/main" val="138229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59A0C7-29CF-59A1-87D6-891D77B6B41D}"/>
              </a:ext>
            </a:extLst>
          </p:cNvPr>
          <p:cNvGraphicFramePr>
            <a:graphicFrameLocks noGrp="1"/>
          </p:cNvGraphicFramePr>
          <p:nvPr/>
        </p:nvGraphicFramePr>
        <p:xfrm>
          <a:off x="539120" y="1204126"/>
          <a:ext cx="10515600" cy="1517335"/>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1106697701"/>
                    </a:ext>
                  </a:extLst>
                </a:gridCol>
                <a:gridCol w="8629636">
                  <a:extLst>
                    <a:ext uri="{9D8B030D-6E8A-4147-A177-3AD203B41FA5}">
                      <a16:colId xmlns:a16="http://schemas.microsoft.com/office/drawing/2014/main" val="3632730796"/>
                    </a:ext>
                  </a:extLst>
                </a:gridCol>
              </a:tblGrid>
              <a:tr h="202581">
                <a:tc>
                  <a:txBody>
                    <a:bodyPr/>
                    <a:lstStyle/>
                    <a:p>
                      <a:pPr algn="ctr">
                        <a:lnSpc>
                          <a:spcPct val="115000"/>
                        </a:lnSpc>
                        <a:spcAft>
                          <a:spcPts val="300"/>
                        </a:spcAft>
                      </a:pPr>
                      <a:r>
                        <a:rPr lang="nl-NL"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169803711"/>
                  </a:ext>
                </a:extLst>
              </a:tr>
              <a:tr h="202581">
                <a:tc>
                  <a:txBody>
                    <a:bodyPr/>
                    <a:lstStyle/>
                    <a:p>
                      <a:pPr algn="ctr">
                        <a:lnSpc>
                          <a:spcPct val="115000"/>
                        </a:lnSpc>
                        <a:spcAft>
                          <a:spcPts val="300"/>
                        </a:spcAft>
                      </a:pP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4.1.</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21056423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4.2.</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299" marR="66299" marT="0" marB="0" anchor="ctr"/>
                </a:tc>
                <a:extLst>
                  <a:ext uri="{0D108BD9-81ED-4DB2-BD59-A6C34878D82A}">
                    <a16:rowId xmlns:a16="http://schemas.microsoft.com/office/drawing/2014/main" val="2371487698"/>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84694603"/>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23191977"/>
                  </a:ext>
                </a:extLst>
              </a:tr>
            </a:tbl>
          </a:graphicData>
        </a:graphic>
      </p:graphicFrame>
      <p:graphicFrame>
        <p:nvGraphicFramePr>
          <p:cNvPr id="3" name="Table 2">
            <a:extLst>
              <a:ext uri="{FF2B5EF4-FFF2-40B4-BE49-F238E27FC236}">
                <a16:creationId xmlns:a16="http://schemas.microsoft.com/office/drawing/2014/main" id="{B464C6B4-70F7-3FB2-26DA-6951DE608222}"/>
              </a:ext>
            </a:extLst>
          </p:cNvPr>
          <p:cNvGraphicFramePr>
            <a:graphicFrameLocks noGrp="1"/>
          </p:cNvGraphicFramePr>
          <p:nvPr/>
        </p:nvGraphicFramePr>
        <p:xfrm>
          <a:off x="539120" y="2962388"/>
          <a:ext cx="10515600" cy="933223"/>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755161747"/>
                    </a:ext>
                  </a:extLst>
                </a:gridCol>
                <a:gridCol w="8629636">
                  <a:extLst>
                    <a:ext uri="{9D8B030D-6E8A-4147-A177-3AD203B41FA5}">
                      <a16:colId xmlns:a16="http://schemas.microsoft.com/office/drawing/2014/main" val="3531639564"/>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a:t>
                      </a:r>
                    </a:p>
                  </a:txBody>
                  <a:tcPr marL="66299" marR="66299" marT="0" marB="0" anchor="ctr"/>
                </a:tc>
                <a:tc>
                  <a:txBody>
                    <a:bodyPr/>
                    <a:lstStyle/>
                    <a:p>
                      <a:pPr>
                        <a:lnSpc>
                          <a:spcPct val="115000"/>
                        </a:lnSpc>
                        <a:spcAft>
                          <a:spcPts val="300"/>
                        </a:spcAft>
                      </a:pP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97825311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5.1.</a:t>
                      </a:r>
                    </a:p>
                  </a:txBody>
                  <a:tcPr marL="66299" marR="66299" marT="0" marB="0" anchor="ctr"/>
                </a:tc>
                <a:tc>
                  <a:txBody>
                    <a:bodyPr/>
                    <a:lstStyle/>
                    <a:p>
                      <a:pPr>
                        <a:lnSpc>
                          <a:spcPct val="115000"/>
                        </a:lnSpc>
                        <a:spcAft>
                          <a:spcPts val="300"/>
                        </a:spcAft>
                      </a:pPr>
                      <a:r>
                        <a:rPr lang="fr-FR"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dịch vụ bổ sung trong kinh doanh khách sạn</a:t>
                      </a:r>
                      <a:endPar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552319"/>
                  </a:ext>
                </a:extLst>
              </a:tr>
              <a:tr h="326289">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5.2.</a:t>
                      </a:r>
                    </a:p>
                  </a:txBody>
                  <a:tcPr marL="66299" marR="66299" marT="0" marB="0" anchor="ctr"/>
                </a:tc>
                <a:tc>
                  <a:txBody>
                    <a:bodyPr/>
                    <a:lstStyle/>
                    <a:p>
                      <a:pPr>
                        <a:lnSpc>
                          <a:spcPct val="115000"/>
                        </a:lnSpc>
                        <a:spcAft>
                          <a:spcPts val="300"/>
                        </a:spcAft>
                      </a:pP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63458410"/>
                  </a:ext>
                </a:extLst>
              </a:tr>
            </a:tbl>
          </a:graphicData>
        </a:graphic>
      </p:graphicFrame>
      <p:graphicFrame>
        <p:nvGraphicFramePr>
          <p:cNvPr id="4" name="Table 3">
            <a:extLst>
              <a:ext uri="{FF2B5EF4-FFF2-40B4-BE49-F238E27FC236}">
                <a16:creationId xmlns:a16="http://schemas.microsoft.com/office/drawing/2014/main" id="{306905C3-CFCB-DEEE-0C8A-DDCC89F69DE1}"/>
              </a:ext>
            </a:extLst>
          </p:cNvPr>
          <p:cNvGraphicFramePr>
            <a:graphicFrameLocks noGrp="1"/>
          </p:cNvGraphicFramePr>
          <p:nvPr/>
        </p:nvGraphicFramePr>
        <p:xfrm>
          <a:off x="539120" y="4136538"/>
          <a:ext cx="10515600" cy="1827334"/>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398876781"/>
                    </a:ext>
                  </a:extLst>
                </a:gridCol>
                <a:gridCol w="8629636">
                  <a:extLst>
                    <a:ext uri="{9D8B030D-6E8A-4147-A177-3AD203B41FA5}">
                      <a16:colId xmlns:a16="http://schemas.microsoft.com/office/drawing/2014/main" val="2654551777"/>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6</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a:txBody>
                  <a:tcPr marL="66299" marR="66299" marT="0" marB="0" anchor="ctr"/>
                </a:tc>
                <a:extLst>
                  <a:ext uri="{0D108BD9-81ED-4DB2-BD59-A6C34878D82A}">
                    <a16:rowId xmlns:a16="http://schemas.microsoft.com/office/drawing/2014/main" val="2364313024"/>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6.1.</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p>
                  </a:txBody>
                  <a:tcPr marL="66299" marR="66299" marT="0" marB="0" anchor="ctr"/>
                </a:tc>
                <a:extLst>
                  <a:ext uri="{0D108BD9-81ED-4DB2-BD59-A6C34878D82A}">
                    <a16:rowId xmlns:a16="http://schemas.microsoft.com/office/drawing/2014/main" val="973537183"/>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6.2.</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07355642"/>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716912530"/>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6.4.</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p>
                  </a:txBody>
                  <a:tcPr marL="66299" marR="66299" marT="0" marB="0" anchor="ctr"/>
                </a:tc>
                <a:extLst>
                  <a:ext uri="{0D108BD9-81ED-4DB2-BD59-A6C34878D82A}">
                    <a16:rowId xmlns:a16="http://schemas.microsoft.com/office/drawing/2014/main" val="333648669"/>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6.5.</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7633178"/>
                  </a:ext>
                </a:extLst>
              </a:tr>
            </a:tbl>
          </a:graphicData>
        </a:graphic>
      </p:graphicFrame>
    </p:spTree>
    <p:extLst>
      <p:ext uri="{BB962C8B-B14F-4D97-AF65-F5344CB8AC3E}">
        <p14:creationId xmlns:p14="http://schemas.microsoft.com/office/powerpoint/2010/main" val="1489965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8C1CB-E887-ECF7-6125-537F06A05485}"/>
              </a:ext>
            </a:extLst>
          </p:cNvPr>
          <p:cNvSpPr txBox="1"/>
          <p:nvPr/>
        </p:nvSpPr>
        <p:spPr>
          <a:xfrm>
            <a:off x="537940" y="1848298"/>
            <a:ext cx="485096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THAM KHẢO </a:t>
            </a:r>
            <a:endParaRPr kumimoji="0" lang="vi-VN"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9A60FD1-86A1-7739-A279-033C5F439FDA}"/>
              </a:ext>
            </a:extLst>
          </p:cNvPr>
          <p:cNvSpPr txBox="1"/>
          <p:nvPr/>
        </p:nvSpPr>
        <p:spPr>
          <a:xfrm>
            <a:off x="537940" y="2923179"/>
            <a:ext cx="11344759" cy="2718501"/>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300"/>
              </a:spcAft>
              <a:buClrTx/>
              <a:buSzTx/>
              <a:buFontTx/>
              <a:buNone/>
              <a:tabLst/>
              <a:defRPr/>
            </a:pPr>
            <a:r>
              <a:rPr kumimoji="0" lang="vi-VN"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chính</a:t>
            </a:r>
            <a:endPar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0" algn="just" defTabSz="914400" rtl="0" eaLnBrk="1" fontAlgn="auto" latinLnBrk="0" hangingPunct="1">
              <a:lnSpc>
                <a:spcPct val="115000"/>
              </a:lnSpc>
              <a:spcBef>
                <a:spcPts val="0"/>
              </a:spcBef>
              <a:spcAft>
                <a:spcPts val="300"/>
              </a:spcAft>
              <a:buClrTx/>
              <a:buSzTx/>
              <a:buFontTx/>
              <a:buNone/>
              <a:tabLst>
                <a:tab pos="685800" algn="l"/>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Phạm Xuân Hậu (chủ biên), (2019), </a:t>
            </a:r>
            <a:r>
              <a:rPr kumimoji="0" lang="vi-VN" sz="2400" b="1" i="1"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Giáo trình Tổng quan Quản trị khách sạn,</a:t>
            </a: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NXB.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TP.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Hồ</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Chí Minh.</a:t>
            </a:r>
          </a:p>
          <a:p>
            <a:pPr marL="0" marR="0" lvl="0" indent="0" algn="l" defTabSz="914400" rtl="0" eaLnBrk="1" fontAlgn="auto" latinLnBrk="0" hangingPunct="1">
              <a:lnSpc>
                <a:spcPct val="115000"/>
              </a:lnSpc>
              <a:spcBef>
                <a:spcPts val="0"/>
              </a:spcBef>
              <a:spcAft>
                <a:spcPts val="300"/>
              </a:spcAft>
              <a:buClrTx/>
              <a:buSzTx/>
              <a:buFontTx/>
              <a:buNone/>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a:t>
            </a:r>
            <a:r>
              <a:rPr kumimoji="0" lang="en-US" sz="2400" b="1" i="0" u="none" strike="noStrike" kern="1200" cap="none" spc="0" normalizeH="0" baseline="0" noProof="0" dirty="0" err="1">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khảo</a:t>
            </a:r>
            <a:endPar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1" fontAlgn="auto" latinLnBrk="0" hangingPunct="1">
              <a:lnSpc>
                <a:spcPct val="115000"/>
              </a:lnSpc>
              <a:spcBef>
                <a:spcPts val="0"/>
              </a:spcBef>
              <a:spcAft>
                <a:spcPts val="300"/>
              </a:spcAft>
              <a:buClrTx/>
              <a:buSzTx/>
              <a:buFontTx/>
              <a:buNone/>
              <a:tabLst>
                <a:tab pos="457200" algn="l"/>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Bài giảng Tổng quan về Quản trị khách sạn (giảng viên cung cấp), Lưu hành nội bộ.</a:t>
            </a:r>
            <a:endPar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4330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C91BF58-6AF9-0D5B-617E-83F219DB6C36}"/>
              </a:ext>
            </a:extLst>
          </p:cNvPr>
          <p:cNvSpPr txBox="1"/>
          <p:nvPr/>
        </p:nvSpPr>
        <p:spPr>
          <a:xfrm>
            <a:off x="862641" y="1123623"/>
            <a:ext cx="10466717" cy="2667974"/>
          </a:xfrm>
          <a:prstGeom prst="rect">
            <a:avLst/>
          </a:prstGeom>
          <a:noFill/>
        </p:spPr>
        <p:txBody>
          <a:bodyPr wrap="square">
            <a:spAutoFit/>
          </a:bodyPr>
          <a:lstStyle/>
          <a:p>
            <a:pPr algn="ctr">
              <a:lnSpc>
                <a:spcPct val="115000"/>
              </a:lnSpc>
              <a:spcAft>
                <a:spcPts val="800"/>
              </a:spcAft>
            </a:pPr>
            <a:r>
              <a:rPr lang="nl-NL" sz="48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48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5  </a:t>
            </a:r>
          </a:p>
          <a:p>
            <a:pPr algn="ctr">
              <a:lnSpc>
                <a:spcPct val="115000"/>
              </a:lnSpc>
              <a:spcAft>
                <a:spcPts val="800"/>
              </a:spcAft>
            </a:pPr>
            <a:r>
              <a:rPr lang="en-US" sz="48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DỊCH VỤ BỔ SUNG TRONG KHÁCH SẠN</a:t>
            </a:r>
            <a:endParaRPr lang="en-US" sz="32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2" name="Table 1">
            <a:extLst>
              <a:ext uri="{FF2B5EF4-FFF2-40B4-BE49-F238E27FC236}">
                <a16:creationId xmlns:a16="http://schemas.microsoft.com/office/drawing/2014/main" id="{29F77934-447A-95D1-161F-4F67FD2F0547}"/>
              </a:ext>
            </a:extLst>
          </p:cNvPr>
          <p:cNvGraphicFramePr>
            <a:graphicFrameLocks noGrp="1"/>
          </p:cNvGraphicFramePr>
          <p:nvPr/>
        </p:nvGraphicFramePr>
        <p:xfrm>
          <a:off x="595094" y="3949932"/>
          <a:ext cx="11473131" cy="1278256"/>
        </p:xfrm>
        <a:graphic>
          <a:graphicData uri="http://schemas.openxmlformats.org/drawingml/2006/table">
            <a:tbl>
              <a:tblPr>
                <a:tableStyleId>{5C22544A-7EE6-4342-B048-85BDC9FD1C3A}</a:tableStyleId>
              </a:tblPr>
              <a:tblGrid>
                <a:gridCol w="11473131">
                  <a:extLst>
                    <a:ext uri="{9D8B030D-6E8A-4147-A177-3AD203B41FA5}">
                      <a16:colId xmlns:a16="http://schemas.microsoft.com/office/drawing/2014/main" val="768542385"/>
                    </a:ext>
                  </a:extLst>
                </a:gridCol>
              </a:tblGrid>
              <a:tr h="0">
                <a:tc>
                  <a:txBody>
                    <a:bodyPr/>
                    <a:lstStyle/>
                    <a:p>
                      <a:pPr marL="342900" indent="-342900">
                        <a:lnSpc>
                          <a:spcPct val="150000"/>
                        </a:lnSpc>
                        <a:spcAft>
                          <a:spcPts val="300"/>
                        </a:spcAft>
                        <a:buFont typeface="Wingdings" panose="05000000000000000000" pitchFamily="2" charset="2"/>
                        <a:buChar char="q"/>
                      </a:pP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solidFill>
                      <a:schemeClr val="bg1"/>
                    </a:solidFill>
                  </a:tcPr>
                </a:tc>
                <a:extLst>
                  <a:ext uri="{0D108BD9-81ED-4DB2-BD59-A6C34878D82A}">
                    <a16:rowId xmlns:a16="http://schemas.microsoft.com/office/drawing/2014/main" val="3753099796"/>
                  </a:ext>
                </a:extLst>
              </a:tr>
              <a:tr h="202581">
                <a:tc>
                  <a:txBody>
                    <a:bodyPr/>
                    <a:lstStyle/>
                    <a:p>
                      <a:pPr marL="342900" indent="-342900">
                        <a:lnSpc>
                          <a:spcPct val="150000"/>
                        </a:lnSpc>
                        <a:spcAft>
                          <a:spcPts val="300"/>
                        </a:spcAft>
                        <a:buFont typeface="Wingdings" panose="05000000000000000000" pitchFamily="2" charset="2"/>
                        <a:buChar char="q"/>
                      </a:pP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32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solidFill>
                      <a:schemeClr val="bg1"/>
                    </a:solidFill>
                  </a:tcPr>
                </a:tc>
                <a:extLst>
                  <a:ext uri="{0D108BD9-81ED-4DB2-BD59-A6C34878D82A}">
                    <a16:rowId xmlns:a16="http://schemas.microsoft.com/office/drawing/2014/main" val="2455331018"/>
                  </a:ext>
                </a:extLst>
              </a:tr>
            </a:tbl>
          </a:graphicData>
        </a:graphic>
      </p:graphicFrame>
    </p:spTree>
    <p:extLst>
      <p:ext uri="{BB962C8B-B14F-4D97-AF65-F5344CB8AC3E}">
        <p14:creationId xmlns:p14="http://schemas.microsoft.com/office/powerpoint/2010/main" val="1373674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5D0D1E-FAE5-4589-9ED6-5D677D704958}"/>
              </a:ext>
            </a:extLst>
          </p:cNvPr>
          <p:cNvSpPr txBox="1"/>
          <p:nvPr/>
        </p:nvSpPr>
        <p:spPr>
          <a:xfrm>
            <a:off x="740228" y="2072278"/>
            <a:ext cx="6098582" cy="584775"/>
          </a:xfrm>
          <a:prstGeom prst="rect">
            <a:avLst/>
          </a:prstGeom>
          <a:noFill/>
        </p:spPr>
        <p:txBody>
          <a:bodyPr wrap="square">
            <a:spAutoFit/>
          </a:bodyPr>
          <a:lstStyle/>
          <a:p>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BÀI HỌC </a:t>
            </a:r>
          </a:p>
        </p:txBody>
      </p:sp>
      <p:sp>
        <p:nvSpPr>
          <p:cNvPr id="3" name="TextBox 2">
            <a:extLst>
              <a:ext uri="{FF2B5EF4-FFF2-40B4-BE49-F238E27FC236}">
                <a16:creationId xmlns:a16="http://schemas.microsoft.com/office/drawing/2014/main" id="{36A9A0B6-EF9F-E59A-4EF0-98743656A98A}"/>
              </a:ext>
            </a:extLst>
          </p:cNvPr>
          <p:cNvSpPr txBox="1"/>
          <p:nvPr/>
        </p:nvSpPr>
        <p:spPr>
          <a:xfrm>
            <a:off x="740228" y="3003092"/>
            <a:ext cx="10711544" cy="2238370"/>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rõ</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sung</a:t>
            </a:r>
          </a:p>
          <a:p>
            <a:pPr marL="285750" indent="-285750">
              <a:lnSpc>
                <a:spcPct val="150000"/>
              </a:lnSpc>
              <a:buFont typeface="Wingdings" panose="05000000000000000000" pitchFamily="2" charset="2"/>
              <a:buChar char="q"/>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khả năng phân loại các dịch vụ bổ sung theo các nhóm khác nhau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nSpc>
                <a:spcPct val="150000"/>
              </a:lnSpc>
              <a:buFont typeface="Wingdings" panose="05000000000000000000" pitchFamily="2" charset="2"/>
              <a:buChar char="q"/>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iết cách nhận diện các dịch vụ bổ sung trong thực tế</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nSpc>
                <a:spcPct val="150000"/>
              </a:lnSpc>
              <a:buFont typeface="Wingdings" panose="05000000000000000000" pitchFamily="2" charset="2"/>
              <a:buChar char="q"/>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lợi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ích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từ</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sung</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1553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D04471-ACAF-7732-1900-06DCF4C21748}"/>
              </a:ext>
            </a:extLst>
          </p:cNvPr>
          <p:cNvSpPr txBox="1"/>
          <p:nvPr/>
        </p:nvSpPr>
        <p:spPr>
          <a:xfrm>
            <a:off x="521433" y="1252224"/>
            <a:ext cx="11080631" cy="992579"/>
          </a:xfrm>
          <a:prstGeom prst="rect">
            <a:avLst/>
          </a:prstGeom>
          <a:noFill/>
        </p:spPr>
        <p:txBody>
          <a:bodyPr wrap="square">
            <a:spAutoFit/>
          </a:bodyPr>
          <a:lstStyle/>
          <a:p>
            <a:pPr algn="ctr">
              <a:spcAft>
                <a:spcPts val="300"/>
              </a:spcAft>
            </a:pPr>
            <a:r>
              <a:rPr lang="fr-FR"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1. TỔNG QUAN VỀ DỊCH VỤ BỔ SUNG </a:t>
            </a:r>
          </a:p>
          <a:p>
            <a:pPr algn="ctr">
              <a:spcAft>
                <a:spcPts val="300"/>
              </a:spcAft>
            </a:pPr>
            <a:r>
              <a:rPr lang="fr-FR"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TRONG KINH DOANH KHÁCH SẠN</a:t>
            </a:r>
            <a:endPar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90E4119A-93B8-C2AC-3FA6-19EE3594A817}"/>
              </a:ext>
            </a:extLst>
          </p:cNvPr>
          <p:cNvSpPr txBox="1"/>
          <p:nvPr/>
        </p:nvSpPr>
        <p:spPr>
          <a:xfrm>
            <a:off x="521433" y="2513116"/>
            <a:ext cx="11636316" cy="576376"/>
          </a:xfrm>
          <a:prstGeom prst="rect">
            <a:avLst/>
          </a:prstGeom>
          <a:noFill/>
        </p:spPr>
        <p:txBody>
          <a:bodyPr wrap="square">
            <a:spAutoFit/>
          </a:bodyPr>
          <a:lstStyle/>
          <a:p>
            <a:pPr>
              <a:lnSpc>
                <a:spcPct val="150000"/>
              </a:lnSpc>
              <a:spcAft>
                <a:spcPts val="300"/>
              </a:spcAft>
            </a:pPr>
            <a:r>
              <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1.1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KHÁI NIỆM</a:t>
            </a:r>
            <a:r>
              <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VỀ DỊCH VỤ BỔ SUNG TRONG KINH DOANH KHÁCH SẠN</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9" name="TextBox 8">
            <a:extLst>
              <a:ext uri="{FF2B5EF4-FFF2-40B4-BE49-F238E27FC236}">
                <a16:creationId xmlns:a16="http://schemas.microsoft.com/office/drawing/2014/main" id="{04913600-0C36-0935-C993-658A0A5C1228}"/>
              </a:ext>
            </a:extLst>
          </p:cNvPr>
          <p:cNvSpPr txBox="1"/>
          <p:nvPr/>
        </p:nvSpPr>
        <p:spPr>
          <a:xfrm>
            <a:off x="521433" y="3357805"/>
            <a:ext cx="10431630" cy="2792367"/>
          </a:xfrm>
          <a:prstGeom prst="rect">
            <a:avLst/>
          </a:prstGeom>
          <a:noFill/>
        </p:spPr>
        <p:txBody>
          <a:bodyPr wrap="square">
            <a:spAutoFit/>
          </a:bodyPr>
          <a:lstStyle/>
          <a:p>
            <a:pPr algn="just">
              <a:lnSpc>
                <a:spcPct val="150000"/>
              </a:lnSpc>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bổ sung trong khách sạn là những dịch vụ không thuộc phạm vi dịch vụ chính của khách sạn (như lưu trú, ăn uống), nhưng được cung cấp thêm nhằm đáp ứng các nhu cầu khác của khách hàng. Những dịch vụ này góp phần làm tăng trải nghiệm của khách hàng, đồng thời tạo thêm nguồn thu cho khách sạn.</a:t>
            </a:r>
          </a:p>
        </p:txBody>
      </p:sp>
    </p:spTree>
    <p:extLst>
      <p:ext uri="{BB962C8B-B14F-4D97-AF65-F5344CB8AC3E}">
        <p14:creationId xmlns:p14="http://schemas.microsoft.com/office/powerpoint/2010/main" val="40511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EE25F2-0290-9A11-56B8-90945D84EE6B}"/>
              </a:ext>
            </a:extLst>
          </p:cNvPr>
          <p:cNvSpPr>
            <a:spLocks noChangeArrowheads="1"/>
          </p:cNvSpPr>
          <p:nvPr/>
        </p:nvSpPr>
        <p:spPr bwMode="auto">
          <a:xfrm>
            <a:off x="256173" y="1743923"/>
            <a:ext cx="11511758"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1800"/>
              </a:spcBef>
              <a:spcAft>
                <a:spcPct val="0"/>
              </a:spcAft>
              <a:buClrTx/>
              <a:buSzTx/>
              <a:tabLst/>
            </a:pP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VAI TRÒ CỦA DỊCH VỤ BỔ SUNG:</a:t>
            </a:r>
            <a:endParaRPr kumimoji="0" lang="en-US" altLang="en-US" sz="2400" b="0"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just" defTabSz="914400" rtl="0" eaLnBrk="0" fontAlgn="base" latinLnBrk="0" hangingPunct="0">
              <a:lnSpc>
                <a:spcPct val="100000"/>
              </a:lnSpc>
              <a:spcBef>
                <a:spcPts val="180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thoải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80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thêm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ngoài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80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cạnh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Những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trở</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trường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128336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93E3BB-E871-8EDA-044D-2F993504EB8F}"/>
              </a:ext>
            </a:extLst>
          </p:cNvPr>
          <p:cNvSpPr txBox="1"/>
          <p:nvPr/>
        </p:nvSpPr>
        <p:spPr>
          <a:xfrm>
            <a:off x="188843" y="1743923"/>
            <a:ext cx="11409801" cy="3370153"/>
          </a:xfrm>
          <a:prstGeom prst="rect">
            <a:avLst/>
          </a:prstGeom>
          <a:noFill/>
        </p:spPr>
        <p:txBody>
          <a:bodyPr wrap="square">
            <a:spAutoFit/>
          </a:bodyPr>
          <a:lstStyle/>
          <a:p>
            <a:pPr marL="0" marR="0" lvl="0" indent="0" algn="just" defTabSz="914400" rtl="0" eaLnBrk="0" fontAlgn="base" latinLnBrk="0" hangingPunct="0">
              <a:lnSpc>
                <a:spcPct val="100000"/>
              </a:lnSpc>
              <a:spcBef>
                <a:spcPts val="1800"/>
              </a:spcBef>
              <a:spcAft>
                <a:spcPct val="0"/>
              </a:spcAft>
              <a:buClrTx/>
              <a:buSzTx/>
              <a:tabLst/>
            </a:pPr>
            <a:r>
              <a:rPr lang="en-US" alt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CÁC YẾU TỐ ẢNH HƯỞNG ĐẾN DỊCH VỤ BỔ SUNG:</a:t>
            </a:r>
          </a:p>
          <a:p>
            <a:pPr marL="342900" marR="0" lvl="0" indent="-342900" algn="just" defTabSz="914400" rtl="0" eaLnBrk="0" fontAlgn="base" latinLnBrk="0" hangingPunct="0">
              <a:lnSpc>
                <a:spcPct val="100000"/>
              </a:lnSpc>
              <a:spcBef>
                <a:spcPts val="180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tượng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điểm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hưởng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80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thì</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80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lực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lực</a:t>
            </a:r>
            <a:r>
              <a:rPr kumimoji="0" lang="en-US" altLang="en-US" sz="1800" b="0" i="0" u="none" strike="noStrike" cap="none" normalizeH="0" baseline="0" dirty="0">
                <a:ln>
                  <a:noFill/>
                </a:ln>
                <a:solidFill>
                  <a:srgbClr val="002060"/>
                </a:solidFill>
                <a:effectLst/>
                <a:latin typeface="Arial" panose="020B0604020202020204" pitchFamily="34" charset="0"/>
              </a:rPr>
              <a:t>.</a:t>
            </a:r>
          </a:p>
        </p:txBody>
      </p:sp>
    </p:spTree>
    <p:extLst>
      <p:ext uri="{BB962C8B-B14F-4D97-AF65-F5344CB8AC3E}">
        <p14:creationId xmlns:p14="http://schemas.microsoft.com/office/powerpoint/2010/main" val="236672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3F2C0D-8FF2-A5F7-5DE0-74F6B8A10C87}"/>
              </a:ext>
            </a:extLst>
          </p:cNvPr>
          <p:cNvSpPr txBox="1"/>
          <p:nvPr/>
        </p:nvSpPr>
        <p:spPr>
          <a:xfrm>
            <a:off x="556591" y="1421296"/>
            <a:ext cx="8269357" cy="461665"/>
          </a:xfrm>
          <a:prstGeom prst="rect">
            <a:avLst/>
          </a:prstGeom>
          <a:noFill/>
        </p:spPr>
        <p:txBody>
          <a:bodyPr wrap="square" rtlCol="0">
            <a:spAutoFit/>
          </a:bodyPr>
          <a:lstStyle/>
          <a:p>
            <a:pPr algn="just" eaLnBrk="0" fontAlgn="base" hangingPunct="0">
              <a:spcBef>
                <a:spcPts val="1800"/>
              </a:spcBef>
              <a:spcAft>
                <a:spcPct val="0"/>
              </a:spcAft>
            </a:pP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CÁC ĐIỀU KIỆN PHÁT TRIỂN DỊCH VỤ BỔ SUNG </a:t>
            </a:r>
          </a:p>
        </p:txBody>
      </p:sp>
      <p:sp>
        <p:nvSpPr>
          <p:cNvPr id="5" name="TextBox 4">
            <a:extLst>
              <a:ext uri="{FF2B5EF4-FFF2-40B4-BE49-F238E27FC236}">
                <a16:creationId xmlns:a16="http://schemas.microsoft.com/office/drawing/2014/main" id="{5190B7B8-AC0F-54BA-9CB6-908B6F67FA2C}"/>
              </a:ext>
            </a:extLst>
          </p:cNvPr>
          <p:cNvSpPr txBox="1"/>
          <p:nvPr/>
        </p:nvSpPr>
        <p:spPr>
          <a:xfrm>
            <a:off x="675859" y="2295939"/>
            <a:ext cx="10197549" cy="3462486"/>
          </a:xfrm>
          <a:prstGeom prst="rect">
            <a:avLst/>
          </a:prstGeom>
          <a:noFill/>
        </p:spPr>
        <p:txBody>
          <a:bodyPr wrap="square" rtlCol="0">
            <a:spAutoFit/>
          </a:bodyPr>
          <a:lstStyle/>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KINH TẾ</a:t>
            </a:r>
          </a:p>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VỀCHÍNH SÁCH NHÀ NƯỚC </a:t>
            </a:r>
          </a:p>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VĂN HÓA XÃ HỘI </a:t>
            </a:r>
          </a:p>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NGUỒN NHÂN LỰC</a:t>
            </a:r>
          </a:p>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KHẢ NĂNG TÀI CHÍNH </a:t>
            </a:r>
          </a:p>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CƠ SỞ VẬT CHẤT KỶ THUẬT VÀ CÔNG NGHỆ </a:t>
            </a:r>
          </a:p>
        </p:txBody>
      </p:sp>
      <p:sp>
        <p:nvSpPr>
          <p:cNvPr id="7" name="TextBox 6">
            <a:extLst>
              <a:ext uri="{FF2B5EF4-FFF2-40B4-BE49-F238E27FC236}">
                <a16:creationId xmlns:a16="http://schemas.microsoft.com/office/drawing/2014/main" id="{CCF88837-3CE5-A6DA-3CB3-B59659D8E495}"/>
              </a:ext>
            </a:extLst>
          </p:cNvPr>
          <p:cNvSpPr txBox="1"/>
          <p:nvPr/>
        </p:nvSpPr>
        <p:spPr>
          <a:xfrm>
            <a:off x="5625546" y="352047"/>
            <a:ext cx="6097656" cy="461665"/>
          </a:xfrm>
          <a:prstGeom prst="rect">
            <a:avLst/>
          </a:prstGeom>
          <a:noFill/>
        </p:spPr>
        <p:txBody>
          <a:bodyPr wrap="square">
            <a:spAutoFit/>
          </a:bodyPr>
          <a:lstStyle/>
          <a:p>
            <a:pPr marL="285750" indent="-28575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VỀCHINH SÁCH NHÀ NƯỚC </a:t>
            </a:r>
            <a:endParaRPr lang="en-US" sz="2400" dirty="0"/>
          </a:p>
        </p:txBody>
      </p:sp>
    </p:spTree>
    <p:extLst>
      <p:ext uri="{BB962C8B-B14F-4D97-AF65-F5344CB8AC3E}">
        <p14:creationId xmlns:p14="http://schemas.microsoft.com/office/powerpoint/2010/main" val="373536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3432EF9-D547-76FE-C267-92B999D2AFEF}"/>
              </a:ext>
            </a:extLst>
          </p:cNvPr>
          <p:cNvSpPr>
            <a:spLocks noChangeArrowheads="1"/>
          </p:cNvSpPr>
          <p:nvPr/>
        </p:nvSpPr>
        <p:spPr bwMode="auto">
          <a:xfrm>
            <a:off x="288236" y="1269910"/>
            <a:ext cx="7345016"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nhập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sẵn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a:t>
            </a:r>
          </a:p>
          <a:p>
            <a:pPr marR="0" lvl="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Việt Nam: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trưởng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GDP,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tầng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thúc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đẩy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spa,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chăm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sóc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khỏe</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Rủi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thoái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chỉnh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ts val="120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6" name="TextBox 5">
            <a:extLst>
              <a:ext uri="{FF2B5EF4-FFF2-40B4-BE49-F238E27FC236}">
                <a16:creationId xmlns:a16="http://schemas.microsoft.com/office/drawing/2014/main" id="{F54A81A3-0A0B-BCF7-C1A4-FC3724972A07}"/>
              </a:ext>
            </a:extLst>
          </p:cNvPr>
          <p:cNvSpPr txBox="1"/>
          <p:nvPr/>
        </p:nvSpPr>
        <p:spPr>
          <a:xfrm>
            <a:off x="6380922" y="268357"/>
            <a:ext cx="4384813" cy="461665"/>
          </a:xfrm>
          <a:prstGeom prst="rect">
            <a:avLst/>
          </a:prstGeom>
          <a:solidFill>
            <a:srgbClr val="FFFF00"/>
          </a:solidFill>
        </p:spPr>
        <p:txBody>
          <a:bodyPr wrap="square">
            <a:spAutoFit/>
          </a:bodyPr>
          <a:lstStyle/>
          <a:p>
            <a:pPr marL="342900" indent="-342900">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KINH TẾ</a:t>
            </a:r>
          </a:p>
        </p:txBody>
      </p:sp>
      <p:sp>
        <p:nvSpPr>
          <p:cNvPr id="8" name="TextBox 7">
            <a:extLst>
              <a:ext uri="{FF2B5EF4-FFF2-40B4-BE49-F238E27FC236}">
                <a16:creationId xmlns:a16="http://schemas.microsoft.com/office/drawing/2014/main" id="{827943EC-DDFF-EA19-8CCA-6A3AAEED849F}"/>
              </a:ext>
            </a:extLst>
          </p:cNvPr>
          <p:cNvSpPr txBox="1"/>
          <p:nvPr/>
        </p:nvSpPr>
        <p:spPr>
          <a:xfrm>
            <a:off x="8654497" y="1816562"/>
            <a:ext cx="3023981" cy="4031873"/>
          </a:xfrm>
          <a:prstGeom prst="rect">
            <a:avLst/>
          </a:prstGeom>
          <a:noFill/>
        </p:spPr>
        <p:txBody>
          <a:bodyPr wrap="square">
            <a:spAutoFit/>
          </a:bodyPr>
          <a:lstStyle/>
          <a:p>
            <a:pPr algn="ct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Nếu</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tế</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suy</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thoái</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nên</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ứng</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phó</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thế</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nào</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vẫn</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duy</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lợi</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nhuận</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giữ</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chân</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9" name="Arrow: Right 8">
            <a:extLst>
              <a:ext uri="{FF2B5EF4-FFF2-40B4-BE49-F238E27FC236}">
                <a16:creationId xmlns:a16="http://schemas.microsoft.com/office/drawing/2014/main" id="{8CB9E9B7-74E0-0C25-1606-38905A956601}"/>
              </a:ext>
            </a:extLst>
          </p:cNvPr>
          <p:cNvSpPr/>
          <p:nvPr/>
        </p:nvSpPr>
        <p:spPr>
          <a:xfrm>
            <a:off x="7354957" y="3339547"/>
            <a:ext cx="1061001" cy="14773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6918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72D526-180D-0947-3C87-AEBE17D12743}"/>
              </a:ext>
            </a:extLst>
          </p:cNvPr>
          <p:cNvSpPr txBox="1"/>
          <p:nvPr/>
        </p:nvSpPr>
        <p:spPr>
          <a:xfrm>
            <a:off x="993913" y="1553821"/>
            <a:ext cx="10813774" cy="4170372"/>
          </a:xfrm>
          <a:prstGeom prst="rect">
            <a:avLst/>
          </a:prstGeom>
          <a:noFill/>
        </p:spPr>
        <p:txBody>
          <a:bodyPr wrap="square">
            <a:spAutoFit/>
          </a:bodyPr>
          <a:lstStyle/>
          <a:p>
            <a:pPr marL="285750" indent="-285750">
              <a:spcBef>
                <a:spcPts val="600"/>
              </a:spcBef>
              <a:buFont typeface="Wingdings" panose="05000000000000000000" pitchFamily="2" charset="2"/>
              <a:buChar char="Ø"/>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chỉnh giá và đa dạng gói dịch vụ</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tạo combo hợp lý (ví dụ: phòng + bữa sáng + spa mini) để khách cảm thấy “đáng tiền”.</a:t>
            </a:r>
          </a:p>
          <a:p>
            <a:pPr marL="285750" indent="-285750">
              <a:spcBef>
                <a:spcPts val="600"/>
              </a:spcBef>
              <a:buFont typeface="Wingdings" panose="05000000000000000000" pitchFamily="2" charset="2"/>
              <a:buChar char="Ø"/>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Tập trung vào khách hàng nội địa</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thay vì chỉ phụ thuộc vào khách quốc tế.</a:t>
            </a:r>
          </a:p>
          <a:p>
            <a:pPr marL="285750" indent="-285750">
              <a:spcBef>
                <a:spcPts val="600"/>
              </a:spcBef>
              <a:buFont typeface="Wingdings" panose="05000000000000000000" pitchFamily="2" charset="2"/>
              <a:buChar char="Ø"/>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cường khuyến mãi, ưu đãi ngắn hạn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để kích cầu sử dụng dịch vụ.</a:t>
            </a:r>
          </a:p>
          <a:p>
            <a:pPr marL="285750" indent="-285750">
              <a:spcBef>
                <a:spcPts val="600"/>
              </a:spcBef>
              <a:buFont typeface="Wingdings" panose="05000000000000000000" pitchFamily="2" charset="2"/>
              <a:buChar char="Ø"/>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Tối ưu chi phí vận hành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bằng cách tiết kiệm năng lượng, kiểm soát tồn kho, đào tạo nhân viên đa năng.</a:t>
            </a:r>
          </a:p>
          <a:p>
            <a:pPr marL="285750" indent="-285750">
              <a:spcBef>
                <a:spcPts val="600"/>
              </a:spcBef>
              <a:buFont typeface="Wingdings" panose="05000000000000000000" pitchFamily="2" charset="2"/>
              <a:buChar char="Ø"/>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 cao chất lượng phục vụ</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để giữ chân khách trung thành – đây là nguồn doanh thu ổn định nhất trong giai đoạn khó khăn.</a:t>
            </a:r>
          </a:p>
          <a:p>
            <a:pPr>
              <a:spcBef>
                <a:spcPts val="600"/>
              </a:spcBef>
            </a:pPr>
            <a:r>
              <a:rPr lang="vi-VN" sz="2400" b="1" i="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Tóm lại, khách sạn cần linh hoạt thích ứng và tập trung vào giá trị trải nghiệm thay vì chỉ giảm giá đơn thuần.</a:t>
            </a:r>
          </a:p>
        </p:txBody>
      </p:sp>
    </p:spTree>
    <p:extLst>
      <p:ext uri="{BB962C8B-B14F-4D97-AF65-F5344CB8AC3E}">
        <p14:creationId xmlns:p14="http://schemas.microsoft.com/office/powerpoint/2010/main" val="4179649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D37858-71E8-368C-B36B-A93398E6548B}"/>
              </a:ext>
            </a:extLst>
          </p:cNvPr>
          <p:cNvSpPr>
            <a:spLocks noChangeArrowheads="1"/>
          </p:cNvSpPr>
          <p:nvPr/>
        </p:nvSpPr>
        <p:spPr bwMode="auto">
          <a:xfrm>
            <a:off x="318052" y="2069359"/>
            <a:ext cx="1132067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trường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Hỗ</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vốn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Luật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Việt Nam 2017: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sở</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quyền</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phố</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lớn</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khu</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du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khuyến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khích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nghỉ</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dưỡng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hưởng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khai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53D0980-F17A-3B40-016C-57F8F9A61F4E}"/>
              </a:ext>
            </a:extLst>
          </p:cNvPr>
          <p:cNvSpPr txBox="1"/>
          <p:nvPr/>
        </p:nvSpPr>
        <p:spPr>
          <a:xfrm>
            <a:off x="5314950" y="250424"/>
            <a:ext cx="6661702" cy="461665"/>
          </a:xfrm>
          <a:prstGeom prst="rect">
            <a:avLst/>
          </a:prstGeom>
          <a:solidFill>
            <a:srgbClr val="FFFF00"/>
          </a:solidFill>
        </p:spPr>
        <p:txBody>
          <a:bodyPr wrap="square">
            <a:spAutoFit/>
          </a:bodyPr>
          <a:lstStyle/>
          <a:p>
            <a:pPr marL="342900" marR="0" lvl="0" indent="-342900" algn="l" defTabSz="914400" rtl="0" eaLnBrk="1" fontAlgn="auto" latinLnBrk="0" hangingPunct="1">
              <a:lnSpc>
                <a:spcPct val="100000"/>
              </a:lnSpc>
              <a:spcBef>
                <a:spcPts val="180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ĐIỀU KIỆN VỀCHINH SÁCH NHÀ NƯỚC </a:t>
            </a:r>
          </a:p>
        </p:txBody>
      </p:sp>
    </p:spTree>
    <p:extLst>
      <p:ext uri="{BB962C8B-B14F-4D97-AF65-F5344CB8AC3E}">
        <p14:creationId xmlns:p14="http://schemas.microsoft.com/office/powerpoint/2010/main" val="1011936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17AF7-31C4-4A5D-A5A1-D67253D41A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E5CD40-E887-538F-8B6C-731E8C7E73E6}"/>
              </a:ext>
            </a:extLst>
          </p:cNvPr>
          <p:cNvSpPr txBox="1"/>
          <p:nvPr/>
        </p:nvSpPr>
        <p:spPr>
          <a:xfrm>
            <a:off x="6096000" y="242717"/>
            <a:ext cx="5853320" cy="461665"/>
          </a:xfrm>
          <a:prstGeom prst="rect">
            <a:avLst/>
          </a:prstGeom>
          <a:solidFill>
            <a:srgbClr val="FFFF00"/>
          </a:solidFill>
        </p:spPr>
        <p:txBody>
          <a:bodyPr wrap="square">
            <a:spAutoFit/>
          </a:bodyPr>
          <a:lstStyle/>
          <a:p>
            <a:pPr marL="342900"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VĂN HÓA – XÃ HỘI</a:t>
            </a:r>
          </a:p>
        </p:txBody>
      </p:sp>
      <p:sp>
        <p:nvSpPr>
          <p:cNvPr id="4" name="Rectangle 1">
            <a:extLst>
              <a:ext uri="{FF2B5EF4-FFF2-40B4-BE49-F238E27FC236}">
                <a16:creationId xmlns:a16="http://schemas.microsoft.com/office/drawing/2014/main" id="{67DDF6A5-55F2-65DD-3331-5323C2A15BA9}"/>
              </a:ext>
            </a:extLst>
          </p:cNvPr>
          <p:cNvSpPr>
            <a:spLocks noChangeArrowheads="1"/>
          </p:cNvSpPr>
          <p:nvPr/>
        </p:nvSpPr>
        <p:spPr bwMode="auto">
          <a:xfrm>
            <a:off x="457200" y="1144230"/>
            <a:ext cx="11549270"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hưởng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hiếu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dùng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nay: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algn="l" defTabSz="914400" rtl="0" eaLnBrk="0" fontAlgn="base" latinLnBrk="0" hangingPunct="0">
              <a:lnSpc>
                <a:spcPct val="100000"/>
              </a:lnSpc>
              <a:spcBef>
                <a:spcPts val="18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Việt Nam: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nấu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hút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quốc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điểm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check-in”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hút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trẻ</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algn="l" defTabSz="914400" rtl="0" eaLnBrk="0" fontAlgn="base" latinLnBrk="0" hangingPunct="0">
              <a:lnSpc>
                <a:spcPct val="100000"/>
              </a:lnSpc>
              <a:spcBef>
                <a:spcPts val="18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 ý:</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tôn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rượu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Hồi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092596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7C786-F292-555D-45E0-BBF33EF5D3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95D3A8-E707-DA5B-92F9-A106FD424F28}"/>
              </a:ext>
            </a:extLst>
          </p:cNvPr>
          <p:cNvSpPr txBox="1"/>
          <p:nvPr/>
        </p:nvSpPr>
        <p:spPr>
          <a:xfrm>
            <a:off x="5692637" y="286003"/>
            <a:ext cx="6097656" cy="461665"/>
          </a:xfrm>
          <a:prstGeom prst="rect">
            <a:avLst/>
          </a:prstGeom>
          <a:solidFill>
            <a:srgbClr val="FFFF00"/>
          </a:solidFill>
        </p:spPr>
        <p:txBody>
          <a:bodyPr wrap="square">
            <a:spAutoFit/>
          </a:bodyPr>
          <a:lstStyle/>
          <a:p>
            <a:pPr marL="342900" marR="0" lvl="0" indent="-342900" algn="l" defTabSz="914400" rtl="0" eaLnBrk="1" fontAlgn="auto" latinLnBrk="0" hangingPunct="1">
              <a:lnSpc>
                <a:spcPct val="100000"/>
              </a:lnSpc>
              <a:spcBef>
                <a:spcPts val="180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ĐIỀU KIỆN VỀ NGUỒN NHÂN LỰC</a:t>
            </a:r>
          </a:p>
        </p:txBody>
      </p:sp>
      <p:sp>
        <p:nvSpPr>
          <p:cNvPr id="6" name="Rectangle 1">
            <a:extLst>
              <a:ext uri="{FF2B5EF4-FFF2-40B4-BE49-F238E27FC236}">
                <a16:creationId xmlns:a16="http://schemas.microsoft.com/office/drawing/2014/main" id="{E85DC209-5AFB-D66E-C16B-B8E99A9B710B}"/>
              </a:ext>
            </a:extLst>
          </p:cNvPr>
          <p:cNvSpPr>
            <a:spLocks noChangeArrowheads="1"/>
          </p:cNvSpPr>
          <p:nvPr/>
        </p:nvSpPr>
        <p:spPr bwMode="auto">
          <a:xfrm>
            <a:off x="401707" y="1649136"/>
            <a:ext cx="11936896"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bếp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huấn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luyện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gym,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spa...</a:t>
            </a:r>
          </a:p>
          <a:p>
            <a:pPr marR="0" lvl="0" algn="l" defTabSz="914400" rtl="0" eaLnBrk="0" fontAlgn="base" latinLnBrk="0" hangingPunct="0">
              <a:lnSpc>
                <a:spcPct val="100000"/>
              </a:lnSpc>
              <a:spcBef>
                <a:spcPts val="18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Việt Nam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dồi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còn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sâu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chiếm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20–30%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algn="l" defTabSz="914400" rtl="0" eaLnBrk="0" fontAlgn="base" latinLnBrk="0" hangingPunct="0">
              <a:lnSpc>
                <a:spcPct val="100000"/>
              </a:lnSpc>
              <a:spcBef>
                <a:spcPts val="18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Tỷ</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nghỉ</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800"/>
              </a:spcBef>
              <a:spcAft>
                <a:spcPct val="0"/>
              </a:spcAft>
              <a:buClrTx/>
              <a:buSzTx/>
              <a:buFont typeface="Wingdings" panose="05000000000000000000" pitchFamily="2" charset="2"/>
              <a:buChar char="ü"/>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148671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69245-26F2-1E6D-F430-8CC583DF0A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30E8FD-39F0-84C4-CDB2-9042D4EA764C}"/>
              </a:ext>
            </a:extLst>
          </p:cNvPr>
          <p:cNvSpPr>
            <a:spLocks noChangeArrowheads="1"/>
          </p:cNvSpPr>
          <p:nvPr/>
        </p:nvSpPr>
        <p:spPr bwMode="auto">
          <a:xfrm>
            <a:off x="722243" y="1767656"/>
            <a:ext cx="1040958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vốn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vốn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(ROI – Return on Investment).</a:t>
            </a:r>
          </a:p>
          <a:p>
            <a:pPr marR="0" lvl="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spa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tỷ</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vốn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 ý:</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chỉnh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l" defTabSz="914400" rtl="0" eaLnBrk="0" fontAlgn="base" latinLnBrk="0" hangingPunct="0">
              <a:lnSpc>
                <a:spcPct val="100000"/>
              </a:lnSpc>
              <a:spcBef>
                <a:spcPts val="1200"/>
              </a:spcBef>
              <a:spcAft>
                <a:spcPct val="0"/>
              </a:spcAft>
              <a:buClrTx/>
              <a:buSzTx/>
              <a:buFont typeface="Wingdings" panose="05000000000000000000" pitchFamily="2" charset="2"/>
              <a:buChar char="ü"/>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4E9561EE-97C3-129B-2D9E-E5D7685D13B3}"/>
              </a:ext>
            </a:extLst>
          </p:cNvPr>
          <p:cNvSpPr txBox="1"/>
          <p:nvPr/>
        </p:nvSpPr>
        <p:spPr>
          <a:xfrm>
            <a:off x="5257800" y="332169"/>
            <a:ext cx="6766890" cy="461665"/>
          </a:xfrm>
          <a:prstGeom prst="rect">
            <a:avLst/>
          </a:prstGeom>
          <a:solidFill>
            <a:srgbClr val="FFFF00"/>
          </a:solidFill>
        </p:spPr>
        <p:txBody>
          <a:bodyPr wrap="square">
            <a:spAutoFit/>
          </a:bodyPr>
          <a:lstStyle/>
          <a:p>
            <a:pPr marL="1714500" lvl="3" indent="-342900">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 KIỆN KHẢ NĂNG TÀI CHÍNH</a:t>
            </a:r>
          </a:p>
        </p:txBody>
      </p:sp>
    </p:spTree>
    <p:extLst>
      <p:ext uri="{BB962C8B-B14F-4D97-AF65-F5344CB8AC3E}">
        <p14:creationId xmlns:p14="http://schemas.microsoft.com/office/powerpoint/2010/main" val="2464460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E0AF05-0253-9119-5D95-9CE18DF688BB}"/>
              </a:ext>
            </a:extLst>
          </p:cNvPr>
          <p:cNvSpPr txBox="1"/>
          <p:nvPr/>
        </p:nvSpPr>
        <p:spPr>
          <a:xfrm>
            <a:off x="297936" y="1301197"/>
            <a:ext cx="10852030" cy="523220"/>
          </a:xfrm>
          <a:prstGeom prst="rect">
            <a:avLst/>
          </a:prstGeom>
          <a:noFill/>
        </p:spPr>
        <p:txBody>
          <a:bodyPr wrap="square">
            <a:spAutoFit/>
          </a:bodyPr>
          <a:lstStyle/>
          <a:p>
            <a:r>
              <a:rPr lang="en-U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MỘT SỐ LOẠI HÌNH DỊCH VỤ BỔ SUNG TRONG KHÁCH SẠN</a:t>
            </a:r>
          </a:p>
        </p:txBody>
      </p:sp>
      <p:sp>
        <p:nvSpPr>
          <p:cNvPr id="5" name="TextBox 4">
            <a:extLst>
              <a:ext uri="{FF2B5EF4-FFF2-40B4-BE49-F238E27FC236}">
                <a16:creationId xmlns:a16="http://schemas.microsoft.com/office/drawing/2014/main" id="{CD953CDE-64CE-D0B0-5AA0-101A68DADD2A}"/>
              </a:ext>
            </a:extLst>
          </p:cNvPr>
          <p:cNvSpPr txBox="1"/>
          <p:nvPr/>
        </p:nvSpPr>
        <p:spPr>
          <a:xfrm>
            <a:off x="421462" y="2196878"/>
            <a:ext cx="11349076" cy="3970318"/>
          </a:xfrm>
          <a:prstGeom prst="rect">
            <a:avLst/>
          </a:prstGeom>
          <a:noFill/>
        </p:spPr>
        <p:txBody>
          <a:bodyPr wrap="square">
            <a:spAutoFit/>
          </a:bodyPr>
          <a:lstStyle/>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Dịch vụ đáp ứng nhu cầu hàng ngày</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vui chơi, thể thao</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văn hoá, giải trí</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y tế</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văn phòng, thư ký</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tư vấn, thương mại</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nâng cao nhận thức cho khách về địa phương, đất nước</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cho khách có khả năng thanh toán cao</a:t>
            </a:r>
            <a:endPar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buFont typeface="+mj-lt"/>
              <a:buAutoNum type="arabicPeriod"/>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đặc biệt</a:t>
            </a:r>
            <a: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endParaRPr lang="en-US"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596705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5F45A8-BDE1-E449-DC36-323B038BD132}"/>
              </a:ext>
            </a:extLst>
          </p:cNvPr>
          <p:cNvSpPr txBox="1"/>
          <p:nvPr/>
        </p:nvSpPr>
        <p:spPr>
          <a:xfrm>
            <a:off x="127819" y="1120877"/>
            <a:ext cx="7924801" cy="523220"/>
          </a:xfrm>
          <a:prstGeom prst="rect">
            <a:avLst/>
          </a:prstGeom>
          <a:noFill/>
        </p:spPr>
        <p:txBody>
          <a:bodyPr wrap="square">
            <a:spAutoFit/>
          </a:bodyPr>
          <a:lstStyle/>
          <a:p>
            <a:pPr marL="514350" indent="-514350">
              <a:buFont typeface="+mj-lt"/>
              <a:buAutoNum type="arabicPeriod"/>
            </a:pPr>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DỊCH VỤ ĐÁP ỨNG NHU CẦU HÀNG NGÀY</a:t>
            </a:r>
            <a:endParaRPr lang="en-U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DF765EB4-A431-4667-CFC0-31D53BFDDC80}"/>
              </a:ext>
            </a:extLst>
          </p:cNvPr>
          <p:cNvSpPr txBox="1"/>
          <p:nvPr/>
        </p:nvSpPr>
        <p:spPr>
          <a:xfrm>
            <a:off x="255639" y="1874244"/>
            <a:ext cx="7669162" cy="4616648"/>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 niệm: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Đây là những dịch vụ giúp khách hàng có thể duy trì các sinh hoạt hàng ngày một cách thoải mái nhất.</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Giặt ủi:</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cung cấp dịch vụ giặt ủi quần áo cho khách hàng, giúp họ có thể giữ quần áo sạch sẽ và thơm tho trong suốt thời gian lưu trú.</a:t>
            </a: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giữ trẻ:</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Nhiều khách sạn cung cấp dịch vụ trông trẻ, giúp các bậc phụ huynh có thời gian thư giãn hoặc làm việc mà không phải lo lắng về con cái.</a:t>
            </a:r>
          </a:p>
        </p:txBody>
      </p:sp>
      <p:pic>
        <p:nvPicPr>
          <p:cNvPr id="6" name="Picture 5">
            <a:extLst>
              <a:ext uri="{FF2B5EF4-FFF2-40B4-BE49-F238E27FC236}">
                <a16:creationId xmlns:a16="http://schemas.microsoft.com/office/drawing/2014/main" id="{8CEC4B7E-5C1B-62A1-47E5-AC495A448275}"/>
              </a:ext>
            </a:extLst>
          </p:cNvPr>
          <p:cNvPicPr>
            <a:picLocks noChangeAspect="1"/>
          </p:cNvPicPr>
          <p:nvPr/>
        </p:nvPicPr>
        <p:blipFill>
          <a:blip r:embed="rId2"/>
          <a:stretch>
            <a:fillRect/>
          </a:stretch>
        </p:blipFill>
        <p:spPr>
          <a:xfrm>
            <a:off x="8200576" y="1120877"/>
            <a:ext cx="3889824" cy="2504700"/>
          </a:xfrm>
          <a:prstGeom prst="rect">
            <a:avLst/>
          </a:prstGeom>
        </p:spPr>
      </p:pic>
      <p:pic>
        <p:nvPicPr>
          <p:cNvPr id="7" name="Picture 6">
            <a:extLst>
              <a:ext uri="{FF2B5EF4-FFF2-40B4-BE49-F238E27FC236}">
                <a16:creationId xmlns:a16="http://schemas.microsoft.com/office/drawing/2014/main" id="{F77C76FE-4618-E71D-F6B3-4F0323686702}"/>
              </a:ext>
            </a:extLst>
          </p:cNvPr>
          <p:cNvPicPr>
            <a:picLocks noChangeAspect="1"/>
          </p:cNvPicPr>
          <p:nvPr/>
        </p:nvPicPr>
        <p:blipFill>
          <a:blip r:embed="rId3"/>
          <a:stretch>
            <a:fillRect/>
          </a:stretch>
        </p:blipFill>
        <p:spPr>
          <a:xfrm>
            <a:off x="8200576" y="3783390"/>
            <a:ext cx="3991424" cy="2630395"/>
          </a:xfrm>
          <a:prstGeom prst="rect">
            <a:avLst/>
          </a:prstGeom>
        </p:spPr>
      </p:pic>
    </p:spTree>
    <p:extLst>
      <p:ext uri="{BB962C8B-B14F-4D97-AF65-F5344CB8AC3E}">
        <p14:creationId xmlns:p14="http://schemas.microsoft.com/office/powerpoint/2010/main" val="209261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6C4FA8-6930-B238-EB56-FFF4C3CD4432}"/>
              </a:ext>
            </a:extLst>
          </p:cNvPr>
          <p:cNvSpPr txBox="1"/>
          <p:nvPr/>
        </p:nvSpPr>
        <p:spPr>
          <a:xfrm>
            <a:off x="349586" y="729268"/>
            <a:ext cx="6268927" cy="1325563"/>
          </a:xfrm>
          <a:prstGeom prst="rect">
            <a:avLst/>
          </a:prstGeom>
        </p:spPr>
        <p:txBody>
          <a:bodyPr vert="horz" lIns="91440" tIns="45720" rIns="91440" bIns="45720" rtlCol="0" anchor="ctr">
            <a:normAutofit/>
          </a:bodyPr>
          <a:lstStyle/>
          <a:p>
            <a:pPr marL="514350" indent="-514350">
              <a:lnSpc>
                <a:spcPct val="90000"/>
              </a:lnSpc>
              <a:spcBef>
                <a:spcPct val="0"/>
              </a:spcBef>
              <a:spcAft>
                <a:spcPts val="600"/>
              </a:spcAft>
            </a:pPr>
            <a:r>
              <a:rPr lang="en-US" sz="2800" b="1" kern="1200" dirty="0">
                <a:solidFill>
                  <a:schemeClr val="tx1"/>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DỊCH VỤ VUI CHƠI, THỂ THAO</a:t>
            </a:r>
          </a:p>
        </p:txBody>
      </p:sp>
      <p:sp>
        <p:nvSpPr>
          <p:cNvPr id="4" name="Rectangle 1">
            <a:extLst>
              <a:ext uri="{FF2B5EF4-FFF2-40B4-BE49-F238E27FC236}">
                <a16:creationId xmlns:a16="http://schemas.microsoft.com/office/drawing/2014/main" id="{0C21CF78-3E21-0505-8B0B-CFED09B4C37A}"/>
              </a:ext>
            </a:extLst>
          </p:cNvPr>
          <p:cNvSpPr>
            <a:spLocks noChangeArrowheads="1"/>
          </p:cNvSpPr>
          <p:nvPr/>
        </p:nvSpPr>
        <p:spPr bwMode="auto">
          <a:xfrm>
            <a:off x="189928" y="1835608"/>
            <a:ext cx="6588243" cy="484081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marR="0" lvl="0" indent="-141288" algn="just" fontAlgn="base">
              <a:lnSpc>
                <a:spcPct val="90000"/>
              </a:lnSpc>
              <a:spcBef>
                <a:spcPts val="120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rèn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luyện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khỏe</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28600" marR="0" lvl="0" indent="-141288" algn="just" fontAlgn="base">
              <a:lnSpc>
                <a:spcPct val="90000"/>
              </a:lnSpc>
              <a:spcBef>
                <a:spcPts val="1200"/>
              </a:spcBef>
              <a:spcAft>
                <a:spcPct val="0"/>
              </a:spcAft>
              <a:buClrTx/>
              <a:buSzTx/>
              <a:buFont typeface="Wingdings" panose="05000000000000000000" pitchFamily="2" charset="2"/>
              <a:buChar char="q"/>
              <a:tabLst/>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ích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cầu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rèn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luyện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sức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khỏe</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duy</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thói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quen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tập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luyện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ngay</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du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algn="just" fontAlgn="base">
              <a:lnSpc>
                <a:spcPct val="90000"/>
              </a:lnSpc>
              <a:spcBef>
                <a:spcPts val="12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228600" algn="just" fontAlgn="base">
              <a:lnSpc>
                <a:spcPct val="90000"/>
              </a:lnSpc>
              <a:spcBef>
                <a:spcPts val="120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Hồ</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hồ</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phép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228600" algn="just" fontAlgn="base">
              <a:lnSpc>
                <a:spcPct val="90000"/>
              </a:lnSpc>
              <a:spcBef>
                <a:spcPts val="120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gym: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tập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đủ</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máy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móc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rèn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luyện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khỏe</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indent="-228600" fontAlgn="base">
              <a:lnSpc>
                <a:spcPct val="90000"/>
              </a:lnSpc>
              <a:spcBef>
                <a:spcPts val="1200"/>
              </a:spcBef>
              <a:spcAft>
                <a:spcPct val="0"/>
              </a:spcAft>
              <a:buFont typeface="Arial" panose="020B0604020202020204" pitchFamily="34" charset="0"/>
              <a:buChar char="•"/>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8" name="Picture 7">
            <a:extLst>
              <a:ext uri="{FF2B5EF4-FFF2-40B4-BE49-F238E27FC236}">
                <a16:creationId xmlns:a16="http://schemas.microsoft.com/office/drawing/2014/main" id="{ACCDB65B-7450-7F2E-2CA9-A9DE2ED67C75}"/>
              </a:ext>
            </a:extLst>
          </p:cNvPr>
          <p:cNvPicPr>
            <a:picLocks noChangeAspect="1"/>
          </p:cNvPicPr>
          <p:nvPr/>
        </p:nvPicPr>
        <p:blipFill>
          <a:blip r:embed="rId2"/>
          <a:srcRect l="30952"/>
          <a:stretch/>
        </p:blipFill>
        <p:spPr>
          <a:xfrm>
            <a:off x="7901259" y="2286517"/>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pic>
        <p:nvPicPr>
          <p:cNvPr id="7" name="Picture 6">
            <a:extLst>
              <a:ext uri="{FF2B5EF4-FFF2-40B4-BE49-F238E27FC236}">
                <a16:creationId xmlns:a16="http://schemas.microsoft.com/office/drawing/2014/main" id="{A796AD25-18C1-CEC2-EC83-87B38B2F8A99}"/>
              </a:ext>
            </a:extLst>
          </p:cNvPr>
          <p:cNvPicPr>
            <a:picLocks noChangeAspect="1"/>
          </p:cNvPicPr>
          <p:nvPr/>
        </p:nvPicPr>
        <p:blipFill>
          <a:blip r:embed="rId3"/>
          <a:srcRect b="14532"/>
          <a:stretch/>
        </p:blipFill>
        <p:spPr>
          <a:xfrm>
            <a:off x="6618513" y="181575"/>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3308154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2C52FC-8845-0ED8-8031-C88FB66CB015}"/>
              </a:ext>
            </a:extLst>
          </p:cNvPr>
          <p:cNvSpPr txBox="1"/>
          <p:nvPr/>
        </p:nvSpPr>
        <p:spPr>
          <a:xfrm>
            <a:off x="478970" y="979468"/>
            <a:ext cx="6096000" cy="523220"/>
          </a:xfrm>
          <a:prstGeom prst="rect">
            <a:avLst/>
          </a:prstGeom>
          <a:noFill/>
        </p:spPr>
        <p:txBody>
          <a:bodyPr wrap="square">
            <a:spAutoFit/>
          </a:bodyPr>
          <a:lstStyle/>
          <a:p>
            <a:r>
              <a:rPr lang="en-U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DỊCH VỤ VĂN HOÁ, GIẢI TRÍ</a:t>
            </a:r>
            <a:endParaRPr lang="vi-VN" dirty="0">
              <a:highlight>
                <a:srgbClr val="FFFF00"/>
              </a:highlight>
            </a:endParaRPr>
          </a:p>
        </p:txBody>
      </p:sp>
      <p:sp>
        <p:nvSpPr>
          <p:cNvPr id="4" name="Rectangle 1">
            <a:extLst>
              <a:ext uri="{FF2B5EF4-FFF2-40B4-BE49-F238E27FC236}">
                <a16:creationId xmlns:a16="http://schemas.microsoft.com/office/drawing/2014/main" id="{1D5274BA-9715-9678-5E31-16710EC86820}"/>
              </a:ext>
            </a:extLst>
          </p:cNvPr>
          <p:cNvSpPr>
            <a:spLocks noChangeArrowheads="1"/>
          </p:cNvSpPr>
          <p:nvPr/>
        </p:nvSpPr>
        <p:spPr bwMode="auto">
          <a:xfrm>
            <a:off x="362855" y="1872020"/>
            <a:ext cx="6765532"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1200"/>
              </a:spcBef>
              <a:spcAft>
                <a:spcPct val="0"/>
              </a:spcAft>
              <a:buClrTx/>
              <a:buSzTx/>
              <a:buFontTx/>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tìm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quốc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just"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0" fontAlgn="base" latinLnBrk="0" hangingPunct="0">
              <a:lnSpc>
                <a:spcPct val="100000"/>
              </a:lnSpc>
              <a:spcBef>
                <a:spcPts val="1200"/>
              </a:spcBef>
              <a:spcAft>
                <a:spcPct val="0"/>
              </a:spcAft>
              <a:buClrTx/>
              <a:buSzTx/>
              <a:buFontTx/>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tour du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tour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điểm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just" defTabSz="914400" rtl="0" eaLnBrk="0" fontAlgn="base" latinLnBrk="0" hangingPunct="0">
              <a:lnSpc>
                <a:spcPct val="100000"/>
              </a:lnSpc>
              <a:spcBef>
                <a:spcPts val="1200"/>
              </a:spcBef>
              <a:spcAft>
                <a:spcPct val="0"/>
              </a:spcAft>
              <a:buClrTx/>
              <a:buSzTx/>
              <a:buFontTx/>
              <a:buChar char="•"/>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biểu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diễn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biểu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diễn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âm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múa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truyền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pic>
        <p:nvPicPr>
          <p:cNvPr id="3074" name="Picture 2" descr="Image result for Tổ chức tour du lịch: Khách sạn có thể tổ chức các tour tham quan địa phương, giúp khách hàng khám phá các địa điểm du lịch nổi tiếng. Các buổi biểu diễn nghệ thuật: Một số khách sạn tổ chức các buổi biểu diễn nghệ thuật, như âm nhạc, múa truyền thống, hoặc các hoạt động văn hóa khác.">
            <a:extLst>
              <a:ext uri="{FF2B5EF4-FFF2-40B4-BE49-F238E27FC236}">
                <a16:creationId xmlns:a16="http://schemas.microsoft.com/office/drawing/2014/main" id="{B678A771-4309-A5AF-7590-077D8176B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0564" y="3210072"/>
            <a:ext cx="4868864" cy="324590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50A158C4-586E-3DF3-BDB2-CC61406B1B5B}"/>
              </a:ext>
            </a:extLst>
          </p:cNvPr>
          <p:cNvPicPr>
            <a:picLocks noChangeAspect="1"/>
          </p:cNvPicPr>
          <p:nvPr/>
        </p:nvPicPr>
        <p:blipFill>
          <a:blip r:embed="rId3"/>
          <a:stretch>
            <a:fillRect/>
          </a:stretch>
        </p:blipFill>
        <p:spPr>
          <a:xfrm>
            <a:off x="7250564" y="91927"/>
            <a:ext cx="4796293" cy="3013223"/>
          </a:xfrm>
          <a:prstGeom prst="rect">
            <a:avLst/>
          </a:prstGeom>
        </p:spPr>
      </p:pic>
    </p:spTree>
    <p:extLst>
      <p:ext uri="{BB962C8B-B14F-4D97-AF65-F5344CB8AC3E}">
        <p14:creationId xmlns:p14="http://schemas.microsoft.com/office/powerpoint/2010/main" val="369464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6E052-BAEB-1056-12F6-154D3838502D}"/>
              </a:ext>
            </a:extLst>
          </p:cNvPr>
          <p:cNvSpPr txBox="1"/>
          <p:nvPr/>
        </p:nvSpPr>
        <p:spPr>
          <a:xfrm>
            <a:off x="406400" y="1249204"/>
            <a:ext cx="6096000" cy="523220"/>
          </a:xfrm>
          <a:prstGeom prst="rect">
            <a:avLst/>
          </a:prstGeom>
          <a:noFill/>
        </p:spPr>
        <p:txBody>
          <a:bodyPr wrap="square">
            <a:spAutoFit/>
          </a:bodyPr>
          <a:lstStyle/>
          <a:p>
            <a:r>
              <a:rPr lang="es-E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 DỊCH VỤ Y TẾ</a:t>
            </a:r>
            <a:endPar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1">
            <a:extLst>
              <a:ext uri="{FF2B5EF4-FFF2-40B4-BE49-F238E27FC236}">
                <a16:creationId xmlns:a16="http://schemas.microsoft.com/office/drawing/2014/main" id="{4B934C09-ED38-4788-C9F3-47F934B79E40}"/>
              </a:ext>
            </a:extLst>
          </p:cNvPr>
          <p:cNvSpPr>
            <a:spLocks noChangeArrowheads="1"/>
          </p:cNvSpPr>
          <p:nvPr/>
        </p:nvSpPr>
        <p:spPr bwMode="auto">
          <a:xfrm>
            <a:off x="406400" y="1894021"/>
            <a:ext cx="60960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1800"/>
              </a:spcBef>
              <a:spcAft>
                <a:spcPct val="0"/>
              </a:spcAft>
              <a:buClrTx/>
              <a:buSzTx/>
              <a:buFontTx/>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khỏe</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just" defTabSz="914400" rtl="0" eaLnBrk="0" fontAlgn="base" latinLnBrk="0" hangingPunct="0">
              <a:lnSpc>
                <a:spcPct val="100000"/>
              </a:lnSpc>
              <a:spcBef>
                <a:spcPts val="1800"/>
              </a:spcBef>
              <a:spcAft>
                <a:spcPct val="0"/>
              </a:spcAft>
              <a:buClrTx/>
              <a:buSzTx/>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0" fontAlgn="base" latinLnBrk="0" hangingPunct="0">
              <a:lnSpc>
                <a:spcPct val="100000"/>
              </a:lnSpc>
              <a:spcBef>
                <a:spcPts val="1800"/>
              </a:spcBef>
              <a:spcAft>
                <a:spcPct val="0"/>
              </a:spcAft>
              <a:buClrTx/>
              <a:buSzTx/>
              <a:buFontTx/>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sĩ</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sĩ</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sở</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bệnh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cứu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just" defTabSz="914400" rtl="0" eaLnBrk="0" fontAlgn="base" latinLnBrk="0" hangingPunct="0">
              <a:lnSpc>
                <a:spcPct val="100000"/>
              </a:lnSpc>
              <a:spcBef>
                <a:spcPts val="1800"/>
              </a:spcBef>
              <a:spcAft>
                <a:spcPct val="0"/>
              </a:spcAft>
              <a:buClrTx/>
              <a:buSzTx/>
              <a:buFontTx/>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y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cứu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just" defTabSz="914400" rtl="0" eaLnBrk="0" fontAlgn="base" latinLnBrk="0" hangingPunct="0">
              <a:lnSpc>
                <a:spcPct val="100000"/>
              </a:lnSpc>
              <a:spcBef>
                <a:spcPts val="180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2" name="Picture 1">
            <a:extLst>
              <a:ext uri="{FF2B5EF4-FFF2-40B4-BE49-F238E27FC236}">
                <a16:creationId xmlns:a16="http://schemas.microsoft.com/office/drawing/2014/main" id="{F097C41E-CDFE-2DC3-BFA5-F8B4457D84BE}"/>
              </a:ext>
            </a:extLst>
          </p:cNvPr>
          <p:cNvPicPr>
            <a:picLocks noChangeAspect="1"/>
          </p:cNvPicPr>
          <p:nvPr/>
        </p:nvPicPr>
        <p:blipFill>
          <a:blip r:embed="rId2"/>
          <a:stretch>
            <a:fillRect/>
          </a:stretch>
        </p:blipFill>
        <p:spPr>
          <a:xfrm>
            <a:off x="7344455" y="214476"/>
            <a:ext cx="4673374" cy="2935124"/>
          </a:xfrm>
          <a:prstGeom prst="rect">
            <a:avLst/>
          </a:prstGeom>
        </p:spPr>
      </p:pic>
      <p:pic>
        <p:nvPicPr>
          <p:cNvPr id="5" name="Picture 4">
            <a:extLst>
              <a:ext uri="{FF2B5EF4-FFF2-40B4-BE49-F238E27FC236}">
                <a16:creationId xmlns:a16="http://schemas.microsoft.com/office/drawing/2014/main" id="{9B33E53B-F944-D3B7-DE1B-C0297E76B66D}"/>
              </a:ext>
            </a:extLst>
          </p:cNvPr>
          <p:cNvPicPr>
            <a:picLocks noChangeAspect="1"/>
          </p:cNvPicPr>
          <p:nvPr/>
        </p:nvPicPr>
        <p:blipFill>
          <a:blip r:embed="rId3"/>
          <a:stretch>
            <a:fillRect/>
          </a:stretch>
        </p:blipFill>
        <p:spPr>
          <a:xfrm>
            <a:off x="7344454" y="3407230"/>
            <a:ext cx="4673373" cy="3103590"/>
          </a:xfrm>
          <a:prstGeom prst="rect">
            <a:avLst/>
          </a:prstGeom>
        </p:spPr>
      </p:pic>
    </p:spTree>
    <p:extLst>
      <p:ext uri="{BB962C8B-B14F-4D97-AF65-F5344CB8AC3E}">
        <p14:creationId xmlns:p14="http://schemas.microsoft.com/office/powerpoint/2010/main" val="2777543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34C9B0-2B43-EDB9-38CF-A8ECDA761590}"/>
              </a:ext>
            </a:extLst>
          </p:cNvPr>
          <p:cNvSpPr txBox="1"/>
          <p:nvPr/>
        </p:nvSpPr>
        <p:spPr>
          <a:xfrm>
            <a:off x="742354" y="1006863"/>
            <a:ext cx="6183085" cy="80570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 DỊCH VỤ VĂN PHÒNG, THƯ KÝ</a:t>
            </a:r>
          </a:p>
        </p:txBody>
      </p:sp>
      <p:pic>
        <p:nvPicPr>
          <p:cNvPr id="4098" name="Picture 2" descr="Image result for DỊCH VỤ VĂN PHÒNG, THƯ KÝ">
            <a:extLst>
              <a:ext uri="{FF2B5EF4-FFF2-40B4-BE49-F238E27FC236}">
                <a16:creationId xmlns:a16="http://schemas.microsoft.com/office/drawing/2014/main" id="{B0AD7946-B012-8665-02FC-FE6266A86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373" r="-2" b="-2"/>
          <a:stretch/>
        </p:blipFill>
        <p:spPr bwMode="auto">
          <a:xfrm>
            <a:off x="874867" y="2299928"/>
            <a:ext cx="5407948" cy="42567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962EF932-DE97-D620-0469-81828C0F91AF}"/>
              </a:ext>
            </a:extLst>
          </p:cNvPr>
          <p:cNvSpPr>
            <a:spLocks noChangeArrowheads="1"/>
          </p:cNvSpPr>
          <p:nvPr/>
        </p:nvSpPr>
        <p:spPr bwMode="auto">
          <a:xfrm>
            <a:off x="6607278" y="1592938"/>
            <a:ext cx="5305205" cy="526506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algn="just" fontAlgn="base">
              <a:lnSpc>
                <a:spcPct val="90000"/>
              </a:lnSpc>
              <a:spcBef>
                <a:spcPts val="180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hỗ</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228600" algn="just" fontAlgn="base">
              <a:lnSpc>
                <a:spcPct val="90000"/>
              </a:lnSpc>
              <a:spcBef>
                <a:spcPts val="180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just" fontAlgn="base">
              <a:lnSpc>
                <a:spcPct val="90000"/>
              </a:lnSpc>
              <a:spcBef>
                <a:spcPts val="1800"/>
              </a:spcBef>
              <a:spcAft>
                <a:spcPct val="0"/>
              </a:spcAft>
              <a:buClrTx/>
              <a:buSzTx/>
              <a:buFont typeface="Wingdings" panose="05000000000000000000" pitchFamily="2" charset="2"/>
              <a:buChar char="ü"/>
              <a:tabLst>
                <a:tab pos="344488" algn="l"/>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photocopy, in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ấn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in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ấn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photocopy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fontAlgn="base">
              <a:lnSpc>
                <a:spcPct val="90000"/>
              </a:lnSpc>
              <a:spcBef>
                <a:spcPts val="1800"/>
              </a:spcBef>
              <a:spcAft>
                <a:spcPct val="0"/>
              </a:spcAft>
              <a:buClrTx/>
              <a:buSzTx/>
              <a:buFont typeface="Wingdings" panose="05000000000000000000" pitchFamily="2" charset="2"/>
              <a:buChar char="ü"/>
              <a:tabLst>
                <a:tab pos="344488" algn="l"/>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Thuê</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đủ</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228600" algn="just" fontAlgn="base">
              <a:lnSpc>
                <a:spcPct val="9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effectLst/>
            </a:endParaRPr>
          </a:p>
        </p:txBody>
      </p:sp>
    </p:spTree>
    <p:extLst>
      <p:ext uri="{BB962C8B-B14F-4D97-AF65-F5344CB8AC3E}">
        <p14:creationId xmlns:p14="http://schemas.microsoft.com/office/powerpoint/2010/main" val="1276737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686841-386D-3949-8DD5-25A59A0BF6F3}"/>
              </a:ext>
            </a:extLst>
          </p:cNvPr>
          <p:cNvSpPr txBox="1"/>
          <p:nvPr/>
        </p:nvSpPr>
        <p:spPr>
          <a:xfrm>
            <a:off x="416700" y="2623152"/>
            <a:ext cx="11219543" cy="3370153"/>
          </a:xfrm>
          <a:prstGeom prst="rect">
            <a:avLst/>
          </a:prstGeom>
          <a:noFill/>
        </p:spPr>
        <p:txBody>
          <a:bodyPr wrap="square">
            <a:spAutoFit/>
          </a:bodyPr>
          <a:lstStyle/>
          <a:p>
            <a:pPr algn="just">
              <a:spcBef>
                <a:spcPts val="18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 niệm: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Các dịch vụ này cung cấp thông tin và hỗ trợ khách hàng trong các hoạt động thương mại, kinh doanh.</a:t>
            </a:r>
          </a:p>
          <a:p>
            <a:pPr algn="just">
              <a:spcBef>
                <a:spcPts val="18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spcBef>
                <a:spcPts val="18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tư vấn du lịch: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có thể cung cấp thông tin về các điểm du lịch, nhà hàng, và các dịch vụ khác tại địa phương.</a:t>
            </a:r>
          </a:p>
          <a:p>
            <a:pPr marL="742950" lvl="1" indent="-285750" algn="just">
              <a:spcBef>
                <a:spcPts val="18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đặt vé:</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hỗ trợ khách hàng đặt vé máy bay, vé tàu, hoặc các loại vé tham quan.</a:t>
            </a:r>
          </a:p>
        </p:txBody>
      </p:sp>
      <p:sp>
        <p:nvSpPr>
          <p:cNvPr id="5" name="TextBox 4">
            <a:extLst>
              <a:ext uri="{FF2B5EF4-FFF2-40B4-BE49-F238E27FC236}">
                <a16:creationId xmlns:a16="http://schemas.microsoft.com/office/drawing/2014/main" id="{E490D2B6-E79E-E191-6233-CF2EAF95CD1D}"/>
              </a:ext>
            </a:extLst>
          </p:cNvPr>
          <p:cNvSpPr txBox="1"/>
          <p:nvPr/>
        </p:nvSpPr>
        <p:spPr>
          <a:xfrm>
            <a:off x="561374" y="1549791"/>
            <a:ext cx="6096000" cy="523220"/>
          </a:xfrm>
          <a:prstGeom prst="rect">
            <a:avLst/>
          </a:prstGeom>
          <a:noFill/>
        </p:spPr>
        <p:txBody>
          <a:bodyPr wrap="square">
            <a:spAutoFit/>
          </a:bodyPr>
          <a:lstStyle/>
          <a:p>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6. DỊCH VỤ TƯ VẤN, THƯƠNG MẠI</a:t>
            </a:r>
          </a:p>
        </p:txBody>
      </p:sp>
    </p:spTree>
    <p:extLst>
      <p:ext uri="{BB962C8B-B14F-4D97-AF65-F5344CB8AC3E}">
        <p14:creationId xmlns:p14="http://schemas.microsoft.com/office/powerpoint/2010/main" val="4149827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0B17B1-722C-F994-27DE-C64338246CF3}"/>
              </a:ext>
            </a:extLst>
          </p:cNvPr>
          <p:cNvSpPr txBox="1"/>
          <p:nvPr/>
        </p:nvSpPr>
        <p:spPr>
          <a:xfrm>
            <a:off x="96405" y="2034358"/>
            <a:ext cx="8172524" cy="4616648"/>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 niệm: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Dịch vụ này giúp khách hàng hiểu biết thêm về văn hóa, lịch sử và đặc trưng của địa phương, quốc gia mà họ đang lưu trú.</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49263" lvl="1" indent="-3619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các lớp học nấu ăn: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có thể tổ chức các lớp học nấu ăn đặc sản địa phương, giúp khách hàng trải nghiệm và học hỏi thêm về ẩm thực.</a:t>
            </a:r>
          </a:p>
          <a:p>
            <a:pPr marL="449263" lvl="1" indent="-3619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Triển lãm nghệ thuật: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Một số khách sạn tổ chức triển lãm các tác phẩm nghệ thuật của nghệ sĩ địa phương, giúp khách hàng hiểu thêm về văn hóa và nghệ thuật của vùng đất đó.</a:t>
            </a:r>
          </a:p>
        </p:txBody>
      </p:sp>
      <p:sp>
        <p:nvSpPr>
          <p:cNvPr id="5" name="TextBox 4">
            <a:extLst>
              <a:ext uri="{FF2B5EF4-FFF2-40B4-BE49-F238E27FC236}">
                <a16:creationId xmlns:a16="http://schemas.microsoft.com/office/drawing/2014/main" id="{4C92F772-1CB6-E1D4-FFC1-6EF4D58D6E83}"/>
              </a:ext>
            </a:extLst>
          </p:cNvPr>
          <p:cNvSpPr txBox="1"/>
          <p:nvPr/>
        </p:nvSpPr>
        <p:spPr>
          <a:xfrm>
            <a:off x="96405" y="1080251"/>
            <a:ext cx="9158514" cy="954107"/>
          </a:xfrm>
          <a:prstGeom prst="rect">
            <a:avLst/>
          </a:prstGeom>
          <a:noFill/>
        </p:spPr>
        <p:txBody>
          <a:bodyPr wrap="square">
            <a:spAutoFit/>
          </a:bodyPr>
          <a:lstStyle/>
          <a:p>
            <a:pPr algn="ctr"/>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7. DỊCH VỤ NÂNG CAO NHẬN THỨC CHO </a:t>
            </a:r>
            <a:endParaRPr lang="en-U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ctr"/>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 VỀ ĐỊA PHƯƠNG, ĐẤT NƯỚC</a:t>
            </a:r>
          </a:p>
        </p:txBody>
      </p:sp>
      <p:pic>
        <p:nvPicPr>
          <p:cNvPr id="1026" name="Picture 2" descr="Image result for Tổ chức các lớp học nấu ăn: Khách sạn có thể tổ chức các lớp học nấu ăn đặc sản địa phương, giúp khách hàng trải nghiệm và học hỏi thêm về ẩm thực. Triển lãm nghệ thuật: Một số khách sạn tổ chức triển lãm các tác phẩm nghệ thuật của nghệ sĩ địa phương, giúp khách hàng hiểu thêm về văn hóa và nghệ thuật của vùng đất đó.">
            <a:extLst>
              <a:ext uri="{FF2B5EF4-FFF2-40B4-BE49-F238E27FC236}">
                <a16:creationId xmlns:a16="http://schemas.microsoft.com/office/drawing/2014/main" id="{2BF9E844-1AFC-7A90-4B5C-0125C898C9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4903" y="1366781"/>
            <a:ext cx="3482536" cy="255383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563CFC57-6766-2BC8-E738-738F72182262}"/>
              </a:ext>
            </a:extLst>
          </p:cNvPr>
          <p:cNvPicPr>
            <a:picLocks noChangeAspect="1"/>
          </p:cNvPicPr>
          <p:nvPr/>
        </p:nvPicPr>
        <p:blipFill>
          <a:blip r:embed="rId3"/>
          <a:stretch>
            <a:fillRect/>
          </a:stretch>
        </p:blipFill>
        <p:spPr>
          <a:xfrm>
            <a:off x="8504903" y="4070555"/>
            <a:ext cx="3482536" cy="2286702"/>
          </a:xfrm>
          <a:prstGeom prst="rect">
            <a:avLst/>
          </a:prstGeom>
        </p:spPr>
      </p:pic>
    </p:spTree>
    <p:extLst>
      <p:ext uri="{BB962C8B-B14F-4D97-AF65-F5344CB8AC3E}">
        <p14:creationId xmlns:p14="http://schemas.microsoft.com/office/powerpoint/2010/main" val="1538066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494EBB-E043-88B2-280B-C68A5F3BC1CC}"/>
              </a:ext>
            </a:extLst>
          </p:cNvPr>
          <p:cNvSpPr txBox="1"/>
          <p:nvPr/>
        </p:nvSpPr>
        <p:spPr>
          <a:xfrm>
            <a:off x="408136" y="1261837"/>
            <a:ext cx="4076897" cy="184331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8. DỊCH VỤ CHO KHÁCH CÓ KHẢ NĂNG THANH TOÁN CAO</a:t>
            </a:r>
          </a:p>
        </p:txBody>
      </p:sp>
      <p:pic>
        <p:nvPicPr>
          <p:cNvPr id="6" name="Picture 5">
            <a:extLst>
              <a:ext uri="{FF2B5EF4-FFF2-40B4-BE49-F238E27FC236}">
                <a16:creationId xmlns:a16="http://schemas.microsoft.com/office/drawing/2014/main" id="{B4F8C7DB-978A-A1F0-0B31-76FBD195A71B}"/>
              </a:ext>
            </a:extLst>
          </p:cNvPr>
          <p:cNvPicPr>
            <a:picLocks noChangeAspect="1"/>
          </p:cNvPicPr>
          <p:nvPr/>
        </p:nvPicPr>
        <p:blipFill>
          <a:blip r:embed="rId2"/>
          <a:srcRect t="28065" b="26339"/>
          <a:stretch/>
        </p:blipFill>
        <p:spPr>
          <a:xfrm>
            <a:off x="509382" y="3316151"/>
            <a:ext cx="3975651" cy="3058148"/>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TextBox 2">
            <a:extLst>
              <a:ext uri="{FF2B5EF4-FFF2-40B4-BE49-F238E27FC236}">
                <a16:creationId xmlns:a16="http://schemas.microsoft.com/office/drawing/2014/main" id="{50B5914B-C945-491F-B873-7E465BD4783C}"/>
              </a:ext>
            </a:extLst>
          </p:cNvPr>
          <p:cNvSpPr txBox="1"/>
          <p:nvPr/>
        </p:nvSpPr>
        <p:spPr>
          <a:xfrm>
            <a:off x="4949688" y="1472836"/>
            <a:ext cx="6261492" cy="4849983"/>
          </a:xfrm>
          <a:prstGeom prst="rect">
            <a:avLst/>
          </a:prstGeom>
        </p:spPr>
        <p:txBody>
          <a:bodyPr vert="horz" lIns="91440" tIns="45720" rIns="91440" bIns="45720" rtlCol="0" anchor="ctr">
            <a:noAutofit/>
          </a:bodyPr>
          <a:lstStyle/>
          <a:p>
            <a:pPr marL="342900" indent="-228600" algn="just">
              <a:lnSpc>
                <a:spcPct val="90000"/>
              </a:lnSpc>
              <a:spcBef>
                <a:spcPts val="600"/>
              </a:spcBef>
              <a:buFont typeface="Arial" panose="020B0604020202020204" pitchFamily="34" charset="0"/>
              <a:buChar char="•"/>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dành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riêng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thượng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chi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228600" algn="just">
              <a:lnSpc>
                <a:spcPct val="90000"/>
              </a:lnSpc>
              <a:spcBef>
                <a:spcPts val="600"/>
              </a:spcBef>
              <a:buFont typeface="Arial" panose="020B0604020202020204" pitchFamily="34" charset="0"/>
              <a:buChar char="•"/>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285750" algn="just">
              <a:lnSpc>
                <a:spcPct val="90000"/>
              </a:lnSpc>
              <a:spcBef>
                <a:spcPts val="600"/>
              </a:spcBef>
              <a:buFont typeface="Wingdings" panose="05000000000000000000" pitchFamily="2" charset="2"/>
              <a:buChar char="ü"/>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limousine:</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cung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xe</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limousine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đưa</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đón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từ</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sân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bay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chuyến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285750" algn="just">
              <a:lnSpc>
                <a:spcPct val="90000"/>
              </a:lnSpc>
              <a:spcBef>
                <a:spcPts val="600"/>
              </a:spcBef>
              <a:buFont typeface="Wingdings" panose="05000000000000000000" pitchFamily="2" charset="2"/>
              <a:buChar char="ü"/>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suite sang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Cung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suite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rộng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rãi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nội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thất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tiện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ích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654589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123512-ACE2-4B19-0D57-0A2AABBBECD1}"/>
              </a:ext>
            </a:extLst>
          </p:cNvPr>
          <p:cNvSpPr txBox="1"/>
          <p:nvPr/>
        </p:nvSpPr>
        <p:spPr>
          <a:xfrm>
            <a:off x="381817" y="1675038"/>
            <a:ext cx="6294988" cy="4985980"/>
          </a:xfrm>
          <a:prstGeom prst="rect">
            <a:avLst/>
          </a:prstGeom>
          <a:noFill/>
        </p:spPr>
        <p:txBody>
          <a:bodyPr wrap="square">
            <a:spAutoFit/>
          </a:bodyPr>
          <a:lstStyle/>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 niệm: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Đây là những dịch vụ mang tính chất đặc biệt, nhằm đáp ứng những nhu cầu riêng biệt của một số nhóm khách hàng cụ thể.</a:t>
            </a:r>
          </a:p>
          <a:p>
            <a:pPr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cho người khuyết tật: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cung cấp các phòng đặc biệt và dịch vụ hỗ trợ cho khách hàng là người khuyết tật.</a:t>
            </a: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chăm sóc thú cưng: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Một số khách sạn cung cấp dịch vụ chăm sóc và giữ thú cưng khi khách hàng lưu trú.</a:t>
            </a:r>
          </a:p>
        </p:txBody>
      </p:sp>
      <p:sp>
        <p:nvSpPr>
          <p:cNvPr id="5" name="TextBox 4">
            <a:extLst>
              <a:ext uri="{FF2B5EF4-FFF2-40B4-BE49-F238E27FC236}">
                <a16:creationId xmlns:a16="http://schemas.microsoft.com/office/drawing/2014/main" id="{A5AC0B4D-D255-3840-9B43-E20B38B39447}"/>
              </a:ext>
            </a:extLst>
          </p:cNvPr>
          <p:cNvSpPr txBox="1"/>
          <p:nvPr/>
        </p:nvSpPr>
        <p:spPr>
          <a:xfrm>
            <a:off x="381817" y="1070012"/>
            <a:ext cx="6096000" cy="523220"/>
          </a:xfrm>
          <a:prstGeom prst="rect">
            <a:avLst/>
          </a:prstGeom>
          <a:noFill/>
        </p:spPr>
        <p:txBody>
          <a:bodyPr wrap="square">
            <a:spAutoFit/>
          </a:bodyPr>
          <a:lstStyle/>
          <a:p>
            <a:r>
              <a:rPr lang="vi-VN" sz="28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9. DỊCH VỤ ĐẶC BIỆT</a:t>
            </a:r>
          </a:p>
        </p:txBody>
      </p:sp>
      <p:pic>
        <p:nvPicPr>
          <p:cNvPr id="2" name="Picture 1">
            <a:extLst>
              <a:ext uri="{FF2B5EF4-FFF2-40B4-BE49-F238E27FC236}">
                <a16:creationId xmlns:a16="http://schemas.microsoft.com/office/drawing/2014/main" id="{15AEE51A-075A-E887-0B2E-600E1358ECC8}"/>
              </a:ext>
            </a:extLst>
          </p:cNvPr>
          <p:cNvPicPr>
            <a:picLocks noChangeAspect="1"/>
          </p:cNvPicPr>
          <p:nvPr/>
        </p:nvPicPr>
        <p:blipFill>
          <a:blip r:embed="rId2"/>
          <a:stretch>
            <a:fillRect/>
          </a:stretch>
        </p:blipFill>
        <p:spPr>
          <a:xfrm>
            <a:off x="7091589" y="3159763"/>
            <a:ext cx="4426052" cy="2936237"/>
          </a:xfrm>
          <a:prstGeom prst="rect">
            <a:avLst/>
          </a:prstGeom>
        </p:spPr>
      </p:pic>
      <p:pic>
        <p:nvPicPr>
          <p:cNvPr id="2050" name="Picture 2" descr="Image result for dịch vụ chăm sóc thú cưng tại khách sạn ">
            <a:extLst>
              <a:ext uri="{FF2B5EF4-FFF2-40B4-BE49-F238E27FC236}">
                <a16:creationId xmlns:a16="http://schemas.microsoft.com/office/drawing/2014/main" id="{1CECD5D9-ED80-30B6-C741-8ECD44BD9E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1589" y="316076"/>
            <a:ext cx="4426052" cy="2554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294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14ECFE-FA79-FF6F-6AE2-18336989DB91}"/>
              </a:ext>
            </a:extLst>
          </p:cNvPr>
          <p:cNvSpPr txBox="1"/>
          <p:nvPr/>
        </p:nvSpPr>
        <p:spPr>
          <a:xfrm>
            <a:off x="624114" y="1279436"/>
            <a:ext cx="10842172" cy="5216813"/>
          </a:xfrm>
          <a:prstGeom prst="rect">
            <a:avLst/>
          </a:prstGeom>
          <a:noFill/>
        </p:spPr>
        <p:txBody>
          <a:bodyPr wrap="square">
            <a:spAutoFit/>
          </a:bodyPr>
          <a:lstStyle/>
          <a:p>
            <a:pPr marL="457200" indent="-457200" algn="just">
              <a:spcBef>
                <a:spcPts val="1800"/>
              </a:spcBef>
              <a:buFont typeface="+mj-lt"/>
              <a:buAutoNum type="arabicPeriod"/>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cầu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xuất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thêm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cầu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indent="-457200" algn="just">
              <a:spcBef>
                <a:spcPts val="1800"/>
              </a:spcBef>
              <a:buFont typeface="+mj-lt"/>
              <a:buAutoNum type="arabicPeriod"/>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Tại sao dịch vụ vui chơi, thể thao được coi là một yếu tố thu hút khách hàng trong khách sạn? Hãy nêu các ví dụ về dịch vụ này và phân tích cách mà chúng có thể tạo ra lợi thế cạnh tranh cho khách sạn.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lgn="just">
              <a:spcBef>
                <a:spcPts val="1800"/>
              </a:spcBef>
              <a:buFont typeface="+mj-lt"/>
              <a:buAutoNum type="arabicPeriod"/>
            </a:pP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Hãy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thảo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văn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hóa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trí</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xuất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indent="-457200" algn="just">
              <a:spcBef>
                <a:spcPts val="1800"/>
              </a:spcBef>
              <a:buFont typeface="+mj-lt"/>
              <a:buAutoNum type="arabicPeriod"/>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Ban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dành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khả</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toán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thế</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nhớ</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nhóm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905F4E10-F99A-8DE9-C0F2-3F7882EBBAC5}"/>
              </a:ext>
            </a:extLst>
          </p:cNvPr>
          <p:cNvSpPr txBox="1"/>
          <p:nvPr/>
        </p:nvSpPr>
        <p:spPr>
          <a:xfrm>
            <a:off x="6096000" y="162506"/>
            <a:ext cx="6096000" cy="584775"/>
          </a:xfrm>
          <a:prstGeom prst="rect">
            <a:avLst/>
          </a:prstGeom>
          <a:noFill/>
        </p:spPr>
        <p:txBody>
          <a:bodyPr wrap="square">
            <a:spAutoFit/>
          </a:bodyPr>
          <a:lstStyle/>
          <a:p>
            <a:r>
              <a:rPr lang="en-US" sz="32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CÂU HỎI THẢO LUẬN </a:t>
            </a:r>
            <a:endParaRPr lang="vi-VN" sz="32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848627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1A92E4-E2FE-98F5-BB17-6B5C0B23C82E}"/>
              </a:ext>
            </a:extLst>
          </p:cNvPr>
          <p:cNvSpPr txBox="1"/>
          <p:nvPr/>
        </p:nvSpPr>
        <p:spPr>
          <a:xfrm>
            <a:off x="595085" y="3169573"/>
            <a:ext cx="10784114" cy="2677656"/>
          </a:xfrm>
          <a:prstGeom prst="rect">
            <a:avLst/>
          </a:prstGeom>
          <a:noFill/>
        </p:spPr>
        <p:txBody>
          <a:bodyPr wrap="square">
            <a:spAutoFit/>
          </a:bodyPr>
          <a:lstStyle/>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đáp ứng nhu cầu hàng ngày là các dịch vụ cơ bản như giặt ủi, dọn phòng, đưa đón sân bay, và cung cấp thức ăn, nước uống tận phòng.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 dịch vụ này giúp tạo sự tiện nghi và thoải mái cho khách hàng trong suốt thời gian lưu trú, làm tăng sự hài lòng và khả năng quay lại của khách hàng.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một khách sạn có thể cung cấp dịch vụ giặt ủi 24/7 để khách hàng luôn có sẵn trang phục sạch sẽ.</a:t>
            </a:r>
          </a:p>
        </p:txBody>
      </p:sp>
      <p:sp>
        <p:nvSpPr>
          <p:cNvPr id="5" name="TextBox 4">
            <a:extLst>
              <a:ext uri="{FF2B5EF4-FFF2-40B4-BE49-F238E27FC236}">
                <a16:creationId xmlns:a16="http://schemas.microsoft.com/office/drawing/2014/main" id="{E9CCE0E5-D369-B1EB-2822-60E95F617CC1}"/>
              </a:ext>
            </a:extLst>
          </p:cNvPr>
          <p:cNvSpPr txBox="1"/>
          <p:nvPr/>
        </p:nvSpPr>
        <p:spPr>
          <a:xfrm>
            <a:off x="580570" y="1502768"/>
            <a:ext cx="10609943" cy="1200329"/>
          </a:xfrm>
          <a:prstGeom prst="rect">
            <a:avLst/>
          </a:prstGeom>
          <a:noFill/>
        </p:spPr>
        <p:txBody>
          <a:bodyPr wrap="square">
            <a:spAutoFit/>
          </a:bodyPr>
          <a:lstStyle/>
          <a:p>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cầu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xuất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thêm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cầu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149116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389380-72C5-90C2-5D53-CCD26174C872}"/>
              </a:ext>
            </a:extLst>
          </p:cNvPr>
          <p:cNvSpPr txBox="1"/>
          <p:nvPr/>
        </p:nvSpPr>
        <p:spPr>
          <a:xfrm>
            <a:off x="709561" y="1782754"/>
            <a:ext cx="10261600" cy="4524315"/>
          </a:xfrm>
          <a:prstGeom prst="rect">
            <a:avLst/>
          </a:prstGeom>
          <a:noFill/>
        </p:spPr>
        <p:txBody>
          <a:bodyPr wrap="square">
            <a:spAutoFit/>
          </a:bodyPr>
          <a:lstStyle/>
          <a:p>
            <a:pPr algn="just"/>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Tại sao dịch vụ vui chơi, thể thao được coi là một yếu tố thu hút khách hàng trong khách sạn? Hãy nêu các ví dụ về dịch vụ này và phân tích cách mà chúng có thể tạo ra lợi thế cạnh tranh cho khách sạn.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vui chơi, thể thao bao gồm các hoạt động như bể bơi, phòng gym, sân tennis, sân golf, và các lớp học thể dục.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 dịch vụ này không chỉ giúp khách hàng thư giãn mà còn tạo ra giá trị gia tăng cho khách sạn, thu hút những khách hàng yêu thích thể thao và hoạt động ngoài trời.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một resort cao cấp có thể cung cấp các khóa học lặn biển hoặc chèo thuyền kayak để thu hút khách du lịch yêu thích phiêu lưu.</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461976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3D8CD9-257D-EB97-52B7-2786A18D4AB6}"/>
              </a:ext>
            </a:extLst>
          </p:cNvPr>
          <p:cNvSpPr txBox="1"/>
          <p:nvPr/>
        </p:nvSpPr>
        <p:spPr>
          <a:xfrm>
            <a:off x="583381" y="1656249"/>
            <a:ext cx="10682514" cy="4154984"/>
          </a:xfrm>
          <a:prstGeom prst="rect">
            <a:avLst/>
          </a:prstGeom>
          <a:noFill/>
        </p:spPr>
        <p:txBody>
          <a:bodyPr wrap="square">
            <a:spAutoFit/>
          </a:bodyPr>
          <a:lstStyle/>
          <a:p>
            <a:pPr algn="just"/>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Hãy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thảo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văn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hóa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trí</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xuất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just"/>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văn hóa, giải trí trong khách sạn bao gồm các chương trình nghệ thuật, nhạc sống, chiếu phim, và tổ chức tour tham quan các địa điểm văn hóa địa phương.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dịch vụ này giúp khách hàng trải nghiệm văn hóa địa phương và làm phong phú thêm kỳ nghỉ của họ.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một khách sạn ở Việt Nam có thể tổ chức các buổi biểu diễn ca trù hoặc múa rối nước để giới thiệu văn hóa truyền thống đến du khách.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818249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4F4405-DD98-78EE-9A2E-4ADE8E33B786}"/>
              </a:ext>
            </a:extLst>
          </p:cNvPr>
          <p:cNvSpPr txBox="1"/>
          <p:nvPr/>
        </p:nvSpPr>
        <p:spPr>
          <a:xfrm>
            <a:off x="955601" y="1588829"/>
            <a:ext cx="10522857" cy="4154984"/>
          </a:xfrm>
          <a:prstGeom prst="rect">
            <a:avLst/>
          </a:prstGeom>
          <a:noFill/>
        </p:spPr>
        <p:txBody>
          <a:bodyPr wrap="square">
            <a:spAutoFit/>
          </a:bodyPr>
          <a:lstStyle/>
          <a:p>
            <a:pPr algn="just"/>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Ban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nghĩ</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dành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khả</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toán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cao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thế</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thể</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nhớ</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nhóm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just"/>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Đây là những dịch vụ đặc biệt được thiết kế riêng cho khách hàng thượng lưu, như dịch vụ quản gia riêng, phòng suite cao cấp, và trải nghiệm ẩm thực tinh tế.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 dịch vụ này giúp khách hàng tận hưởng sự xa hoa và đặc quyền mà ít nơi có thể cung cấp.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một khách sạn 5 sao có thể cung cấp dịch vụ đưa đón bằng limousine và bữa tối do đầu bếp Michelin thực hiện ngay tại phòng.</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38680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16DF-09CB-54BA-FCEC-4291FB4E5E92}"/>
            </a:ext>
          </a:extLst>
        </p:cNvPr>
        <p:cNvGrpSpPr/>
        <p:nvPr/>
      </p:nvGrpSpPr>
      <p:grpSpPr>
        <a:xfrm>
          <a:off x="0" y="0"/>
          <a:ext cx="0" cy="0"/>
          <a:chOff x="0" y="0"/>
          <a:chExt cx="0" cy="0"/>
        </a:xfrm>
      </p:grpSpPr>
      <p:pic>
        <p:nvPicPr>
          <p:cNvPr id="7" name="Picture 6" descr="Artboard 1 copy 2">
            <a:extLst>
              <a:ext uri="{FF2B5EF4-FFF2-40B4-BE49-F238E27FC236}">
                <a16:creationId xmlns:a16="http://schemas.microsoft.com/office/drawing/2014/main" id="{E6A4F3F9-0FEC-4E3F-08A2-4A44859816B6}"/>
              </a:ext>
            </a:extLst>
          </p:cNvPr>
          <p:cNvPicPr>
            <a:picLocks noChangeAspect="1"/>
          </p:cNvPicPr>
          <p:nvPr/>
        </p:nvPicPr>
        <p:blipFill>
          <a:blip r:embed="rId2"/>
          <a:stretch>
            <a:fillRect/>
          </a:stretch>
        </p:blipFill>
        <p:spPr>
          <a:xfrm>
            <a:off x="0" y="0"/>
            <a:ext cx="12190730" cy="6857365"/>
          </a:xfrm>
          <a:prstGeom prst="rect">
            <a:avLst/>
          </a:prstGeom>
        </p:spPr>
      </p:pic>
      <p:pic>
        <p:nvPicPr>
          <p:cNvPr id="2" name="Picture 1" descr="Artboard 1 copy 2">
            <a:extLst>
              <a:ext uri="{FF2B5EF4-FFF2-40B4-BE49-F238E27FC236}">
                <a16:creationId xmlns:a16="http://schemas.microsoft.com/office/drawing/2014/main" id="{53769216-72F2-774D-261C-BF7C2A666905}"/>
              </a:ext>
            </a:extLst>
          </p:cNvPr>
          <p:cNvPicPr>
            <a:picLocks noChangeAspect="1"/>
          </p:cNvPicPr>
          <p:nvPr/>
        </p:nvPicPr>
        <p:blipFill>
          <a:blip r:embed="rId3"/>
          <a:stretch>
            <a:fillRect/>
          </a:stretch>
        </p:blipFill>
        <p:spPr>
          <a:xfrm>
            <a:off x="0" y="0"/>
            <a:ext cx="12190730" cy="6857365"/>
          </a:xfrm>
          <a:prstGeom prst="rect">
            <a:avLst/>
          </a:prstGeom>
        </p:spPr>
      </p:pic>
      <p:pic>
        <p:nvPicPr>
          <p:cNvPr id="5" name="Picture 4" descr="A black screen with a black background&#10;&#10;AI-generated content may be incorrect.">
            <a:extLst>
              <a:ext uri="{FF2B5EF4-FFF2-40B4-BE49-F238E27FC236}">
                <a16:creationId xmlns:a16="http://schemas.microsoft.com/office/drawing/2014/main" id="{D5AE7117-3E90-A63B-048E-1FC0045AD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35"/>
            <a:ext cx="12191999" cy="6858000"/>
          </a:xfrm>
          <a:prstGeom prst="rect">
            <a:avLst/>
          </a:prstGeom>
        </p:spPr>
      </p:pic>
    </p:spTree>
    <p:extLst>
      <p:ext uri="{BB962C8B-B14F-4D97-AF65-F5344CB8AC3E}">
        <p14:creationId xmlns:p14="http://schemas.microsoft.com/office/powerpoint/2010/main" val="391925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EB78B1-299C-98E4-92C8-0F7CE9E57A04}"/>
              </a:ext>
            </a:extLst>
          </p:cNvPr>
          <p:cNvSpPr txBox="1"/>
          <p:nvPr/>
        </p:nvSpPr>
        <p:spPr>
          <a:xfrm>
            <a:off x="530087" y="2494722"/>
            <a:ext cx="11131826" cy="2308324"/>
          </a:xfrm>
          <a:prstGeom prst="rect">
            <a:avLst/>
          </a:prstGeom>
          <a:noFill/>
        </p:spPr>
        <p:txBody>
          <a:bodyPr wrap="square">
            <a:spAutoFit/>
          </a:bodyPr>
          <a:lstStyle/>
          <a:p>
            <a:pPr>
              <a:buNone/>
            </a:pPr>
            <a:r>
              <a:rPr lang="vi-VN" sz="2400" b="1" dirty="0">
                <a:solidFill>
                  <a:srgbClr val="002060"/>
                </a:solidFill>
              </a:rPr>
              <a:t>MICE là gì?</a:t>
            </a:r>
            <a:endParaRPr lang="vi-VN" sz="2400" dirty="0">
              <a:solidFill>
                <a:srgbClr val="002060"/>
              </a:solidFill>
            </a:endParaRPr>
          </a:p>
          <a:p>
            <a:pPr>
              <a:buNone/>
            </a:pPr>
            <a:r>
              <a:rPr lang="vi-VN" sz="2400" b="1" dirty="0">
                <a:solidFill>
                  <a:srgbClr val="002060"/>
                </a:solidFill>
              </a:rPr>
              <a:t>MICE</a:t>
            </a:r>
            <a:r>
              <a:rPr lang="vi-VN" sz="2400" dirty="0">
                <a:solidFill>
                  <a:srgbClr val="002060"/>
                </a:solidFill>
              </a:rPr>
              <a:t> là viết tắt của </a:t>
            </a:r>
            <a:r>
              <a:rPr lang="vi-VN" sz="2400" b="1" dirty="0">
                <a:solidFill>
                  <a:srgbClr val="002060"/>
                </a:solidFill>
              </a:rPr>
              <a:t>Meetings – Incentives – Conferences – Exhibitions</a:t>
            </a:r>
            <a:r>
              <a:rPr lang="vi-VN" sz="2400" dirty="0">
                <a:solidFill>
                  <a:srgbClr val="002060"/>
                </a:solidFill>
              </a:rPr>
              <a:t>, tức là </a:t>
            </a:r>
            <a:r>
              <a:rPr lang="vi-VN" sz="2400" b="1" dirty="0">
                <a:solidFill>
                  <a:srgbClr val="002060"/>
                </a:solidFill>
              </a:rPr>
              <a:t>Hội họp – Khen thưởng – Hội nghị – Triển lãm</a:t>
            </a:r>
            <a:r>
              <a:rPr lang="vi-VN" sz="2400" dirty="0">
                <a:solidFill>
                  <a:srgbClr val="002060"/>
                </a:solidFill>
              </a:rPr>
              <a:t>. Đây là một loại hình du lịch kết hợp giữa công việc và nghỉ dưỡng, rất phổ biến trong lĩnh vực khách sạn – du lịch.</a:t>
            </a:r>
          </a:p>
          <a:p>
            <a:pPr>
              <a:buNone/>
            </a:pPr>
            <a:endParaRPr lang="vi-VN" sz="2400" dirty="0">
              <a:solidFill>
                <a:srgbClr val="002060"/>
              </a:solidFill>
            </a:endParaRPr>
          </a:p>
        </p:txBody>
      </p:sp>
      <p:sp>
        <p:nvSpPr>
          <p:cNvPr id="6" name="TextBox 5">
            <a:extLst>
              <a:ext uri="{FF2B5EF4-FFF2-40B4-BE49-F238E27FC236}">
                <a16:creationId xmlns:a16="http://schemas.microsoft.com/office/drawing/2014/main" id="{EACEE343-F4E5-B604-8879-4089F2CD2DC0}"/>
              </a:ext>
            </a:extLst>
          </p:cNvPr>
          <p:cNvSpPr txBox="1"/>
          <p:nvPr/>
        </p:nvSpPr>
        <p:spPr>
          <a:xfrm>
            <a:off x="530087" y="1321904"/>
            <a:ext cx="5893904" cy="954107"/>
          </a:xfrm>
          <a:prstGeom prst="rect">
            <a:avLst/>
          </a:prstGeom>
          <a:solidFill>
            <a:srgbClr val="FFFF00"/>
          </a:solidFill>
        </p:spPr>
        <p:txBody>
          <a:bodyPr wrap="square">
            <a:spAutoFit/>
          </a:bodyPr>
          <a:lstStyle/>
          <a:p>
            <a:pPr algn="ctr">
              <a:buNone/>
            </a:pP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MICE VÀ TÁC ĐỘNG </a:t>
            </a:r>
            <a:br>
              <a:rPr lang="en-US"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br>
            <a:r>
              <a:rPr lang="vi-VN" sz="28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ĐẾN DOANH THU</a:t>
            </a:r>
          </a:p>
        </p:txBody>
      </p:sp>
    </p:spTree>
    <p:extLst>
      <p:ext uri="{BB962C8B-B14F-4D97-AF65-F5344CB8AC3E}">
        <p14:creationId xmlns:p14="http://schemas.microsoft.com/office/powerpoint/2010/main" val="3027013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68F2D12-EF49-B934-B31B-98CC742B6951}"/>
              </a:ext>
            </a:extLst>
          </p:cNvPr>
          <p:cNvSpPr txBox="1"/>
          <p:nvPr/>
        </p:nvSpPr>
        <p:spPr>
          <a:xfrm>
            <a:off x="535056" y="1223309"/>
            <a:ext cx="11121887"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1</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Meetings (Hội họp)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Các buổi họp thường được tổ chức tại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phòng hội nghị của khách sạn</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hoặc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trung tâm hội nghị</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a:t>
            </a:r>
            <a:b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b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Đây thường là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sự kiện diễn ra trong một ngày</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quy tụ các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chuyên gia hoặc nhân viên của cùng một tổ chức</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để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thảo luận những thách thức quan trọng hoặc đặt ra mục tiêu cho doanh nghiệp</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br>
            <a:endPar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2. Incentives (Du lịch khen thưởng)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Là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chương trình du lịch thưởng</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mà doanh nghiệp dành tặng cho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nhân viên, nhóm hoặc đối tác</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có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thành tích xuất sắc</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a:t>
            </a:r>
            <a:b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b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Một vài ngày nghỉ dưỡng tại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khu nghỉ mát hoặc khách sạn sang trọng</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 do công ty chi trả sẽ </a:t>
            </a:r>
            <a:r>
              <a:rPr kumimoji="0" lang="vi-VN" sz="2400" b="1"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nâng cao tinh thần làm việc và lòng trung thành của nhân viên</a:t>
            </a:r>
            <a: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br>
            <a:endParaRPr kumimoji="0" lang="vi-VN" sz="24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99196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FD9397-71C9-E6EF-BEDA-32354819545C}"/>
              </a:ext>
            </a:extLst>
          </p:cNvPr>
          <p:cNvSpPr txBox="1"/>
          <p:nvPr/>
        </p:nvSpPr>
        <p:spPr>
          <a:xfrm>
            <a:off x="540026" y="1305128"/>
            <a:ext cx="11111948" cy="5262979"/>
          </a:xfrm>
          <a:prstGeom prst="rect">
            <a:avLst/>
          </a:prstGeom>
          <a:noFill/>
        </p:spPr>
        <p:txBody>
          <a:bodyPr wrap="square">
            <a:spAutoFit/>
          </a:bodyPr>
          <a:lstStyle/>
          <a:p>
            <a:pPr>
              <a:buNone/>
            </a:pPr>
            <a:r>
              <a:rPr lang="vi-VN" sz="2400" b="1" dirty="0">
                <a:solidFill>
                  <a:srgbClr val="002060"/>
                </a:solidFill>
              </a:rPr>
              <a:t>3. Conferences (Hội nghị)</a:t>
            </a:r>
          </a:p>
          <a:p>
            <a:pPr>
              <a:buNone/>
            </a:pPr>
            <a:r>
              <a:rPr lang="vi-VN" sz="2400" dirty="0">
                <a:solidFill>
                  <a:srgbClr val="002060"/>
                </a:solidFill>
              </a:rPr>
              <a:t>Hội nghị là </a:t>
            </a:r>
            <a:r>
              <a:rPr lang="vi-VN" sz="2400" b="1" dirty="0">
                <a:solidFill>
                  <a:srgbClr val="002060"/>
                </a:solidFill>
              </a:rPr>
              <a:t>phiên bản mở rộng của các buổi họp</a:t>
            </a:r>
            <a:r>
              <a:rPr lang="vi-VN" sz="2400" dirty="0">
                <a:solidFill>
                  <a:srgbClr val="002060"/>
                </a:solidFill>
              </a:rPr>
              <a:t>, được tổ chức </a:t>
            </a:r>
            <a:r>
              <a:rPr lang="vi-VN" sz="2400" b="1" dirty="0">
                <a:solidFill>
                  <a:srgbClr val="002060"/>
                </a:solidFill>
              </a:rPr>
              <a:t>quy mô lớn và kéo dài trong nhiều ngày</a:t>
            </a:r>
            <a:r>
              <a:rPr lang="vi-VN" sz="2400" dirty="0">
                <a:solidFill>
                  <a:srgbClr val="002060"/>
                </a:solidFill>
              </a:rPr>
              <a:t>.</a:t>
            </a:r>
            <a:br>
              <a:rPr lang="vi-VN" sz="2400" dirty="0">
                <a:solidFill>
                  <a:srgbClr val="002060"/>
                </a:solidFill>
              </a:rPr>
            </a:br>
            <a:r>
              <a:rPr lang="vi-VN" sz="2400" dirty="0">
                <a:solidFill>
                  <a:srgbClr val="002060"/>
                </a:solidFill>
              </a:rPr>
              <a:t>Mục đích là để </a:t>
            </a:r>
            <a:r>
              <a:rPr lang="vi-VN" sz="2400" b="1" dirty="0">
                <a:solidFill>
                  <a:srgbClr val="002060"/>
                </a:solidFill>
              </a:rPr>
              <a:t>chia sẻ kiến thức, trao đổi kinh nghiệm</a:t>
            </a:r>
            <a:r>
              <a:rPr lang="vi-VN" sz="2400" dirty="0">
                <a:solidFill>
                  <a:srgbClr val="002060"/>
                </a:solidFill>
              </a:rPr>
              <a:t> giữa </a:t>
            </a:r>
            <a:r>
              <a:rPr lang="vi-VN" sz="2400" b="1" dirty="0">
                <a:solidFill>
                  <a:srgbClr val="002060"/>
                </a:solidFill>
              </a:rPr>
              <a:t>các thành viên của tổ chức</a:t>
            </a:r>
            <a:r>
              <a:rPr lang="vi-VN" sz="2400" dirty="0">
                <a:solidFill>
                  <a:srgbClr val="002060"/>
                </a:solidFill>
              </a:rPr>
              <a:t>, </a:t>
            </a:r>
            <a:r>
              <a:rPr lang="vi-VN" sz="2400" b="1" dirty="0">
                <a:solidFill>
                  <a:srgbClr val="002060"/>
                </a:solidFill>
              </a:rPr>
              <a:t>diễn giả khách mời</a:t>
            </a:r>
            <a:r>
              <a:rPr lang="vi-VN" sz="2400" dirty="0">
                <a:solidFill>
                  <a:srgbClr val="002060"/>
                </a:solidFill>
              </a:rPr>
              <a:t> và thậm chí là </a:t>
            </a:r>
            <a:r>
              <a:rPr lang="vi-VN" sz="2400" b="1" dirty="0">
                <a:solidFill>
                  <a:srgbClr val="002060"/>
                </a:solidFill>
              </a:rPr>
              <a:t>công chúng</a:t>
            </a:r>
            <a:r>
              <a:rPr lang="vi-VN" sz="2400" dirty="0">
                <a:solidFill>
                  <a:srgbClr val="002060"/>
                </a:solidFill>
              </a:rPr>
              <a:t>.</a:t>
            </a:r>
          </a:p>
          <a:p>
            <a:pPr>
              <a:buNone/>
            </a:pPr>
            <a:br>
              <a:rPr lang="vi-VN" sz="2400" dirty="0">
                <a:solidFill>
                  <a:srgbClr val="002060"/>
                </a:solidFill>
              </a:rPr>
            </a:br>
            <a:endParaRPr lang="vi-VN" sz="2400" dirty="0">
              <a:solidFill>
                <a:srgbClr val="002060"/>
              </a:solidFill>
            </a:endParaRPr>
          </a:p>
          <a:p>
            <a:pPr>
              <a:buNone/>
            </a:pPr>
            <a:r>
              <a:rPr lang="vi-VN" sz="2400" b="1" dirty="0">
                <a:solidFill>
                  <a:srgbClr val="002060"/>
                </a:solidFill>
              </a:rPr>
              <a:t>4. Exhibitions (Triển lãm)</a:t>
            </a:r>
          </a:p>
          <a:p>
            <a:pPr>
              <a:buNone/>
            </a:pPr>
            <a:r>
              <a:rPr lang="vi-VN" sz="2400" dirty="0">
                <a:solidFill>
                  <a:srgbClr val="002060"/>
                </a:solidFill>
              </a:rPr>
              <a:t>Triển lãm là </a:t>
            </a:r>
            <a:r>
              <a:rPr lang="vi-VN" sz="2400" b="1" dirty="0">
                <a:solidFill>
                  <a:srgbClr val="002060"/>
                </a:solidFill>
              </a:rPr>
              <a:t>hội chợ thương mại</a:t>
            </a:r>
            <a:r>
              <a:rPr lang="vi-VN" sz="2400" dirty="0">
                <a:solidFill>
                  <a:srgbClr val="002060"/>
                </a:solidFill>
              </a:rPr>
              <a:t> nơi các doanh nghiệp </a:t>
            </a:r>
            <a:r>
              <a:rPr lang="vi-VN" sz="2400" b="1" dirty="0">
                <a:solidFill>
                  <a:srgbClr val="002060"/>
                </a:solidFill>
              </a:rPr>
              <a:t>giới thiệu sản phẩm và dịch vụ chủ lực</a:t>
            </a:r>
            <a:r>
              <a:rPr lang="vi-VN" sz="2400" dirty="0">
                <a:solidFill>
                  <a:srgbClr val="002060"/>
                </a:solidFill>
              </a:rPr>
              <a:t> của mình đến công chúng.</a:t>
            </a:r>
            <a:br>
              <a:rPr lang="vi-VN" sz="2400" dirty="0">
                <a:solidFill>
                  <a:srgbClr val="002060"/>
                </a:solidFill>
              </a:rPr>
            </a:br>
            <a:r>
              <a:rPr lang="vi-VN" sz="2400" dirty="0">
                <a:solidFill>
                  <a:srgbClr val="002060"/>
                </a:solidFill>
              </a:rPr>
              <a:t>Đây là </a:t>
            </a:r>
            <a:r>
              <a:rPr lang="vi-VN" sz="2400" b="1" dirty="0">
                <a:solidFill>
                  <a:srgbClr val="002060"/>
                </a:solidFill>
              </a:rPr>
              <a:t>sự kiện có tính tập trung cao</a:t>
            </a:r>
            <a:r>
              <a:rPr lang="vi-VN" sz="2400" dirty="0">
                <a:solidFill>
                  <a:srgbClr val="002060"/>
                </a:solidFill>
              </a:rPr>
              <a:t>, giúp </a:t>
            </a:r>
            <a:r>
              <a:rPr lang="vi-VN" sz="2400" b="1" dirty="0">
                <a:solidFill>
                  <a:srgbClr val="002060"/>
                </a:solidFill>
              </a:rPr>
              <a:t>quảng bá thương hiệu, mở rộng mạng lưới và thiết lập mối quan hệ hợp tác lâu dài</a:t>
            </a:r>
            <a:r>
              <a:rPr lang="vi-VN" sz="2400" dirty="0">
                <a:solidFill>
                  <a:srgbClr val="002060"/>
                </a:solidFill>
              </a:rPr>
              <a:t>.</a:t>
            </a:r>
          </a:p>
          <a:p>
            <a:pPr>
              <a:buNone/>
            </a:pPr>
            <a:br>
              <a:rPr lang="vi-VN" sz="2400" dirty="0">
                <a:solidFill>
                  <a:srgbClr val="002060"/>
                </a:solidFill>
              </a:rPr>
            </a:br>
            <a:endParaRPr lang="vi-VN" sz="2400" dirty="0">
              <a:solidFill>
                <a:srgbClr val="002060"/>
              </a:solidFill>
            </a:endParaRPr>
          </a:p>
        </p:txBody>
      </p:sp>
    </p:spTree>
    <p:extLst>
      <p:ext uri="{BB962C8B-B14F-4D97-AF65-F5344CB8AC3E}">
        <p14:creationId xmlns:p14="http://schemas.microsoft.com/office/powerpoint/2010/main" val="16798738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3785</Words>
  <Application>Microsoft Office PowerPoint</Application>
  <PresentationFormat>Widescreen</PresentationFormat>
  <Paragraphs>251</Paragraphs>
  <Slides>37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Microsoft Sans Serif</vt:lpstr>
      <vt:lpstr>Times New Roman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VHU ThanhLL</dc:creator>
  <cp:lastModifiedBy>VHU ThanhLL</cp:lastModifiedBy>
  <cp:revision>8</cp:revision>
  <dcterms:created xsi:type="dcterms:W3CDTF">2025-09-24T10:43:32Z</dcterms:created>
  <dcterms:modified xsi:type="dcterms:W3CDTF">2025-10-18T03:20:06Z</dcterms:modified>
</cp:coreProperties>
</file>