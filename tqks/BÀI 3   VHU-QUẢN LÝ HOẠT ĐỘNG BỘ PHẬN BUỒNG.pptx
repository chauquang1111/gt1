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62" r:id="rId2"/>
    <p:sldId id="257" r:id="rId3"/>
    <p:sldId id="313" r:id="rId4"/>
    <p:sldId id="383" r:id="rId5"/>
    <p:sldId id="315" r:id="rId6"/>
    <p:sldId id="381" r:id="rId7"/>
    <p:sldId id="363" r:id="rId8"/>
    <p:sldId id="317" r:id="rId9"/>
    <p:sldId id="319" r:id="rId10"/>
    <p:sldId id="318" r:id="rId11"/>
    <p:sldId id="320" r:id="rId12"/>
    <p:sldId id="321" r:id="rId13"/>
    <p:sldId id="384"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86" r:id="rId28"/>
    <p:sldId id="385" r:id="rId29"/>
    <p:sldId id="388" r:id="rId30"/>
    <p:sldId id="335" r:id="rId31"/>
    <p:sldId id="387" r:id="rId32"/>
    <p:sldId id="389" r:id="rId33"/>
    <p:sldId id="390" r:id="rId34"/>
    <p:sldId id="391" r:id="rId35"/>
    <p:sldId id="392" r:id="rId36"/>
    <p:sldId id="393" r:id="rId37"/>
    <p:sldId id="336" r:id="rId38"/>
    <p:sldId id="394" r:id="rId39"/>
    <p:sldId id="395" r:id="rId40"/>
    <p:sldId id="337" r:id="rId41"/>
    <p:sldId id="37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3DF93-9B7E-43A0-B407-D74BE9B9E4CD}" type="datetimeFigureOut">
              <a:rPr lang="en-US" smtClean="0"/>
              <a:t>04-Oct-25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4FF7B3-E761-4FFC-BFFB-D99BE1EF9CDB}" type="slidenum">
              <a:rPr lang="en-US" smtClean="0"/>
              <a:t>‹#›</a:t>
            </a:fld>
            <a:endParaRPr lang="en-US"/>
          </a:p>
        </p:txBody>
      </p:sp>
    </p:spTree>
    <p:extLst>
      <p:ext uri="{BB962C8B-B14F-4D97-AF65-F5344CB8AC3E}">
        <p14:creationId xmlns:p14="http://schemas.microsoft.com/office/powerpoint/2010/main" val="429302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7195703-381E-4D13-9EA2-BC83D76C341E}" type="slidenum">
              <a:rPr lang="en-US" smtClean="0"/>
              <a:t>1</a:t>
            </a:fld>
            <a:endParaRPr lang="en-US"/>
          </a:p>
        </p:txBody>
      </p:sp>
    </p:spTree>
    <p:extLst>
      <p:ext uri="{BB962C8B-B14F-4D97-AF65-F5344CB8AC3E}">
        <p14:creationId xmlns:p14="http://schemas.microsoft.com/office/powerpoint/2010/main" val="310649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4FF7B3-E761-4FFC-BFFB-D99BE1EF9CDB}" type="slidenum">
              <a:rPr lang="en-US" smtClean="0"/>
              <a:t>8</a:t>
            </a:fld>
            <a:endParaRPr lang="en-US"/>
          </a:p>
        </p:txBody>
      </p:sp>
    </p:spTree>
    <p:extLst>
      <p:ext uri="{BB962C8B-B14F-4D97-AF65-F5344CB8AC3E}">
        <p14:creationId xmlns:p14="http://schemas.microsoft.com/office/powerpoint/2010/main" val="368943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4FF7B3-E761-4FFC-BFFB-D99BE1EF9CDB}" type="slidenum">
              <a:rPr lang="en-US" smtClean="0"/>
              <a:t>41</a:t>
            </a:fld>
            <a:endParaRPr lang="en-US"/>
          </a:p>
        </p:txBody>
      </p:sp>
    </p:spTree>
    <p:extLst>
      <p:ext uri="{BB962C8B-B14F-4D97-AF65-F5344CB8AC3E}">
        <p14:creationId xmlns:p14="http://schemas.microsoft.com/office/powerpoint/2010/main" val="3049482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FADDBA6-7898-4A7E-81D8-4315F9153EB6}" type="datetimeFigureOut">
              <a:rPr lang="en-US" smtClean="0"/>
              <a:t>04-Oct-25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08080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ADDBA6-7898-4A7E-81D8-4315F9153EB6}" type="datetimeFigureOut">
              <a:rPr lang="en-US" smtClean="0"/>
              <a:t>04-Oct-25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35827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ADDBA6-7898-4A7E-81D8-4315F9153EB6}" type="datetimeFigureOut">
              <a:rPr lang="en-US" smtClean="0"/>
              <a:t>04-Oct-25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213083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ADDBA6-7898-4A7E-81D8-4315F9153EB6}" type="datetimeFigureOut">
              <a:rPr lang="en-US" smtClean="0"/>
              <a:t>04-Oct-25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20879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ADDBA6-7898-4A7E-81D8-4315F9153EB6}" type="datetimeFigureOut">
              <a:rPr lang="en-US" smtClean="0"/>
              <a:t>04-Oct-25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207072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ADDBA6-7898-4A7E-81D8-4315F9153EB6}" type="datetimeFigureOut">
              <a:rPr lang="en-US" smtClean="0"/>
              <a:t>04-Oct-25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915700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04-Oct-25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3167567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ADDBA6-7898-4A7E-81D8-4315F9153EB6}" type="datetimeFigureOut">
              <a:rPr lang="en-US" smtClean="0"/>
              <a:t>04-Oct-25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189069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04-Oct-25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24486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ADDBA6-7898-4A7E-81D8-4315F9153EB6}" type="datetimeFigureOut">
              <a:rPr lang="en-US" smtClean="0"/>
              <a:t>04-Oct-25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E2A7F9-E658-489E-9D02-A8C67FB1B49C}" type="slidenum">
              <a:rPr lang="en-US" smtClean="0"/>
              <a:t>‹#›</a:t>
            </a:fld>
            <a:endParaRPr lang="en-US"/>
          </a:p>
        </p:txBody>
      </p:sp>
    </p:spTree>
    <p:extLst>
      <p:ext uri="{BB962C8B-B14F-4D97-AF65-F5344CB8AC3E}">
        <p14:creationId xmlns:p14="http://schemas.microsoft.com/office/powerpoint/2010/main" val="4199287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04-Oct-25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spTree>
    <p:extLst>
      <p:ext uri="{BB962C8B-B14F-4D97-AF65-F5344CB8AC3E}">
        <p14:creationId xmlns:p14="http://schemas.microsoft.com/office/powerpoint/2010/main" val="3772772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820340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647691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p>
            <a:fld id="{B5D40311-D2C8-4007-B8EC-A7E1A9E8CEE2}" type="datetimeFigureOut">
              <a:rPr lang="en-US" smtClean="0"/>
              <a:t>04-Oct-25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466D83D6-630B-4019-815A-F2FC81903338}" type="slidenum">
              <a:rPr lang="en-US" smtClean="0"/>
              <a:t>‹#›</a:t>
            </a:fld>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8"/>
            <a:ext cx="12190476" cy="6857143"/>
          </a:xfrm>
          <a:prstGeom prst="rect">
            <a:avLst/>
          </a:prstGeom>
        </p:spPr>
      </p:pic>
    </p:spTree>
    <p:extLst>
      <p:ext uri="{BB962C8B-B14F-4D97-AF65-F5344CB8AC3E}">
        <p14:creationId xmlns:p14="http://schemas.microsoft.com/office/powerpoint/2010/main" val="258819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DDBA6-7898-4A7E-81D8-4315F9153EB6}" type="datetimeFigureOut">
              <a:rPr lang="en-US" smtClean="0"/>
              <a:t>04-Oct-25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2A7F9-E658-489E-9D02-A8C67FB1B49C}" type="slidenum">
              <a:rPr lang="en-US" smtClean="0"/>
              <a:t>‹#›</a:t>
            </a:fld>
            <a:endParaRPr lang="en-US"/>
          </a:p>
        </p:txBody>
      </p:sp>
    </p:spTree>
    <p:extLst>
      <p:ext uri="{BB962C8B-B14F-4D97-AF65-F5344CB8AC3E}">
        <p14:creationId xmlns:p14="http://schemas.microsoft.com/office/powerpoint/2010/main" val="9501832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3" r:id="rId12"/>
    <p:sldLayoutId id="2147483674" r:id="rId13"/>
    <p:sldLayoutId id="214748367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rtboard 1"/>
          <p:cNvPicPr>
            <a:picLocks noChangeAspect="1"/>
          </p:cNvPicPr>
          <p:nvPr/>
        </p:nvPicPr>
        <p:blipFill>
          <a:blip r:embed="rId3"/>
          <a:stretch>
            <a:fillRect/>
          </a:stretch>
        </p:blipFill>
        <p:spPr>
          <a:xfrm>
            <a:off x="0" y="-9413"/>
            <a:ext cx="12190730" cy="6857365"/>
          </a:xfrm>
          <a:prstGeom prst="rect">
            <a:avLst/>
          </a:prstGeom>
        </p:spPr>
      </p:pic>
      <p:sp>
        <p:nvSpPr>
          <p:cNvPr id="5" name="TextBox 6"/>
          <p:cNvSpPr txBox="1"/>
          <p:nvPr/>
        </p:nvSpPr>
        <p:spPr>
          <a:xfrm>
            <a:off x="6941584" y="4196532"/>
            <a:ext cx="4562946" cy="958660"/>
          </a:xfrm>
          <a:prstGeom prst="rect">
            <a:avLst/>
          </a:prstGeom>
          <a:noFill/>
        </p:spPr>
        <p:txBody>
          <a:bodyPr wrap="square" rtlCol="0">
            <a:spAutoFit/>
          </a:bodyPr>
          <a:lstStyle/>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Giảng</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viên</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ThS</a:t>
            </a:r>
            <a:r>
              <a:rPr lang="en-US" sz="2000" b="1" dirty="0">
                <a:solidFill>
                  <a:prstClr val="white"/>
                </a:solidFill>
                <a:latin typeface="Arial" panose="020B0604020202020204" pitchFamily="34" charset="0"/>
                <a:cs typeface="Arial" panose="020B0604020202020204" pitchFamily="34" charset="0"/>
              </a:rPr>
              <a:t>. Lý Liệt Thanh </a:t>
            </a:r>
          </a:p>
          <a:p>
            <a:pPr lvl="0">
              <a:lnSpc>
                <a:spcPct val="150000"/>
              </a:lnSpc>
              <a:defRPr/>
            </a:pPr>
            <a:r>
              <a:rPr lang="en-US" sz="2000" b="1" dirty="0" err="1">
                <a:solidFill>
                  <a:prstClr val="white"/>
                </a:solidFill>
                <a:latin typeface="Arial" panose="020B0604020202020204" pitchFamily="34" charset="0"/>
                <a:cs typeface="Arial" panose="020B0604020202020204" pitchFamily="34" charset="0"/>
              </a:rPr>
              <a:t>Thời</a:t>
            </a:r>
            <a:r>
              <a:rPr lang="en-US" sz="2000" b="1" dirty="0">
                <a:solidFill>
                  <a:prstClr val="white"/>
                </a:solidFill>
                <a:latin typeface="Arial" panose="020B0604020202020204" pitchFamily="34" charset="0"/>
                <a:cs typeface="Arial" panose="020B0604020202020204" pitchFamily="34" charset="0"/>
              </a:rPr>
              <a:t> </a:t>
            </a:r>
            <a:r>
              <a:rPr lang="en-US" sz="2000" b="1" dirty="0" err="1">
                <a:solidFill>
                  <a:prstClr val="white"/>
                </a:solidFill>
                <a:latin typeface="Arial" panose="020B0604020202020204" pitchFamily="34" charset="0"/>
                <a:cs typeface="Arial" panose="020B0604020202020204" pitchFamily="34" charset="0"/>
              </a:rPr>
              <a:t>lượng</a:t>
            </a:r>
            <a:r>
              <a:rPr lang="en-US" sz="2000" b="1" dirty="0">
                <a:solidFill>
                  <a:prstClr val="white"/>
                </a:solidFill>
                <a:latin typeface="Arial" panose="020B0604020202020204" pitchFamily="34" charset="0"/>
                <a:cs typeface="Arial" panose="020B0604020202020204" pitchFamily="34" charset="0"/>
              </a:rPr>
              <a:t>: 30 </a:t>
            </a:r>
            <a:r>
              <a:rPr lang="en-US" sz="2000" b="1" dirty="0" err="1">
                <a:solidFill>
                  <a:prstClr val="white"/>
                </a:solidFill>
                <a:latin typeface="Arial" panose="020B0604020202020204" pitchFamily="34" charset="0"/>
                <a:cs typeface="Arial" panose="020B0604020202020204" pitchFamily="34" charset="0"/>
              </a:rPr>
              <a:t>tiết</a:t>
            </a:r>
            <a:endParaRPr lang="vi-VN" sz="2000" b="1" dirty="0">
              <a:solidFill>
                <a:prstClr val="white"/>
              </a:solidFill>
              <a:cs typeface="Arial" panose="020B0604020202020204" pitchFamily="34" charset="0"/>
            </a:endParaRPr>
          </a:p>
        </p:txBody>
      </p:sp>
      <p:pic>
        <p:nvPicPr>
          <p:cNvPr id="9" name="Picture 8" descr="Untitled-4"/>
          <p:cNvPicPr>
            <a:picLocks noChangeAspect="1"/>
          </p:cNvPicPr>
          <p:nvPr/>
        </p:nvPicPr>
        <p:blipFill>
          <a:blip r:embed="rId4"/>
          <a:stretch>
            <a:fillRect/>
          </a:stretch>
        </p:blipFill>
        <p:spPr>
          <a:xfrm>
            <a:off x="6790055" y="985520"/>
            <a:ext cx="4866005" cy="1176020"/>
          </a:xfrm>
          <a:prstGeom prst="rect">
            <a:avLst/>
          </a:prstGeom>
        </p:spPr>
      </p:pic>
      <p:sp>
        <p:nvSpPr>
          <p:cNvPr id="7" name="TextBox 16">
            <a:extLst>
              <a:ext uri="{FF2B5EF4-FFF2-40B4-BE49-F238E27FC236}">
                <a16:creationId xmlns:a16="http://schemas.microsoft.com/office/drawing/2014/main" id="{F4DAA269-80D9-0965-13FC-31B6B3CE4AAD}"/>
              </a:ext>
            </a:extLst>
          </p:cNvPr>
          <p:cNvSpPr txBox="1"/>
          <p:nvPr/>
        </p:nvSpPr>
        <p:spPr>
          <a:xfrm>
            <a:off x="5561474" y="2703065"/>
            <a:ext cx="70178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TỔNG QUAN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Times New Roman" panose="02020603050405020304" pitchFamily="18" charset="0"/>
                <a:ea typeface="+mn-ea"/>
                <a:cs typeface="Times New Roman" panose="02020603050405020304" pitchFamily="18" charset="0"/>
              </a:rPr>
              <a:t>QUẢN TRỊ KHÁCH SẠN </a:t>
            </a:r>
          </a:p>
        </p:txBody>
      </p:sp>
      <p:pic>
        <p:nvPicPr>
          <p:cNvPr id="8" name="Picture 7">
            <a:extLst>
              <a:ext uri="{FF2B5EF4-FFF2-40B4-BE49-F238E27FC236}">
                <a16:creationId xmlns:a16="http://schemas.microsoft.com/office/drawing/2014/main" id="{6813C165-78AF-FA6C-0ECE-9DFD5530E5D5}"/>
              </a:ext>
            </a:extLst>
          </p:cNvPr>
          <p:cNvPicPr>
            <a:picLocks noChangeAspect="1"/>
          </p:cNvPicPr>
          <p:nvPr/>
        </p:nvPicPr>
        <p:blipFill>
          <a:blip r:embed="rId5"/>
          <a:stretch>
            <a:fillRect/>
          </a:stretch>
        </p:blipFill>
        <p:spPr>
          <a:xfrm>
            <a:off x="0" y="-153600"/>
            <a:ext cx="12192000" cy="7011600"/>
          </a:xfrm>
          <a:prstGeom prst="rect">
            <a:avLst/>
          </a:prstGeom>
        </p:spPr>
      </p:pic>
    </p:spTree>
    <p:extLst>
      <p:ext uri="{BB962C8B-B14F-4D97-AF65-F5344CB8AC3E}">
        <p14:creationId xmlns:p14="http://schemas.microsoft.com/office/powerpoint/2010/main" val="2780475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CE89D-F5E8-E54B-7E31-EB19AA8EB20B}"/>
              </a:ext>
            </a:extLst>
          </p:cNvPr>
          <p:cNvSpPr txBox="1"/>
          <p:nvPr/>
        </p:nvSpPr>
        <p:spPr>
          <a:xfrm>
            <a:off x="1066800" y="2092269"/>
            <a:ext cx="10058400" cy="2123658"/>
          </a:xfrm>
          <a:prstGeom prst="rect">
            <a:avLst/>
          </a:prstGeom>
          <a:noFill/>
        </p:spPr>
        <p:txBody>
          <a:bodyPr wrap="square" rtlCol="0">
            <a:spAutoFit/>
          </a:bodyPr>
          <a:lstStyle/>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 QUAN </a:t>
            </a:r>
          </a:p>
          <a:p>
            <a:pPr algn="ctr"/>
            <a:r>
              <a:rPr lang="en-US"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 TRỊ KHÁCH SẠN </a:t>
            </a:r>
            <a:endParaRPr lang="vi-VN" sz="66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9711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67845-BD81-70EA-7817-C87B727B0981}"/>
              </a:ext>
            </a:extLst>
          </p:cNvPr>
          <p:cNvSpPr txBox="1"/>
          <p:nvPr/>
        </p:nvSpPr>
        <p:spPr>
          <a:xfrm>
            <a:off x="502278" y="1615989"/>
            <a:ext cx="6400800" cy="584775"/>
          </a:xfrm>
          <a:prstGeom prst="rect">
            <a:avLst/>
          </a:prstGeom>
          <a:noFill/>
        </p:spPr>
        <p:txBody>
          <a:bodyPr wrap="square" rtlCol="0">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MÔN HỌC </a:t>
            </a:r>
            <a:endParaRPr lang="vi-VN"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02C6DCF9-2315-620C-C476-599EC479915E}"/>
              </a:ext>
            </a:extLst>
          </p:cNvPr>
          <p:cNvSpPr txBox="1"/>
          <p:nvPr/>
        </p:nvSpPr>
        <p:spPr>
          <a:xfrm>
            <a:off x="502278" y="2571177"/>
            <a:ext cx="11344760" cy="3604898"/>
          </a:xfrm>
          <a:prstGeom prst="rect">
            <a:avLst/>
          </a:prstGeom>
          <a:noFill/>
        </p:spPr>
        <p:txBody>
          <a:bodyPr wrap="square">
            <a:spAutoFit/>
          </a:bodyPr>
          <a:lstStyle/>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Cung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người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Trang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kiến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thức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giao</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xây</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dựng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285750" indent="-285750" algn="just">
              <a:lnSpc>
                <a:spcPct val="115000"/>
              </a:lnSpc>
              <a:spcBef>
                <a:spcPts val="1200"/>
              </a:spcBef>
              <a:spcAft>
                <a:spcPts val="300"/>
              </a:spcAft>
              <a:buFont typeface="Wingdings" panose="05000000000000000000" pitchFamily="2" charset="2"/>
              <a:buChar char="q"/>
            </a:pP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Phát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triển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tích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lập</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thuyết</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extLst>
      <p:ext uri="{BB962C8B-B14F-4D97-AF65-F5344CB8AC3E}">
        <p14:creationId xmlns:p14="http://schemas.microsoft.com/office/powerpoint/2010/main" val="2308817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344ED3-5042-BBEE-12C1-34C48731D4BA}"/>
              </a:ext>
            </a:extLst>
          </p:cNvPr>
          <p:cNvSpPr txBox="1"/>
          <p:nvPr/>
        </p:nvSpPr>
        <p:spPr>
          <a:xfrm>
            <a:off x="5366657" y="238499"/>
            <a:ext cx="6507996" cy="523220"/>
          </a:xfrm>
          <a:prstGeom prst="rect">
            <a:avLst/>
          </a:prstGeom>
          <a:noFill/>
        </p:spPr>
        <p:txBody>
          <a:bodyPr wrap="square" rtlCol="0">
            <a:spAutoFit/>
          </a:bodyPr>
          <a:lstStyle/>
          <a:p>
            <a:pPr algn="ctr"/>
            <a:r>
              <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NỘI DUNG CHƯƠNG TRÌNH  </a:t>
            </a:r>
            <a:endParaRPr lang="vi-VN"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aphicFrame>
        <p:nvGraphicFramePr>
          <p:cNvPr id="4" name="Table 3">
            <a:extLst>
              <a:ext uri="{FF2B5EF4-FFF2-40B4-BE49-F238E27FC236}">
                <a16:creationId xmlns:a16="http://schemas.microsoft.com/office/drawing/2014/main" id="{5C02EC93-EA35-C460-37CD-2B7687E052C0}"/>
              </a:ext>
            </a:extLst>
          </p:cNvPr>
          <p:cNvGraphicFramePr>
            <a:graphicFrameLocks noGrp="1"/>
          </p:cNvGraphicFramePr>
          <p:nvPr/>
        </p:nvGraphicFramePr>
        <p:xfrm>
          <a:off x="294468" y="1064125"/>
          <a:ext cx="10879810" cy="1820802"/>
        </p:xfrm>
        <a:graphic>
          <a:graphicData uri="http://schemas.openxmlformats.org/drawingml/2006/table">
            <a:tbl>
              <a:tblPr>
                <a:tableStyleId>{5C22544A-7EE6-4342-B048-85BDC9FD1C3A}</a:tableStyleId>
              </a:tblPr>
              <a:tblGrid>
                <a:gridCol w="1789205">
                  <a:extLst>
                    <a:ext uri="{9D8B030D-6E8A-4147-A177-3AD203B41FA5}">
                      <a16:colId xmlns:a16="http://schemas.microsoft.com/office/drawing/2014/main" val="2368574806"/>
                    </a:ext>
                  </a:extLst>
                </a:gridCol>
                <a:gridCol w="9090605">
                  <a:extLst>
                    <a:ext uri="{9D8B030D-6E8A-4147-A177-3AD203B41FA5}">
                      <a16:colId xmlns:a16="http://schemas.microsoft.com/office/drawing/2014/main" val="470480153"/>
                    </a:ext>
                  </a:extLst>
                </a:gridCol>
              </a:tblGrid>
              <a:tr h="0">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1</a:t>
                      </a:r>
                    </a:p>
                  </a:txBody>
                  <a:tcPr marL="66299" marR="66299" marT="0" marB="0" anchor="ctr"/>
                </a:tc>
                <a:tc>
                  <a:txBody>
                    <a:bodyPr/>
                    <a:lstStyle/>
                    <a:p>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về</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476048800"/>
                  </a:ext>
                </a:extLst>
              </a:tr>
              <a:tr h="202581">
                <a:tc>
                  <a:txBody>
                    <a:bodyPr/>
                    <a:lstStyle/>
                    <a:p>
                      <a:pPr algn="ctr">
                        <a:lnSpc>
                          <a:spcPct val="115000"/>
                        </a:lnSpc>
                        <a:spcAft>
                          <a:spcPts val="300"/>
                        </a:spcAft>
                      </a:pPr>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1.1.</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 sử hình thành và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460742267"/>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1.2.</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vi-VN"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 khái niệm cơ bản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1411431812"/>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1.3.</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Phân loại và xếp hạng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615906"/>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1.4.</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 cấu tổ chức của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3973927035"/>
                  </a:ext>
                </a:extLst>
              </a:tr>
              <a:tr h="202581">
                <a:tc>
                  <a:txBody>
                    <a:bodyPr/>
                    <a:lstStyle/>
                    <a:p>
                      <a:pPr algn="ctr">
                        <a:lnSpc>
                          <a:spcPct val="115000"/>
                        </a:lnSpc>
                        <a:spcAft>
                          <a:spcPts val="300"/>
                        </a:spcAft>
                      </a:pPr>
                      <a:r>
                        <a:rPr lang="nl-NL"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a:t>
                      </a:r>
                      <a:endParaRPr lang="en-US" sz="19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r>
                        <a:rPr lang="nl-NL"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Xu hướng phát triển của ngành kinh doanh khách sạn</a:t>
                      </a:r>
                      <a:endParaRPr lang="en-US" sz="19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tc>
                <a:extLst>
                  <a:ext uri="{0D108BD9-81ED-4DB2-BD59-A6C34878D82A}">
                    <a16:rowId xmlns:a16="http://schemas.microsoft.com/office/drawing/2014/main" val="94786579"/>
                  </a:ext>
                </a:extLst>
              </a:tr>
            </a:tbl>
          </a:graphicData>
        </a:graphic>
      </p:graphicFrame>
      <p:graphicFrame>
        <p:nvGraphicFramePr>
          <p:cNvPr id="5" name="Table 4">
            <a:extLst>
              <a:ext uri="{FF2B5EF4-FFF2-40B4-BE49-F238E27FC236}">
                <a16:creationId xmlns:a16="http://schemas.microsoft.com/office/drawing/2014/main" id="{AB456307-816C-D06D-B254-47B52FD6CFAC}"/>
              </a:ext>
            </a:extLst>
          </p:cNvPr>
          <p:cNvGraphicFramePr>
            <a:graphicFrameLocks noGrp="1"/>
          </p:cNvGraphicFramePr>
          <p:nvPr/>
        </p:nvGraphicFramePr>
        <p:xfrm>
          <a:off x="282474" y="2966519"/>
          <a:ext cx="10864312" cy="1820802"/>
        </p:xfrm>
        <a:graphic>
          <a:graphicData uri="http://schemas.openxmlformats.org/drawingml/2006/table">
            <a:tbl>
              <a:tblPr>
                <a:tableStyleId>{5C22544A-7EE6-4342-B048-85BDC9FD1C3A}</a:tableStyleId>
              </a:tblPr>
              <a:tblGrid>
                <a:gridCol w="1768609">
                  <a:extLst>
                    <a:ext uri="{9D8B030D-6E8A-4147-A177-3AD203B41FA5}">
                      <a16:colId xmlns:a16="http://schemas.microsoft.com/office/drawing/2014/main" val="2865336541"/>
                    </a:ext>
                  </a:extLst>
                </a:gridCol>
                <a:gridCol w="9095703">
                  <a:extLst>
                    <a:ext uri="{9D8B030D-6E8A-4147-A177-3AD203B41FA5}">
                      <a16:colId xmlns:a16="http://schemas.microsoft.com/office/drawing/2014/main" val="2930767451"/>
                    </a:ext>
                  </a:extLst>
                </a:gridCol>
              </a:tblGrid>
              <a:tr h="202581">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622322330"/>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nhiệm vụ của bộ phận tiền 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816642246"/>
                  </a:ext>
                </a:extLst>
              </a:tr>
              <a:tr h="202581">
                <a:tc>
                  <a:txBody>
                    <a:bodyPr/>
                    <a:lstStyle/>
                    <a:p>
                      <a:pPr marL="0" algn="ctr" defTabSz="914400" rtl="0" eaLnBrk="1" latinLnBrk="0" hangingPunct="1">
                        <a:lnSpc>
                          <a:spcPct val="115000"/>
                        </a:lnSpc>
                        <a:spcAft>
                          <a:spcPts val="300"/>
                        </a:spcAft>
                      </a:pPr>
                      <a:r>
                        <a:rPr lang="vi-VN"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97162349"/>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815115883"/>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tiền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sảnh</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268459174"/>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2.5.</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đánh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lưu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598625922"/>
                  </a:ext>
                </a:extLst>
              </a:tr>
            </a:tbl>
          </a:graphicData>
        </a:graphic>
      </p:graphicFrame>
      <p:graphicFrame>
        <p:nvGraphicFramePr>
          <p:cNvPr id="6" name="Table 5">
            <a:extLst>
              <a:ext uri="{FF2B5EF4-FFF2-40B4-BE49-F238E27FC236}">
                <a16:creationId xmlns:a16="http://schemas.microsoft.com/office/drawing/2014/main" id="{984F8D1D-637F-34F3-59F8-5195603D0825}"/>
              </a:ext>
            </a:extLst>
          </p:cNvPr>
          <p:cNvGraphicFramePr>
            <a:graphicFrameLocks noGrp="1"/>
          </p:cNvGraphicFramePr>
          <p:nvPr/>
        </p:nvGraphicFramePr>
        <p:xfrm>
          <a:off x="294468" y="4862436"/>
          <a:ext cx="10864312" cy="1652775"/>
        </p:xfrm>
        <a:graphic>
          <a:graphicData uri="http://schemas.openxmlformats.org/drawingml/2006/table">
            <a:tbl>
              <a:tblPr>
                <a:tableStyleId>{5C22544A-7EE6-4342-B048-85BDC9FD1C3A}</a:tableStyleId>
              </a:tblPr>
              <a:tblGrid>
                <a:gridCol w="1840797">
                  <a:extLst>
                    <a:ext uri="{9D8B030D-6E8A-4147-A177-3AD203B41FA5}">
                      <a16:colId xmlns:a16="http://schemas.microsoft.com/office/drawing/2014/main" val="854789265"/>
                    </a:ext>
                  </a:extLst>
                </a:gridCol>
                <a:gridCol w="9023515">
                  <a:extLst>
                    <a:ext uri="{9D8B030D-6E8A-4147-A177-3AD203B41FA5}">
                      <a16:colId xmlns:a16="http://schemas.microsoft.com/office/drawing/2014/main" val="3956250642"/>
                    </a:ext>
                  </a:extLst>
                </a:gridCol>
              </a:tblGrid>
              <a:tr h="438907">
                <a:tc>
                  <a:txBody>
                    <a:bodyPr/>
                    <a:lstStyle/>
                    <a:p>
                      <a:pPr marL="0" algn="ctr" defTabSz="914400" rtl="0" eaLnBrk="1" latinLnBrk="0" hangingPunct="1">
                        <a:lnSpc>
                          <a:spcPct val="115000"/>
                        </a:lnSpc>
                        <a:spcAft>
                          <a:spcPts val="300"/>
                        </a:spcAft>
                      </a:pPr>
                      <a:r>
                        <a:rPr lang="nl-NL"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421414538"/>
                  </a:ext>
                </a:extLst>
              </a:tr>
              <a:tr h="202581">
                <a:tc>
                  <a:txBody>
                    <a:bodyPr/>
                    <a:lstStyle/>
                    <a:p>
                      <a:pPr marL="0" algn="ctr"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3.1.</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860183992"/>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3.2.</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10860125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3.3.</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với</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36790897"/>
                  </a:ext>
                </a:extLst>
              </a:tr>
              <a:tr h="202581">
                <a:tc>
                  <a:txBody>
                    <a:bodyPr/>
                    <a:lstStyle/>
                    <a:p>
                      <a:pPr marL="0" algn="ctr" defTabSz="914400" rtl="0" eaLnBrk="1" latinLnBrk="0" hangingPunct="1">
                        <a:lnSpc>
                          <a:spcPct val="115000"/>
                        </a:lnSpc>
                        <a:spcAft>
                          <a:spcPts val="300"/>
                        </a:spcAft>
                      </a:pPr>
                      <a:r>
                        <a:rPr lang="en-US" sz="1900" kern="120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3.4.</a:t>
                      </a:r>
                    </a:p>
                  </a:txBody>
                  <a:tcPr marL="66299" marR="66299" marT="0" marB="0" anchor="ctr"/>
                </a:tc>
                <a:tc>
                  <a:txBody>
                    <a:bodyPr/>
                    <a:lstStyle/>
                    <a:p>
                      <a:pPr marL="0" algn="l" defTabSz="914400" rtl="0" eaLnBrk="1" latinLnBrk="0" hangingPunct="1">
                        <a:lnSpc>
                          <a:spcPct val="115000"/>
                        </a:lnSpc>
                        <a:spcAft>
                          <a:spcPts val="300"/>
                        </a:spcAft>
                      </a:pP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kern="12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sz="1900" kern="12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61867572"/>
                  </a:ext>
                </a:extLst>
              </a:tr>
            </a:tbl>
          </a:graphicData>
        </a:graphic>
      </p:graphicFrame>
    </p:spTree>
    <p:extLst>
      <p:ext uri="{BB962C8B-B14F-4D97-AF65-F5344CB8AC3E}">
        <p14:creationId xmlns:p14="http://schemas.microsoft.com/office/powerpoint/2010/main" val="1382293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59A0C7-29CF-59A1-87D6-891D77B6B41D}"/>
              </a:ext>
            </a:extLst>
          </p:cNvPr>
          <p:cNvGraphicFramePr>
            <a:graphicFrameLocks noGrp="1"/>
          </p:cNvGraphicFramePr>
          <p:nvPr/>
        </p:nvGraphicFramePr>
        <p:xfrm>
          <a:off x="539120" y="1204126"/>
          <a:ext cx="10515600" cy="1517335"/>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1106697701"/>
                    </a:ext>
                  </a:extLst>
                </a:gridCol>
                <a:gridCol w="8629636">
                  <a:extLst>
                    <a:ext uri="{9D8B030D-6E8A-4147-A177-3AD203B41FA5}">
                      <a16:colId xmlns:a16="http://schemas.microsoft.com/office/drawing/2014/main" val="3632730796"/>
                    </a:ext>
                  </a:extLst>
                </a:gridCol>
              </a:tblGrid>
              <a:tr h="202581">
                <a:tc>
                  <a:txBody>
                    <a:bodyPr/>
                    <a:lstStyle/>
                    <a:p>
                      <a:pPr algn="ctr">
                        <a:lnSpc>
                          <a:spcPct val="115000"/>
                        </a:lnSpc>
                        <a:spcAft>
                          <a:spcPts val="300"/>
                        </a:spcAft>
                      </a:pPr>
                      <a:r>
                        <a:rPr lang="nl-NL"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169803711"/>
                  </a:ext>
                </a:extLst>
              </a:tr>
              <a:tr h="202581">
                <a:tc>
                  <a:txBody>
                    <a:bodyPr/>
                    <a:lstStyle/>
                    <a:p>
                      <a:pPr algn="ctr">
                        <a:lnSpc>
                          <a:spcPct val="115000"/>
                        </a:lnSpc>
                        <a:spcAft>
                          <a:spcPts val="300"/>
                        </a:spcAft>
                      </a:pP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4.1.</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421056423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4.2.</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F&amp;B</a:t>
                      </a:r>
                    </a:p>
                  </a:txBody>
                  <a:tcPr marL="66299" marR="66299" marT="0" marB="0" anchor="ctr"/>
                </a:tc>
                <a:extLst>
                  <a:ext uri="{0D108BD9-81ED-4DB2-BD59-A6C34878D82A}">
                    <a16:rowId xmlns:a16="http://schemas.microsoft.com/office/drawing/2014/main" val="2371487698"/>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84694603"/>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4.4.</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trị</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doanh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nhà</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23191977"/>
                  </a:ext>
                </a:extLst>
              </a:tr>
            </a:tbl>
          </a:graphicData>
        </a:graphic>
      </p:graphicFrame>
      <p:graphicFrame>
        <p:nvGraphicFramePr>
          <p:cNvPr id="3" name="Table 2">
            <a:extLst>
              <a:ext uri="{FF2B5EF4-FFF2-40B4-BE49-F238E27FC236}">
                <a16:creationId xmlns:a16="http://schemas.microsoft.com/office/drawing/2014/main" id="{B464C6B4-70F7-3FB2-26DA-6951DE608222}"/>
              </a:ext>
            </a:extLst>
          </p:cNvPr>
          <p:cNvGraphicFramePr>
            <a:graphicFrameLocks noGrp="1"/>
          </p:cNvGraphicFramePr>
          <p:nvPr/>
        </p:nvGraphicFramePr>
        <p:xfrm>
          <a:off x="539120" y="2962388"/>
          <a:ext cx="10515600" cy="933223"/>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755161747"/>
                    </a:ext>
                  </a:extLst>
                </a:gridCol>
                <a:gridCol w="8629636">
                  <a:extLst>
                    <a:ext uri="{9D8B030D-6E8A-4147-A177-3AD203B41FA5}">
                      <a16:colId xmlns:a16="http://schemas.microsoft.com/office/drawing/2014/main" val="3531639564"/>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5</a:t>
                      </a:r>
                    </a:p>
                  </a:txBody>
                  <a:tcPr marL="66299" marR="66299" marT="0" marB="0" anchor="ctr"/>
                </a:tc>
                <a:tc>
                  <a:txBody>
                    <a:bodyPr/>
                    <a:lstStyle/>
                    <a:p>
                      <a:pPr>
                        <a:lnSpc>
                          <a:spcPct val="115000"/>
                        </a:lnSpc>
                        <a:spcAft>
                          <a:spcPts val="300"/>
                        </a:spcAft>
                      </a:pP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sung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2978253117"/>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5.1.</a:t>
                      </a:r>
                    </a:p>
                  </a:txBody>
                  <a:tcPr marL="66299" marR="66299" marT="0" marB="0" anchor="ctr"/>
                </a:tc>
                <a:tc>
                  <a:txBody>
                    <a:bodyPr/>
                    <a:lstStyle/>
                    <a:p>
                      <a:pPr>
                        <a:lnSpc>
                          <a:spcPct val="115000"/>
                        </a:lnSpc>
                        <a:spcAft>
                          <a:spcPts val="300"/>
                        </a:spcAft>
                      </a:pPr>
                      <a:r>
                        <a:rPr lang="fr-FR"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dịch vụ bổ sung trong kinh doanh khách sạn</a:t>
                      </a:r>
                      <a:endPar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552319"/>
                  </a:ext>
                </a:extLst>
              </a:tr>
              <a:tr h="326289">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5.2.</a:t>
                      </a:r>
                    </a:p>
                  </a:txBody>
                  <a:tcPr marL="66299" marR="66299" marT="0" marB="0" anchor="ctr"/>
                </a:tc>
                <a:tc>
                  <a:txBody>
                    <a:bodyPr/>
                    <a:lstStyle/>
                    <a:p>
                      <a:pPr>
                        <a:lnSpc>
                          <a:spcPct val="115000"/>
                        </a:lnSpc>
                        <a:spcAft>
                          <a:spcPts val="300"/>
                        </a:spcAft>
                      </a:pP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Một</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loại</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hình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bổ</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sung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fr-FR"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fr-FR"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563458410"/>
                  </a:ext>
                </a:extLst>
              </a:tr>
            </a:tbl>
          </a:graphicData>
        </a:graphic>
      </p:graphicFrame>
      <p:graphicFrame>
        <p:nvGraphicFramePr>
          <p:cNvPr id="4" name="Table 3">
            <a:extLst>
              <a:ext uri="{FF2B5EF4-FFF2-40B4-BE49-F238E27FC236}">
                <a16:creationId xmlns:a16="http://schemas.microsoft.com/office/drawing/2014/main" id="{306905C3-CFCB-DEEE-0C8A-DDCC89F69DE1}"/>
              </a:ext>
            </a:extLst>
          </p:cNvPr>
          <p:cNvGraphicFramePr>
            <a:graphicFrameLocks noGrp="1"/>
          </p:cNvGraphicFramePr>
          <p:nvPr/>
        </p:nvGraphicFramePr>
        <p:xfrm>
          <a:off x="539120" y="4136538"/>
          <a:ext cx="10515600" cy="1827334"/>
        </p:xfrm>
        <a:graphic>
          <a:graphicData uri="http://schemas.openxmlformats.org/drawingml/2006/table">
            <a:tbl>
              <a:tblPr>
                <a:tableStyleId>{5C22544A-7EE6-4342-B048-85BDC9FD1C3A}</a:tableStyleId>
              </a:tblPr>
              <a:tblGrid>
                <a:gridCol w="1885964">
                  <a:extLst>
                    <a:ext uri="{9D8B030D-6E8A-4147-A177-3AD203B41FA5}">
                      <a16:colId xmlns:a16="http://schemas.microsoft.com/office/drawing/2014/main" val="398876781"/>
                    </a:ext>
                  </a:extLst>
                </a:gridCol>
                <a:gridCol w="8629636">
                  <a:extLst>
                    <a:ext uri="{9D8B030D-6E8A-4147-A177-3AD203B41FA5}">
                      <a16:colId xmlns:a16="http://schemas.microsoft.com/office/drawing/2014/main" val="2654551777"/>
                    </a:ext>
                  </a:extLst>
                </a:gridCol>
              </a:tblGrid>
              <a:tr h="202581">
                <a:tc>
                  <a:txBody>
                    <a:bodyPr/>
                    <a:lstStyle/>
                    <a:p>
                      <a:pPr algn="ctr">
                        <a:lnSpc>
                          <a:spcPct val="115000"/>
                        </a:lnSpc>
                        <a:spcAft>
                          <a:spcPts val="300"/>
                        </a:spcAft>
                      </a:pPr>
                      <a:r>
                        <a:rPr lang="nl-NL"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6</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 chức sự kiện trong khách sạn</a:t>
                      </a:r>
                    </a:p>
                  </a:txBody>
                  <a:tcPr marL="66299" marR="66299" marT="0" marB="0" anchor="ctr"/>
                </a:tc>
                <a:extLst>
                  <a:ext uri="{0D108BD9-81ED-4DB2-BD59-A6C34878D82A}">
                    <a16:rowId xmlns:a16="http://schemas.microsoft.com/office/drawing/2014/main" val="2364313024"/>
                  </a:ext>
                </a:extLst>
              </a:tr>
              <a:tr h="202581">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6.1.</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Tổng quan về tổ chức sự kiện trong khách sạn</a:t>
                      </a:r>
                    </a:p>
                  </a:txBody>
                  <a:tcPr marL="66299" marR="66299" marT="0" marB="0" anchor="ctr"/>
                </a:tc>
                <a:extLst>
                  <a:ext uri="{0D108BD9-81ED-4DB2-BD59-A6C34878D82A}">
                    <a16:rowId xmlns:a16="http://schemas.microsoft.com/office/drawing/2014/main" val="973537183"/>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6.2.</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3707355642"/>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6.3.</a:t>
                      </a:r>
                    </a:p>
                  </a:txBody>
                  <a:tcPr marL="66299" marR="66299" marT="0" marB="0" anchor="ctr"/>
                </a:tc>
                <a:tc>
                  <a:txBody>
                    <a:bodyPr/>
                    <a:lstStyle/>
                    <a:p>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phần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sư</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kiện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1716912530"/>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6.4.</a:t>
                      </a:r>
                    </a:p>
                  </a:txBody>
                  <a:tcPr marL="66299" marR="66299" marT="0" marB="0" anchor="ctr"/>
                </a:tc>
                <a:tc>
                  <a:txBody>
                    <a:bodyPr/>
                    <a:lstStyle/>
                    <a:p>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 thành phần trong ban tổ chức sự kiện</a:t>
                      </a:r>
                    </a:p>
                  </a:txBody>
                  <a:tcPr marL="66299" marR="66299" marT="0" marB="0" anchor="ctr"/>
                </a:tc>
                <a:extLst>
                  <a:ext uri="{0D108BD9-81ED-4DB2-BD59-A6C34878D82A}">
                    <a16:rowId xmlns:a16="http://schemas.microsoft.com/office/drawing/2014/main" val="333648669"/>
                  </a:ext>
                </a:extLst>
              </a:tr>
              <a:tr h="305100">
                <a:tc>
                  <a:txBody>
                    <a:bodyPr/>
                    <a:lstStyle/>
                    <a:p>
                      <a:pPr algn="ctr">
                        <a:lnSpc>
                          <a:spcPct val="115000"/>
                        </a:lnSpc>
                        <a:spcAft>
                          <a:spcPts val="300"/>
                        </a:spcAft>
                      </a:pPr>
                      <a:r>
                        <a:rPr lang="en-US" sz="190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6.5.</a:t>
                      </a:r>
                    </a:p>
                  </a:txBody>
                  <a:tcPr marL="66299" marR="66299" marT="0" marB="0" anchor="ctr"/>
                </a:tc>
                <a:tc>
                  <a:txBody>
                    <a:bodyPr/>
                    <a:lstStyle/>
                    <a:p>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trình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1900"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lang="en-US" sz="1900"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66299" marR="66299" marT="0" marB="0" anchor="ctr"/>
                </a:tc>
                <a:extLst>
                  <a:ext uri="{0D108BD9-81ED-4DB2-BD59-A6C34878D82A}">
                    <a16:rowId xmlns:a16="http://schemas.microsoft.com/office/drawing/2014/main" val="957633178"/>
                  </a:ext>
                </a:extLst>
              </a:tr>
            </a:tbl>
          </a:graphicData>
        </a:graphic>
      </p:graphicFrame>
    </p:spTree>
    <p:extLst>
      <p:ext uri="{BB962C8B-B14F-4D97-AF65-F5344CB8AC3E}">
        <p14:creationId xmlns:p14="http://schemas.microsoft.com/office/powerpoint/2010/main" val="1489965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C8C1CB-E887-ECF7-6125-537F06A05485}"/>
              </a:ext>
            </a:extLst>
          </p:cNvPr>
          <p:cNvSpPr txBox="1"/>
          <p:nvPr/>
        </p:nvSpPr>
        <p:spPr>
          <a:xfrm>
            <a:off x="537940" y="1848298"/>
            <a:ext cx="4850969" cy="584775"/>
          </a:xfrm>
          <a:prstGeom prst="rect">
            <a:avLst/>
          </a:prstGeom>
          <a:noFill/>
        </p:spPr>
        <p:txBody>
          <a:bodyPr wrap="square" rtlCol="0">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THAM KHẢO </a:t>
            </a:r>
            <a:endParaRPr lang="vi-VN"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99A60FD1-86A1-7739-A279-033C5F439FDA}"/>
              </a:ext>
            </a:extLst>
          </p:cNvPr>
          <p:cNvSpPr txBox="1"/>
          <p:nvPr/>
        </p:nvSpPr>
        <p:spPr>
          <a:xfrm>
            <a:off x="537940" y="2923179"/>
            <a:ext cx="11344759" cy="2718501"/>
          </a:xfrm>
          <a:prstGeom prst="rect">
            <a:avLst/>
          </a:prstGeom>
          <a:noFill/>
        </p:spPr>
        <p:txBody>
          <a:bodyPr wrap="square">
            <a:spAutoFit/>
          </a:bodyPr>
          <a:lstStyle/>
          <a:p>
            <a:pPr>
              <a:lnSpc>
                <a:spcPct val="115000"/>
              </a:lnSpc>
              <a:spcAft>
                <a:spcPts val="300"/>
              </a:spcAft>
            </a:pPr>
            <a:r>
              <a:rPr lang="vi-VN"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 liệu chính</a:t>
            </a:r>
            <a:endParaRPr lang="en-US" sz="2400" b="1" dirty="0">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algn="just">
              <a:lnSpc>
                <a:spcPct val="115000"/>
              </a:lnSpc>
              <a:spcAft>
                <a:spcPts val="300"/>
              </a:spcAft>
              <a:tabLst>
                <a:tab pos="685800" algn="l"/>
              </a:tabLs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Phạm Xuân Hậu (chủ biên), (2019), </a:t>
            </a:r>
            <a:r>
              <a:rPr lang="vi-VN" sz="2400" b="1" i="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Giáo trình Tổng quan Quản trị khách sạn,</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NXB.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Kinh</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tế</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TP. </a:t>
            </a:r>
            <a:r>
              <a:rPr lang="en-US" sz="2400" b="1" dirty="0" err="1">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Hồ</a:t>
            </a: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Chí Minh.</a:t>
            </a:r>
          </a:p>
          <a:p>
            <a:pPr>
              <a:lnSpc>
                <a:spcPct val="115000"/>
              </a:lnSpc>
              <a:spcAft>
                <a:spcPts val="300"/>
              </a:spcAft>
            </a:pP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Tài liệu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tham</a:t>
            </a:r>
            <a:r>
              <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khảo</a:t>
            </a:r>
            <a:endParaRPr lang="en-US" sz="2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0" algn="just">
              <a:lnSpc>
                <a:spcPct val="115000"/>
              </a:lnSpc>
              <a:spcAft>
                <a:spcPts val="300"/>
              </a:spcAft>
              <a:tabLst>
                <a:tab pos="457200" algn="l"/>
              </a:tabLst>
            </a:pPr>
            <a:r>
              <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Bài giảng Tổng quan về Quản trị khách sạn (giảng viên cung cấp), Lưu hành nội bộ.</a:t>
            </a:r>
            <a:endParaRPr lang="en-US" sz="24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4330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FA66857-6671-2E1C-91CE-E32B021ADFAC}"/>
              </a:ext>
            </a:extLst>
          </p:cNvPr>
          <p:cNvSpPr txBox="1"/>
          <p:nvPr/>
        </p:nvSpPr>
        <p:spPr>
          <a:xfrm>
            <a:off x="1668916" y="2110458"/>
            <a:ext cx="8854168" cy="2997744"/>
          </a:xfrm>
          <a:prstGeom prst="rect">
            <a:avLst/>
          </a:prstGeom>
          <a:noFill/>
        </p:spPr>
        <p:txBody>
          <a:bodyPr wrap="square">
            <a:spAutoFit/>
          </a:bodyPr>
          <a:lstStyle/>
          <a:p>
            <a:pPr marL="0" algn="ctr" rtl="0" eaLnBrk="1" fontAlgn="ctr" latinLnBrk="0" hangingPunct="1">
              <a:lnSpc>
                <a:spcPct val="115000"/>
              </a:lnSpc>
              <a:spcBef>
                <a:spcPts val="0"/>
              </a:spcBef>
              <a:spcAft>
                <a:spcPts val="300"/>
              </a:spcAft>
            </a:pPr>
            <a:r>
              <a:rPr lang="nl-NL" sz="5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CHƯƠNG</a:t>
            </a:r>
            <a:r>
              <a:rPr lang="en-US" sz="5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 3</a:t>
            </a:r>
          </a:p>
          <a:p>
            <a:pPr marL="0" algn="ctr" rtl="0" eaLnBrk="1" fontAlgn="ctr" latinLnBrk="0" hangingPunct="1">
              <a:lnSpc>
                <a:spcPct val="115000"/>
              </a:lnSpc>
              <a:spcBef>
                <a:spcPts val="0"/>
              </a:spcBef>
              <a:spcAft>
                <a:spcPts val="300"/>
              </a:spcAft>
            </a:pPr>
            <a:r>
              <a:rPr lang="en-US" sz="54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rPr>
              <a:t>QUẢN LÝ HOẠT ĐỘNG CỦA BỘ PHẬN BUỒNG</a:t>
            </a:r>
            <a:endParaRPr lang="en-US" sz="2800" b="1" dirty="0">
              <a:solidFill>
                <a:srgbClr val="FF000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517340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5D0D1E-FAE5-4589-9ED6-5D677D704958}"/>
              </a:ext>
            </a:extLst>
          </p:cNvPr>
          <p:cNvSpPr txBox="1"/>
          <p:nvPr/>
        </p:nvSpPr>
        <p:spPr>
          <a:xfrm>
            <a:off x="453410" y="1971908"/>
            <a:ext cx="6098582" cy="584775"/>
          </a:xfrm>
          <a:prstGeom prst="rect">
            <a:avLst/>
          </a:prstGeom>
          <a:noFill/>
        </p:spPr>
        <p:txBody>
          <a:bodyPr wrap="square">
            <a:spAutoFit/>
          </a:bodyPr>
          <a:lstStyle/>
          <a:p>
            <a:r>
              <a:rPr lang="en-US" sz="32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MỤC TIÊU BÀI HỌC </a:t>
            </a:r>
          </a:p>
        </p:txBody>
      </p:sp>
      <p:sp>
        <p:nvSpPr>
          <p:cNvPr id="6" name="TextBox 5">
            <a:extLst>
              <a:ext uri="{FF2B5EF4-FFF2-40B4-BE49-F238E27FC236}">
                <a16:creationId xmlns:a16="http://schemas.microsoft.com/office/drawing/2014/main" id="{78323AB8-5A36-F0C0-759B-29BDA0EB73C6}"/>
              </a:ext>
            </a:extLst>
          </p:cNvPr>
          <p:cNvSpPr txBox="1"/>
          <p:nvPr/>
        </p:nvSpPr>
        <p:spPr>
          <a:xfrm>
            <a:off x="453410" y="2856304"/>
            <a:ext cx="11285179" cy="3139321"/>
          </a:xfrm>
          <a:prstGeom prst="rect">
            <a:avLst/>
          </a:prstGeom>
          <a:noFill/>
        </p:spPr>
        <p:txBody>
          <a:bodyPr wrap="square">
            <a:spAutoFit/>
          </a:bodyPr>
          <a:lstStyle/>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Nắm được các công việc cụ thể mà bộ phận buồng cần thực hiện để duy trì hoạt động của khách sạn.</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Biết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sắp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xếp</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để</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bảo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lgn="just">
              <a:spcBef>
                <a:spcPts val="1200"/>
              </a:spcBef>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Hiểu được tầm quan trọng của sự phối hợp giữa các bộ phận.</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q"/>
            </a:pP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Biết</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lên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lịch</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làm</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đào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15533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1A73AC-792C-9559-1A35-03A87243FDBA}"/>
              </a:ext>
            </a:extLst>
          </p:cNvPr>
          <p:cNvSpPr txBox="1"/>
          <p:nvPr/>
        </p:nvSpPr>
        <p:spPr>
          <a:xfrm>
            <a:off x="417521" y="1636369"/>
            <a:ext cx="10383124" cy="4031873"/>
          </a:xfrm>
          <a:prstGeom prst="rect">
            <a:avLst/>
          </a:prstGeom>
          <a:noFill/>
        </p:spPr>
        <p:txBody>
          <a:bodyPr wrap="square">
            <a:spAutoFit/>
          </a:bodyPr>
          <a:lstStyle/>
          <a:p>
            <a:pPr algn="just">
              <a:spcBef>
                <a:spcPts val="1200"/>
              </a:spcBef>
            </a:pPr>
            <a:r>
              <a:rPr lang="en-US" sz="2400" b="1"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KHÁI NIỆM </a:t>
            </a:r>
            <a:r>
              <a:rPr lang="vi-VN" sz="2400" b="1"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 PHẬN BUỒNG PHÒNG – HOUSEKEEPING</a:t>
            </a:r>
            <a:r>
              <a:rPr lang="vi-VN" sz="2400" b="0"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endParaRPr lang="en-US" sz="2400" b="0"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a:t>
            </a:r>
            <a:r>
              <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à</a:t>
            </a: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bộ phận đảm nhiệm vai trò giữ gìn sự sạch sẽ của cơ sở lưu trú. </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Cụ thể, bộ phận buồng phòng có trách nhiệm vệ sinh phòng khách lưu trú, khu vực công cộng trong và ngoài khách sạn. </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Đảm bảo mọi thứ luôn sạch sẽ thơm tho đúng tiêu chuẩn khách sạn. </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1200"/>
              </a:spcBef>
              <a:buFont typeface="Wingdings" panose="05000000000000000000" pitchFamily="2" charset="2"/>
              <a:buChar char="§"/>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Cùng với lễ tân, buồng phòng giữ vai trò đặc biệt quan trọng trong kinh doanh khách sạn bởi tính đặc trưng của loại hình lưu trú qua đêm, đòi hỏi phòng khách phải được vệ sinh sạch sẽ ngay sau khi khách check out để đón lượt khách mới.</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40511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FA3CC7-3FC2-68B1-500F-6EF7E3B106D3}"/>
              </a:ext>
            </a:extLst>
          </p:cNvPr>
          <p:cNvSpPr txBox="1"/>
          <p:nvPr/>
        </p:nvSpPr>
        <p:spPr>
          <a:xfrm>
            <a:off x="150962" y="1972564"/>
            <a:ext cx="11824728" cy="4693593"/>
          </a:xfrm>
          <a:prstGeom prst="rect">
            <a:avLst/>
          </a:prstGeom>
          <a:noFill/>
        </p:spPr>
        <p:txBody>
          <a:bodyPr wrap="square">
            <a:spAutoFit/>
          </a:bodyPr>
          <a:lstStyle/>
          <a:p>
            <a:pPr marL="342900" indent="-342900" algn="just">
              <a:spcBef>
                <a:spcPts val="6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Tầm quan trọng trong việc nâng cao sự hài lòng của khách hàng:</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lvl="1" algn="just">
              <a:spcBef>
                <a:spcPts val="6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 phận buồng là một trong những bộ phận then chốt góp phần tạo ra ấn tượng đầu tiên và cuối cùng cho khách hàng, ảnh hưởng trực tiếp đến mức độ hài lòng và sự trung thành của khách.</a:t>
            </a:r>
          </a:p>
          <a:p>
            <a:pPr marL="342900" indent="-342900" algn="just">
              <a:spcBef>
                <a:spcPts val="600"/>
              </a:spcBef>
              <a:buFont typeface="Wingdings" panose="05000000000000000000" pitchFamily="2" charset="2"/>
              <a:buChar char="q"/>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Vai trò trong việc duy trì sự sạch sẽ và thoải mái cho khách:</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600"/>
              </a:spcBef>
              <a:buFont typeface="Wingdings" panose="05000000000000000000" pitchFamily="2" charset="2"/>
              <a:buChar char="q"/>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Duy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ảm bảo phòng khách sạn luôn trong tình trạng sạch sẽ, gọn gàng, và thoải mái, mang lại trải nghiệm lưu trú tích cực cho khách hàng.</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800100" lvl="1" indent="-342900" algn="just">
              <a:spcBef>
                <a:spcPts val="600"/>
              </a:spcBef>
              <a:buFont typeface="Wingdings" panose="05000000000000000000" pitchFamily="2" charset="2"/>
              <a:buChar char="q"/>
            </a:pPr>
            <a:r>
              <a:rPr lang="vi-VN" sz="2400" dirty="0">
                <a:solidFill>
                  <a:srgbClr val="002060"/>
                </a:solidFill>
              </a:rPr>
              <a:t>Đảm bảo vệ sinh và bảo dưỡng phòng khách cũng như khu vực công cộng.</a:t>
            </a:r>
            <a:endParaRPr lang="en-US" sz="2400" dirty="0">
              <a:solidFill>
                <a:srgbClr val="002060"/>
              </a:solidFill>
            </a:endParaRPr>
          </a:p>
          <a:p>
            <a:pPr marL="800100" lvl="1" indent="-342900" algn="just">
              <a:spcBef>
                <a:spcPts val="600"/>
              </a:spcBef>
              <a:buFont typeface="Wingdings" panose="05000000000000000000" pitchFamily="2" charset="2"/>
              <a:buChar char="q"/>
            </a:pP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còn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chịu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nhận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giặt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ủi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từ</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tra</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giặt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xong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theo</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đúng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yêu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42950" lvl="1" indent="-285750" algn="just">
              <a:spcBef>
                <a:spcPts val="1200"/>
              </a:spcBef>
              <a:spcAft>
                <a:spcPts val="600"/>
              </a:spcAft>
              <a:buFont typeface="Arial" panose="020B0604020202020204" pitchFamily="34" charset="0"/>
              <a:buChar char="•"/>
            </a:pP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TextBox 5">
            <a:extLst>
              <a:ext uri="{FF2B5EF4-FFF2-40B4-BE49-F238E27FC236}">
                <a16:creationId xmlns:a16="http://schemas.microsoft.com/office/drawing/2014/main" id="{8C7AB7EF-21B3-EC1D-B95B-2FEE0686CEA1}"/>
              </a:ext>
            </a:extLst>
          </p:cNvPr>
          <p:cNvSpPr txBox="1"/>
          <p:nvPr/>
        </p:nvSpPr>
        <p:spPr>
          <a:xfrm>
            <a:off x="294968" y="1229032"/>
            <a:ext cx="8583376" cy="523220"/>
          </a:xfrm>
          <a:prstGeom prst="rect">
            <a:avLst/>
          </a:prstGeom>
          <a:noFill/>
        </p:spPr>
        <p:txBody>
          <a:bodyPr wrap="square">
            <a:spAutoFit/>
          </a:bodyPr>
          <a:lstStyle/>
          <a:p>
            <a:r>
              <a:rPr lang="en-US"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1. </a:t>
            </a:r>
            <a:r>
              <a:rPr lang="vi-VN"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TỔNG QUAN VỀ BỘ PHẬN BUỒNG:</a:t>
            </a:r>
          </a:p>
        </p:txBody>
      </p:sp>
    </p:spTree>
    <p:extLst>
      <p:ext uri="{BB962C8B-B14F-4D97-AF65-F5344CB8AC3E}">
        <p14:creationId xmlns:p14="http://schemas.microsoft.com/office/powerpoint/2010/main" val="1373674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F71D6F-E3F2-06ED-937F-AA5B105D31AD}"/>
              </a:ext>
            </a:extLst>
          </p:cNvPr>
          <p:cNvPicPr>
            <a:picLocks noChangeAspect="1"/>
          </p:cNvPicPr>
          <p:nvPr/>
        </p:nvPicPr>
        <p:blipFill rotWithShape="1">
          <a:blip r:embed="rId2"/>
          <a:srcRect b="10263"/>
          <a:stretch/>
        </p:blipFill>
        <p:spPr>
          <a:xfrm>
            <a:off x="1160206" y="1076877"/>
            <a:ext cx="10648521" cy="5500904"/>
          </a:xfrm>
          <a:prstGeom prst="rect">
            <a:avLst/>
          </a:prstGeom>
        </p:spPr>
      </p:pic>
      <p:sp>
        <p:nvSpPr>
          <p:cNvPr id="4" name="TextBox 3">
            <a:extLst>
              <a:ext uri="{FF2B5EF4-FFF2-40B4-BE49-F238E27FC236}">
                <a16:creationId xmlns:a16="http://schemas.microsoft.com/office/drawing/2014/main" id="{B7EA6E47-EC5C-AE5F-64A3-0C527B280C71}"/>
              </a:ext>
            </a:extLst>
          </p:cNvPr>
          <p:cNvSpPr txBox="1"/>
          <p:nvPr/>
        </p:nvSpPr>
        <p:spPr>
          <a:xfrm>
            <a:off x="383273" y="1076876"/>
            <a:ext cx="4405037" cy="523220"/>
          </a:xfrm>
          <a:prstGeom prst="rect">
            <a:avLst/>
          </a:prstGeom>
          <a:noFill/>
        </p:spPr>
        <p:txBody>
          <a:bodyPr wrap="square" rtlCol="0">
            <a:spAutoFit/>
          </a:bodyPr>
          <a:lstStyle/>
          <a:p>
            <a:r>
              <a:rPr lang="en-US"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2. CƠ CẤU TỔ CHỨC </a:t>
            </a:r>
            <a:endParaRPr lang="vi-VN"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131147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6B39AC-7F8E-4D52-C3FC-ABB8DB311D43}"/>
              </a:ext>
            </a:extLst>
          </p:cNvPr>
          <p:cNvSpPr txBox="1"/>
          <p:nvPr/>
        </p:nvSpPr>
        <p:spPr>
          <a:xfrm>
            <a:off x="392502" y="1421273"/>
            <a:ext cx="9400427" cy="461665"/>
          </a:xfrm>
          <a:prstGeom prst="rect">
            <a:avLst/>
          </a:prstGeom>
          <a:noFill/>
        </p:spPr>
        <p:txBody>
          <a:bodyPr wrap="square">
            <a:spAutoFit/>
          </a:bodyPr>
          <a:lstStyle/>
          <a:p>
            <a:pPr algn="l" fontAlgn="base"/>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Trưởng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(Executive Housekeeper)</a:t>
            </a:r>
          </a:p>
        </p:txBody>
      </p:sp>
      <p:sp>
        <p:nvSpPr>
          <p:cNvPr id="5" name="TextBox 4">
            <a:extLst>
              <a:ext uri="{FF2B5EF4-FFF2-40B4-BE49-F238E27FC236}">
                <a16:creationId xmlns:a16="http://schemas.microsoft.com/office/drawing/2014/main" id="{0076F754-D283-C646-FD69-D3EA7F77C166}"/>
              </a:ext>
            </a:extLst>
          </p:cNvPr>
          <p:cNvSpPr txBox="1"/>
          <p:nvPr/>
        </p:nvSpPr>
        <p:spPr>
          <a:xfrm>
            <a:off x="392502" y="2173612"/>
            <a:ext cx="11563524" cy="3508653"/>
          </a:xfrm>
          <a:prstGeom prst="rect">
            <a:avLst/>
          </a:prstGeom>
          <a:noFill/>
        </p:spPr>
        <p:txBody>
          <a:bodyPr wrap="square">
            <a:spAutoFit/>
          </a:bodyPr>
          <a:lstStyle/>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Xây dựng tiêu chuẩn làm việc cho nhân viên bộ phận</a:t>
            </a: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 lý, điều phối các hoạt động của bộ phận</a:t>
            </a: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Giải quyết các yêu cầu, phàn nàn của khách hàng</a:t>
            </a: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Tuyển chọn nhân sự cho bộ phận</a:t>
            </a: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Đào tạo, bồi dưỡng nhân viên</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Kiểm tra chất lượng phòng, kiểm tra tình trạng sử dụng hóa chất, thiết bị, đồ dùng. </a:t>
            </a:r>
            <a:endPar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fontAlgn="base">
              <a:spcBef>
                <a:spcPts val="600"/>
              </a:spcBef>
              <a:buFont typeface="Wingdings" panose="05000000000000000000" pitchFamily="2" charset="2"/>
              <a:buChar char="q"/>
            </a:pPr>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Chủ động đề xuất giải pháp với ban lãnh đạo khách sạn nhằm nâng cao chất lượng dịch vụ.</a:t>
            </a:r>
          </a:p>
        </p:txBody>
      </p:sp>
    </p:spTree>
    <p:extLst>
      <p:ext uri="{BB962C8B-B14F-4D97-AF65-F5344CB8AC3E}">
        <p14:creationId xmlns:p14="http://schemas.microsoft.com/office/powerpoint/2010/main" val="2237428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748EF05-47A1-E7CC-5815-F43EBF3C1A4B}"/>
              </a:ext>
            </a:extLst>
          </p:cNvPr>
          <p:cNvSpPr txBox="1"/>
          <p:nvPr/>
        </p:nvSpPr>
        <p:spPr>
          <a:xfrm>
            <a:off x="589934" y="2161136"/>
            <a:ext cx="3300349" cy="3477875"/>
          </a:xfrm>
          <a:prstGeom prst="rect">
            <a:avLst/>
          </a:prstGeom>
          <a:noFill/>
        </p:spPr>
        <p:txBody>
          <a:bodyPr wrap="square">
            <a:spAutoFit/>
          </a:bodyPr>
          <a:lstStyle/>
          <a:p>
            <a:pPr algn="just"/>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Đảm nhiệm vai trò phân chia, giám sát công việc của nhân viên buồng phòng, giám sát chất lượng buồng phòng, giám sát tầng, khu vực công cộng, theo dõi trạng thái phòng</a:t>
            </a:r>
            <a:r>
              <a:rPr lang="vi-VN" sz="2800" b="0" i="0" dirty="0">
                <a:solidFill>
                  <a:srgbClr val="1C1C1C"/>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8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D445D788-3B24-93C6-AB08-68A797923992}"/>
              </a:ext>
            </a:extLst>
          </p:cNvPr>
          <p:cNvSpPr txBox="1"/>
          <p:nvPr/>
        </p:nvSpPr>
        <p:spPr>
          <a:xfrm>
            <a:off x="499588" y="1204965"/>
            <a:ext cx="4947483" cy="830997"/>
          </a:xfrm>
          <a:prstGeom prst="rect">
            <a:avLst/>
          </a:prstGeom>
          <a:noFill/>
        </p:spPr>
        <p:txBody>
          <a:bodyPr wrap="square">
            <a:spAutoFit/>
          </a:bodyPr>
          <a:lstStyle/>
          <a:p>
            <a:pPr fontAlgn="base"/>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sát</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Houkeeping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Supervisor)</a:t>
            </a:r>
          </a:p>
        </p:txBody>
      </p:sp>
      <p:sp>
        <p:nvSpPr>
          <p:cNvPr id="4" name="TextBox 3">
            <a:extLst>
              <a:ext uri="{FF2B5EF4-FFF2-40B4-BE49-F238E27FC236}">
                <a16:creationId xmlns:a16="http://schemas.microsoft.com/office/drawing/2014/main" id="{C474A66D-EEED-8FD9-94D4-0E362F2E6E0F}"/>
              </a:ext>
            </a:extLst>
          </p:cNvPr>
          <p:cNvSpPr txBox="1"/>
          <p:nvPr/>
        </p:nvSpPr>
        <p:spPr>
          <a:xfrm>
            <a:off x="4937231" y="1204965"/>
            <a:ext cx="2722097" cy="830997"/>
          </a:xfrm>
          <a:prstGeom prst="rect">
            <a:avLst/>
          </a:prstGeom>
          <a:noFill/>
        </p:spPr>
        <p:txBody>
          <a:bodyPr wrap="square">
            <a:spAutoFit/>
          </a:bodyPr>
          <a:lstStyle/>
          <a:p>
            <a:pPr algn="l" fontAlgn="base"/>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sát</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tầng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(Floor Supervisor</a:t>
            </a:r>
            <a:r>
              <a:rPr lang="en-US" sz="24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p>
        </p:txBody>
      </p:sp>
      <p:sp>
        <p:nvSpPr>
          <p:cNvPr id="5" name="TextBox 4">
            <a:extLst>
              <a:ext uri="{FF2B5EF4-FFF2-40B4-BE49-F238E27FC236}">
                <a16:creationId xmlns:a16="http://schemas.microsoft.com/office/drawing/2014/main" id="{C5A3C9C6-8F53-4222-6B9B-2E0FDEB6F9B3}"/>
              </a:ext>
            </a:extLst>
          </p:cNvPr>
          <p:cNvSpPr txBox="1"/>
          <p:nvPr/>
        </p:nvSpPr>
        <p:spPr>
          <a:xfrm>
            <a:off x="4573439" y="2161136"/>
            <a:ext cx="3587337" cy="3939540"/>
          </a:xfrm>
          <a:prstGeom prst="rect">
            <a:avLst/>
          </a:prstGeom>
          <a:noFill/>
        </p:spPr>
        <p:txBody>
          <a:bodyPr wrap="square">
            <a:spAutoFit/>
          </a:bodyPr>
          <a:lstStyle/>
          <a:p>
            <a:pPr marL="342900" indent="-342900" algn="just">
              <a:spcBef>
                <a:spcPts val="1200"/>
              </a:spcBef>
              <a:buFont typeface="Wingdings" panose="05000000000000000000" pitchFamily="2" charset="2"/>
              <a:buChar char="§"/>
            </a:pP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Chịu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duy</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sự</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sẽ</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ngăn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nắp</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vực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làm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vực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indent="-342900" algn="just">
              <a:spcBef>
                <a:spcPts val="1200"/>
              </a:spcBef>
              <a:buFont typeface="Wingdings" panose="05000000000000000000" pitchFamily="2" charset="2"/>
              <a:buChar char="§"/>
            </a:pP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ngày</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duy</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tiêu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 name="TextBox 10">
            <a:extLst>
              <a:ext uri="{FF2B5EF4-FFF2-40B4-BE49-F238E27FC236}">
                <a16:creationId xmlns:a16="http://schemas.microsoft.com/office/drawing/2014/main" id="{9F91E8C7-F837-5886-4DD2-0E8DC848B17E}"/>
              </a:ext>
            </a:extLst>
          </p:cNvPr>
          <p:cNvSpPr txBox="1"/>
          <p:nvPr/>
        </p:nvSpPr>
        <p:spPr>
          <a:xfrm>
            <a:off x="8802655" y="1295632"/>
            <a:ext cx="3123874" cy="461665"/>
          </a:xfrm>
          <a:prstGeom prst="rect">
            <a:avLst/>
          </a:prstGeom>
          <a:noFill/>
        </p:spPr>
        <p:txBody>
          <a:bodyPr wrap="square">
            <a:spAutoFit/>
          </a:bodyPr>
          <a:lstStyle/>
          <a:p>
            <a:pPr algn="l" fontAlgn="base"/>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phối</a:t>
            </a:r>
            <a:endPar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3" name="TextBox 12">
            <a:extLst>
              <a:ext uri="{FF2B5EF4-FFF2-40B4-BE49-F238E27FC236}">
                <a16:creationId xmlns:a16="http://schemas.microsoft.com/office/drawing/2014/main" id="{0C6717E7-BFB0-1F33-C87A-4239D37CBB93}"/>
              </a:ext>
            </a:extLst>
          </p:cNvPr>
          <p:cNvSpPr txBox="1"/>
          <p:nvPr/>
        </p:nvSpPr>
        <p:spPr>
          <a:xfrm>
            <a:off x="8877604" y="2161136"/>
            <a:ext cx="3011452" cy="3416320"/>
          </a:xfrm>
          <a:prstGeom prst="rect">
            <a:avLst/>
          </a:prstGeom>
          <a:noFill/>
        </p:spPr>
        <p:txBody>
          <a:bodyPr wrap="square">
            <a:spAutoFit/>
          </a:bodyPr>
          <a:lstStyle/>
          <a:p>
            <a:pPr algn="just"/>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Chịu trách nhiệm giữ mối liên lạc giữa bộ phận buồng phòng với bộ phận lễ tân hoặc các bộ phận khác trong khách sạn liên quan đến các yêu cầu của khách</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057016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A9AA3D7-07A8-36AB-3AC4-44CF0415FB44}"/>
              </a:ext>
            </a:extLst>
          </p:cNvPr>
          <p:cNvSpPr txBox="1"/>
          <p:nvPr/>
        </p:nvSpPr>
        <p:spPr>
          <a:xfrm>
            <a:off x="563314" y="1145855"/>
            <a:ext cx="4598621" cy="830997"/>
          </a:xfrm>
          <a:prstGeom prst="rect">
            <a:avLst/>
          </a:prstGeom>
          <a:noFill/>
        </p:spPr>
        <p:txBody>
          <a:bodyPr wrap="square">
            <a:spAutoFit/>
          </a:bodyPr>
          <a:lstStyle/>
          <a:p>
            <a:pPr algn="l" fontAlgn="base"/>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sát</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vệ</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sinh</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lang="en-US"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(Public Supervisor)</a:t>
            </a:r>
          </a:p>
        </p:txBody>
      </p:sp>
      <p:sp>
        <p:nvSpPr>
          <p:cNvPr id="9" name="TextBox 8">
            <a:extLst>
              <a:ext uri="{FF2B5EF4-FFF2-40B4-BE49-F238E27FC236}">
                <a16:creationId xmlns:a16="http://schemas.microsoft.com/office/drawing/2014/main" id="{2AF3FFCA-FADF-E218-E6FF-7710C83E07C9}"/>
              </a:ext>
            </a:extLst>
          </p:cNvPr>
          <p:cNvSpPr txBox="1"/>
          <p:nvPr/>
        </p:nvSpPr>
        <p:spPr>
          <a:xfrm>
            <a:off x="484216" y="2295825"/>
            <a:ext cx="4677719" cy="3416320"/>
          </a:xfrm>
          <a:prstGeom prst="rect">
            <a:avLst/>
          </a:prstGeom>
          <a:noFill/>
        </p:spPr>
        <p:txBody>
          <a:bodyPr wrap="square">
            <a:spAutoFit/>
          </a:bodyPr>
          <a:lstStyle/>
          <a:p>
            <a:pPr marL="342900" indent="-342900" algn="just">
              <a:buFont typeface="Wingdings" panose="05000000000000000000" pitchFamily="2" charset="2"/>
              <a:buChar char="§"/>
            </a:pP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Chịu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giám</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sát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sinh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a:p>
            <a:pPr marL="342900" indent="-342900" algn="just">
              <a:buFont typeface="Wingdings" panose="05000000000000000000" pitchFamily="2" charset="2"/>
              <a:buChar char="§"/>
            </a:pPr>
            <a:r>
              <a:rPr lang="en-US" sz="2400" dirty="0" err="1">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uản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tài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sản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khu</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vực</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trang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bị</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hóa</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chất</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đào</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tạo</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indent="-342900" algn="just">
              <a:buFont typeface="Wingdings" panose="05000000000000000000" pitchFamily="2" charset="2"/>
              <a:buChar char="§"/>
            </a:pP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Lên</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kế</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hoạch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vệ</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sinh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tổng</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thể</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định</a:t>
            </a:r>
            <a:r>
              <a:rPr lang="en-US"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0"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kỳ</a:t>
            </a:r>
            <a:endPar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5" name="TextBox 14">
            <a:extLst>
              <a:ext uri="{FF2B5EF4-FFF2-40B4-BE49-F238E27FC236}">
                <a16:creationId xmlns:a16="http://schemas.microsoft.com/office/drawing/2014/main" id="{075097E8-DA8F-94E9-F066-B75EBA5361C3}"/>
              </a:ext>
            </a:extLst>
          </p:cNvPr>
          <p:cNvSpPr txBox="1"/>
          <p:nvPr/>
        </p:nvSpPr>
        <p:spPr>
          <a:xfrm>
            <a:off x="6688896" y="1151846"/>
            <a:ext cx="3851286" cy="830997"/>
          </a:xfrm>
          <a:prstGeom prst="rect">
            <a:avLst/>
          </a:prstGeom>
          <a:noFill/>
        </p:spPr>
        <p:txBody>
          <a:bodyPr wrap="square">
            <a:spAutoFit/>
          </a:bodyPr>
          <a:lstStyle/>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Nhân viên buồng phòng (Room Attendant)</a:t>
            </a:r>
          </a:p>
        </p:txBody>
      </p:sp>
      <p:sp>
        <p:nvSpPr>
          <p:cNvPr id="17" name="TextBox 16">
            <a:extLst>
              <a:ext uri="{FF2B5EF4-FFF2-40B4-BE49-F238E27FC236}">
                <a16:creationId xmlns:a16="http://schemas.microsoft.com/office/drawing/2014/main" id="{A81E6382-7BA4-12A8-0C55-B6583A7C7216}"/>
              </a:ext>
            </a:extLst>
          </p:cNvPr>
          <p:cNvSpPr txBox="1"/>
          <p:nvPr/>
        </p:nvSpPr>
        <p:spPr>
          <a:xfrm>
            <a:off x="6471033" y="2061998"/>
            <a:ext cx="5170362" cy="4524315"/>
          </a:xfrm>
          <a:prstGeom prst="rect">
            <a:avLst/>
          </a:prstGeom>
          <a:noFill/>
        </p:spPr>
        <p:txBody>
          <a:bodyPr wrap="square">
            <a:spAutoFit/>
          </a:bodyPr>
          <a:lstStyle/>
          <a:p>
            <a:pPr marL="342900" indent="-342900" algn="just">
              <a:buFont typeface="Wingdings" panose="05000000000000000000" pitchFamily="2" charset="2"/>
              <a:buChar char="§"/>
            </a:pPr>
            <a:r>
              <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a:t>
            </a: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ọn dẹp và làm vệ sinh phòng khách theo đúng tiêu chuẩn của khách sạn.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phòng khi khách check out xem khách có dùng đồ minibar hay không, tình trạng trang thiết bị trong phòng ra sao. </a:t>
            </a:r>
            <a:endParaRPr lang="en-US"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Xử lý các tình huống phát sinh như khách treo biển “Không làm phiền” vượt quá giờ quy định, khách bị ốm đau, khách bị mất đồ….</a:t>
            </a:r>
          </a:p>
        </p:txBody>
      </p:sp>
    </p:spTree>
    <p:extLst>
      <p:ext uri="{BB962C8B-B14F-4D97-AF65-F5344CB8AC3E}">
        <p14:creationId xmlns:p14="http://schemas.microsoft.com/office/powerpoint/2010/main" val="318609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D45DE3-1E07-E255-C0F3-D0FD45F26E95}"/>
              </a:ext>
            </a:extLst>
          </p:cNvPr>
          <p:cNvSpPr txBox="1"/>
          <p:nvPr/>
        </p:nvSpPr>
        <p:spPr>
          <a:xfrm>
            <a:off x="719935" y="1602457"/>
            <a:ext cx="8728864" cy="4247317"/>
          </a:xfrm>
          <a:prstGeom prst="rect">
            <a:avLst/>
          </a:prstGeom>
          <a:noFill/>
        </p:spPr>
        <p:txBody>
          <a:bodyPr wrap="square">
            <a:spAutoFit/>
          </a:bodyPr>
          <a:lstStyle/>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giặt</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(Laundry Attendant)</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đồng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vải</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(Uniform &amp; linen attendant)</a:t>
            </a:r>
          </a:p>
          <a:p>
            <a:pPr marL="285750" indent="-285750" algn="just" fontAlgn="base">
              <a:buFont typeface="Wingdings" panose="05000000000000000000" pitchFamily="2" charset="2"/>
              <a:buChar char="§"/>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 viên làm vườn (Gardener)</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vệ</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sinh</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công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cộng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(Public Attendant)</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trông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trẻ</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(Baby Sitter)</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thay</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đồ</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(Locker Attendant)</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cây</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cảnh</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(Landscape attendant)</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cắm</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hoa</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(Florist)</a:t>
            </a:r>
          </a:p>
          <a:p>
            <a:pPr marL="285750" indent="-285750" algn="just" fontAlgn="base">
              <a:buFont typeface="Wingdings" panose="05000000000000000000" pitchFamily="2" charset="2"/>
              <a:buChar char="§"/>
            </a:pP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riêng</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i="0" dirty="0" err="1">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lang="en-US"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VIP (Butler)</a:t>
            </a:r>
          </a:p>
          <a:p>
            <a:pPr algn="l" fontAlgn="base"/>
            <a:endParaRPr lang="en-US" b="1" i="0" dirty="0">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b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br>
            <a:endParaRPr lang="vi-VN"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912620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A9AECB-8BB4-E1AF-E313-69AB15F51581}"/>
              </a:ext>
            </a:extLst>
          </p:cNvPr>
          <p:cNvSpPr txBox="1"/>
          <p:nvPr/>
        </p:nvSpPr>
        <p:spPr>
          <a:xfrm>
            <a:off x="228832" y="2529860"/>
            <a:ext cx="7783903" cy="3831818"/>
          </a:xfrm>
          <a:prstGeom prst="rect">
            <a:avLst/>
          </a:prstGeom>
          <a:noFill/>
        </p:spPr>
        <p:txBody>
          <a:bodyPr wrap="square">
            <a:spAutoFit/>
          </a:bodyPr>
          <a:lstStyle/>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TIẾP T</a:t>
            </a:r>
            <a:r>
              <a:rPr lang="en-US"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ÂN</a:t>
            </a:r>
          </a:p>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ẨM THỰC</a:t>
            </a:r>
            <a:endParaRPr lang="en-US"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KỸ THUẬT BẢO DƯỠNG</a:t>
            </a:r>
            <a:endParaRPr lang="en-US"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KẾ TOÁN</a:t>
            </a:r>
            <a:endParaRPr lang="en-US"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BÁN HÀNG VÀ TIẾP THỊ</a:t>
            </a:r>
            <a:endParaRPr lang="en-US"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457200" indent="-457200">
              <a:spcBef>
                <a:spcPts val="1800"/>
              </a:spcBef>
              <a:buFont typeface="Wingdings" panose="05000000000000000000" pitchFamily="2" charset="2"/>
              <a:buChar char="q"/>
            </a:pPr>
            <a:r>
              <a:rPr lang="vi-VN" sz="2800" b="1" dirty="0">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 BỘ PHẬN AN NINH</a:t>
            </a:r>
            <a:endPar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1B915DF6-D427-7058-9F00-401FF76EB1DE}"/>
              </a:ext>
            </a:extLst>
          </p:cNvPr>
          <p:cNvSpPr txBox="1"/>
          <p:nvPr/>
        </p:nvSpPr>
        <p:spPr>
          <a:xfrm>
            <a:off x="140341" y="1204917"/>
            <a:ext cx="11324072" cy="954107"/>
          </a:xfrm>
          <a:prstGeom prst="rect">
            <a:avLst/>
          </a:prstGeom>
          <a:noFill/>
        </p:spPr>
        <p:txBody>
          <a:bodyPr wrap="square">
            <a:spAutoFit/>
          </a:bodyPr>
          <a:lstStyle/>
          <a:p>
            <a:pPr algn="ctr">
              <a:spcAft>
                <a:spcPts val="600"/>
              </a:spcAft>
              <a:tabLst>
                <a:tab pos="180340" algn="l"/>
                <a:tab pos="5941060" algn="l"/>
              </a:tabLst>
            </a:pPr>
            <a:r>
              <a:rPr lang="en-US" sz="2800" b="1"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vi-VN" sz="2800" b="1" dirty="0">
                <a:solidFill>
                  <a:srgbClr val="FF000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MỐI QUAN HỆ GIỮA BỘ PHẬN BUỒNG VỚI CÁC BỘ PHẬN TRONG KHÁCH SẠN</a:t>
            </a:r>
            <a:endParaRPr lang="en-US" sz="2800" b="1" dirty="0">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29385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601F03-0760-82CF-C84F-60A47976D2CD}"/>
              </a:ext>
            </a:extLst>
          </p:cNvPr>
          <p:cNvSpPr txBox="1"/>
          <p:nvPr/>
        </p:nvSpPr>
        <p:spPr>
          <a:xfrm>
            <a:off x="-108155" y="1058891"/>
            <a:ext cx="11080630" cy="523220"/>
          </a:xfrm>
          <a:prstGeom prst="rect">
            <a:avLst/>
          </a:prstGeom>
          <a:noFill/>
        </p:spPr>
        <p:txBody>
          <a:bodyPr wrap="square">
            <a:spAutoFit/>
          </a:bodyPr>
          <a:lstStyle/>
          <a:p>
            <a:pPr algn="ctr">
              <a:spcAft>
                <a:spcPts val="600"/>
              </a:spcAft>
              <a:tabLst>
                <a:tab pos="180340" algn="l"/>
                <a:tab pos="5941060" algn="l"/>
              </a:tabLst>
            </a:pPr>
            <a:r>
              <a:rPr lang="en-US"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4. TỔ CHỨC VÀ QUẢN LÝ HOẠT ĐỘNG CỦA BỘ PHẬN BUỒNG</a:t>
            </a:r>
            <a:endParaRPr lang="vi-VN"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C2055D1E-D9B4-8A9C-DAA5-3CDAEDBFFE1A}"/>
              </a:ext>
            </a:extLst>
          </p:cNvPr>
          <p:cNvSpPr txBox="1"/>
          <p:nvPr/>
        </p:nvSpPr>
        <p:spPr>
          <a:xfrm>
            <a:off x="147484" y="1688623"/>
            <a:ext cx="9148313" cy="461665"/>
          </a:xfrm>
          <a:prstGeom prst="rect">
            <a:avLst/>
          </a:prstGeom>
          <a:noFill/>
        </p:spPr>
        <p:txBody>
          <a:bodyPr wrap="square">
            <a:spAutoFit/>
          </a:bodyPr>
          <a:lstStyle/>
          <a:p>
            <a:pPr algn="l"/>
            <a:r>
              <a:rPr lang="vi-VN" sz="2400" b="1" i="0" dirty="0">
                <a:solidFill>
                  <a:srgbClr val="FF6633"/>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Quy trình 15 bước dọn phòng khách đang lưu trú</a:t>
            </a:r>
            <a:endParaRPr lang="vi-VN" sz="2400" b="0" i="0" dirty="0">
              <a:solidFill>
                <a:srgbClr val="111111"/>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7" name="TextBox 6">
            <a:extLst>
              <a:ext uri="{FF2B5EF4-FFF2-40B4-BE49-F238E27FC236}">
                <a16:creationId xmlns:a16="http://schemas.microsoft.com/office/drawing/2014/main" id="{31A07697-8618-28B1-4E83-6517BFB1F10A}"/>
              </a:ext>
            </a:extLst>
          </p:cNvPr>
          <p:cNvSpPr txBox="1"/>
          <p:nvPr/>
        </p:nvSpPr>
        <p:spPr>
          <a:xfrm>
            <a:off x="147484" y="2150288"/>
            <a:ext cx="8101781" cy="4524315"/>
          </a:xfrm>
          <a:prstGeom prst="rect">
            <a:avLst/>
          </a:prstGeom>
          <a:noFill/>
        </p:spPr>
        <p:txBody>
          <a:bodyPr wrap="square">
            <a:spAutoFit/>
          </a:bodyPr>
          <a:lstStyle/>
          <a:p>
            <a:pPr algn="l"/>
            <a:r>
              <a:rPr lang="vi-VN" sz="2000" b="1" i="1" dirty="0">
                <a:solidFill>
                  <a:srgbClr val="000000"/>
                </a:solidFill>
                <a:effectLst/>
                <a:highlight>
                  <a:srgbClr val="FFFFFF"/>
                </a:highlight>
                <a:latin typeface="Times New Roman" panose="02020603050405020304" pitchFamily="18" charset="0"/>
              </a:rPr>
              <a:t>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 Gõ cửa phòng khách</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buFont typeface="Wingdings" panose="05000000000000000000" pitchFamily="2" charset="2"/>
              <a:buChar char="q"/>
            </a:pP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Gõ cửa hoặc ấn chuông 3 lần và chào khách.</a:t>
            </a:r>
            <a:b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b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Trước khi gõ, nhân viên cần quan sát biển báo trên tay nắm cửa:</a:t>
            </a:r>
          </a:p>
          <a:p>
            <a:pPr marL="687387" indent="-342900" algn="just">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Nếu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không có biển báo</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hoặc biển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Hãy dọn phòng (Make up room, please!)</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có thể tiến hành dọn.</a:t>
            </a:r>
          </a:p>
          <a:p>
            <a:pPr marL="687388" indent="-342900" algn="just">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Nếu có biển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Xin đừng làm phiền (Do not disturb)</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không được mở cửa</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687388" indent="-342900">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Nếu đã gõ cửa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3 lần</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nhưng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không có phản hồi</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có thể khách đã ra ngoài. Khi đó, nhân viên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có thể mở cửa bằng chìa khóa để dọn phòng</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66688"/>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Lưu ý</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Không gõ quá mạnh, không dùng chìa khóa hay vật cứng để gõ,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không mở cửa ngay</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mà đợi </a:t>
            </a:r>
            <a:r>
              <a:rPr lang="vi-VN" sz="2000" b="1"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khoảng 30 giây</a:t>
            </a: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nếu không có tiếng trả lời.</a:t>
            </a:r>
          </a:p>
        </p:txBody>
      </p:sp>
      <p:pic>
        <p:nvPicPr>
          <p:cNvPr id="2" name="Picture 1">
            <a:extLst>
              <a:ext uri="{FF2B5EF4-FFF2-40B4-BE49-F238E27FC236}">
                <a16:creationId xmlns:a16="http://schemas.microsoft.com/office/drawing/2014/main" id="{1EE5767F-7621-24AC-E64F-B9FC07ED7197}"/>
              </a:ext>
            </a:extLst>
          </p:cNvPr>
          <p:cNvPicPr>
            <a:picLocks noChangeAspect="1"/>
          </p:cNvPicPr>
          <p:nvPr/>
        </p:nvPicPr>
        <p:blipFill>
          <a:blip r:embed="rId2"/>
          <a:stretch>
            <a:fillRect/>
          </a:stretch>
        </p:blipFill>
        <p:spPr>
          <a:xfrm>
            <a:off x="8249265" y="2150288"/>
            <a:ext cx="3451122" cy="3765805"/>
          </a:xfrm>
          <a:prstGeom prst="rect">
            <a:avLst/>
          </a:prstGeom>
        </p:spPr>
      </p:pic>
    </p:spTree>
    <p:extLst>
      <p:ext uri="{BB962C8B-B14F-4D97-AF65-F5344CB8AC3E}">
        <p14:creationId xmlns:p14="http://schemas.microsoft.com/office/powerpoint/2010/main" val="1974752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AE3209-00BB-E02E-4273-7EF6CEA156D4}"/>
              </a:ext>
            </a:extLst>
          </p:cNvPr>
          <p:cNvSpPr txBox="1"/>
          <p:nvPr/>
        </p:nvSpPr>
        <p:spPr>
          <a:xfrm>
            <a:off x="321264" y="1466545"/>
            <a:ext cx="8960388" cy="3970318"/>
          </a:xfrm>
          <a:prstGeom prst="rect">
            <a:avLst/>
          </a:prstGeom>
          <a:noFill/>
        </p:spPr>
        <p:txBody>
          <a:bodyPr wrap="square">
            <a:spAutoFit/>
          </a:bodyPr>
          <a:lstStyle/>
          <a:p>
            <a:pPr algn="just"/>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2: Mở cửa vào phòng</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 mở cửa khi đã chắc chắn phòng không có khách.</a:t>
            </a: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Mở cửa chậm, cẩn thận, quan sát kỹ.</a:t>
            </a: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Mở rộng cửa và chèn cửa an toàn.</a:t>
            </a: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Nếu có khách trong phòng, lịch sự xin lỗi và hẹn quay lại.</a:t>
            </a: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Chỉ dọn phòng khi có khách nếu được quản lý cho phép.</a:t>
            </a:r>
          </a:p>
          <a:p>
            <a:pPr marL="342900" indent="-342900">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Nếu phòng trống, bắt đầu công việc dọn phòng.</a:t>
            </a:r>
          </a:p>
          <a:p>
            <a:pPr algn="just"/>
            <a:r>
              <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pic>
        <p:nvPicPr>
          <p:cNvPr id="4" name="Picture 3">
            <a:extLst>
              <a:ext uri="{FF2B5EF4-FFF2-40B4-BE49-F238E27FC236}">
                <a16:creationId xmlns:a16="http://schemas.microsoft.com/office/drawing/2014/main" id="{77024B54-CBEA-EAF3-4369-3DCFBF792CB7}"/>
              </a:ext>
            </a:extLst>
          </p:cNvPr>
          <p:cNvPicPr>
            <a:picLocks noChangeAspect="1"/>
          </p:cNvPicPr>
          <p:nvPr/>
        </p:nvPicPr>
        <p:blipFill>
          <a:blip r:embed="rId2"/>
          <a:stretch>
            <a:fillRect/>
          </a:stretch>
        </p:blipFill>
        <p:spPr>
          <a:xfrm>
            <a:off x="9636726" y="3543134"/>
            <a:ext cx="2476616" cy="2908121"/>
          </a:xfrm>
          <a:prstGeom prst="rect">
            <a:avLst/>
          </a:prstGeom>
        </p:spPr>
      </p:pic>
      <p:pic>
        <p:nvPicPr>
          <p:cNvPr id="1026" name="Picture 2" descr="15 Bước dọn phòng khách đang ở nhân viên buồng phòng khách sạn cần biết">
            <a:extLst>
              <a:ext uri="{FF2B5EF4-FFF2-40B4-BE49-F238E27FC236}">
                <a16:creationId xmlns:a16="http://schemas.microsoft.com/office/drawing/2014/main" id="{0B372168-3399-1C63-F39C-9E363EE542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990" r="43185"/>
          <a:stretch/>
        </p:blipFill>
        <p:spPr bwMode="auto">
          <a:xfrm>
            <a:off x="7365475" y="1256637"/>
            <a:ext cx="2407790" cy="3234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434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4F8AF9-7E9F-F8FA-FCCE-C3F2EB255F5B}"/>
              </a:ext>
            </a:extLst>
          </p:cNvPr>
          <p:cNvSpPr txBox="1"/>
          <p:nvPr/>
        </p:nvSpPr>
        <p:spPr>
          <a:xfrm>
            <a:off x="508744" y="1394552"/>
            <a:ext cx="10994998" cy="4970591"/>
          </a:xfrm>
          <a:prstGeom prst="rect">
            <a:avLst/>
          </a:prstGeom>
          <a:noFill/>
        </p:spPr>
        <p:txBody>
          <a:bodyPr wrap="square">
            <a:spAutoFit/>
          </a:bodyPr>
          <a:lstStyle/>
          <a:p>
            <a:pPr algn="just">
              <a:spcBef>
                <a:spcPts val="600"/>
              </a:spcBef>
            </a:pPr>
            <a:r>
              <a:rPr lang="vi-VN" sz="2400" b="1"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3: Đặt xe đẩy và các thiết bị, dụng cụ làm vệ sinh</a:t>
            </a:r>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Đặt xe đẩy phía trước cửa đã mở, chú ý xoay phần xe có đồ vải hướng vào trong để dễ dàng lấy đồ khi cần.</a:t>
            </a:r>
          </a:p>
          <a:p>
            <a:pPr marL="342900" indent="-342900" algn="just">
              <a:spcBef>
                <a:spcPts val="600"/>
              </a:spcBef>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Đưa máy hút bụi, xô, chổi, cây lau sàn và giỏ các dụng cụ vệ sinh khác vào phòng.</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spcBef>
                <a:spcPts val="600"/>
              </a:spcBef>
            </a:pPr>
            <a:r>
              <a:rPr lang="vi-VN" sz="2400" b="1"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4: Mở rèm cửa và cửa sổ</a:t>
            </a:r>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spcBef>
                <a:spcPts val="600"/>
              </a:spcBef>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Kéo và buộc gọn tất cả rèm cửa trong phòng, chắc chắn rằng tay bạn phải sạch và khô.</a:t>
            </a:r>
          </a:p>
          <a:p>
            <a:pPr marL="342900" indent="-342900" algn="just">
              <a:spcBef>
                <a:spcPts val="600"/>
              </a:spcBef>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Mở cửa sổ, cố định bằng móc cửa nếu có và thời tiết cho phép. Vì ánh sáng tự nhiên sẽ tốt hơn cho bạn khi làm việc.</a:t>
            </a:r>
          </a:p>
          <a:p>
            <a:pPr algn="just">
              <a:spcBef>
                <a:spcPts val="6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5: Tắt hoặc điều chỉnh lại các thiết bị trong phòng</a:t>
            </a:r>
          </a:p>
          <a:p>
            <a:pPr marL="342900" indent="-342900" algn="just">
              <a:spcBef>
                <a:spcPts val="600"/>
              </a:spcBef>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Thực hiện việc tắt/ mở hoặc điều chỉnh lại các thiết bị điện trong phòng như: đèn, điều hòa không khí… theo quy định của từng khách sạn để tiết kiệm năng lượng và báo cáo các vấn đề cần bảo dưỡng.</a:t>
            </a:r>
          </a:p>
          <a:p>
            <a:pPr algn="just"/>
            <a:endParaRPr lang="vi-VN" b="0" i="0" dirty="0">
              <a:solidFill>
                <a:srgbClr val="30303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180835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1284D2-8124-6DF3-2C2E-33BA02C60476}"/>
              </a:ext>
            </a:extLst>
          </p:cNvPr>
          <p:cNvSpPr txBox="1"/>
          <p:nvPr/>
        </p:nvSpPr>
        <p:spPr>
          <a:xfrm>
            <a:off x="442221" y="1535759"/>
            <a:ext cx="8475637" cy="3370153"/>
          </a:xfrm>
          <a:prstGeom prst="rect">
            <a:avLst/>
          </a:prstGeom>
          <a:noFill/>
        </p:spPr>
        <p:txBody>
          <a:bodyPr wrap="square">
            <a:spAutoFit/>
          </a:bodyPr>
          <a:lstStyle/>
          <a:p>
            <a:pPr algn="just"/>
            <a:r>
              <a:rPr lang="vi-VN" b="1"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6: Nhặt bỏ rác</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vi-VN" sz="2400" b="0" i="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Nhặt rác rơi vãi và cho vào giỏ rác; kiểm tra xem có vật dụng hay tài sản của khách lẫn vào không. Nếu có, báo ngay cho giám sát.</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Bỏ hoa héo và thay hoa mới (nếu có).</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Đổ rác và gạt tàn vào túi rác trên xe đẩy.</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kỹ gầm bàn, ghế, giường, tủ xem có đồ khách rơi không.</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Dọn khay, bát, đĩa từ dịch vụ </a:t>
            </a:r>
            <a:r>
              <a:rPr lang="vi-VN"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Room service</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trả về bộ phận F&amp;B hoặc liên hệ nhân viên F&amp;B đến nhận.</a:t>
            </a:r>
          </a:p>
        </p:txBody>
      </p:sp>
    </p:spTree>
    <p:extLst>
      <p:ext uri="{BB962C8B-B14F-4D97-AF65-F5344CB8AC3E}">
        <p14:creationId xmlns:p14="http://schemas.microsoft.com/office/powerpoint/2010/main" val="2075784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F07928-B411-0E3F-F62C-68EC63111683}"/>
              </a:ext>
            </a:extLst>
          </p:cNvPr>
          <p:cNvSpPr txBox="1"/>
          <p:nvPr/>
        </p:nvSpPr>
        <p:spPr>
          <a:xfrm>
            <a:off x="574862" y="1388798"/>
            <a:ext cx="10791227" cy="4154984"/>
          </a:xfrm>
          <a:prstGeom prst="rect">
            <a:avLst/>
          </a:prstGeom>
          <a:noFill/>
        </p:spPr>
        <p:txBody>
          <a:bodyPr wrap="square">
            <a:spAutoFit/>
          </a:bodyPr>
          <a:lstStyle/>
          <a:p>
            <a:pPr algn="just"/>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7: Kiểm tra đồ cần bảo dưỡng</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Kiểm tra hệ thống đèn, xem xét các đồ nội thất, két sắt… có bị hư hỏng gì không.</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Nếu phát hiện hư hỏng thì ghi nhận vào mẫu báo cáo bảo dưỡng và liên lạc với giám sát ca báo cáo ngay</a:t>
            </a:r>
            <a:r>
              <a:rPr lang="vi-VN" sz="24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a:t>
            </a:r>
            <a:endParaRPr lang="en-US" sz="24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en-US" sz="24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8: Tháo, loại bỏ đồ vải bẩn</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just"/>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Dọn vật dụng cá nhân trên giường sang bàn, tháo ga, vỏ gối, vỏ chăn…</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Kiểm tra kỹ, không để lẫn đồ của khách vào đồ vải bẩn.</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Thu gom khăn và vải bẩn (khô – ướt để riêng), cho vào túi/giỏ trên xe đẩy.</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Kiểm tra đệm, tấm lót xem có bẩn, rách hay hư hỏng không.</a:t>
            </a:r>
            <a:endParaRPr lang="vi-VN" b="0" i="0" dirty="0">
              <a:solidFill>
                <a:srgbClr val="002060"/>
              </a:solidFill>
              <a:effectLst/>
              <a:highlight>
                <a:srgbClr val="FFFFFF"/>
              </a:highlight>
              <a:latin typeface="Times New Roman" panose="02020603050405020304" pitchFamily="18" charset="0"/>
            </a:endParaRPr>
          </a:p>
        </p:txBody>
      </p:sp>
    </p:spTree>
    <p:extLst>
      <p:ext uri="{BB962C8B-B14F-4D97-AF65-F5344CB8AC3E}">
        <p14:creationId xmlns:p14="http://schemas.microsoft.com/office/powerpoint/2010/main" val="2823015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1B4903-F211-BD01-5F98-17A0CC17FBA3}"/>
              </a:ext>
            </a:extLst>
          </p:cNvPr>
          <p:cNvSpPr txBox="1"/>
          <p:nvPr/>
        </p:nvSpPr>
        <p:spPr>
          <a:xfrm>
            <a:off x="338701" y="1628684"/>
            <a:ext cx="7851569" cy="4031873"/>
          </a:xfrm>
          <a:prstGeom prst="rect">
            <a:avLst/>
          </a:prstGeom>
          <a:noFill/>
        </p:spPr>
        <p:txBody>
          <a:bodyPr wrap="square">
            <a:spAutoFit/>
          </a:bodyPr>
          <a:lstStyle/>
          <a:p>
            <a:pPr algn="l"/>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9: Thay đồ vải sạch</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l">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Thay đồ vải sạch cho những vật đã bỏ đồ bẩn, theo đúng quy trình khách sạn.</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l">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Tay phải sạch và khô khi thao tác.</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r>
              <a:rPr lang="vi-VN"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10: Làm sạch bụi các bề mặt</a:t>
            </a:r>
            <a:endParaRPr lang="en-US" sz="2400" b="1"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algn="l"/>
            <a:endParaRPr lang="vi-VN" sz="2400" b="0" dirty="0">
              <a:solidFill>
                <a:srgbClr val="002060"/>
              </a:solidFill>
              <a:effectLst/>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l">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Dùng khăn (ẩm hoặc khô tùy loại bề mặt) lau theo chiều thẳng đứng hoặc ngang.</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l">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Nếu dùng hóa chất, xịt vào khăn, không xịt trực tiếp lên đồ vật.</a:t>
            </a:r>
            <a:endParaRPr lang="en-US"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l">
              <a:buFont typeface="Wingdings" panose="05000000000000000000" pitchFamily="2" charset="2"/>
              <a:buChar char="ü"/>
            </a:pPr>
            <a:r>
              <a:rPr lang="vi-VN" sz="2000" b="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Không tự ý di chuyển hay tháo đồ cá nhân của khách.</a:t>
            </a:r>
            <a:endParaRPr lang="vi-VN" sz="2000" b="0" i="0" dirty="0">
              <a:solidFill>
                <a:srgbClr val="303030"/>
              </a:solidFill>
              <a:effectLst/>
              <a:highlight>
                <a:srgbClr val="FFFFFF"/>
              </a:highlight>
              <a:latin typeface="Times New Roman" panose="02020603050405020304" pitchFamily="18" charset="0"/>
            </a:endParaRPr>
          </a:p>
        </p:txBody>
      </p:sp>
      <p:pic>
        <p:nvPicPr>
          <p:cNvPr id="4" name="Picture 3">
            <a:extLst>
              <a:ext uri="{FF2B5EF4-FFF2-40B4-BE49-F238E27FC236}">
                <a16:creationId xmlns:a16="http://schemas.microsoft.com/office/drawing/2014/main" id="{AE5B7542-45C0-ED1F-8482-65991D11EECC}"/>
              </a:ext>
            </a:extLst>
          </p:cNvPr>
          <p:cNvPicPr>
            <a:picLocks noChangeAspect="1"/>
          </p:cNvPicPr>
          <p:nvPr/>
        </p:nvPicPr>
        <p:blipFill>
          <a:blip r:embed="rId2"/>
          <a:stretch>
            <a:fillRect/>
          </a:stretch>
        </p:blipFill>
        <p:spPr>
          <a:xfrm>
            <a:off x="8377084" y="972358"/>
            <a:ext cx="3739138" cy="3340849"/>
          </a:xfrm>
          <a:prstGeom prst="rect">
            <a:avLst/>
          </a:prstGeom>
        </p:spPr>
      </p:pic>
      <p:sp>
        <p:nvSpPr>
          <p:cNvPr id="6" name="TextBox 5">
            <a:extLst>
              <a:ext uri="{FF2B5EF4-FFF2-40B4-BE49-F238E27FC236}">
                <a16:creationId xmlns:a16="http://schemas.microsoft.com/office/drawing/2014/main" id="{349B38B7-217B-35A7-5B27-6F9E6EC31129}"/>
              </a:ext>
            </a:extLst>
          </p:cNvPr>
          <p:cNvSpPr txBox="1"/>
          <p:nvPr/>
        </p:nvSpPr>
        <p:spPr>
          <a:xfrm>
            <a:off x="8377084" y="4451230"/>
            <a:ext cx="3762618" cy="923330"/>
          </a:xfrm>
          <a:prstGeom prst="rect">
            <a:avLst/>
          </a:prstGeom>
          <a:noFill/>
        </p:spPr>
        <p:txBody>
          <a:bodyPr wrap="square">
            <a:spAutoFit/>
          </a:bodyPr>
          <a:lstStyle/>
          <a:p>
            <a:r>
              <a:rPr lang="vi-VN" b="0" i="1" dirty="0">
                <a:solidFill>
                  <a:srgbClr val="000000"/>
                </a:solidFill>
                <a:effectLst/>
                <a:highlight>
                  <a:srgbClr val="FFFFFF"/>
                </a:highlight>
                <a:latin typeface="Times New Roman" panose="02020603050405020304" pitchFamily="18" charset="0"/>
              </a:rPr>
              <a:t>Khi thực hiện bước thay đồ vải mới tay của nhân viên buồng phải sạch và khô</a:t>
            </a:r>
            <a:endParaRPr lang="vi-VN" dirty="0"/>
          </a:p>
        </p:txBody>
      </p:sp>
    </p:spTree>
    <p:extLst>
      <p:ext uri="{BB962C8B-B14F-4D97-AF65-F5344CB8AC3E}">
        <p14:creationId xmlns:p14="http://schemas.microsoft.com/office/powerpoint/2010/main" val="2780465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B19E96A-9678-4BBD-800D-0FB0F0300575}"/>
              </a:ext>
            </a:extLst>
          </p:cNvPr>
          <p:cNvSpPr txBox="1"/>
          <p:nvPr/>
        </p:nvSpPr>
        <p:spPr>
          <a:xfrm>
            <a:off x="537991" y="1457552"/>
            <a:ext cx="10729776" cy="4308872"/>
          </a:xfrm>
          <a:prstGeom prst="rect">
            <a:avLst/>
          </a:prstGeom>
          <a:noFill/>
        </p:spPr>
        <p:txBody>
          <a:bodyPr wrap="square">
            <a:spAutoFit/>
          </a:bodyPr>
          <a:lstStyle/>
          <a:p>
            <a:pPr algn="just">
              <a:spcBef>
                <a:spcPts val="1200"/>
              </a:spcBef>
            </a:pPr>
            <a:r>
              <a:rPr lang="vi-VN" sz="28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11: Kiểm tra và bổ sung đồ dùng trong phòng khách</a:t>
            </a:r>
          </a:p>
          <a:p>
            <a:pPr marL="342900"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Kiểm tra đồ dùng: dạnh bạ, các vật dụng văn phòng phẩm, hộp giấy ăn, giỏ - danh mục giặt là, thực đơn, biển báo “không làm phiền”, cốc, gạt tàn… nếu hư hỏng hoặc thiếu thì tiến hành bổ sung.</a:t>
            </a:r>
          </a:p>
          <a:p>
            <a:pPr marL="342900" indent="-342900" algn="just">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Với đồ trong minibar, chỉ tiến hành bổ sung khi khách yêu cầu.</a:t>
            </a:r>
          </a:p>
          <a:p>
            <a:pPr algn="just">
              <a:spcBef>
                <a:spcPts val="1200"/>
              </a:spcBef>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12: Hút bụi – lau sàn nhà</a:t>
            </a:r>
          </a:p>
          <a:p>
            <a:pPr marL="342900" indent="-342900" algn="just">
              <a:spcBef>
                <a:spcPts val="1200"/>
              </a:spcBef>
              <a:buFont typeface="Wingdings" panose="05000000000000000000" pitchFamily="2" charset="2"/>
              <a:buChar char="ü"/>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Thực hiện việc hút bụi phòng từ cuối phòng ra phía cửa: dưới gầm giường, gầm bàn, gầm tủ… ; các góc và khe trong phòng.</a:t>
            </a:r>
          </a:p>
          <a:p>
            <a:pPr marL="342900" indent="-342900" algn="just">
              <a:spcBef>
                <a:spcPts val="12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Đối với sàn gỗ và sàn gạch men, sau khi hút bụi xong thì tiến hành lau lại bằng nước lau sàn.</a:t>
            </a:r>
          </a:p>
        </p:txBody>
      </p:sp>
    </p:spTree>
    <p:extLst>
      <p:ext uri="{BB962C8B-B14F-4D97-AF65-F5344CB8AC3E}">
        <p14:creationId xmlns:p14="http://schemas.microsoft.com/office/powerpoint/2010/main" val="3564196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Picture 11" descr="15 Bước dọn phòng khách đang ở nhân viên buồng phòng khách sạn cần biết">
            <a:extLst>
              <a:ext uri="{FF2B5EF4-FFF2-40B4-BE49-F238E27FC236}">
                <a16:creationId xmlns:a16="http://schemas.microsoft.com/office/drawing/2014/main" id="{14E4F627-0AF1-EBD9-4DDD-BC4699F31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4065" y="1563329"/>
            <a:ext cx="3436917" cy="43432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B025FC8-8F7D-54C6-2A62-1D7846121AA4}"/>
              </a:ext>
            </a:extLst>
          </p:cNvPr>
          <p:cNvSpPr txBox="1"/>
          <p:nvPr/>
        </p:nvSpPr>
        <p:spPr>
          <a:xfrm>
            <a:off x="324466" y="951400"/>
            <a:ext cx="9724102" cy="5893921"/>
          </a:xfrm>
          <a:prstGeom prst="rect">
            <a:avLst/>
          </a:prstGeom>
          <a:noFill/>
        </p:spPr>
        <p:txBody>
          <a:bodyPr wrap="square">
            <a:spAutoFit/>
          </a:bodyPr>
          <a:lstStyle/>
          <a:p>
            <a:pPr>
              <a:spcBef>
                <a:spcPts val="600"/>
              </a:spcBef>
              <a:buNone/>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13: Dọn phòng vệ sinh</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Rửa ly, cốc và đặt đúng vị trí.</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Vệ sinh bồn rửa, bồn tắm, bồn cầu, loại bỏ tóc và rác ở lỗ thoát nước.</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Lau sạch gương và lavabo.</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Bổ sung giấy và amenities nếu thiếu.</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Lau sàn nhà vệ sinh.</a:t>
            </a:r>
          </a:p>
          <a:p>
            <a:pPr>
              <a:spcBef>
                <a:spcPts val="600"/>
              </a:spcBef>
            </a:pPr>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14: Kiểm tra lại toàn bộ phòng</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Dùng checklist kiểm tra toàn bộ phòng.</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Đảm bảo không có mùi lạ, vết bẩn hay đồ bị quên.</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Đóng cửa sổ, kéo rèm.</a:t>
            </a:r>
          </a:p>
          <a:p>
            <a:pPr marL="342900" indent="-342900">
              <a:spcBef>
                <a:spcPts val="600"/>
              </a:spcBef>
              <a:buFont typeface="Wingdings" panose="05000000000000000000" pitchFamily="2" charset="2"/>
              <a:buChar char="ü"/>
            </a:pPr>
            <a:r>
              <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Ghi chú tình trạng buồng là đã dọn sạch.</a:t>
            </a:r>
            <a:endParaRPr lang="en-US"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r>
              <a:rPr lang="vi-VN" sz="2400" b="1" dirty="0">
                <a:solidFill>
                  <a:srgbClr val="00206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Bước 15: Ra khỏi phòng và đóng cửa lại</a:t>
            </a:r>
          </a:p>
          <a:p>
            <a:pPr marL="342900" indent="-342900">
              <a:spcBef>
                <a:spcPts val="600"/>
              </a:spcBef>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Di chuyển xe đẩy và các vật dụng vệ sinh ra khỏi phòng.</a:t>
            </a:r>
          </a:p>
          <a:p>
            <a:pPr marL="342900" indent="-342900">
              <a:spcBef>
                <a:spcPts val="600"/>
              </a:spcBef>
              <a:buFont typeface="Wingdings" panose="05000000000000000000" pitchFamily="2" charset="2"/>
              <a:buChar char="ü"/>
            </a:pPr>
            <a:r>
              <a:rPr lang="vi-VN" sz="2000" dirty="0">
                <a:solidFill>
                  <a:srgbClr val="002060"/>
                </a:solidFill>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rPr>
              <a:t> Đóng cửa phòng chắc chắn và đảm bảo phòng đã được khóa trước khi rời đi.</a:t>
            </a:r>
          </a:p>
          <a:p>
            <a:pPr marL="342900" indent="-342900">
              <a:spcBef>
                <a:spcPts val="600"/>
              </a:spcBef>
              <a:buFont typeface="Wingdings" panose="05000000000000000000" pitchFamily="2" charset="2"/>
              <a:buChar char="ü"/>
            </a:pPr>
            <a:endParaRPr lang="vi-VN" sz="20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770187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71E13B-5861-04B9-05F9-DB8AC151C066}"/>
              </a:ext>
            </a:extLst>
          </p:cNvPr>
          <p:cNvSpPr txBox="1"/>
          <p:nvPr/>
        </p:nvSpPr>
        <p:spPr>
          <a:xfrm>
            <a:off x="179717" y="245225"/>
            <a:ext cx="11483196" cy="369332"/>
          </a:xfrm>
          <a:prstGeom prst="rect">
            <a:avLst/>
          </a:prstGeom>
          <a:noFill/>
        </p:spPr>
        <p:txBody>
          <a:bodyPr wrap="square">
            <a:spAutoFit/>
          </a:bodyPr>
          <a:lstStyle/>
          <a:p>
            <a:pPr algn="l"/>
            <a:r>
              <a:rPr lang="vi-VN" b="1" i="1" dirty="0">
                <a:solidFill>
                  <a:srgbClr val="000000"/>
                </a:solidFill>
                <a:effectLst/>
                <a:highlight>
                  <a:srgbClr val="FFFFFF"/>
                </a:highlight>
                <a:latin typeface="Times New Roman" panose="02020603050405020304" pitchFamily="18" charset="0"/>
              </a:rPr>
              <a:t>-</a:t>
            </a:r>
            <a:endParaRPr lang="vi-VN" sz="2400" b="0" i="0" dirty="0">
              <a:solidFill>
                <a:srgbClr val="002060"/>
              </a:solidFill>
              <a:effectLst/>
              <a:highlight>
                <a:srgbClr val="FFFFFF"/>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5" name="TextBox 4">
            <a:extLst>
              <a:ext uri="{FF2B5EF4-FFF2-40B4-BE49-F238E27FC236}">
                <a16:creationId xmlns:a16="http://schemas.microsoft.com/office/drawing/2014/main" id="{BDC2DD43-1D4A-6A80-AF1B-123354973160}"/>
              </a:ext>
            </a:extLst>
          </p:cNvPr>
          <p:cNvSpPr txBox="1"/>
          <p:nvPr/>
        </p:nvSpPr>
        <p:spPr>
          <a:xfrm>
            <a:off x="917137" y="1720840"/>
            <a:ext cx="9839354" cy="3416320"/>
          </a:xfrm>
          <a:prstGeom prst="rect">
            <a:avLst/>
          </a:prstGeom>
          <a:noFill/>
        </p:spPr>
        <p:txBody>
          <a:bodyPr wrap="square">
            <a:spAutoFit/>
          </a:bodyPr>
          <a:lstStyle/>
          <a:p>
            <a:pPr algn="just"/>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Kết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luận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p>
          <a:p>
            <a:pPr algn="just"/>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 viên buồng cần đảm bảo tất cả các bước được thực hiện đầy đủ, chính xác — từ kiểm tra, thay mới vật dụng, vệ sinh, sắp xếp đến kiểm tra lần cuối.</a:t>
            </a: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Quy trình đảm bảo phòng đạt chuẩn vệ sinh, tiện nghi và thể hiện sự chuyên nghiệp, trách nhiệm của nhân viên.</a:t>
            </a:r>
          </a:p>
          <a:p>
            <a:pPr marL="342900" indent="-342900" algn="just">
              <a:buFont typeface="Wingdings" panose="05000000000000000000" pitchFamily="2" charset="2"/>
              <a:buChar char="q"/>
            </a:pPr>
            <a:r>
              <a:rPr lang="vi-VN" sz="2400"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Một quy trình chuẩn giúp nâng cao trải nghiệm khách, giữ vững uy tín khách sạn và hỗ trợ quản lý buồng hiệu quả.</a:t>
            </a:r>
          </a:p>
        </p:txBody>
      </p:sp>
    </p:spTree>
    <p:extLst>
      <p:ext uri="{BB962C8B-B14F-4D97-AF65-F5344CB8AC3E}">
        <p14:creationId xmlns:p14="http://schemas.microsoft.com/office/powerpoint/2010/main" val="798799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CF3060-ACAC-871E-67EC-B93BC6DDB637}"/>
              </a:ext>
            </a:extLst>
          </p:cNvPr>
          <p:cNvSpPr>
            <a:spLocks noChangeArrowheads="1"/>
          </p:cNvSpPr>
          <p:nvPr/>
        </p:nvSpPr>
        <p:spPr bwMode="auto">
          <a:xfrm>
            <a:off x="2003091" y="1961751"/>
            <a:ext cx="10742205" cy="373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ts val="600"/>
              </a:spcBef>
              <a:buClrTx/>
              <a:buSzTx/>
              <a:buFont typeface="+mj-lt"/>
              <a:buAutoNum type="arabicPeriod"/>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346075"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6075"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6075"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endParaRPr kumimoji="0" lang="en-US" altLang="en-US" sz="2400" b="1" i="0" u="none" strike="noStrike" cap="none" normalizeH="0" baseline="0" dirty="0">
              <a:ln>
                <a:noFill/>
              </a:ln>
              <a:solidFill>
                <a:srgbClr val="FF000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346075"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just" defTabSz="914400" rtl="0" eaLnBrk="0" fontAlgn="base" latinLnBrk="0" hangingPunct="0">
              <a:lnSpc>
                <a:spcPct val="150000"/>
              </a:lnSpc>
              <a:spcBef>
                <a:spcPts val="600"/>
              </a:spcBef>
              <a:buClrTx/>
              <a:buSzTx/>
              <a:buFontTx/>
              <a:buNone/>
              <a:tabLst/>
            </a:pPr>
            <a:endParaRPr kumimoji="0" lang="en-US" altLang="en-US" sz="2400" b="1" i="0" u="none" strike="noStrike" cap="none" normalizeH="0" baseline="0" dirty="0">
              <a:ln>
                <a:noFill/>
              </a:ln>
              <a:solidFill>
                <a:schemeClr val="tx1"/>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TextBox 3">
            <a:extLst>
              <a:ext uri="{FF2B5EF4-FFF2-40B4-BE49-F238E27FC236}">
                <a16:creationId xmlns:a16="http://schemas.microsoft.com/office/drawing/2014/main" id="{E4F89028-08F0-C0C2-7C11-B93A1122736C}"/>
              </a:ext>
            </a:extLst>
          </p:cNvPr>
          <p:cNvSpPr txBox="1"/>
          <p:nvPr/>
        </p:nvSpPr>
        <p:spPr>
          <a:xfrm>
            <a:off x="987679" y="1165163"/>
            <a:ext cx="3536830" cy="523220"/>
          </a:xfrm>
          <a:prstGeom prst="rect">
            <a:avLst/>
          </a:prstGeom>
          <a:noFill/>
        </p:spPr>
        <p:txBody>
          <a:bodyPr wrap="square" rtlCol="0">
            <a:spAutoFit/>
          </a:bodyPr>
          <a:lstStyle/>
          <a:p>
            <a:r>
              <a:rPr lang="en-US"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rPr>
              <a:t>CÂU HỎI ÔN TẬP </a:t>
            </a:r>
            <a:endParaRPr lang="vi-VN" sz="2800" b="1" dirty="0">
              <a:solidFill>
                <a:srgbClr val="FF0000"/>
              </a:solidFill>
              <a:highlight>
                <a:srgbClr val="FFFF00"/>
              </a:highligh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6" name="Arrow: Right 5">
            <a:extLst>
              <a:ext uri="{FF2B5EF4-FFF2-40B4-BE49-F238E27FC236}">
                <a16:creationId xmlns:a16="http://schemas.microsoft.com/office/drawing/2014/main" id="{C64EB774-9337-D001-F55C-AC5FF9348D50}"/>
              </a:ext>
            </a:extLst>
          </p:cNvPr>
          <p:cNvSpPr/>
          <p:nvPr/>
        </p:nvSpPr>
        <p:spPr>
          <a:xfrm>
            <a:off x="864863" y="272353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114753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4D7A9A5-572C-045E-3706-092E44167253}"/>
              </a:ext>
            </a:extLst>
          </p:cNvPr>
          <p:cNvSpPr txBox="1"/>
          <p:nvPr/>
        </p:nvSpPr>
        <p:spPr>
          <a:xfrm>
            <a:off x="1582994" y="1574589"/>
            <a:ext cx="9104670" cy="3100144"/>
          </a:xfrm>
          <a:prstGeom prst="rect">
            <a:avLst/>
          </a:prstGeom>
          <a:noFill/>
        </p:spPr>
        <p:txBody>
          <a:bodyPr wrap="square">
            <a:spAutoFit/>
          </a:bodyPr>
          <a:lstStyle/>
          <a:p>
            <a:pPr marR="0" lvl="0" indent="276225" algn="just" defTabSz="914400" rtl="0" eaLnBrk="0" fontAlgn="base" latinLnBrk="0" hangingPunct="0">
              <a:lnSpc>
                <a:spcPct val="150000"/>
              </a:lnSpc>
              <a:spcBef>
                <a:spcPts val="600"/>
              </a:spcBef>
              <a:buClrTx/>
              <a:buSzTx/>
              <a:buFont typeface="+mj-lt"/>
              <a:buAutoNum type="arabicPeriod" startAt="2"/>
              <a:tabLst/>
            </a:pP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342900" marR="0" lvl="0" indent="512763"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Quản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512763"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Duy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sinh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sắp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xếp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512763"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quyết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khiếu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nại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342900" marR="0" lvl="0" indent="512763" algn="just" defTabSz="914400" rtl="0" eaLnBrk="0" fontAlgn="base" latinLnBrk="0" hangingPunct="0">
              <a:lnSpc>
                <a:spcPct val="150000"/>
              </a:lnSpc>
              <a:spcBef>
                <a:spcPts val="600"/>
              </a:spcBef>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Quản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mật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ninh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4" name="Arrow: Right 3">
            <a:extLst>
              <a:ext uri="{FF2B5EF4-FFF2-40B4-BE49-F238E27FC236}">
                <a16:creationId xmlns:a16="http://schemas.microsoft.com/office/drawing/2014/main" id="{FC926751-8596-1D68-A75F-0D9953CD6FEA}"/>
              </a:ext>
            </a:extLst>
          </p:cNvPr>
          <p:cNvSpPr/>
          <p:nvPr/>
        </p:nvSpPr>
        <p:spPr>
          <a:xfrm>
            <a:off x="707735" y="292171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11557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79260AC-4F7C-4954-18C0-3F7B6AE55928}"/>
              </a:ext>
            </a:extLst>
          </p:cNvPr>
          <p:cNvSpPr txBox="1"/>
          <p:nvPr/>
        </p:nvSpPr>
        <p:spPr>
          <a:xfrm>
            <a:off x="1442557" y="1218114"/>
            <a:ext cx="9844875" cy="3715697"/>
          </a:xfrm>
          <a:prstGeom prst="rect">
            <a:avLst/>
          </a:prstGeom>
          <a:noFill/>
        </p:spPr>
        <p:txBody>
          <a:bodyPr wrap="square">
            <a:spAutoFit/>
          </a:bodyPr>
          <a:lstStyle/>
          <a:p>
            <a:pPr algn="just" eaLnBrk="0" fontAlgn="base" hangingPunct="0">
              <a:lnSpc>
                <a:spcPct val="150000"/>
              </a:lnSpc>
              <a:spcBef>
                <a:spcPts val="1800"/>
              </a:spcBef>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3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Cơ</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cấu</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tổ</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của</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thường</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bao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gồm</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các</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vị</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trí</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nào</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793750" indent="-328613" algn="just" eaLnBrk="0" fontAlgn="base" hangingPunct="0">
              <a:lnSpc>
                <a:spcPct val="150000"/>
              </a:lnSpc>
              <a:spcBef>
                <a:spcPts val="1800"/>
              </a:spcBef>
            </a:pP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kỹ</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bảo</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vệ</a:t>
            </a:r>
            <a:endPar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93750" indent="-328613" algn="just" eaLnBrk="0" fontAlgn="base" hangingPunct="0">
              <a:lnSpc>
                <a:spcPct val="150000"/>
              </a:lnSpc>
              <a:spcBef>
                <a:spcPts val="1800"/>
              </a:spcBef>
            </a:pP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giặt</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endPar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93750" indent="-328613" algn="just" eaLnBrk="0" fontAlgn="base" hangingPunct="0">
              <a:lnSpc>
                <a:spcPct val="150000"/>
              </a:lnSpc>
              <a:spcBef>
                <a:spcPts val="1800"/>
              </a:spcBef>
            </a:pP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lễ</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kỹ</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tài</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chính</a:t>
            </a:r>
            <a:endPar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793750" indent="-328613" algn="just" eaLnBrk="0" fontAlgn="base" hangingPunct="0">
              <a:lnSpc>
                <a:spcPct val="150000"/>
              </a:lnSpc>
              <a:spcBef>
                <a:spcPts val="1800"/>
              </a:spcBef>
            </a:pP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Nhân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viên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bếp</a:t>
            </a:r>
            <a:r>
              <a:rPr lang="en-US" alt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98A42214-1AF7-A628-2CAB-76E4CD4CBBA9}"/>
              </a:ext>
            </a:extLst>
          </p:cNvPr>
          <p:cNvSpPr/>
          <p:nvPr/>
        </p:nvSpPr>
        <p:spPr>
          <a:xfrm>
            <a:off x="147108" y="2871019"/>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215372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04EF3-109D-434B-9CAC-B6D2D3F1F81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319E7D-1DBB-41ED-5CC3-044F13C64AB1}"/>
              </a:ext>
            </a:extLst>
          </p:cNvPr>
          <p:cNvSpPr txBox="1"/>
          <p:nvPr/>
        </p:nvSpPr>
        <p:spPr>
          <a:xfrm>
            <a:off x="1955646" y="1725039"/>
            <a:ext cx="9852895" cy="3407921"/>
          </a:xfrm>
          <a:prstGeom prst="rect">
            <a:avLst/>
          </a:prstGeom>
          <a:noFill/>
        </p:spPr>
        <p:txBody>
          <a:bodyPr wrap="square">
            <a:spAutoFit/>
          </a:bodyPr>
          <a:lstStyle/>
          <a:p>
            <a:pPr>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4.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Mối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quan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hệ</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bộ</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tân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chủ</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yếu</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gì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L="173038" indent="171450">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cung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cấp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vụ</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ăn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uống</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3038" indent="171450">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sắp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xếp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và</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lý</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cho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3038" indent="171450">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duy</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an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ninh</a:t>
            </a:r>
            <a:endPar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173038" indent="171450">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hợp</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trong</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bảo</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trì</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sz="2400" b="1" dirty="0" err="1">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bị</a:t>
            </a:r>
            <a:endParaRPr lang="en-US" sz="20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Arrow: Right 2">
            <a:extLst>
              <a:ext uri="{FF2B5EF4-FFF2-40B4-BE49-F238E27FC236}">
                <a16:creationId xmlns:a16="http://schemas.microsoft.com/office/drawing/2014/main" id="{9537F789-4B1C-277F-7F8A-A14750ED02B4}"/>
              </a:ext>
            </a:extLst>
          </p:cNvPr>
          <p:cNvSpPr/>
          <p:nvPr/>
        </p:nvSpPr>
        <p:spPr>
          <a:xfrm>
            <a:off x="294592" y="3175356"/>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220980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AA405E-F85B-36C0-0B20-807D6D412033}"/>
              </a:ext>
            </a:extLst>
          </p:cNvPr>
          <p:cNvSpPr>
            <a:spLocks noChangeArrowheads="1"/>
          </p:cNvSpPr>
          <p:nvPr/>
        </p:nvSpPr>
        <p:spPr bwMode="auto">
          <a:xfrm>
            <a:off x="1321234" y="1437601"/>
            <a:ext cx="10969088"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5.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chặt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dưỡng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do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7477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7477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chữa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7477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Cung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uống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7477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chính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ts val="1200"/>
              </a:spcBef>
              <a:spcAft>
                <a:spcPct val="0"/>
              </a:spcAft>
              <a:buClrTx/>
              <a:buSzTx/>
              <a:tabLst/>
            </a:pP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ts val="120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Arrow: Right 2">
            <a:extLst>
              <a:ext uri="{FF2B5EF4-FFF2-40B4-BE49-F238E27FC236}">
                <a16:creationId xmlns:a16="http://schemas.microsoft.com/office/drawing/2014/main" id="{C9AB7C68-08AC-F424-99FE-B25C03F696C1}"/>
              </a:ext>
            </a:extLst>
          </p:cNvPr>
          <p:cNvSpPr/>
          <p:nvPr/>
        </p:nvSpPr>
        <p:spPr>
          <a:xfrm>
            <a:off x="225766" y="3429000"/>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433020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15C7-D9CF-A452-EDBA-66F512D84B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5A92A9-CC50-BEB8-7B19-0C5A1B398149}"/>
              </a:ext>
            </a:extLst>
          </p:cNvPr>
          <p:cNvSpPr txBox="1"/>
          <p:nvPr/>
        </p:nvSpPr>
        <p:spPr>
          <a:xfrm>
            <a:off x="2290915" y="987619"/>
            <a:ext cx="9606117" cy="4515916"/>
          </a:xfrm>
          <a:prstGeom prst="rect">
            <a:avLst/>
          </a:prstGeom>
          <a:noFill/>
        </p:spPr>
        <p:txBody>
          <a:bodyPr wrap="square">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6.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giữa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ẩm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nhằm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điều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bữa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theo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luôn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sẽ</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Các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phục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kịp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đúng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Các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đúng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543AF974-724F-4436-9E9F-0E8472E26F59}"/>
              </a:ext>
            </a:extLst>
          </p:cNvPr>
          <p:cNvSpPr/>
          <p:nvPr/>
        </p:nvSpPr>
        <p:spPr>
          <a:xfrm>
            <a:off x="973018" y="3077497"/>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15419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FCB4D-2EBE-090F-8FEF-7E300DE1BF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E8F939C-5264-4394-BB04-76A3498F97CA}"/>
              </a:ext>
            </a:extLst>
          </p:cNvPr>
          <p:cNvSpPr>
            <a:spLocks noChangeArrowheads="1"/>
          </p:cNvSpPr>
          <p:nvPr/>
        </p:nvSpPr>
        <p:spPr bwMode="auto">
          <a:xfrm>
            <a:off x="1713411" y="1438789"/>
            <a:ext cx="10478589" cy="5317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7.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nhau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thực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nhiệm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46196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số</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lượng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Kiểm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ts val="1200"/>
              </a:spcBef>
              <a:spcAft>
                <a:spcPct val="0"/>
              </a:spcAft>
              <a:buClrTx/>
              <a:buSzTx/>
              <a:tabLst/>
            </a:pPr>
            <a:endParaRPr kumimoji="0" lang="en-US" altLang="en-US" sz="28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2" name="Arrow: Right 1">
            <a:extLst>
              <a:ext uri="{FF2B5EF4-FFF2-40B4-BE49-F238E27FC236}">
                <a16:creationId xmlns:a16="http://schemas.microsoft.com/office/drawing/2014/main" id="{C5080BB3-9CDA-4E76-3C45-3D8747B0BAE1}"/>
              </a:ext>
            </a:extLst>
          </p:cNvPr>
          <p:cNvSpPr/>
          <p:nvPr/>
        </p:nvSpPr>
        <p:spPr>
          <a:xfrm>
            <a:off x="314256" y="2821858"/>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179729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6AE5-A385-8321-964D-3D86D54BD2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E6D6BE-9B52-700F-3119-F26FED57F520}"/>
              </a:ext>
            </a:extLst>
          </p:cNvPr>
          <p:cNvSpPr txBox="1"/>
          <p:nvPr/>
        </p:nvSpPr>
        <p:spPr>
          <a:xfrm>
            <a:off x="2054941" y="1646750"/>
            <a:ext cx="10323871" cy="3961918"/>
          </a:xfrm>
          <a:prstGeom prst="rect">
            <a:avLst/>
          </a:prstGeom>
          <a:noFill/>
        </p:spPr>
        <p:txBody>
          <a:bodyPr wrap="square">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8. Trong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đây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lễ</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tân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F429C88A-F38D-CDE3-F145-32FE8A4B5B86}"/>
              </a:ext>
            </a:extLst>
          </p:cNvPr>
          <p:cNvSpPr/>
          <p:nvPr/>
        </p:nvSpPr>
        <p:spPr>
          <a:xfrm>
            <a:off x="471573" y="3696929"/>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53530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BE4F-7B13-F43C-FC6F-55BC3ABEAE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B4AFC9-FA23-F2FC-A1D6-C82BCB2C887D}"/>
              </a:ext>
            </a:extLst>
          </p:cNvPr>
          <p:cNvSpPr>
            <a:spLocks noChangeArrowheads="1"/>
          </p:cNvSpPr>
          <p:nvPr/>
        </p:nvSpPr>
        <p:spPr bwMode="auto">
          <a:xfrm>
            <a:off x="1750142" y="1240582"/>
            <a:ext cx="10215716" cy="475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9.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sao</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tổ</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chức</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4619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trải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nghiệm</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tốt</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ở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tại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thiểu</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ngân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hiệu</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4619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Để</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nâng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cao</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uy</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tín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ts val="600"/>
              </a:spcBef>
              <a:spcAft>
                <a:spcPct val="0"/>
              </a:spcAft>
              <a:buClrTx/>
              <a:buSzTx/>
              <a:tabLst/>
            </a:pP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3" name="Arrow: Right 2">
            <a:extLst>
              <a:ext uri="{FF2B5EF4-FFF2-40B4-BE49-F238E27FC236}">
                <a16:creationId xmlns:a16="http://schemas.microsoft.com/office/drawing/2014/main" id="{E61DFA29-DE26-8AC1-EB54-3868EB259141}"/>
              </a:ext>
            </a:extLst>
          </p:cNvPr>
          <p:cNvSpPr/>
          <p:nvPr/>
        </p:nvSpPr>
        <p:spPr>
          <a:xfrm>
            <a:off x="314256" y="254655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29851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EF5D-02E0-FC34-B368-56FC30B90D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8723EB-10EA-0D95-DC03-B76027A6CE95}"/>
              </a:ext>
            </a:extLst>
          </p:cNvPr>
          <p:cNvSpPr txBox="1"/>
          <p:nvPr/>
        </p:nvSpPr>
        <p:spPr>
          <a:xfrm>
            <a:off x="1789470" y="1601929"/>
            <a:ext cx="9674942" cy="3654142"/>
          </a:xfrm>
          <a:prstGeom prst="rect">
            <a:avLst/>
          </a:prstGeom>
          <a:noFill/>
        </p:spPr>
        <p:txBody>
          <a:bodyPr wrap="square">
            <a:spAutoFit/>
          </a:bodyPr>
          <a:lstStyle/>
          <a:p>
            <a:pPr marL="0" marR="0" lvl="0" indent="0"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10.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thường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phải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ninh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những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tình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huống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8556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Khi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yêu</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cầu</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8556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Khi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cố</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liên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8556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Khi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hội</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nghị</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855663" algn="l" defTabSz="914400" rtl="0" eaLnBrk="0" fontAlgn="base" latinLnBrk="0" hangingPunct="0">
              <a:lnSpc>
                <a:spcPct val="150000"/>
              </a:lnSpc>
              <a:spcBef>
                <a:spcPts val="600"/>
              </a:spcBef>
              <a:spcAft>
                <a:spcPct val="0"/>
              </a:spcAft>
              <a:buClrTx/>
              <a:buSzTx/>
              <a:tabLst/>
            </a:pP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Khi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trọng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diễn</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ra</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sạn</a:t>
            </a:r>
            <a:endParaRPr kumimoji="0" lang="en-US" altLang="en-US" sz="2400" b="1"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A95FB95C-4084-31E0-AEBC-235B842149DE}"/>
              </a:ext>
            </a:extLst>
          </p:cNvPr>
          <p:cNvSpPr/>
          <p:nvPr/>
        </p:nvSpPr>
        <p:spPr>
          <a:xfrm>
            <a:off x="451908" y="285135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631972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09E0-7FD4-1613-129B-A2D04593BB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AC6C46-4406-BFFA-F475-4228C8959CD8}"/>
              </a:ext>
            </a:extLst>
          </p:cNvPr>
          <p:cNvSpPr txBox="1"/>
          <p:nvPr/>
        </p:nvSpPr>
        <p:spPr>
          <a:xfrm>
            <a:off x="1691148" y="1725039"/>
            <a:ext cx="10225549" cy="3407921"/>
          </a:xfrm>
          <a:prstGeom prst="rect">
            <a:avLst/>
          </a:prstGeom>
          <a:noFill/>
        </p:spPr>
        <p:txBody>
          <a:bodyPr wrap="square">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11. Những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dưới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đây</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không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thuộc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vai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trò</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của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Quản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sinh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Cung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giặt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Phục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bữa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ăn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an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toàn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lưu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trú</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A0F2914D-89A9-3E09-3709-61040FD04695}"/>
              </a:ext>
            </a:extLst>
          </p:cNvPr>
          <p:cNvSpPr/>
          <p:nvPr/>
        </p:nvSpPr>
        <p:spPr>
          <a:xfrm>
            <a:off x="275303" y="394273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111897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8F921C7-5B37-F8EF-70E6-A8CB384F0707}"/>
              </a:ext>
            </a:extLst>
          </p:cNvPr>
          <p:cNvSpPr>
            <a:spLocks noChangeArrowheads="1"/>
          </p:cNvSpPr>
          <p:nvPr/>
        </p:nvSpPr>
        <p:spPr bwMode="auto">
          <a:xfrm>
            <a:off x="1789469" y="1547033"/>
            <a:ext cx="9704439"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tabLst/>
            </a:pP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12.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hợp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tiếp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nhằm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mục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đích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gì</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688975"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bá</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đặc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biệt</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688975"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sự</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kiện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688975"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được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chuẩn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đúng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thời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gian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688975" algn="l" defTabSz="914400" rtl="0" eaLnBrk="0" fontAlgn="base" latinLnBrk="0" hangingPunct="0">
              <a:lnSpc>
                <a:spcPct val="10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Giảm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thiểu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hành</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Arrow: Right 1">
            <a:extLst>
              <a:ext uri="{FF2B5EF4-FFF2-40B4-BE49-F238E27FC236}">
                <a16:creationId xmlns:a16="http://schemas.microsoft.com/office/drawing/2014/main" id="{5C5CA018-2E44-2D19-C055-DD7A334F960C}"/>
              </a:ext>
            </a:extLst>
          </p:cNvPr>
          <p:cNvSpPr/>
          <p:nvPr/>
        </p:nvSpPr>
        <p:spPr>
          <a:xfrm>
            <a:off x="510902" y="2921715"/>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01569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3D4B50-3121-214B-AA55-A69140568515}"/>
              </a:ext>
            </a:extLst>
          </p:cNvPr>
          <p:cNvSpPr>
            <a:spLocks noChangeArrowheads="1"/>
          </p:cNvSpPr>
          <p:nvPr/>
        </p:nvSpPr>
        <p:spPr bwMode="auto">
          <a:xfrm>
            <a:off x="1396181" y="1566408"/>
            <a:ext cx="9399638" cy="4590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13. Trong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mối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quan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hệ</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thuật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chú</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ý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đến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yếu</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5699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ngủ</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luôn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có</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đủ</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ánh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sáng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699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các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trong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khách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luôn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hoạt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động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tốt</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699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Cung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cấp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sửa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chữa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bị</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69913"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Đảm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phòng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họp</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luôn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sẵn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sàng</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l" defTabSz="914400" rtl="0" eaLnBrk="0" fontAlgn="base" latinLnBrk="0" hangingPunct="0">
              <a:lnSpc>
                <a:spcPct val="150000"/>
              </a:lnSpc>
              <a:spcBef>
                <a:spcPts val="1200"/>
              </a:spcBef>
              <a:spcAft>
                <a:spcPct val="0"/>
              </a:spcAft>
              <a:buClrTx/>
              <a:buSzTx/>
              <a:tabLst/>
            </a:pPr>
            <a:endParaRPr kumimoji="0" lang="en-US" altLang="en-US" sz="2000" b="0" i="0" u="none" strike="noStrike" cap="none" normalizeH="0" baseline="0" dirty="0">
              <a:ln>
                <a:noFill/>
              </a:ln>
              <a:solidFill>
                <a:srgbClr val="002060"/>
              </a:solidFill>
              <a:effectLst/>
              <a:latin typeface="Arial" panose="020B0604020202020204" pitchFamily="34" charset="0"/>
            </a:endParaRPr>
          </a:p>
        </p:txBody>
      </p:sp>
      <p:sp>
        <p:nvSpPr>
          <p:cNvPr id="2" name="Arrow: Right 1">
            <a:extLst>
              <a:ext uri="{FF2B5EF4-FFF2-40B4-BE49-F238E27FC236}">
                <a16:creationId xmlns:a16="http://schemas.microsoft.com/office/drawing/2014/main" id="{76D98DA0-65BF-621D-9627-1AC7C22FEFCC}"/>
              </a:ext>
            </a:extLst>
          </p:cNvPr>
          <p:cNvSpPr/>
          <p:nvPr/>
        </p:nvSpPr>
        <p:spPr>
          <a:xfrm>
            <a:off x="206101" y="3607977"/>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392173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1BD6-E4F9-314F-1F0C-269BB222D6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9D4024-89BE-301F-30E4-2ECADC0144E5}"/>
              </a:ext>
            </a:extLst>
          </p:cNvPr>
          <p:cNvSpPr txBox="1"/>
          <p:nvPr/>
        </p:nvSpPr>
        <p:spPr>
          <a:xfrm>
            <a:off x="2270604" y="1614948"/>
            <a:ext cx="9095485" cy="3961918"/>
          </a:xfrm>
          <a:prstGeom prst="rect">
            <a:avLst/>
          </a:prstGeom>
          <a:noFill/>
        </p:spPr>
        <p:txBody>
          <a:bodyPr wrap="square">
            <a:spAutoFit/>
          </a:bodyPr>
          <a:lstStyle/>
          <a:p>
            <a:pPr marL="0" marR="0" lvl="0" indent="0"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14.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Kỹ</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năng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nào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cần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thiết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nhất</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cho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nhân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viên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buồng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làm</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việc</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với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bộ</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phận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kế</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toán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t>
            </a: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A.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tài</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sản</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hàng</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tồn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kho</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C.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hóa</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đơn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dịch</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vụ</a:t>
            </a:r>
            <a:endPar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a:p>
            <a:pPr marR="0" lvl="0" indent="511175" algn="l" defTabSz="914400" rtl="0" eaLnBrk="0" fontAlgn="base" latinLnBrk="0" hangingPunct="0">
              <a:lnSpc>
                <a:spcPct val="150000"/>
              </a:lnSpc>
              <a:spcBef>
                <a:spcPts val="1200"/>
              </a:spcBef>
              <a:spcAft>
                <a:spcPct val="0"/>
              </a:spcAft>
              <a:buClrTx/>
              <a:buSzTx/>
              <a:tabLst/>
            </a:pP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D.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Quản</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lý</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chi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phí</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bảo</a:t>
            </a:r>
            <a:r>
              <a:rPr kumimoji="0" lang="en-US" altLang="en-US" sz="24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 </a:t>
            </a:r>
            <a:r>
              <a:rPr kumimoji="0" lang="en-US" altLang="en-US" sz="2400" b="1" i="0" u="none" strike="noStrike" cap="none" normalizeH="0" baseline="0" dirty="0" err="1">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rPr>
              <a:t>trì</a:t>
            </a:r>
            <a:endParaRPr kumimoji="0" lang="en-US" altLang="en-US" sz="2000" b="1" i="0" u="none" strike="noStrike" cap="none" normalizeH="0" baseline="0" dirty="0">
              <a:ln>
                <a:noFill/>
              </a:ln>
              <a:solidFill>
                <a:srgbClr val="002060"/>
              </a:solidFill>
              <a:effectLst/>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D32D39F0-7A97-2609-84E6-0E6701C40507}"/>
              </a:ext>
            </a:extLst>
          </p:cNvPr>
          <p:cNvSpPr/>
          <p:nvPr/>
        </p:nvSpPr>
        <p:spPr>
          <a:xfrm>
            <a:off x="825911" y="3595907"/>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1369067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82DF9F-BD5B-5F94-A779-5DB5C9629736}"/>
              </a:ext>
            </a:extLst>
          </p:cNvPr>
          <p:cNvSpPr txBox="1"/>
          <p:nvPr/>
        </p:nvSpPr>
        <p:spPr>
          <a:xfrm>
            <a:off x="1527155" y="1948742"/>
            <a:ext cx="8988721" cy="3961918"/>
          </a:xfrm>
          <a:prstGeom prst="rect">
            <a:avLst/>
          </a:prstGeom>
          <a:noFill/>
        </p:spPr>
        <p:txBody>
          <a:bodyPr wrap="square">
            <a:spAutoFit/>
          </a:bodyPr>
          <a:lstStyle/>
          <a:p>
            <a:pPr>
              <a:lnSpc>
                <a:spcPct val="150000"/>
              </a:lnSpc>
              <a:spcBef>
                <a:spcPts val="1200"/>
              </a:spcBef>
            </a:pPr>
            <a:r>
              <a:rPr lang="en-US"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15 </a:t>
            </a: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Việc quản lý hoạt động của bộ phận buồng có ảnh hưởng như thế nào đến chất lượng dịch vụ tổng thể của khách sạn?</a:t>
            </a:r>
          </a:p>
          <a:p>
            <a:pPr indent="747713">
              <a:lnSpc>
                <a:spcPct val="150000"/>
              </a:lnSpc>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A. Giảm chi phí vận hành</a:t>
            </a:r>
          </a:p>
          <a:p>
            <a:pPr indent="747713">
              <a:lnSpc>
                <a:spcPct val="150000"/>
              </a:lnSpc>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B. Nâng cao trải nghiệm của khách hàng</a:t>
            </a:r>
          </a:p>
          <a:p>
            <a:pPr indent="747713">
              <a:lnSpc>
                <a:spcPct val="150000"/>
              </a:lnSpc>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C. Tăng cường an ninh</a:t>
            </a:r>
          </a:p>
          <a:p>
            <a:pPr indent="747713">
              <a:lnSpc>
                <a:spcPct val="150000"/>
              </a:lnSpc>
              <a:spcBef>
                <a:spcPts val="1200"/>
              </a:spcBef>
            </a:pPr>
            <a:r>
              <a:rPr lang="vi-VN" sz="2400"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rPr>
              <a:t>D. Tăng doanh thu bán hàng</a:t>
            </a:r>
            <a:endParaRPr lang="vi-VN" b="1" dirty="0">
              <a:solidFill>
                <a:srgbClr val="002060"/>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2" name="Arrow: Right 1">
            <a:extLst>
              <a:ext uri="{FF2B5EF4-FFF2-40B4-BE49-F238E27FC236}">
                <a16:creationId xmlns:a16="http://schemas.microsoft.com/office/drawing/2014/main" id="{3ED6258A-A21B-136D-F2F9-BA5A0A1AC4E4}"/>
              </a:ext>
            </a:extLst>
          </p:cNvPr>
          <p:cNvSpPr/>
          <p:nvPr/>
        </p:nvSpPr>
        <p:spPr>
          <a:xfrm>
            <a:off x="383083" y="3996069"/>
            <a:ext cx="1750518" cy="5072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 </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70271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16DF-09CB-54BA-FCEC-4291FB4E5E92}"/>
            </a:ext>
          </a:extLst>
        </p:cNvPr>
        <p:cNvGrpSpPr/>
        <p:nvPr/>
      </p:nvGrpSpPr>
      <p:grpSpPr>
        <a:xfrm>
          <a:off x="0" y="0"/>
          <a:ext cx="0" cy="0"/>
          <a:chOff x="0" y="0"/>
          <a:chExt cx="0" cy="0"/>
        </a:xfrm>
      </p:grpSpPr>
      <p:pic>
        <p:nvPicPr>
          <p:cNvPr id="7" name="Picture 6" descr="Artboard 1 copy 2">
            <a:extLst>
              <a:ext uri="{FF2B5EF4-FFF2-40B4-BE49-F238E27FC236}">
                <a16:creationId xmlns:a16="http://schemas.microsoft.com/office/drawing/2014/main" id="{E6A4F3F9-0FEC-4E3F-08A2-4A44859816B6}"/>
              </a:ext>
            </a:extLst>
          </p:cNvPr>
          <p:cNvPicPr>
            <a:picLocks noChangeAspect="1"/>
          </p:cNvPicPr>
          <p:nvPr/>
        </p:nvPicPr>
        <p:blipFill>
          <a:blip r:embed="rId3"/>
          <a:stretch>
            <a:fillRect/>
          </a:stretch>
        </p:blipFill>
        <p:spPr>
          <a:xfrm>
            <a:off x="0" y="0"/>
            <a:ext cx="12190730" cy="6857365"/>
          </a:xfrm>
          <a:prstGeom prst="rect">
            <a:avLst/>
          </a:prstGeom>
        </p:spPr>
      </p:pic>
      <p:pic>
        <p:nvPicPr>
          <p:cNvPr id="2" name="Picture 1" descr="Artboard 1 copy 2">
            <a:extLst>
              <a:ext uri="{FF2B5EF4-FFF2-40B4-BE49-F238E27FC236}">
                <a16:creationId xmlns:a16="http://schemas.microsoft.com/office/drawing/2014/main" id="{53769216-72F2-774D-261C-BF7C2A666905}"/>
              </a:ext>
            </a:extLst>
          </p:cNvPr>
          <p:cNvPicPr>
            <a:picLocks noChangeAspect="1"/>
          </p:cNvPicPr>
          <p:nvPr/>
        </p:nvPicPr>
        <p:blipFill>
          <a:blip r:embed="rId4"/>
          <a:stretch>
            <a:fillRect/>
          </a:stretch>
        </p:blipFill>
        <p:spPr>
          <a:xfrm>
            <a:off x="0" y="0"/>
            <a:ext cx="12190730" cy="6857365"/>
          </a:xfrm>
          <a:prstGeom prst="rect">
            <a:avLst/>
          </a:prstGeom>
        </p:spPr>
      </p:pic>
      <p:pic>
        <p:nvPicPr>
          <p:cNvPr id="5" name="Picture 4" descr="A black screen with a black background&#10;&#10;AI-generated content may be incorrect.">
            <a:extLst>
              <a:ext uri="{FF2B5EF4-FFF2-40B4-BE49-F238E27FC236}">
                <a16:creationId xmlns:a16="http://schemas.microsoft.com/office/drawing/2014/main" id="{D5AE7117-3E90-A63B-048E-1FC0045ADA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35"/>
            <a:ext cx="12191999" cy="6858000"/>
          </a:xfrm>
          <a:prstGeom prst="rect">
            <a:avLst/>
          </a:prstGeom>
        </p:spPr>
      </p:pic>
    </p:spTree>
    <p:extLst>
      <p:ext uri="{BB962C8B-B14F-4D97-AF65-F5344CB8AC3E}">
        <p14:creationId xmlns:p14="http://schemas.microsoft.com/office/powerpoint/2010/main" val="39192563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TotalTime>
  <Words>3555</Words>
  <Application>Microsoft Office PowerPoint</Application>
  <PresentationFormat>Widescreen</PresentationFormat>
  <Paragraphs>346</Paragraphs>
  <Slides>41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Microsoft Sans Serif</vt:lpstr>
      <vt:lpstr>Times New Roman</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VHU ThanhLL</dc:creator>
  <cp:lastModifiedBy>VHU ThanhLL</cp:lastModifiedBy>
  <cp:revision>10</cp:revision>
  <dcterms:created xsi:type="dcterms:W3CDTF">2025-08-03T16:16:09Z</dcterms:created>
  <dcterms:modified xsi:type="dcterms:W3CDTF">2025-10-04T07:55:37Z</dcterms:modified>
</cp:coreProperties>
</file>